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e2a507a4d98446b" /><Relationship Type="http://schemas.openxmlformats.org/officeDocument/2006/relationships/extended-properties" Target="/docProps/app.xml" Id="Rf495eb438d234140" /><Relationship Type="http://schemas.openxmlformats.org/officeDocument/2006/relationships/officeDocument" Target="/ppt/presentation.xml" Id="Rb51e886944264912" /></Relationships>
</file>

<file path=ppt/presentation.xml><?xml version="1.0" encoding="utf-8"?>
<p:presentation xmlns:p="http://schemas.openxmlformats.org/presentationml/2006/main">
  <p:sldMasterIdLst>
    <p:sldMasterId xmlns:r="http://schemas.openxmlformats.org/officeDocument/2006/relationships" id="2147483648" r:id="R2124a1cc305d4a5b"/>
  </p:sldMasterIdLst>
  <p:notesMasterIdLst>
    <p:notesMasterId xmlns:r="http://schemas.openxmlformats.org/officeDocument/2006/relationships" r:id="R1a56308f66c943a3"/>
  </p:notesMasterIdLst>
  <p:sldIdLst>
    <p:sldId xmlns:r="http://schemas.openxmlformats.org/officeDocument/2006/relationships" id="256" r:id="Rcc8527e02b944be3"/>
  </p:sldIdLst>
  <p:sldSz cx="13716000" cy="7715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eb6c6ed84f945e6" /><Relationship Type="http://schemas.openxmlformats.org/officeDocument/2006/relationships/slideMaster" Target="/ppt/slideMasters/slideMaster1.xml" Id="R2124a1cc305d4a5b" /><Relationship Type="http://schemas.openxmlformats.org/officeDocument/2006/relationships/notesMaster" Target="/ppt/notesMasters/notesMaster1.xml" Id="R1a56308f66c943a3" /><Relationship Type="http://schemas.openxmlformats.org/officeDocument/2006/relationships/presProps" Target="/ppt/presProps.xml" Id="Rb5b99c395ee04e2d" /><Relationship Type="http://schemas.openxmlformats.org/officeDocument/2006/relationships/tableStyles" Target="/ppt/tableStyles.xml" Id="Rbe9709d26a944c8a" /><Relationship Type="http://schemas.openxmlformats.org/officeDocument/2006/relationships/slide" Target="/ppt/slides/slide1.xml" Id="Rcc8527e02b944b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e1510c41f749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105733121342b9" /><Relationship Type="http://schemas.openxmlformats.org/officeDocument/2006/relationships/notesMaster" Target="/ppt/notesMasters/notesMaster1.xml" Id="Rf453e74f7e534d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merger workflow begins with SEC filings already in HTML. We clean the text using BeautifulSoup, apply contextual regex, and preserve supporting evidence. We tested 35 filings across seven form types; these are not 35 distinct mergers. The PB Bancorp example illustrates $15.25 cash per share conditional on closing. The code returns unverified candidates rather than an approved event. It also retrieves passages for complex terms. Seventeen sample documents had multiple values for at least one field, which motivates section-aware extraction and independent verification. The sample excludes 8-Ks. No LLM or GLiNER was used in the current baseline.</a:t>
            </a:r>
          </a:p>
          <a:p xmlns:a="http://schemas.openxmlformats.org/drawingml/2006/main">
            <a:r>
              <a:t/>
            </a:r>
          </a:p>
          <a:p xmlns:a="http://schemas.openxmlformats.org/drawingml/2006/main">
            <a:r>
              <a:t>Source: https://www.sec.gov/Archives/edgar/data/1652106/000110465920000535/tm1924637-2_defm14a.htm</a:t>
            </a:r>
          </a:p>
          <a:p xmlns:a="http://schemas.openxmlformats.org/drawingml/2006/main">
            <a:r>
              <a:t>Local evidence: merger_research/outputs/mergers/spot_checks.json and summary.json. Reference layout direction: 10_1 BNY Client Presentation – Data Extraction.pdf.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6de702625b46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b3eabca17c486d" /><Relationship Type="http://schemas.openxmlformats.org/officeDocument/2006/relationships/slideLayout" Target="/ppt/slideLayouts/slideLayout1.xml" Id="R96eb953da67348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eb953da67348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0a782785f14a0b" /><Relationship Type="http://schemas.openxmlformats.org/officeDocument/2006/relationships/notesSlide" Target="/ppt/notesSlides/notesSlide1.xml" Id="R05f649b257024370"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F3B007B-7D53-4212-93EA-D6EF1F2BF4C3}"/>
              </a:ext>
            </a:extLst>
          </p:cNvPr>
          <p:cNvSpPr>
            <a:spLocks xmlns:a="http://schemas.openxmlformats.org/drawingml/2006/main" noGrp="1"/>
          </p:cNvSpPr>
          <p:nvPr/>
        </p:nvSpPr>
        <p:spPr>
          <a:xfrm xmlns:a="http://schemas.openxmlformats.org/drawingml/2006/main">
            <a:off x="666750" y="438150"/>
            <a:ext cx="1238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Mergers: Data Extraction Workflow</a:t>
            </a:r>
          </a:p>
        </p:txBody>
      </p:sp>
      <p:sp>
        <p:nvSpPr>
          <p:cNvPr id="2" name="">
            <a:extLst xmlns:a="http://schemas.openxmlformats.org/drawingml/2006/main">
              <a:ext uri="{FF2B5EF4-FFF2-40B4-BE49-F238E27FC236}">
                <a16:creationId xmlns:a16="http://schemas.microsoft.com/office/drawing/2014/main" id="{C72D1A94-19C0-4BD1-9507-E21ED449157E}"/>
              </a:ext>
            </a:extLst>
          </p:cNvPr>
          <p:cNvSpPr>
            <a:spLocks xmlns:a="http://schemas.openxmlformats.org/drawingml/2006/main" noGrp="1"/>
          </p:cNvSpPr>
          <p:nvPr/>
        </p:nvSpPr>
        <p:spPr>
          <a:xfrm xmlns:a="http://schemas.openxmlformats.org/drawingml/2006/main">
            <a:off x="685800" y="10477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86B7A"/>
                </a:solidFill>
                <a:latin typeface="Arial"/>
                <a:ea typeface="Arial"/>
                <a:cs typeface="Arial"/>
              </a:defRPr>
            </a:pPr>
            <a:r>
              <a:rPr sz="1725" b="0">
                <a:solidFill>
                  <a:srgbClr val="586B7A"/>
                </a:solidFill>
                <a:latin typeface="Arial"/>
                <a:ea typeface="Arial"/>
                <a:cs typeface="Arial"/>
              </a:rPr>
              <a:t>Pilot: 35 SEC filings across 7 form types</a:t>
            </a:r>
          </a:p>
        </p:txBody>
      </p:sp>
      <p:sp>
        <p:nvSpPr>
          <p:cNvPr id="3" name="">
            <a:extLst xmlns:a="http://schemas.openxmlformats.org/drawingml/2006/main">
              <a:ext uri="{FF2B5EF4-FFF2-40B4-BE49-F238E27FC236}">
                <a16:creationId xmlns:a16="http://schemas.microsoft.com/office/drawing/2014/main" id="{BC6C6C38-0590-4CBB-AD22-4A7FE7390CEE}"/>
              </a:ext>
            </a:extLst>
          </p:cNvPr>
          <p:cNvSpPr>
            <a:spLocks xmlns:a="http://schemas.openxmlformats.org/drawingml/2006/main" noGrp="1"/>
          </p:cNvSpPr>
          <p:nvPr/>
        </p:nvSpPr>
        <p:spPr>
          <a:xfrm xmlns:a="http://schemas.openxmlformats.org/drawingml/2006/main">
            <a:off x="685800" y="1790700"/>
            <a:ext cx="2724150" cy="1371600"/>
          </a:xfrm>
          <a:prstGeom xmlns:a="http://schemas.openxmlformats.org/drawingml/2006/main" prst="rect">
            <a:avLst/>
          </a:prstGeom>
          <a:solidFill xmlns:a="http://schemas.openxmlformats.org/drawingml/2006/main">
            <a:srgbClr val="E8EEF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1FDF1E-66C8-47B6-8456-B881061CBF60}"/>
              </a:ext>
            </a:extLst>
          </p:cNvPr>
          <p:cNvSpPr>
            <a:spLocks xmlns:a="http://schemas.openxmlformats.org/drawingml/2006/main" noGrp="1"/>
          </p:cNvSpPr>
          <p:nvPr/>
        </p:nvSpPr>
        <p:spPr>
          <a:xfrm xmlns:a="http://schemas.openxmlformats.org/drawingml/2006/main">
            <a:off x="838200" y="1914525"/>
            <a:ext cx="457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D647D"/>
                </a:solidFill>
                <a:latin typeface="Arial"/>
                <a:ea typeface="Arial"/>
                <a:cs typeface="Arial"/>
              </a:defRPr>
            </a:pPr>
            <a:r>
              <a:rPr sz="1650" b="1">
                <a:solidFill>
                  <a:srgbClr val="2D647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ED6DC716-C2B6-41B7-AE4C-65A6D10EC039}"/>
              </a:ext>
            </a:extLst>
          </p:cNvPr>
          <p:cNvSpPr>
            <a:spLocks xmlns:a="http://schemas.openxmlformats.org/drawingml/2006/main" noGrp="1"/>
          </p:cNvSpPr>
          <p:nvPr/>
        </p:nvSpPr>
        <p:spPr>
          <a:xfrm xmlns:a="http://schemas.openxmlformats.org/drawingml/2006/main">
            <a:off x="1304925" y="1885950"/>
            <a:ext cx="1981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SEC filings</a:t>
            </a:r>
          </a:p>
        </p:txBody>
      </p:sp>
      <p:sp>
        <p:nvSpPr>
          <p:cNvPr id="6" name="">
            <a:extLst xmlns:a="http://schemas.openxmlformats.org/drawingml/2006/main">
              <a:ext uri="{FF2B5EF4-FFF2-40B4-BE49-F238E27FC236}">
                <a16:creationId xmlns:a16="http://schemas.microsoft.com/office/drawing/2014/main" id="{DCADA253-2814-4A74-8149-B1F46BC7AA43}"/>
              </a:ext>
            </a:extLst>
          </p:cNvPr>
          <p:cNvSpPr>
            <a:spLocks xmlns:a="http://schemas.openxmlformats.org/drawingml/2006/main" noGrp="1"/>
          </p:cNvSpPr>
          <p:nvPr/>
        </p:nvSpPr>
        <p:spPr>
          <a:xfrm xmlns:a="http://schemas.openxmlformats.org/drawingml/2006/main">
            <a:off x="838200" y="2362200"/>
            <a:ext cx="2438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43340"/>
                </a:solidFill>
                <a:latin typeface="Arial"/>
                <a:ea typeface="Arial"/>
                <a:cs typeface="Arial"/>
              </a:defRPr>
            </a:pPr>
            <a:r>
              <a:rPr sz="1500" b="0">
                <a:solidFill>
                  <a:srgbClr val="243340"/>
                </a:solidFill>
                <a:latin typeface="Arial"/>
                <a:ea typeface="Arial"/>
                <a:cs typeface="Arial"/>
              </a:rPr>
              <a:t>Original HTML</a:t>
            </a:r>
          </a:p>
          <a:p xmlns:a="http://schemas.openxmlformats.org/drawingml/2006/main">
            <a:pPr>
              <a:defRPr sz="1500" b="0">
                <a:solidFill>
                  <a:srgbClr val="243340"/>
                </a:solidFill>
                <a:latin typeface="Arial"/>
                <a:ea typeface="Arial"/>
                <a:cs typeface="Arial"/>
              </a:defRPr>
            </a:pPr>
            <a:r>
              <a:rPr sz="1500" b="0">
                <a:solidFill>
                  <a:srgbClr val="243340"/>
                </a:solidFill>
                <a:latin typeface="Arial"/>
                <a:ea typeface="Arial"/>
                <a:cs typeface="Arial"/>
              </a:rPr>
              <a:t>and linked source URLs</a:t>
            </a:r>
          </a:p>
        </p:txBody>
      </p:sp>
      <p:sp>
        <p:nvSpPr>
          <p:cNvPr id="7" name="">
            <a:extLst xmlns:a="http://schemas.openxmlformats.org/drawingml/2006/main">
              <a:ext uri="{FF2B5EF4-FFF2-40B4-BE49-F238E27FC236}">
                <a16:creationId xmlns:a16="http://schemas.microsoft.com/office/drawing/2014/main" id="{0C18CFB4-E63C-4C95-B1C5-899ED7A89D38}"/>
              </a:ext>
            </a:extLst>
          </p:cNvPr>
          <p:cNvSpPr>
            <a:spLocks xmlns:a="http://schemas.openxmlformats.org/drawingml/2006/main" noGrp="1"/>
          </p:cNvSpPr>
          <p:nvPr/>
        </p:nvSpPr>
        <p:spPr>
          <a:xfrm xmlns:a="http://schemas.openxmlformats.org/drawingml/2006/main">
            <a:off x="3886200" y="1790700"/>
            <a:ext cx="2724150" cy="1371600"/>
          </a:xfrm>
          <a:prstGeom xmlns:a="http://schemas.openxmlformats.org/drawingml/2006/main" prst="rect">
            <a:avLst/>
          </a:prstGeom>
          <a:solidFill xmlns:a="http://schemas.openxmlformats.org/drawingml/2006/main">
            <a:srgbClr val="E8EEF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B4517B2-DCF2-4440-A417-4F13D12D059A}"/>
              </a:ext>
            </a:extLst>
          </p:cNvPr>
          <p:cNvSpPr>
            <a:spLocks xmlns:a="http://schemas.openxmlformats.org/drawingml/2006/main" noGrp="1"/>
          </p:cNvSpPr>
          <p:nvPr/>
        </p:nvSpPr>
        <p:spPr>
          <a:xfrm xmlns:a="http://schemas.openxmlformats.org/drawingml/2006/main">
            <a:off x="4038600" y="1914525"/>
            <a:ext cx="457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D647D"/>
                </a:solidFill>
                <a:latin typeface="Arial"/>
                <a:ea typeface="Arial"/>
                <a:cs typeface="Arial"/>
              </a:defRPr>
            </a:pPr>
            <a:r>
              <a:rPr sz="1650" b="1">
                <a:solidFill>
                  <a:srgbClr val="2D647D"/>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FE5D5574-E021-4956-9235-0A787D49E8CC}"/>
              </a:ext>
            </a:extLst>
          </p:cNvPr>
          <p:cNvSpPr>
            <a:spLocks xmlns:a="http://schemas.openxmlformats.org/drawingml/2006/main" noGrp="1"/>
          </p:cNvSpPr>
          <p:nvPr/>
        </p:nvSpPr>
        <p:spPr>
          <a:xfrm xmlns:a="http://schemas.openxmlformats.org/drawingml/2006/main">
            <a:off x="4505325" y="1885950"/>
            <a:ext cx="1981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Clean text</a:t>
            </a:r>
          </a:p>
        </p:txBody>
      </p:sp>
      <p:sp>
        <p:nvSpPr>
          <p:cNvPr id="10" name="">
            <a:extLst xmlns:a="http://schemas.openxmlformats.org/drawingml/2006/main">
              <a:ext uri="{FF2B5EF4-FFF2-40B4-BE49-F238E27FC236}">
                <a16:creationId xmlns:a16="http://schemas.microsoft.com/office/drawing/2014/main" id="{E3653A78-C257-488C-AC3E-7A7C2CEDD106}"/>
              </a:ext>
            </a:extLst>
          </p:cNvPr>
          <p:cNvSpPr>
            <a:spLocks xmlns:a="http://schemas.openxmlformats.org/drawingml/2006/main" noGrp="1"/>
          </p:cNvSpPr>
          <p:nvPr/>
        </p:nvSpPr>
        <p:spPr>
          <a:xfrm xmlns:a="http://schemas.openxmlformats.org/drawingml/2006/main">
            <a:off x="4038600" y="2362200"/>
            <a:ext cx="2438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43340"/>
                </a:solidFill>
                <a:latin typeface="Arial"/>
                <a:ea typeface="Arial"/>
                <a:cs typeface="Arial"/>
              </a:defRPr>
            </a:pPr>
            <a:r>
              <a:rPr sz="1500" b="0">
                <a:solidFill>
                  <a:srgbClr val="243340"/>
                </a:solidFill>
                <a:latin typeface="Arial"/>
                <a:ea typeface="Arial"/>
                <a:cs typeface="Arial"/>
              </a:rPr>
              <a:t>BeautifulSoup cleans</a:t>
            </a:r>
          </a:p>
          <a:p xmlns:a="http://schemas.openxmlformats.org/drawingml/2006/main">
            <a:pPr>
              <a:defRPr sz="1500" b="0">
                <a:solidFill>
                  <a:srgbClr val="243340"/>
                </a:solidFill>
                <a:latin typeface="Arial"/>
                <a:ea typeface="Arial"/>
                <a:cs typeface="Arial"/>
              </a:defRPr>
            </a:pPr>
            <a:r>
              <a:rPr sz="1500" b="0">
                <a:solidFill>
                  <a:srgbClr val="243340"/>
                </a:solidFill>
                <a:latin typeface="Arial"/>
                <a:ea typeface="Arial"/>
                <a:cs typeface="Arial"/>
              </a:rPr>
              <a:t>the filing text</a:t>
            </a:r>
          </a:p>
        </p:txBody>
      </p:sp>
      <p:sp>
        <p:nvSpPr>
          <p:cNvPr id="11" name="">
            <a:extLst xmlns:a="http://schemas.openxmlformats.org/drawingml/2006/main">
              <a:ext uri="{FF2B5EF4-FFF2-40B4-BE49-F238E27FC236}">
                <a16:creationId xmlns:a16="http://schemas.microsoft.com/office/drawing/2014/main" id="{9BB3A4AB-45A5-4B83-836D-B67CEAB0F643}"/>
              </a:ext>
            </a:extLst>
          </p:cNvPr>
          <p:cNvSpPr>
            <a:spLocks xmlns:a="http://schemas.openxmlformats.org/drawingml/2006/main" noGrp="1"/>
          </p:cNvSpPr>
          <p:nvPr/>
        </p:nvSpPr>
        <p:spPr>
          <a:xfrm xmlns:a="http://schemas.openxmlformats.org/drawingml/2006/main">
            <a:off x="7086600" y="1790700"/>
            <a:ext cx="2724150" cy="1371600"/>
          </a:xfrm>
          <a:prstGeom xmlns:a="http://schemas.openxmlformats.org/drawingml/2006/main" prst="rect">
            <a:avLst/>
          </a:prstGeom>
          <a:solidFill xmlns:a="http://schemas.openxmlformats.org/drawingml/2006/main">
            <a:srgbClr val="E8EEF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5C8251A-C8AC-40D9-8010-F5F91E355C4D}"/>
              </a:ext>
            </a:extLst>
          </p:cNvPr>
          <p:cNvSpPr>
            <a:spLocks xmlns:a="http://schemas.openxmlformats.org/drawingml/2006/main" noGrp="1"/>
          </p:cNvSpPr>
          <p:nvPr/>
        </p:nvSpPr>
        <p:spPr>
          <a:xfrm xmlns:a="http://schemas.openxmlformats.org/drawingml/2006/main">
            <a:off x="7239000" y="1914525"/>
            <a:ext cx="457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D647D"/>
                </a:solidFill>
                <a:latin typeface="Arial"/>
                <a:ea typeface="Arial"/>
                <a:cs typeface="Arial"/>
              </a:defRPr>
            </a:pPr>
            <a:r>
              <a:rPr sz="1650" b="1">
                <a:solidFill>
                  <a:srgbClr val="2D647D"/>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06E8397B-5C9A-418E-A954-4D0705F56816}"/>
              </a:ext>
            </a:extLst>
          </p:cNvPr>
          <p:cNvSpPr>
            <a:spLocks xmlns:a="http://schemas.openxmlformats.org/drawingml/2006/main" noGrp="1"/>
          </p:cNvSpPr>
          <p:nvPr/>
        </p:nvSpPr>
        <p:spPr>
          <a:xfrm xmlns:a="http://schemas.openxmlformats.org/drawingml/2006/main">
            <a:off x="7705725" y="1885950"/>
            <a:ext cx="1981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Candidates</a:t>
            </a:r>
          </a:p>
        </p:txBody>
      </p:sp>
      <p:sp>
        <p:nvSpPr>
          <p:cNvPr id="14" name="">
            <a:extLst xmlns:a="http://schemas.openxmlformats.org/drawingml/2006/main">
              <a:ext uri="{FF2B5EF4-FFF2-40B4-BE49-F238E27FC236}">
                <a16:creationId xmlns:a16="http://schemas.microsoft.com/office/drawing/2014/main" id="{53CD6F66-3D4E-46B2-83D1-97B819185034}"/>
              </a:ext>
            </a:extLst>
          </p:cNvPr>
          <p:cNvSpPr>
            <a:spLocks xmlns:a="http://schemas.openxmlformats.org/drawingml/2006/main" noGrp="1"/>
          </p:cNvSpPr>
          <p:nvPr/>
        </p:nvSpPr>
        <p:spPr>
          <a:xfrm xmlns:a="http://schemas.openxmlformats.org/drawingml/2006/main">
            <a:off x="7239000" y="2362200"/>
            <a:ext cx="2438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43340"/>
                </a:solidFill>
                <a:latin typeface="Arial"/>
                <a:ea typeface="Arial"/>
                <a:cs typeface="Arial"/>
              </a:defRPr>
            </a:pPr>
            <a:r>
              <a:rPr sz="1500" b="0">
                <a:solidFill>
                  <a:srgbClr val="243340"/>
                </a:solidFill>
                <a:latin typeface="Arial"/>
                <a:ea typeface="Arial"/>
                <a:cs typeface="Arial"/>
              </a:rPr>
              <a:t>Contextual regex finds</a:t>
            </a:r>
          </a:p>
          <a:p xmlns:a="http://schemas.openxmlformats.org/drawingml/2006/main">
            <a:pPr>
              <a:defRPr sz="1500" b="0">
                <a:solidFill>
                  <a:srgbClr val="243340"/>
                </a:solidFill>
                <a:latin typeface="Arial"/>
                <a:ea typeface="Arial"/>
                <a:cs typeface="Arial"/>
              </a:defRPr>
            </a:pPr>
            <a:r>
              <a:rPr sz="1500" b="0">
                <a:solidFill>
                  <a:srgbClr val="243340"/>
                </a:solidFill>
                <a:latin typeface="Arial"/>
                <a:ea typeface="Arial"/>
                <a:cs typeface="Arial"/>
              </a:rPr>
              <a:t>amounts, ratios and dates</a:t>
            </a:r>
          </a:p>
        </p:txBody>
      </p:sp>
      <p:sp>
        <p:nvSpPr>
          <p:cNvPr id="15" name="">
            <a:extLst xmlns:a="http://schemas.openxmlformats.org/drawingml/2006/main">
              <a:ext uri="{FF2B5EF4-FFF2-40B4-BE49-F238E27FC236}">
                <a16:creationId xmlns:a16="http://schemas.microsoft.com/office/drawing/2014/main" id="{3F490DE4-2528-4C5B-A5EE-DD86F67B3885}"/>
              </a:ext>
            </a:extLst>
          </p:cNvPr>
          <p:cNvSpPr>
            <a:spLocks xmlns:a="http://schemas.openxmlformats.org/drawingml/2006/main" noGrp="1"/>
          </p:cNvSpPr>
          <p:nvPr/>
        </p:nvSpPr>
        <p:spPr>
          <a:xfrm xmlns:a="http://schemas.openxmlformats.org/drawingml/2006/main">
            <a:off x="10287000" y="1790700"/>
            <a:ext cx="2724150" cy="1371600"/>
          </a:xfrm>
          <a:prstGeom xmlns:a="http://schemas.openxmlformats.org/drawingml/2006/main" prst="rect">
            <a:avLst/>
          </a:prstGeom>
          <a:solidFill xmlns:a="http://schemas.openxmlformats.org/drawingml/2006/main">
            <a:srgbClr val="17324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3ABF482-5068-4720-9C6C-AB1A3CA387C4}"/>
              </a:ext>
            </a:extLst>
          </p:cNvPr>
          <p:cNvSpPr>
            <a:spLocks xmlns:a="http://schemas.openxmlformats.org/drawingml/2006/main" noGrp="1"/>
          </p:cNvSpPr>
          <p:nvPr/>
        </p:nvSpPr>
        <p:spPr>
          <a:xfrm xmlns:a="http://schemas.openxmlformats.org/drawingml/2006/main">
            <a:off x="10439400" y="1914525"/>
            <a:ext cx="457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AAC8DA"/>
                </a:solidFill>
                <a:latin typeface="Arial"/>
                <a:ea typeface="Arial"/>
                <a:cs typeface="Arial"/>
              </a:defRPr>
            </a:pPr>
            <a:r>
              <a:rPr sz="1650" b="1">
                <a:solidFill>
                  <a:srgbClr val="AAC8DA"/>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1F6BC8F4-E40E-43C7-B0C9-AE83B2604C29}"/>
              </a:ext>
            </a:extLst>
          </p:cNvPr>
          <p:cNvSpPr>
            <a:spLocks xmlns:a="http://schemas.openxmlformats.org/drawingml/2006/main" noGrp="1"/>
          </p:cNvSpPr>
          <p:nvPr/>
        </p:nvSpPr>
        <p:spPr>
          <a:xfrm xmlns:a="http://schemas.openxmlformats.org/drawingml/2006/main">
            <a:off x="10906125" y="1885950"/>
            <a:ext cx="1981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Evidence</a:t>
            </a:r>
          </a:p>
        </p:txBody>
      </p:sp>
      <p:sp>
        <p:nvSpPr>
          <p:cNvPr id="18" name="">
            <a:extLst xmlns:a="http://schemas.openxmlformats.org/drawingml/2006/main">
              <a:ext uri="{FF2B5EF4-FFF2-40B4-BE49-F238E27FC236}">
                <a16:creationId xmlns:a16="http://schemas.microsoft.com/office/drawing/2014/main" id="{90F6035E-CB62-499E-8850-E230C14A536D}"/>
              </a:ext>
            </a:extLst>
          </p:cNvPr>
          <p:cNvSpPr>
            <a:spLocks xmlns:a="http://schemas.openxmlformats.org/drawingml/2006/main" noGrp="1"/>
          </p:cNvSpPr>
          <p:nvPr/>
        </p:nvSpPr>
        <p:spPr>
          <a:xfrm xmlns:a="http://schemas.openxmlformats.org/drawingml/2006/main">
            <a:off x="10439400" y="2362200"/>
            <a:ext cx="2438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Save quotes and conflicts</a:t>
            </a:r>
          </a:p>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for verification</a:t>
            </a:r>
          </a:p>
        </p:txBody>
      </p:sp>
      <p:cxnSp>
        <p:nvCxnSpPr>
          <p:cNvPr id="52" name=""/>
          <p:cNvCxnSpPr>
            <a:stCxn xmlns:a="http://schemas.openxmlformats.org/drawingml/2006/main" id="3" idx="3"/>
            <a:endCxn xmlns:a="http://schemas.openxmlformats.org/drawingml/2006/main" id="7" idx="1"/>
          </p:cNvCxnSpPr>
          <p:nvPr/>
        </p:nvCxnSpPr>
        <p:spPr>
          <a:xfrm xmlns:a="http://schemas.openxmlformats.org/drawingml/2006/main">
            <a:off x="3409950" y="2476500"/>
            <a:ext cx="476250" cy="0"/>
          </a:xfrm>
          <a:prstGeom xmlns:a="http://schemas.openxmlformats.org/drawingml/2006/main" prst="straightConnector1">
            <a:avLst/>
          </a:prstGeom>
          <a:ln xmlns:a="http://schemas.openxmlformats.org/drawingml/2006/main" w="19050">
            <a:solidFill>
              <a:srgbClr val="859CAC"/>
            </a:solidFill>
            <a:tailEnd type="triangle" w="med" len="med"/>
          </a:ln>
        </p:spPr>
      </p:cxnSp>
      <p:cxnSp>
        <p:nvCxnSpPr>
          <p:cNvPr id="53" name=""/>
          <p:cNvCxnSpPr>
            <a:stCxn xmlns:a="http://schemas.openxmlformats.org/drawingml/2006/main" id="7" idx="3"/>
            <a:endCxn xmlns:a="http://schemas.openxmlformats.org/drawingml/2006/main" id="11" idx="1"/>
          </p:cNvCxnSpPr>
          <p:nvPr/>
        </p:nvCxnSpPr>
        <p:spPr>
          <a:xfrm xmlns:a="http://schemas.openxmlformats.org/drawingml/2006/main">
            <a:off x="6610350" y="2476500"/>
            <a:ext cx="476250" cy="0"/>
          </a:xfrm>
          <a:prstGeom xmlns:a="http://schemas.openxmlformats.org/drawingml/2006/main" prst="straightConnector1">
            <a:avLst/>
          </a:prstGeom>
          <a:ln xmlns:a="http://schemas.openxmlformats.org/drawingml/2006/main" w="19050">
            <a:solidFill>
              <a:srgbClr val="859CAC"/>
            </a:solidFill>
            <a:tailEnd type="triangle" w="med" len="med"/>
          </a:ln>
        </p:spPr>
      </p:cxnSp>
      <p:cxnSp>
        <p:nvCxnSpPr>
          <p:cNvPr id="54" name=""/>
          <p:cNvCxnSpPr>
            <a:stCxn xmlns:a="http://schemas.openxmlformats.org/drawingml/2006/main" id="11" idx="3"/>
            <a:endCxn xmlns:a="http://schemas.openxmlformats.org/drawingml/2006/main" id="15" idx="1"/>
          </p:cNvCxnSpPr>
          <p:nvPr/>
        </p:nvCxnSpPr>
        <p:spPr>
          <a:xfrm xmlns:a="http://schemas.openxmlformats.org/drawingml/2006/main">
            <a:off x="9810750" y="2476500"/>
            <a:ext cx="476250" cy="0"/>
          </a:xfrm>
          <a:prstGeom xmlns:a="http://schemas.openxmlformats.org/drawingml/2006/main" prst="straightConnector1">
            <a:avLst/>
          </a:prstGeom>
          <a:ln xmlns:a="http://schemas.openxmlformats.org/drawingml/2006/main" w="19050">
            <a:solidFill>
              <a:srgbClr val="859CAC"/>
            </a:solidFill>
            <a:tailEnd type="triangle" w="med" len="med"/>
          </a:ln>
        </p:spPr>
      </p:cxnSp>
      <p:sp>
        <p:nvSpPr>
          <p:cNvPr id="22" name="">
            <a:extLst xmlns:a="http://schemas.openxmlformats.org/drawingml/2006/main">
              <a:ext uri="{FF2B5EF4-FFF2-40B4-BE49-F238E27FC236}">
                <a16:creationId xmlns:a16="http://schemas.microsoft.com/office/drawing/2014/main" id="{67607A87-EE36-4888-A445-985255BADECB}"/>
              </a:ext>
            </a:extLst>
          </p:cNvPr>
          <p:cNvSpPr>
            <a:spLocks xmlns:a="http://schemas.openxmlformats.org/drawingml/2006/main" noGrp="1"/>
          </p:cNvSpPr>
          <p:nvPr/>
        </p:nvSpPr>
        <p:spPr>
          <a:xfrm xmlns:a="http://schemas.openxmlformats.org/drawingml/2006/main">
            <a:off x="685800" y="3552825"/>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D647D"/>
                </a:solidFill>
                <a:latin typeface="Arial"/>
                <a:ea typeface="Arial"/>
                <a:cs typeface="Arial"/>
              </a:defRPr>
            </a:pPr>
            <a:r>
              <a:rPr sz="1275" b="1">
                <a:solidFill>
                  <a:srgbClr val="2D647D"/>
                </a:solidFill>
                <a:latin typeface="Arial"/>
                <a:ea typeface="Arial"/>
                <a:cs typeface="Arial"/>
              </a:rPr>
              <a:t>EXAMPLE  /  PB BANCORP MERGER PROXY</a:t>
            </a:r>
          </a:p>
        </p:txBody>
      </p:sp>
      <p:sp>
        <p:nvSpPr>
          <p:cNvPr id="23" name="">
            <a:extLst xmlns:a="http://schemas.openxmlformats.org/drawingml/2006/main">
              <a:ext uri="{FF2B5EF4-FFF2-40B4-BE49-F238E27FC236}">
                <a16:creationId xmlns:a16="http://schemas.microsoft.com/office/drawing/2014/main" id="{8D362654-591C-4F5A-A08F-BE3D6243B02E}"/>
              </a:ext>
            </a:extLst>
          </p:cNvPr>
          <p:cNvSpPr>
            <a:spLocks xmlns:a="http://schemas.openxmlformats.org/drawingml/2006/main" noGrp="1"/>
          </p:cNvSpPr>
          <p:nvPr/>
        </p:nvSpPr>
        <p:spPr>
          <a:xfrm xmlns:a="http://schemas.openxmlformats.org/drawingml/2006/main">
            <a:off x="685800" y="4019550"/>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Filing text</a:t>
            </a:r>
          </a:p>
        </p:txBody>
      </p:sp>
      <p:sp>
        <p:nvSpPr>
          <p:cNvPr id="24" name="">
            <a:extLst xmlns:a="http://schemas.openxmlformats.org/drawingml/2006/main">
              <a:ext uri="{FF2B5EF4-FFF2-40B4-BE49-F238E27FC236}">
                <a16:creationId xmlns:a16="http://schemas.microsoft.com/office/drawing/2014/main" id="{C30C7F4E-1CD9-4405-B142-58E0D1CF5E07}"/>
              </a:ext>
            </a:extLst>
          </p:cNvPr>
          <p:cNvSpPr>
            <a:spLocks xmlns:a="http://schemas.openxmlformats.org/drawingml/2006/main" noGrp="1"/>
          </p:cNvSpPr>
          <p:nvPr/>
        </p:nvSpPr>
        <p:spPr>
          <a:xfrm xmlns:a="http://schemas.openxmlformats.org/drawingml/2006/main">
            <a:off x="685800" y="4495800"/>
            <a:ext cx="62388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43340"/>
                </a:solidFill>
                <a:latin typeface="Arial"/>
                <a:ea typeface="Arial"/>
                <a:cs typeface="Arial"/>
              </a:defRPr>
            </a:pPr>
            <a:r>
              <a:rPr sz="2025" b="0">
                <a:solidFill>
                  <a:srgbClr val="243340"/>
                </a:solidFill>
                <a:latin typeface="Arial"/>
                <a:ea typeface="Arial"/>
                <a:cs typeface="Arial"/>
              </a:rPr>
              <a:t>“If the merger occurs, each stockholder of PB Bancorp will receive, for each share owned, the right to receive $15.25 in cash at closing.”</a:t>
            </a:r>
          </a:p>
        </p:txBody>
      </p:sp>
      <p:sp>
        <p:nvSpPr>
          <p:cNvPr id="25" name="">
            <a:extLst xmlns:a="http://schemas.openxmlformats.org/drawingml/2006/main">
              <a:ext uri="{FF2B5EF4-FFF2-40B4-BE49-F238E27FC236}">
                <a16:creationId xmlns:a16="http://schemas.microsoft.com/office/drawing/2014/main" id="{75C5B03B-5615-4174-B560-43FF5592E342}"/>
              </a:ext>
            </a:extLst>
          </p:cNvPr>
          <p:cNvSpPr>
            <a:spLocks xmlns:a="http://schemas.openxmlformats.org/drawingml/2006/main" noGrp="1"/>
          </p:cNvSpPr>
          <p:nvPr/>
        </p:nvSpPr>
        <p:spPr>
          <a:xfrm xmlns:a="http://schemas.openxmlformats.org/drawingml/2006/main">
            <a:off x="7210425" y="4410075"/>
            <a:ext cx="9525" cy="1323975"/>
          </a:xfrm>
          <a:prstGeom xmlns:a="http://schemas.openxmlformats.org/drawingml/2006/main" prst="rect">
            <a:avLst/>
          </a:prstGeom>
          <a:solidFill xmlns:a="http://schemas.openxmlformats.org/drawingml/2006/main">
            <a:srgbClr val="DCE4E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DE1BE40-DC12-4C4C-BD59-A3247E23D13F}"/>
              </a:ext>
            </a:extLst>
          </p:cNvPr>
          <p:cNvSpPr>
            <a:spLocks xmlns:a="http://schemas.openxmlformats.org/drawingml/2006/main" noGrp="1"/>
          </p:cNvSpPr>
          <p:nvPr/>
        </p:nvSpPr>
        <p:spPr>
          <a:xfrm xmlns:a="http://schemas.openxmlformats.org/drawingml/2006/main">
            <a:off x="7924800" y="40195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Structured candidate</a:t>
            </a:r>
          </a:p>
        </p:txBody>
      </p:sp>
      <p:sp>
        <p:nvSpPr>
          <p:cNvPr id="27" name="">
            <a:extLst xmlns:a="http://schemas.openxmlformats.org/drawingml/2006/main">
              <a:ext uri="{FF2B5EF4-FFF2-40B4-BE49-F238E27FC236}">
                <a16:creationId xmlns:a16="http://schemas.microsoft.com/office/drawing/2014/main" id="{7107831A-09E5-496E-A5C3-CDBBBFFEA969}"/>
              </a:ext>
            </a:extLst>
          </p:cNvPr>
          <p:cNvSpPr>
            <a:spLocks xmlns:a="http://schemas.openxmlformats.org/drawingml/2006/main" noGrp="1"/>
          </p:cNvSpPr>
          <p:nvPr/>
        </p:nvSpPr>
        <p:spPr>
          <a:xfrm xmlns:a="http://schemas.openxmlformats.org/drawingml/2006/main">
            <a:off x="7924800" y="4429125"/>
            <a:ext cx="3476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7324D"/>
                </a:solidFill>
                <a:latin typeface="Arial"/>
                <a:ea typeface="Arial"/>
                <a:cs typeface="Arial"/>
              </a:defRPr>
            </a:pPr>
            <a:r>
              <a:rPr sz="4650" b="1">
                <a:solidFill>
                  <a:srgbClr val="17324D"/>
                </a:solidFill>
                <a:latin typeface="Arial"/>
                <a:ea typeface="Arial"/>
                <a:cs typeface="Arial"/>
              </a:rPr>
              <a:t>$15.25</a:t>
            </a:r>
          </a:p>
        </p:txBody>
      </p:sp>
      <p:sp>
        <p:nvSpPr>
          <p:cNvPr id="28" name="">
            <a:extLst xmlns:a="http://schemas.openxmlformats.org/drawingml/2006/main">
              <a:ext uri="{FF2B5EF4-FFF2-40B4-BE49-F238E27FC236}">
                <a16:creationId xmlns:a16="http://schemas.microsoft.com/office/drawing/2014/main" id="{32DCED8A-FAB2-4EA2-83E2-62F881952EC3}"/>
              </a:ext>
            </a:extLst>
          </p:cNvPr>
          <p:cNvSpPr>
            <a:spLocks xmlns:a="http://schemas.openxmlformats.org/drawingml/2006/main" noGrp="1"/>
          </p:cNvSpPr>
          <p:nvPr/>
        </p:nvSpPr>
        <p:spPr>
          <a:xfrm xmlns:a="http://schemas.openxmlformats.org/drawingml/2006/main">
            <a:off x="7943850" y="51816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43340"/>
                </a:solidFill>
                <a:latin typeface="Arial"/>
                <a:ea typeface="Arial"/>
                <a:cs typeface="Arial"/>
              </a:defRPr>
            </a:pPr>
            <a:r>
              <a:rPr sz="1875" b="0">
                <a:solidFill>
                  <a:srgbClr val="243340"/>
                </a:solidFill>
                <a:latin typeface="Arial"/>
                <a:ea typeface="Arial"/>
                <a:cs typeface="Arial"/>
              </a:rPr>
              <a:t>cash per share</a:t>
            </a:r>
          </a:p>
        </p:txBody>
      </p:sp>
      <p:sp>
        <p:nvSpPr>
          <p:cNvPr id="29" name="">
            <a:extLst xmlns:a="http://schemas.openxmlformats.org/drawingml/2006/main">
              <a:ext uri="{FF2B5EF4-FFF2-40B4-BE49-F238E27FC236}">
                <a16:creationId xmlns:a16="http://schemas.microsoft.com/office/drawing/2014/main" id="{5988B079-E936-4922-86EE-1556D2B20A3A}"/>
              </a:ext>
            </a:extLst>
          </p:cNvPr>
          <p:cNvSpPr>
            <a:spLocks xmlns:a="http://schemas.openxmlformats.org/drawingml/2006/main" noGrp="1"/>
          </p:cNvSpPr>
          <p:nvPr/>
        </p:nvSpPr>
        <p:spPr>
          <a:xfrm xmlns:a="http://schemas.openxmlformats.org/drawingml/2006/main">
            <a:off x="7943850" y="5657850"/>
            <a:ext cx="5095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86B7A"/>
                </a:solidFill>
                <a:latin typeface="Arial"/>
                <a:ea typeface="Arial"/>
                <a:cs typeface="Arial"/>
              </a:defRPr>
            </a:pPr>
            <a:r>
              <a:rPr sz="1425" b="0">
                <a:solidFill>
                  <a:srgbClr val="586B7A"/>
                </a:solidFill>
                <a:latin typeface="Arial"/>
                <a:ea typeface="Arial"/>
                <a:cs typeface="Arial"/>
              </a:rPr>
              <a:t>Conditional on closing • Source quote retained</a:t>
            </a:r>
          </a:p>
        </p:txBody>
      </p:sp>
      <p:sp>
        <p:nvSpPr>
          <p:cNvPr id="30" name="">
            <a:extLst xmlns:a="http://schemas.openxmlformats.org/drawingml/2006/main">
              <a:ext uri="{FF2B5EF4-FFF2-40B4-BE49-F238E27FC236}">
                <a16:creationId xmlns:a16="http://schemas.microsoft.com/office/drawing/2014/main" id="{EFD5E18E-5183-4711-9595-6A851E7C721B}"/>
              </a:ext>
            </a:extLst>
          </p:cNvPr>
          <p:cNvSpPr>
            <a:spLocks xmlns:a="http://schemas.openxmlformats.org/drawingml/2006/main" noGrp="1"/>
          </p:cNvSpPr>
          <p:nvPr/>
        </p:nvSpPr>
        <p:spPr>
          <a:xfrm xmlns:a="http://schemas.openxmlformats.org/drawingml/2006/main">
            <a:off x="685800" y="6381750"/>
            <a:ext cx="2095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D647D"/>
                </a:solidFill>
                <a:latin typeface="Arial"/>
                <a:ea typeface="Arial"/>
                <a:cs typeface="Arial"/>
              </a:defRPr>
            </a:pPr>
            <a:r>
              <a:rPr sz="1275" b="1">
                <a:solidFill>
                  <a:srgbClr val="2D647D"/>
                </a:solidFill>
                <a:latin typeface="Arial"/>
                <a:ea typeface="Arial"/>
                <a:cs typeface="Arial"/>
              </a:rPr>
              <a:t>REVIEW NEEDED</a:t>
            </a:r>
          </a:p>
        </p:txBody>
      </p:sp>
      <p:sp>
        <p:nvSpPr>
          <p:cNvPr id="31" name="">
            <a:extLst xmlns:a="http://schemas.openxmlformats.org/drawingml/2006/main">
              <a:ext uri="{FF2B5EF4-FFF2-40B4-BE49-F238E27FC236}">
                <a16:creationId xmlns:a16="http://schemas.microsoft.com/office/drawing/2014/main" id="{A1C35280-2459-4701-AF74-C37995F37C49}"/>
              </a:ext>
            </a:extLst>
          </p:cNvPr>
          <p:cNvSpPr>
            <a:spLocks xmlns:a="http://schemas.openxmlformats.org/drawingml/2006/main" noGrp="1"/>
          </p:cNvSpPr>
          <p:nvPr/>
        </p:nvSpPr>
        <p:spPr>
          <a:xfrm xmlns:a="http://schemas.openxmlformats.org/drawingml/2006/main">
            <a:off x="2762250" y="6343650"/>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43340"/>
                </a:solidFill>
                <a:latin typeface="Arial"/>
                <a:ea typeface="Arial"/>
                <a:cs typeface="Arial"/>
              </a:defRPr>
            </a:pPr>
            <a:r>
              <a:rPr sz="1725" b="0">
                <a:solidFill>
                  <a:srgbClr val="243340"/>
                </a:solidFill>
                <a:latin typeface="Arial"/>
                <a:ea typeface="Arial"/>
                <a:cs typeface="Arial"/>
              </a:rPr>
              <a:t>Earlier bids and conditional ratios can produce multiple plausible values.</a:t>
            </a:r>
          </a:p>
        </p:txBody>
      </p:sp>
      <p:sp>
        <p:nvSpPr>
          <p:cNvPr id="32" name="">
            <a:extLst xmlns:a="http://schemas.openxmlformats.org/drawingml/2006/main">
              <a:ext uri="{FF2B5EF4-FFF2-40B4-BE49-F238E27FC236}">
                <a16:creationId xmlns:a16="http://schemas.microsoft.com/office/drawing/2014/main" id="{5CF63A56-6612-4ED3-985A-F677554160D3}"/>
              </a:ext>
            </a:extLst>
          </p:cNvPr>
          <p:cNvSpPr>
            <a:spLocks xmlns:a="http://schemas.openxmlformats.org/drawingml/2006/main" noGrp="1"/>
          </p:cNvSpPr>
          <p:nvPr/>
        </p:nvSpPr>
        <p:spPr>
          <a:xfrm xmlns:a="http://schemas.openxmlformats.org/drawingml/2006/main">
            <a:off x="685800" y="6858000"/>
            <a:ext cx="1238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Next: prioritize relevant sections and verify against independently labelled examples.</a:t>
            </a:r>
          </a:p>
        </p:txBody>
      </p:sp>
      <p:sp>
        <p:nvSpPr>
          <p:cNvPr id="33" name="">
            <a:extLst xmlns:a="http://schemas.openxmlformats.org/drawingml/2006/main">
              <a:ext uri="{FF2B5EF4-FFF2-40B4-BE49-F238E27FC236}">
                <a16:creationId xmlns:a16="http://schemas.microsoft.com/office/drawing/2014/main" id="{1CB45972-6752-4962-8BCD-3F4C17FAC7AB}"/>
              </a:ext>
            </a:extLst>
          </p:cNvPr>
          <p:cNvSpPr>
            <a:spLocks xmlns:a="http://schemas.openxmlformats.org/drawingml/2006/main" noGrp="1"/>
          </p:cNvSpPr>
          <p:nvPr/>
        </p:nvSpPr>
        <p:spPr>
          <a:xfrm xmlns:a="http://schemas.openxmlformats.org/drawingml/2006/main">
            <a:off x="685800" y="7334250"/>
            <a:ext cx="1238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86B7A"/>
                </a:solidFill>
                <a:latin typeface="Arial"/>
                <a:ea typeface="Arial"/>
                <a:cs typeface="Arial"/>
              </a:defRPr>
            </a:pPr>
            <a:r>
              <a:rPr sz="1125" b="0">
                <a:solidFill>
                  <a:srgbClr val="586B7A"/>
                </a:solidFill>
                <a:latin typeface="Arial"/>
                <a:ea typeface="Arial"/>
                <a:cs typeface="Arial"/>
              </a:rPr>
              <a:t>Candidate extraction only. Accuracy has not yet been measured.</a:t>
            </a:r>
          </a:p>
        </p:txBody>
      </p:sp>
    </p:spTree>
    <p:extLst>
      <p:ext uri="{BB962C8B-B14F-4D97-AF65-F5344CB8AC3E}">
        <p14:creationId xmlns:p14="http://schemas.microsoft.com/office/powerpoint/2010/main" val="19594117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2026-10-01T16:25:35.2360000Z</dcterms:created>
  <dcterms:modified xsi:type="dcterms:W3CDTF">2026-10-01T16:25:35.2360000Z</dcterms:modified>
</coreProperties>
</file>