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d0d6630a0f4908" /><Relationship Type="http://schemas.openxmlformats.org/officeDocument/2006/relationships/extended-properties" Target="/docProps/app.xml" Id="Rc50074fcc05d4cd2" /><Relationship Type="http://schemas.openxmlformats.org/officeDocument/2006/relationships/officeDocument" Target="/ppt/presentation.xml" Id="R03b660052df34e2c" /></Relationships>
</file>

<file path=ppt/presentation.xml><?xml version="1.0" encoding="utf-8"?>
<p:presentation xmlns:p="http://schemas.openxmlformats.org/presentationml/2006/main">
  <p:sldMasterIdLst>
    <p:sldMasterId xmlns:r="http://schemas.openxmlformats.org/officeDocument/2006/relationships" id="2147483648" r:id="R9336672d04ad4ea8"/>
  </p:sldMasterIdLst>
  <p:notesMasterIdLst>
    <p:notesMasterId xmlns:r="http://schemas.openxmlformats.org/officeDocument/2006/relationships" r:id="Rf7141ed0a2564fa6"/>
  </p:notesMasterIdLst>
  <p:sldIdLst>
    <p:sldId xmlns:r="http://schemas.openxmlformats.org/officeDocument/2006/relationships" id="256" r:id="R718fdb35b3e34183"/>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041157a5504556" /><Relationship Type="http://schemas.openxmlformats.org/officeDocument/2006/relationships/slideMaster" Target="/ppt/slideMasters/slideMaster1.xml" Id="R9336672d04ad4ea8" /><Relationship Type="http://schemas.openxmlformats.org/officeDocument/2006/relationships/notesMaster" Target="/ppt/notesMasters/notesMaster1.xml" Id="Rf7141ed0a2564fa6" /><Relationship Type="http://schemas.openxmlformats.org/officeDocument/2006/relationships/presProps" Target="/ppt/presProps.xml" Id="R0da5fe180a114ec0" /><Relationship Type="http://schemas.openxmlformats.org/officeDocument/2006/relationships/tableStyles" Target="/ppt/tableStyles.xml" Id="Rc85b0506de6840da" /><Relationship Type="http://schemas.openxmlformats.org/officeDocument/2006/relationships/slide" Target="/ppt/slides/slide1.xml" Id="R718fdb35b3e341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28e255dfdc40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3c7cf27f904879" /><Relationship Type="http://schemas.openxmlformats.org/officeDocument/2006/relationships/notesMaster" Target="/ppt/notesMasters/notesMaster1.xml" Id="R4ce2cd68f5cf4f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part focuses on merger terms: who is involved and what shareholders receive. I downloaded 35 filings across seven form types and cleaned the HTML using BeautifulSoup. The tested baseline uses contextual regex for cash, ratios and selected dates, and retrieves evidence passages for complex terms. For example, PB Bancorp describes $15.25 per share, while the Cleveland-Cliffs filing describes 0.400 Cliffs shares per AK Steel share. Some filings also contain previous bids or conditional ratios, so values remain candidates. Seventeen sample documents contained multiple candidate values for at least one field. This is a development sample, not 35 distinct mergers or a measured accuracy benchmark. Entity recognition, section/table parsing, semantic verification and cross-filing version resolution in the table are proposed extensions. The sample excludes 8-K filings. A shared 8-K routing layer is needed across corporate-action types.</a:t>
            </a:r>
          </a:p>
          <a:p xmlns:a="http://schemas.openxmlformats.org/drawingml/2006/main">
            <a:r>
              <a:t/>
            </a:r>
          </a:p>
          <a:p xmlns:a="http://schemas.openxmlformats.org/drawingml/2006/main">
            <a:r>
              <a:t>Sources: local merger_research/outputs/mergers/summary.json, spot_checks.json and docs/merger_research.md, created September 30, 2026. Reference design: 10_1 BNY Client Presentation – Data Extraction.pdf, pages 4 and 6.</a:t>
            </a:r>
          </a:p>
          <a:p xmlns:a="http://schemas.openxmlformats.org/drawingml/2006/main">
            <a:r>
              <a:t>SEC examples: https://www.sec.gov/Archives/edgar/data/1652106/000110465920000535/tm1924637-2_defm14a.htm ; https://www.sec.gov/Archives/edgar/data/764065/000119312520003953/d846586ds4.htm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daced8db7a40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04d95a7fd5406b" /><Relationship Type="http://schemas.openxmlformats.org/officeDocument/2006/relationships/slideLayout" Target="/ppt/slideLayouts/slideLayout1.xml" Id="Rbab0a975cd9d41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b0a975cd9d41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34cf780f9b47d1" /><Relationship Type="http://schemas.openxmlformats.org/officeDocument/2006/relationships/notesSlide" Target="/ppt/notesSlides/notesSlide1.xml" Id="R2e867152e53c4229"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CB2FAE-AAB9-48CC-A424-98614DE9BE92}"/>
              </a:ext>
            </a:extLst>
          </p:cNvPr>
          <p:cNvSpPr>
            <a:spLocks xmlns:a="http://schemas.openxmlformats.org/drawingml/2006/main" noGrp="1"/>
          </p:cNvSpPr>
          <p:nvPr/>
        </p:nvSpPr>
        <p:spPr>
          <a:xfrm xmlns:a="http://schemas.openxmlformats.org/drawingml/2006/main">
            <a:off x="819150" y="590550"/>
            <a:ext cx="1209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D1F20"/>
                </a:solidFill>
                <a:latin typeface="BarlowCondensed"/>
                <a:ea typeface="BarlowCondensed"/>
                <a:cs typeface="BarlowCondensed"/>
              </a:defRPr>
            </a:pPr>
            <a:r>
              <a:rPr sz="2925" b="1">
                <a:solidFill>
                  <a:srgbClr val="1D1F20"/>
                </a:solidFill>
                <a:latin typeface="BarlowCondensed"/>
                <a:ea typeface="BarlowCondensed"/>
                <a:cs typeface="BarlowCondensed"/>
              </a:rPr>
              <a:t>Mergers: Preliminary Field Extraction Approach</a:t>
            </a:r>
          </a:p>
        </p:txBody>
      </p:sp>
      <p:graphicFrame>
        <p:nvGraphicFramePr>
          <p:cNvPr id="6" name=""/>
          <p:cNvGraphicFramePr/>
          <p:nvPr/>
        </p:nvGraphicFramePr>
        <p:xfrm>
          <a:off xmlns:a="http://schemas.openxmlformats.org/drawingml/2006/main" x="990600" y="1466850"/>
          <a:ext xmlns:a="http://schemas.openxmlformats.org/drawingml/2006/main" cx="11734800" cy="4857750"/>
        </p:xfrm>
        <a:graphic xmlns:a="http://schemas.openxmlformats.org/drawingml/2006/main">
          <a:graphicData uri="http://schemas.openxmlformats.org/drawingml/2006/table">
            <a:tbl>
              <a:tblPr/>
              <a:tblGrid>
                <a:gridCol w="2857500"/>
                <a:gridCol w="4267200"/>
                <a:gridCol w="4610100"/>
              </a:tblGrid>
              <a:tr h="419100">
                <a:tc>
                  <a:txBody>
                    <a:bodyPr/>
                    <a:lstStyle/>
                    <a:p>
                      <a:r>
                        <a:rPr sz="1275" b="1">
                          <a:solidFill>
                            <a:srgbClr val="1D1F20"/>
                          </a:solidFill>
                          <a:latin typeface="BarlowCondensed"/>
                          <a:ea typeface="BarlowCondensed"/>
                          <a:cs typeface="BarlowCondensed"/>
                        </a:rPr>
                        <a:t>FIELDS</a:t>
                      </a:r>
                    </a:p>
                  </a:txBody>
                  <a:tcPr marL="152400" marR="152400" marT="123825" marB="95250" anchor="ctr">
                    <a:solidFill>
                      <a:srgbClr val="E8EDF3"/>
                    </a:solidFill>
                  </a:tcPr>
                </a:tc>
                <a:tc>
                  <a:txBody>
                    <a:bodyPr/>
                    <a:lstStyle/>
                    <a:p>
                      <a:r>
                        <a:rPr sz="1275" b="1">
                          <a:solidFill>
                            <a:srgbClr val="1D1F20"/>
                          </a:solidFill>
                          <a:latin typeface="BarlowCondensed"/>
                          <a:ea typeface="BarlowCondensed"/>
                          <a:cs typeface="BarlowCondensed"/>
                        </a:rPr>
                        <a:t>PROPOSED EXTRACTION TECHNIQUE</a:t>
                      </a:r>
                    </a:p>
                  </a:txBody>
                  <a:tcPr marL="152400" marR="152400" marT="123825" marB="95250" anchor="ctr">
                    <a:solidFill>
                      <a:srgbClr val="E8EDF3"/>
                    </a:solidFill>
                  </a:tcPr>
                </a:tc>
                <a:tc>
                  <a:txBody>
                    <a:bodyPr/>
                    <a:lstStyle/>
                    <a:p>
                      <a:r>
                        <a:rPr sz="1275" b="1">
                          <a:solidFill>
                            <a:srgbClr val="1D1F20"/>
                          </a:solidFill>
                          <a:latin typeface="BarlowCondensed"/>
                          <a:ea typeface="BarlowCondensed"/>
                          <a:cs typeface="BarlowCondensed"/>
                        </a:rPr>
                        <a:t>EXPECTED DIFFICULTY / KEY CHALLENGE</a:t>
                      </a:r>
                    </a:p>
                  </a:txBody>
                  <a:tcPr marL="152400" marR="152400" marT="123825" marB="95250" anchor="ctr">
                    <a:solidFill>
                      <a:srgbClr val="E8EDF3"/>
                    </a:solidFill>
                  </a:tcPr>
                </a:tc>
              </a:tr>
              <a:tr h="628650">
                <a:tc>
                  <a:txBody>
                    <a:bodyPr/>
                    <a:lstStyle/>
                    <a:p>
                      <a:r>
                        <a:rPr sz="1275" b="1">
                          <a:solidFill>
                            <a:srgbClr val="1D1F20"/>
                          </a:solidFill>
                          <a:latin typeface="Barlow"/>
                          <a:ea typeface="Barlow"/>
                          <a:cs typeface="Barlow"/>
                        </a:rPr>
                        <a:t>Acquirer, target and security names</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Retrieve defined-term passages; add entity recognition and role linking</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Medium: distinguish the parent, merger subsidiary and target</a:t>
                      </a:r>
                    </a:p>
                  </a:txBody>
                  <a:tcPr marL="152400" marR="152400" marT="123825" marB="95250" anchor="ctr">
                    <a:solidFill>
                      <a:srgbClr val="F8FAFC"/>
                    </a:solidFill>
                  </a:tcPr>
                </a:tc>
              </a:tr>
              <a:tr h="628650">
                <a:tc>
                  <a:txBody>
                    <a:bodyPr/>
                    <a:lstStyle/>
                    <a:p>
                      <a:r>
                        <a:rPr sz="1275" b="1">
                          <a:solidFill>
                            <a:srgbClr val="1D1F20"/>
                          </a:solidFill>
                          <a:latin typeface="Barlow"/>
                          <a:ea typeface="Barlow"/>
                          <a:cs typeface="Barlow"/>
                        </a:rPr>
                        <a:t>Cash consideration per share</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Contextual price regex + per-share checks; exclude labelled par values</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Medium: separate current terms from earlier bids and market prices</a:t>
                      </a:r>
                    </a:p>
                  </a:txBody>
                  <a:tcPr marL="152400" marR="152400" marT="123825" marB="95250" anchor="ctr">
                    <a:solidFill>
                      <a:srgbClr val="F8FAFC"/>
                    </a:solidFill>
                  </a:tcPr>
                </a:tc>
              </a:tr>
              <a:tr h="628650">
                <a:tc>
                  <a:txBody>
                    <a:bodyPr/>
                    <a:lstStyle/>
                    <a:p>
                      <a:r>
                        <a:rPr sz="1275" b="1">
                          <a:solidFill>
                            <a:srgbClr val="1D1F20"/>
                          </a:solidFill>
                          <a:latin typeface="Barlow"/>
                          <a:ea typeface="Barlow"/>
                          <a:cs typeface="Barlow"/>
                        </a:rPr>
                        <a:t>Stock exchange ratio</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Numeric patterns near shareholder entitlement and exchange-ratio language</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Medium–High: retain ratio direction, collars and contingent adjustments</a:t>
                      </a:r>
                    </a:p>
                  </a:txBody>
                  <a:tcPr marL="152400" marR="152400" marT="123825" marB="95250" anchor="ctr">
                    <a:solidFill>
                      <a:srgbClr val="F8FAFC"/>
                    </a:solidFill>
                  </a:tcPr>
                </a:tc>
              </a:tr>
              <a:tr h="628650">
                <a:tc>
                  <a:txBody>
                    <a:bodyPr/>
                    <a:lstStyle/>
                    <a:p>
                      <a:r>
                        <a:rPr sz="1275" b="1">
                          <a:solidFill>
                            <a:srgbClr val="1D1F20"/>
                          </a:solidFill>
                          <a:latin typeface="Barlow"/>
                          <a:ea typeface="Barlow"/>
                          <a:cs typeface="Barlow"/>
                        </a:rPr>
                        <a:t>Election options and default choice</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Retrieve election/default passages; add semantic verification</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High: distinguish a mandatory payout from an actual holder election</a:t>
                      </a:r>
                    </a:p>
                  </a:txBody>
                  <a:tcPr marL="152400" marR="152400" marT="123825" marB="95250" anchor="ctr">
                    <a:solidFill>
                      <a:srgbClr val="F8FAFC"/>
                    </a:solidFill>
                  </a:tcPr>
                </a:tc>
              </a:tr>
              <a:tr h="628650">
                <a:tc>
                  <a:txBody>
                    <a:bodyPr/>
                    <a:lstStyle/>
                    <a:p>
                      <a:r>
                        <a:rPr sz="1275" b="1">
                          <a:solidFill>
                            <a:srgbClr val="1D1F20"/>
                          </a:solidFill>
                          <a:latin typeface="Barlow"/>
                          <a:ea typeface="Barlow"/>
                          <a:cs typeface="Barlow"/>
                        </a:rPr>
                        <a:t>Record, election and effective dates</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Labelled date patterns; require explicit completion wording</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Medium–High: separate voting dates, expected closing and actual completion</a:t>
                      </a:r>
                    </a:p>
                  </a:txBody>
                  <a:tcPr marL="152400" marR="152400" marT="123825" marB="95250" anchor="ctr">
                    <a:solidFill>
                      <a:srgbClr val="F8FAFC"/>
                    </a:solidFill>
                  </a:tcPr>
                </a:tc>
              </a:tr>
              <a:tr h="628650">
                <a:tc>
                  <a:txBody>
                    <a:bodyPr/>
                    <a:lstStyle/>
                    <a:p>
                      <a:r>
                        <a:rPr sz="1275" b="1">
                          <a:solidFill>
                            <a:srgbClr val="1D1F20"/>
                          </a:solidFill>
                          <a:latin typeface="Barlow"/>
                          <a:ea typeface="Barlow"/>
                          <a:cs typeface="Barlow"/>
                        </a:rPr>
                        <a:t>Conditions and fractional-share treatment</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Retrieve supporting clauses; add section/table parsing and review</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High: preserve exceptions and distinguish fractional cash from cash elections</a:t>
                      </a:r>
                    </a:p>
                  </a:txBody>
                  <a:tcPr marL="152400" marR="152400" marT="123825" marB="95250" anchor="ctr">
                    <a:solidFill>
                      <a:srgbClr val="F8FAFC"/>
                    </a:solidFill>
                  </a:tcPr>
                </a:tc>
              </a:tr>
              <a:tr h="628650">
                <a:tc>
                  <a:txBody>
                    <a:bodyPr/>
                    <a:lstStyle/>
                    <a:p>
                      <a:r>
                        <a:rPr sz="1275" b="1">
                          <a:solidFill>
                            <a:srgbClr val="1D1F20"/>
                          </a:solidFill>
                          <a:latin typeface="Barlow"/>
                          <a:ea typeface="Barlow"/>
                          <a:cs typeface="Barlow"/>
                        </a:rPr>
                        <a:t>Event status and revised terms</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Proposed: link deal filings and compare terms across amendments</a:t>
                      </a:r>
                    </a:p>
                  </a:txBody>
                  <a:tcPr marL="152400" marR="152400" marT="123825" marB="95250" anchor="ctr">
                    <a:solidFill>
                      <a:srgbClr val="F8FAFC"/>
                    </a:solidFill>
                  </a:tcPr>
                </a:tc>
                <a:tc>
                  <a:txBody>
                    <a:bodyPr/>
                    <a:lstStyle/>
                    <a:p>
                      <a:r>
                        <a:rPr sz="1275">
                          <a:solidFill>
                            <a:srgbClr val="27313A"/>
                          </a:solidFill>
                          <a:latin typeface="Barlow"/>
                          <a:ea typeface="Barlow"/>
                          <a:cs typeface="Barlow"/>
                        </a:rPr>
                        <a:t>High: reconcile versions and separate proposed, completed and terminated deals</a:t>
                      </a:r>
                    </a:p>
                  </a:txBody>
                  <a:tcPr marL="152400" marR="152400" marT="123825" marB="95250" anchor="ctr">
                    <a:solidFill>
                      <a:srgbClr val="F8FAFC"/>
                    </a:solidFill>
                  </a:tcPr>
                </a:tc>
              </a:tr>
            </a:tbl>
          </a:graphicData>
        </a:graphic>
      </p:graphicFrame>
      <p:sp>
        <p:nvSpPr>
          <p:cNvPr id="3" name="">
            <a:extLst xmlns:a="http://schemas.openxmlformats.org/drawingml/2006/main">
              <a:ext uri="{FF2B5EF4-FFF2-40B4-BE49-F238E27FC236}">
                <a16:creationId xmlns:a16="http://schemas.microsoft.com/office/drawing/2014/main" id="{DEEC76BC-924F-4EB6-AAC6-9B72026B7DD8}"/>
              </a:ext>
            </a:extLst>
          </p:cNvPr>
          <p:cNvSpPr>
            <a:spLocks xmlns:a="http://schemas.openxmlformats.org/drawingml/2006/main" noGrp="1"/>
          </p:cNvSpPr>
          <p:nvPr/>
        </p:nvSpPr>
        <p:spPr>
          <a:xfrm xmlns:a="http://schemas.openxmlformats.org/drawingml/2006/main">
            <a:off x="990600" y="6600825"/>
            <a:ext cx="11734800" cy="361950"/>
          </a:xfrm>
          <a:prstGeom xmlns:a="http://schemas.openxmlformats.org/drawingml/2006/main" prst="rect">
            <a:avLst/>
          </a:prstGeom>
          <a:solidFill xmlns:a="http://schemas.openxmlformats.org/drawingml/2006/main">
            <a:srgbClr val="E8EDF3"/>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324D"/>
                </a:solidFill>
                <a:latin typeface="Barlow"/>
                <a:ea typeface="Barlow"/>
                <a:cs typeface="Barlow"/>
              </a:defRPr>
            </a:pPr>
            <a:r>
              <a:rPr sz="1425" b="1">
                <a:solidFill>
                  <a:srgbClr val="17324D"/>
                </a:solidFill>
                <a:latin typeface="Barlow"/>
                <a:ea typeface="Barlow"/>
                <a:cs typeface="Barlow"/>
              </a:rPr>
              <a:t>Current baseline: HTML cleanup, contextual regex and evidence passages</a:t>
            </a:r>
          </a:p>
        </p:txBody>
      </p:sp>
      <p:sp>
        <p:nvSpPr>
          <p:cNvPr id="4" name="">
            <a:extLst xmlns:a="http://schemas.openxmlformats.org/drawingml/2006/main">
              <a:ext uri="{FF2B5EF4-FFF2-40B4-BE49-F238E27FC236}">
                <a16:creationId xmlns:a16="http://schemas.microsoft.com/office/drawing/2014/main" id="{EF60D7CA-5BB4-41E0-8493-B8BC33AC06FB}"/>
              </a:ext>
            </a:extLst>
          </p:cNvPr>
          <p:cNvSpPr>
            <a:spLocks xmlns:a="http://schemas.openxmlformats.org/drawingml/2006/main" noGrp="1"/>
          </p:cNvSpPr>
          <p:nvPr/>
        </p:nvSpPr>
        <p:spPr>
          <a:xfrm xmlns:a="http://schemas.openxmlformats.org/drawingml/2006/main">
            <a:off x="990600" y="7058025"/>
            <a:ext cx="1173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33475B"/>
                </a:solidFill>
                <a:latin typeface="Barlow"/>
                <a:ea typeface="Barlow"/>
                <a:cs typeface="Barlow"/>
              </a:defRPr>
            </a:pPr>
            <a:r>
              <a:rPr sz="1200" b="0">
                <a:solidFill>
                  <a:srgbClr val="33475B"/>
                </a:solidFill>
                <a:latin typeface="Barlow"/>
                <a:ea typeface="Barlow"/>
                <a:cs typeface="Barlow"/>
              </a:rPr>
              <a:t>Pilot: 35 filings across 7 form types. All outputs remain candidates for review; extraction accuracy is not yet measured.</a:t>
            </a:r>
          </a:p>
        </p:txBody>
      </p:sp>
    </p:spTree>
    <p:extLst>
      <p:ext uri="{BB962C8B-B14F-4D97-AF65-F5344CB8AC3E}">
        <p14:creationId xmlns:p14="http://schemas.microsoft.com/office/powerpoint/2010/main" val="18603751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2026-10-01T15:39:51.9350000Z</dcterms:created>
  <dcterms:modified xsi:type="dcterms:W3CDTF">2026-10-01T15:39:51.9350000Z</dcterms:modified>
</coreProperties>
</file>