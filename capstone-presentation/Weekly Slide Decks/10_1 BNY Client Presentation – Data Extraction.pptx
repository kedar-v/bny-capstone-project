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10287000" cx="18288000"/>
  <p:notesSz cx="6858000" cy="9144000"/>
  <p:embeddedFontLst>
    <p:embeddedFont>
      <p:font typeface="Roboto Mono Medium"/>
      <p:regular r:id="rId18"/>
      <p:bold r:id="rId19"/>
      <p:italic r:id="rId20"/>
      <p:boldItalic r:id="rId21"/>
    </p:embeddedFont>
    <p:embeddedFont>
      <p:font typeface="Roboto Mono SemiBold"/>
      <p:regular r:id="rId22"/>
      <p:bold r:id="rId23"/>
      <p:italic r:id="rId24"/>
      <p:boldItalic r:id="rId25"/>
    </p:embeddedFont>
    <p:embeddedFont>
      <p:font typeface="Inter"/>
      <p:regular r:id="rId26"/>
      <p:bold r:id="rId27"/>
      <p:italic r:id="rId28"/>
      <p:boldItalic r:id="rId29"/>
    </p:embeddedFont>
    <p:embeddedFont>
      <p:font typeface="Barlow Condensed"/>
      <p:bold r:id="rId30"/>
      <p:boldItalic r:id="rId31"/>
    </p:embeddedFont>
    <p:embeddedFont>
      <p:font typeface="Barlow Medium"/>
      <p:regular r:id="rId32"/>
      <p:bold r:id="rId33"/>
      <p:italic r:id="rId34"/>
      <p:boldItalic r:id="rId35"/>
    </p:embeddedFont>
    <p:embeddedFont>
      <p:font typeface="Barlow SemiBold"/>
      <p:regular r:id="rId36"/>
      <p:bold r:id="rId37"/>
      <p:italic r:id="rId38"/>
      <p:boldItalic r:id="rId39"/>
    </p:embeddedFont>
    <p:embeddedFont>
      <p:font typeface="Barlow"/>
      <p:regular r:id="rId40"/>
      <p:bold r:id="rId41"/>
      <p:italic r:id="rId42"/>
      <p:boldItalic r:id="rId43"/>
    </p:embeddedFont>
    <p:embeddedFont>
      <p:font typeface="Space Grotesk"/>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454751-0B4A-44F8-AF24-90D53124BF19}">
  <a:tblStyle styleId="{2F454751-0B4A-44F8-AF24-90D53124BF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regular.fntdata"/><Relationship Id="rId20" Type="http://schemas.openxmlformats.org/officeDocument/2006/relationships/font" Target="fonts/RobotoMonoMedium-italic.fntdata"/><Relationship Id="rId42" Type="http://schemas.openxmlformats.org/officeDocument/2006/relationships/font" Target="fonts/Barlow-italic.fntdata"/><Relationship Id="rId41" Type="http://schemas.openxmlformats.org/officeDocument/2006/relationships/font" Target="fonts/Barlow-bold.fntdata"/><Relationship Id="rId22" Type="http://schemas.openxmlformats.org/officeDocument/2006/relationships/font" Target="fonts/RobotoMonoSemiBold-regular.fntdata"/><Relationship Id="rId44" Type="http://schemas.openxmlformats.org/officeDocument/2006/relationships/font" Target="fonts/SpaceGrotesk-regular.fntdata"/><Relationship Id="rId21" Type="http://schemas.openxmlformats.org/officeDocument/2006/relationships/font" Target="fonts/RobotoMonoMedium-boldItalic.fntdata"/><Relationship Id="rId43" Type="http://schemas.openxmlformats.org/officeDocument/2006/relationships/font" Target="fonts/Barlow-boldItalic.fntdata"/><Relationship Id="rId24" Type="http://schemas.openxmlformats.org/officeDocument/2006/relationships/font" Target="fonts/RobotoMonoSemiBold-italic.fntdata"/><Relationship Id="rId23" Type="http://schemas.openxmlformats.org/officeDocument/2006/relationships/font" Target="fonts/RobotoMonoSemiBold-bold.fntdata"/><Relationship Id="rId45" Type="http://schemas.openxmlformats.org/officeDocument/2006/relationships/font" Target="fonts/SpaceGrotes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RobotoMonoSemiBold-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Condensed-boldItalic.fntdata"/><Relationship Id="rId30" Type="http://schemas.openxmlformats.org/officeDocument/2006/relationships/font" Target="fonts/BarlowCondensed-bold.fntdata"/><Relationship Id="rId11" Type="http://schemas.openxmlformats.org/officeDocument/2006/relationships/slide" Target="slides/slide5.xml"/><Relationship Id="rId33" Type="http://schemas.openxmlformats.org/officeDocument/2006/relationships/font" Target="fonts/BarlowMedium-bold.fntdata"/><Relationship Id="rId10" Type="http://schemas.openxmlformats.org/officeDocument/2006/relationships/slide" Target="slides/slide4.xml"/><Relationship Id="rId32" Type="http://schemas.openxmlformats.org/officeDocument/2006/relationships/font" Target="fonts/BarlowMedium-regular.fntdata"/><Relationship Id="rId13" Type="http://schemas.openxmlformats.org/officeDocument/2006/relationships/slide" Target="slides/slide7.xml"/><Relationship Id="rId35" Type="http://schemas.openxmlformats.org/officeDocument/2006/relationships/font" Target="fonts/BarlowMedium-boldItalic.fntdata"/><Relationship Id="rId12" Type="http://schemas.openxmlformats.org/officeDocument/2006/relationships/slide" Target="slides/slide6.xml"/><Relationship Id="rId34" Type="http://schemas.openxmlformats.org/officeDocument/2006/relationships/font" Target="fonts/BarlowMedium-italic.fntdata"/><Relationship Id="rId15" Type="http://schemas.openxmlformats.org/officeDocument/2006/relationships/slide" Target="slides/slide9.xml"/><Relationship Id="rId37" Type="http://schemas.openxmlformats.org/officeDocument/2006/relationships/font" Target="fonts/BarlowSemiBold-bold.fntdata"/><Relationship Id="rId14" Type="http://schemas.openxmlformats.org/officeDocument/2006/relationships/slide" Target="slides/slide8.xml"/><Relationship Id="rId36" Type="http://schemas.openxmlformats.org/officeDocument/2006/relationships/font" Target="fonts/BarlowSemiBold-regular.fntdata"/><Relationship Id="rId17" Type="http://schemas.openxmlformats.org/officeDocument/2006/relationships/slide" Target="slides/slide11.xml"/><Relationship Id="rId39" Type="http://schemas.openxmlformats.org/officeDocument/2006/relationships/font" Target="fonts/BarlowSemiBold-boldItalic.fntdata"/><Relationship Id="rId16" Type="http://schemas.openxmlformats.org/officeDocument/2006/relationships/slide" Target="slides/slide10.xml"/><Relationship Id="rId38" Type="http://schemas.openxmlformats.org/officeDocument/2006/relationships/font" Target="fonts/BarlowSemiBold-italic.fntdata"/><Relationship Id="rId19" Type="http://schemas.openxmlformats.org/officeDocument/2006/relationships/font" Target="fonts/RobotoMonoMedium-bold.fntdata"/><Relationship Id="rId18" Type="http://schemas.openxmlformats.org/officeDocument/2006/relationships/font" Target="fonts/RobotoMono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h5f4af6847654f19e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h5f4af6847654f19e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5f4af6847654f19e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h5f4af6847654f19e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5f4af6847654f19e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5f4af6847654f19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60ff80931589fb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60ff80931589fb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the main idea is that we should not treat each SEC filing as an independent document. For a tender offer, the actual unit of analysis is the </a:t>
            </a:r>
            <a:r>
              <a:rPr b="1" lang="en">
                <a:solidFill>
                  <a:schemeClr val="dk1"/>
                </a:solidFill>
              </a:rPr>
              <a:t>overall event</a:t>
            </a:r>
            <a:r>
              <a:rPr lang="en">
                <a:solidFill>
                  <a:schemeClr val="dk1"/>
                </a:solidFill>
              </a:rPr>
              <a:t>, which is made up of several related filings.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 </a:t>
            </a:r>
            <a:r>
              <a:rPr b="1" lang="en">
                <a:solidFill>
                  <a:schemeClr val="dk1"/>
                </a:solidFill>
              </a:rPr>
              <a:t>third-party tender</a:t>
            </a:r>
            <a:r>
              <a:rPr lang="en">
                <a:solidFill>
                  <a:schemeClr val="dk1"/>
                </a:solidFill>
              </a:rPr>
              <a:t>, an outside buyer is acquiring the target company’s shares. The bidder typically files a </a:t>
            </a:r>
            <a:r>
              <a:rPr b="1" lang="en">
                <a:solidFill>
                  <a:schemeClr val="dk1"/>
                </a:solidFill>
              </a:rPr>
              <a:t>Schedule TO-T</a:t>
            </a:r>
            <a:r>
              <a:rPr lang="en">
                <a:solidFill>
                  <a:schemeClr val="dk1"/>
                </a:solidFill>
              </a:rPr>
              <a:t>, which acts as the cover filing, and that filing includes or points to the </a:t>
            </a:r>
            <a:r>
              <a:rPr b="1" lang="en">
                <a:solidFill>
                  <a:schemeClr val="dk1"/>
                </a:solidFill>
              </a:rPr>
              <a:t>Offer to Purchase</a:t>
            </a:r>
            <a:r>
              <a:rPr lang="en">
                <a:solidFill>
                  <a:schemeClr val="dk1"/>
                </a:solidFill>
              </a:rPr>
              <a:t>, or OTP.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OTP is the main source for the actual offer mechanics, such as the price, expiration date, tender procedures, withdrawal rights, and closing conditions.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Separately, the target company files the </a:t>
            </a:r>
            <a:r>
              <a:rPr b="1" lang="en">
                <a:solidFill>
                  <a:schemeClr val="dk1"/>
                </a:solidFill>
              </a:rPr>
              <a:t>14D-9</a:t>
            </a:r>
            <a:r>
              <a:rPr lang="en">
                <a:solidFill>
                  <a:schemeClr val="dk1"/>
                </a:solidFill>
              </a:rPr>
              <a:t>, which contains the target board’s response to the offer, including its recommendation, fairness discussion, and background.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As the deal changes over time, either side can file amendments. These are usually short delta filings that update specific terms, such as extending the deadline or changing the offer price, rather than restating the entire offer.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 </a:t>
            </a:r>
            <a:r>
              <a:rPr b="1" lang="en">
                <a:solidFill>
                  <a:schemeClr val="dk1"/>
                </a:solidFill>
              </a:rPr>
              <a:t>self-tender</a:t>
            </a:r>
            <a:r>
              <a:rPr lang="en">
                <a:solidFill>
                  <a:schemeClr val="dk1"/>
                </a:solidFill>
              </a:rPr>
              <a:t>, the company is buying back its own shares, so the issuer files a </a:t>
            </a:r>
            <a:r>
              <a:rPr b="1" lang="en">
                <a:solidFill>
                  <a:schemeClr val="dk1"/>
                </a:solidFill>
              </a:rPr>
              <a:t>Schedule TO-I plus the OTP</a:t>
            </a:r>
            <a:r>
              <a:rPr lang="en">
                <a:solidFill>
                  <a:schemeClr val="dk1"/>
                </a:solidFill>
              </a:rPr>
              <a:t>, and a separate 14D-9 is usually not needed.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lower section shows the extraction order we use. We start with the Schedule TO cover for metadata like the parties, CUSIP, and exhibit pointers. CUSIP here is just the identifier for the specific security being tendered. Then we move to the OTP for the core offer terms, the 14D-9 for the target’s stance, and finally the amendments to reconcile any changes.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key point is: </a:t>
            </a:r>
            <a:r>
              <a:rPr b="1" lang="en">
                <a:solidFill>
                  <a:schemeClr val="dk1"/>
                </a:solidFill>
              </a:rPr>
              <a:t>we process the tender as one linked document package, not as isolated filings.</a:t>
            </a:r>
            <a:endParaRPr b="1">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14ee239a3fc92546_18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h14ee239a3fc92546_18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we know which documents belong to the tender, the next question is how we actually extract information from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idea is to use a </a:t>
            </a:r>
            <a:r>
              <a:rPr b="1" lang="en">
                <a:solidFill>
                  <a:schemeClr val="dk1"/>
                </a:solidFill>
              </a:rPr>
              <a:t>structure-first pipeline</a:t>
            </a:r>
            <a:r>
              <a:rPr lang="en">
                <a:solidFill>
                  <a:schemeClr val="dk1"/>
                </a:solidFill>
              </a:rPr>
              <a:t> instead of running an extraction model over the entire document.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we classify the document role: is this a cover, an OTP, a 14D-9, or an amendment? That immediately tells us what kind of information we should expect.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we use the document’s native structure to route to the right section. For example, Schedule TO filings have predictable Item headings, 14D-9 has a strong Item structure with Item 4 being particularly important, while OTPs are better navigated using their table of contents and narrative section headings.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that, once we find the relevant section, we isolate a relatively small local context window around it. This reduces noise from documents that can be tens of thousands of words long.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Only then do we run </a:t>
            </a:r>
            <a:r>
              <a:rPr b="1" lang="en">
                <a:solidFill>
                  <a:schemeClr val="dk1"/>
                </a:solidFill>
              </a:rPr>
              <a:t>GLiNER or regex-based extraction</a:t>
            </a:r>
            <a:r>
              <a:rPr lang="en">
                <a:solidFill>
                  <a:schemeClr val="dk1"/>
                </a:solidFill>
              </a:rPr>
              <a:t>. Regex works well for strongly patterned values like CUSIPs, prices, or dates. GLiNER is more useful for variable semantic entities such as the offeror, target, security names, or recommendation language.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reconcile conflicts using the source context. So if multiple documents mention the price, we prefer the OTP. For CUSIP, we prefer the Schedule TO cover. For board stance, we prefer 14D-9 Item 4. And if an amendment changes a value, the later amendment supersedes the earlier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architecture is really summarized by the line at the bottom: </a:t>
            </a:r>
            <a:r>
              <a:rPr b="1" lang="en">
                <a:solidFill>
                  <a:schemeClr val="dk1"/>
                </a:solidFill>
              </a:rPr>
              <a:t>structure finds where to look, and GLiNER finds the value</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5f4af6847654f19e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5f4af6847654f19e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identifiers, dates, and basic consideration terms more structured – keyword matching, regex, and entity extraction</a:t>
            </a:r>
            <a:endParaRPr/>
          </a:p>
          <a:p>
            <a:pPr indent="0" lvl="0" marL="0" rtl="0" algn="l">
              <a:spcBef>
                <a:spcPts val="0"/>
              </a:spcBef>
              <a:spcAft>
                <a:spcPts val="0"/>
              </a:spcAft>
              <a:buNone/>
            </a:pPr>
            <a:r>
              <a:rPr lang="en"/>
              <a:t>more conditional—like election options, proration, or amended terms— need more contextual NLP or LLM-based verification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h14ee239a3fc925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h14ee239a3fc925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h12cb7f1c1b9e15f3_2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h12cb7f1c1b9e15f3_2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14ee239a3fc92546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h14ee239a3fc92546_3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14ee239a3fc92546_3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h14ee239a3fc92546_3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5f4af6847654f19e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h5f4af6847654f19e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5f4af6847654f19e_7_0)">
  <p:cSld name="Generated (h5f4af6847654f19e_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2" name="Google Shape;12;p3"/>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 name="Google Shape;13;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6" name="Google Shape;16;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 name="Google Shape;19;p5"/>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0" name="Google Shape;20;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3" name="Google Shape;23;p6"/>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6"/>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5" name="Google Shape;25;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 name="Google Shape;28;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1" name="Google Shape;31;p8"/>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2" name="Google Shape;32;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5" name="Google Shape;35;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9" name="Google Shape;39;p10"/>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41" name="Google Shape;41;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44" name="Google Shape;44;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7" name="Google Shape;47;p12"/>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406400" lvl="8" marL="4114800" algn="ctr">
              <a:spcBef>
                <a:spcPts val="0"/>
              </a:spcBef>
              <a:spcAft>
                <a:spcPts val="0"/>
              </a:spcAft>
              <a:buSzPts val="2800"/>
              <a:buChar char="■"/>
              <a:defRPr/>
            </a:lvl9pPr>
          </a:lstStyle>
          <a:p/>
        </p:txBody>
      </p:sp>
      <p:sp>
        <p:nvSpPr>
          <p:cNvPr id="48" name="Google Shape;48;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8FA"/>
        </a:solidFill>
      </p:bgPr>
    </p:bg>
    <p:spTree>
      <p:nvGrpSpPr>
        <p:cNvPr id="51" name="Shape 51"/>
        <p:cNvGrpSpPr/>
        <p:nvPr/>
      </p:nvGrpSpPr>
      <p:grpSpPr>
        <a:xfrm>
          <a:off x="0" y="0"/>
          <a:ext cx="0" cy="0"/>
          <a:chOff x="0" y="0"/>
          <a:chExt cx="0" cy="0"/>
        </a:xfrm>
      </p:grpSpPr>
      <p:sp>
        <p:nvSpPr>
          <p:cNvPr id="52" name="Google Shape;52;p14"/>
          <p:cNvSpPr/>
          <p:nvPr/>
        </p:nvSpPr>
        <p:spPr>
          <a:xfrm>
            <a:off x="0" y="0"/>
            <a:ext cx="18287700" cy="164700"/>
          </a:xfrm>
          <a:prstGeom prst="rect">
            <a:avLst/>
          </a:prstGeom>
          <a:solidFill>
            <a:srgbClr val="17324D"/>
          </a:solidFill>
          <a:ln cap="flat" cmpd="sng" w="19050">
            <a:solidFill>
              <a:srgbClr val="17324D"/>
            </a:solidFill>
            <a:prstDash val="solid"/>
            <a:round/>
            <a:headEnd len="sm" w="sm" type="none"/>
            <a:tailEnd len="sm" w="sm" type="none"/>
          </a:ln>
        </p:spPr>
        <p:txBody>
          <a:bodyPr anchorCtr="0" anchor="ctr" bIns="137150" lIns="137150" spcFirstLastPara="1" rIns="137150" wrap="square" tIns="137150">
            <a:noAutofit/>
          </a:bodyPr>
          <a:lstStyle/>
          <a:p>
            <a:pPr indent="0" lvl="0" marL="0" rtl="0" algn="l">
              <a:spcBef>
                <a:spcPts val="0"/>
              </a:spcBef>
              <a:spcAft>
                <a:spcPts val="0"/>
              </a:spcAft>
              <a:buNone/>
            </a:pPr>
            <a:r>
              <a:t/>
            </a:r>
            <a:endParaRPr/>
          </a:p>
        </p:txBody>
      </p:sp>
      <p:sp>
        <p:nvSpPr>
          <p:cNvPr id="53" name="Google Shape;53;p14"/>
          <p:cNvSpPr/>
          <p:nvPr/>
        </p:nvSpPr>
        <p:spPr>
          <a:xfrm>
            <a:off x="795528" y="301752"/>
            <a:ext cx="7406400" cy="30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885"/>
              </a:buClr>
              <a:buSzPts val="1300"/>
              <a:buFont typeface="Arial"/>
              <a:buNone/>
            </a:pPr>
            <a:r>
              <a:rPr b="1" i="0" lang="en" sz="1300" u="none" cap="none" strike="noStrike">
                <a:solidFill>
                  <a:srgbClr val="6C7885"/>
                </a:solidFill>
                <a:latin typeface="Arial"/>
                <a:ea typeface="Arial"/>
                <a:cs typeface="Arial"/>
                <a:sym typeface="Arial"/>
              </a:rPr>
              <a:t>BNY CAPSTONE · CORPORATE ACTION INTELLIGENCE</a:t>
            </a:r>
            <a:endParaRPr b="0" i="0" sz="1300" u="none" cap="none" strike="noStrike">
              <a:solidFill>
                <a:schemeClr val="dk1"/>
              </a:solidFill>
              <a:latin typeface="Arial"/>
              <a:ea typeface="Arial"/>
              <a:cs typeface="Arial"/>
              <a:sym typeface="Arial"/>
            </a:endParaRPr>
          </a:p>
        </p:txBody>
      </p:sp>
      <p:sp>
        <p:nvSpPr>
          <p:cNvPr id="54" name="Google Shape;54;p14"/>
          <p:cNvSpPr txBox="1"/>
          <p:nvPr>
            <p:ph idx="12" type="sldNum"/>
          </p:nvPr>
        </p:nvSpPr>
        <p:spPr>
          <a:xfrm>
            <a:off x="17213580" y="9710928"/>
            <a:ext cx="1200300" cy="450000"/>
          </a:xfrm>
          <a:prstGeom prst="rect">
            <a:avLst/>
          </a:prstGeom>
          <a:noFill/>
          <a:ln>
            <a:noFill/>
          </a:ln>
        </p:spPr>
        <p:txBody>
          <a:bodyPr anchorCtr="0" anchor="t" bIns="68550" lIns="137150" spcFirstLastPara="1" rIns="137150" wrap="square" tIns="68550">
            <a:normAutofit/>
          </a:bodyPr>
          <a:lstStyle>
            <a:lvl1pPr indent="0" lvl="0" marL="0" marR="0" algn="l">
              <a:spcBef>
                <a:spcPts val="0"/>
              </a:spcBef>
              <a:buNone/>
              <a:defRPr b="0" i="0" sz="1200" u="none" cap="none" strike="noStrike">
                <a:solidFill>
                  <a:srgbClr val="9AA3AD"/>
                </a:solidFill>
                <a:latin typeface="Arial"/>
                <a:ea typeface="Arial"/>
                <a:cs typeface="Arial"/>
                <a:sym typeface="Arial"/>
              </a:defRPr>
            </a:lvl1pPr>
            <a:lvl2pPr indent="0" lvl="1" marL="0" marR="0" algn="l">
              <a:spcBef>
                <a:spcPts val="0"/>
              </a:spcBef>
              <a:buNone/>
              <a:defRPr b="0" i="0" sz="1200" u="none" cap="none" strike="noStrike">
                <a:solidFill>
                  <a:srgbClr val="9AA3AD"/>
                </a:solidFill>
                <a:latin typeface="Arial"/>
                <a:ea typeface="Arial"/>
                <a:cs typeface="Arial"/>
                <a:sym typeface="Arial"/>
              </a:defRPr>
            </a:lvl2pPr>
            <a:lvl3pPr indent="0" lvl="2" marL="0" marR="0" algn="l">
              <a:spcBef>
                <a:spcPts val="0"/>
              </a:spcBef>
              <a:buNone/>
              <a:defRPr b="0" i="0" sz="1200" u="none" cap="none" strike="noStrike">
                <a:solidFill>
                  <a:srgbClr val="9AA3AD"/>
                </a:solidFill>
                <a:latin typeface="Arial"/>
                <a:ea typeface="Arial"/>
                <a:cs typeface="Arial"/>
                <a:sym typeface="Arial"/>
              </a:defRPr>
            </a:lvl3pPr>
            <a:lvl4pPr indent="0" lvl="3" marL="0" marR="0" algn="l">
              <a:spcBef>
                <a:spcPts val="0"/>
              </a:spcBef>
              <a:buNone/>
              <a:defRPr b="0" i="0" sz="1200" u="none" cap="none" strike="noStrike">
                <a:solidFill>
                  <a:srgbClr val="9AA3AD"/>
                </a:solidFill>
                <a:latin typeface="Arial"/>
                <a:ea typeface="Arial"/>
                <a:cs typeface="Arial"/>
                <a:sym typeface="Arial"/>
              </a:defRPr>
            </a:lvl4pPr>
            <a:lvl5pPr indent="0" lvl="4" marL="0" marR="0" algn="l">
              <a:spcBef>
                <a:spcPts val="0"/>
              </a:spcBef>
              <a:buNone/>
              <a:defRPr b="0" i="0" sz="1200" u="none" cap="none" strike="noStrike">
                <a:solidFill>
                  <a:srgbClr val="9AA3AD"/>
                </a:solidFill>
                <a:latin typeface="Arial"/>
                <a:ea typeface="Arial"/>
                <a:cs typeface="Arial"/>
                <a:sym typeface="Arial"/>
              </a:defRPr>
            </a:lvl5pPr>
            <a:lvl6pPr indent="0" lvl="5" marL="0" marR="0" algn="l">
              <a:spcBef>
                <a:spcPts val="0"/>
              </a:spcBef>
              <a:buNone/>
              <a:defRPr b="0" i="0" sz="1200" u="none" cap="none" strike="noStrike">
                <a:solidFill>
                  <a:srgbClr val="9AA3AD"/>
                </a:solidFill>
                <a:latin typeface="Arial"/>
                <a:ea typeface="Arial"/>
                <a:cs typeface="Arial"/>
                <a:sym typeface="Arial"/>
              </a:defRPr>
            </a:lvl6pPr>
            <a:lvl7pPr indent="0" lvl="6" marL="0" marR="0" algn="l">
              <a:spcBef>
                <a:spcPts val="0"/>
              </a:spcBef>
              <a:buNone/>
              <a:defRPr b="0" i="0" sz="1200" u="none" cap="none" strike="noStrike">
                <a:solidFill>
                  <a:srgbClr val="9AA3AD"/>
                </a:solidFill>
                <a:latin typeface="Arial"/>
                <a:ea typeface="Arial"/>
                <a:cs typeface="Arial"/>
                <a:sym typeface="Arial"/>
              </a:defRPr>
            </a:lvl7pPr>
            <a:lvl8pPr indent="0" lvl="7" marL="0" marR="0" algn="l">
              <a:spcBef>
                <a:spcPts val="0"/>
              </a:spcBef>
              <a:buNone/>
              <a:defRPr b="0" i="0" sz="1200" u="none" cap="none" strike="noStrike">
                <a:solidFill>
                  <a:srgbClr val="9AA3AD"/>
                </a:solidFill>
                <a:latin typeface="Arial"/>
                <a:ea typeface="Arial"/>
                <a:cs typeface="Arial"/>
                <a:sym typeface="Arial"/>
              </a:defRPr>
            </a:lvl8pPr>
            <a:lvl9pPr indent="0" lvl="8" marL="0" marR="0" algn="l">
              <a:spcBef>
                <a:spcPts val="0"/>
              </a:spcBef>
              <a:buNone/>
              <a:defRPr b="0" i="0" sz="1200" u="none" cap="none" strike="noStrike">
                <a:solidFill>
                  <a:srgbClr val="9AA3AD"/>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grpSp>
        <p:nvGrpSpPr>
          <p:cNvPr id="59" name="Google Shape;59;p15"/>
          <p:cNvGrpSpPr/>
          <p:nvPr/>
        </p:nvGrpSpPr>
        <p:grpSpPr>
          <a:xfrm>
            <a:off x="1143000" y="1660427"/>
            <a:ext cx="15674100" cy="5111700"/>
            <a:chOff x="0" y="0"/>
            <a:chExt cx="15674100" cy="5111700"/>
          </a:xfrm>
        </p:grpSpPr>
        <p:sp>
          <p:nvSpPr>
            <p:cNvPr id="60" name="Google Shape;60;p15"/>
            <p:cNvSpPr/>
            <p:nvPr/>
          </p:nvSpPr>
          <p:spPr>
            <a:xfrm>
              <a:off x="0" y="0"/>
              <a:ext cx="15674100" cy="5111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5"/>
            <p:cNvSpPr txBox="1"/>
            <p:nvPr/>
          </p:nvSpPr>
          <p:spPr>
            <a:xfrm>
              <a:off x="0" y="0"/>
              <a:ext cx="15674100" cy="51117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None/>
              </a:pPr>
              <a:r>
                <a:rPr b="1" lang="en" sz="15000">
                  <a:solidFill>
                    <a:srgbClr val="1D1F20"/>
                  </a:solidFill>
                  <a:latin typeface="Arial"/>
                  <a:ea typeface="Arial"/>
                  <a:cs typeface="Arial"/>
                  <a:sym typeface="Arial"/>
                </a:rPr>
                <a:t>BNY</a:t>
              </a:r>
              <a:endParaRPr b="1" sz="15000">
                <a:solidFill>
                  <a:srgbClr val="1D1F20"/>
                </a:solidFill>
                <a:latin typeface="Arial"/>
                <a:ea typeface="Arial"/>
                <a:cs typeface="Arial"/>
                <a:sym typeface="Arial"/>
              </a:endParaRPr>
            </a:p>
            <a:p>
              <a:pPr indent="0" lvl="0" marL="0" rtl="0" algn="l">
                <a:spcBef>
                  <a:spcPts val="0"/>
                </a:spcBef>
                <a:spcAft>
                  <a:spcPts val="0"/>
                </a:spcAft>
                <a:buNone/>
              </a:pPr>
              <a:r>
                <a:rPr b="1" lang="en" sz="8000">
                  <a:solidFill>
                    <a:srgbClr val="4472C4"/>
                  </a:solidFill>
                  <a:latin typeface="Arial"/>
                  <a:ea typeface="Arial"/>
                  <a:cs typeface="Arial"/>
                  <a:sym typeface="Arial"/>
                </a:rPr>
                <a:t>Corporate Actions – Data Extraction</a:t>
              </a:r>
              <a:endParaRPr/>
            </a:p>
          </p:txBody>
        </p:sp>
      </p:grpSp>
      <p:sp>
        <p:nvSpPr>
          <p:cNvPr id="62" name="Google Shape;62;p15"/>
          <p:cNvSpPr/>
          <p:nvPr/>
        </p:nvSpPr>
        <p:spPr>
          <a:xfrm>
            <a:off x="1285999" y="7703334"/>
            <a:ext cx="143727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5"/>
          <p:cNvSpPr/>
          <p:nvPr/>
        </p:nvSpPr>
        <p:spPr>
          <a:xfrm>
            <a:off x="1286000" y="7703335"/>
            <a:ext cx="14372700" cy="414600"/>
          </a:xfrm>
          <a:prstGeom prst="rect">
            <a:avLst/>
          </a:prstGeom>
          <a:noFill/>
          <a:ln>
            <a:noFill/>
          </a:ln>
        </p:spPr>
        <p:txBody>
          <a:bodyPr anchorCtr="0" anchor="t" bIns="25400" lIns="25400" spcFirstLastPara="1" rIns="25400" wrap="square" tIns="25400">
            <a:noAutofit/>
          </a:bodyPr>
          <a:lstStyle/>
          <a:p>
            <a:pPr indent="0" lvl="0" marL="0" marR="0" rtl="0" algn="l">
              <a:lnSpc>
                <a:spcPct val="128276"/>
              </a:lnSpc>
              <a:spcBef>
                <a:spcPts val="0"/>
              </a:spcBef>
              <a:spcAft>
                <a:spcPts val="0"/>
              </a:spcAft>
              <a:buClr>
                <a:srgbClr val="1D1F21"/>
              </a:buClr>
              <a:buSzPts val="1800"/>
              <a:buFont typeface="Barlow"/>
              <a:buNone/>
            </a:pPr>
            <a:r>
              <a:rPr b="1" lang="en" sz="1800">
                <a:solidFill>
                  <a:srgbClr val="1D1F21"/>
                </a:solidFill>
                <a:latin typeface="Barlow"/>
                <a:ea typeface="Barlow"/>
                <a:cs typeface="Barlow"/>
                <a:sym typeface="Barlow"/>
              </a:rPr>
              <a:t>Week 4</a:t>
            </a:r>
            <a:endParaRPr b="1" sz="1800">
              <a:solidFill>
                <a:srgbClr val="1D1F21"/>
              </a:solidFill>
              <a:latin typeface="Barlow"/>
              <a:ea typeface="Barlow"/>
              <a:cs typeface="Barlow"/>
              <a:sym typeface="Barlow"/>
            </a:endParaRPr>
          </a:p>
          <a:p>
            <a:pPr indent="0" lvl="0" marL="0" marR="0" rtl="0" algn="l">
              <a:lnSpc>
                <a:spcPct val="128276"/>
              </a:lnSpc>
              <a:spcBef>
                <a:spcPts val="0"/>
              </a:spcBef>
              <a:spcAft>
                <a:spcPts val="0"/>
              </a:spcAft>
              <a:buClr>
                <a:srgbClr val="1D1F21"/>
              </a:buClr>
              <a:buSzPts val="1800"/>
              <a:buFont typeface="Barlow"/>
              <a:buNone/>
            </a:pPr>
            <a:r>
              <a:rPr b="1" lang="en" sz="1800">
                <a:solidFill>
                  <a:srgbClr val="1D1F21"/>
                </a:solidFill>
                <a:latin typeface="Barlow"/>
                <a:ea typeface="Barlow"/>
                <a:cs typeface="Barlow"/>
                <a:sym typeface="Barlow"/>
              </a:rPr>
              <a:t>Corporate Action Intelligence Team</a:t>
            </a:r>
            <a:endParaRPr b="1" sz="1800">
              <a:solidFill>
                <a:srgbClr val="1D1F21"/>
              </a:solidFill>
              <a:latin typeface="Barlow"/>
              <a:ea typeface="Barlow"/>
              <a:cs typeface="Barlow"/>
              <a:sym typeface="Barlow"/>
            </a:endParaRPr>
          </a:p>
          <a:p>
            <a:pPr indent="0" lvl="0" marL="0" marR="0" rtl="0" algn="l">
              <a:lnSpc>
                <a:spcPct val="128276"/>
              </a:lnSpc>
              <a:spcBef>
                <a:spcPts val="0"/>
              </a:spcBef>
              <a:spcAft>
                <a:spcPts val="0"/>
              </a:spcAft>
              <a:buClr>
                <a:srgbClr val="1D1F21"/>
              </a:buClr>
              <a:buSzPts val="1800"/>
              <a:buFont typeface="Barlow"/>
              <a:buNone/>
            </a:pPr>
            <a:r>
              <a:rPr lang="en" sz="1800">
                <a:solidFill>
                  <a:srgbClr val="1D1F21"/>
                </a:solidFill>
                <a:latin typeface="Barlow"/>
                <a:ea typeface="Barlow"/>
                <a:cs typeface="Barlow"/>
                <a:sym typeface="Barlow"/>
              </a:rPr>
              <a:t>Aesha Gandhi,  Pranshul Bhatnagar,  Alex Li,  Kedar Vaidya,  Aaron Jiang</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grpSp>
        <p:nvGrpSpPr>
          <p:cNvPr id="68" name="Google Shape;68;p16"/>
          <p:cNvGrpSpPr/>
          <p:nvPr/>
        </p:nvGrpSpPr>
        <p:grpSpPr>
          <a:xfrm>
            <a:off x="1095375" y="762000"/>
            <a:ext cx="16097400" cy="7810500"/>
            <a:chOff x="0" y="0"/>
            <a:chExt cx="16097400" cy="7810500"/>
          </a:xfrm>
        </p:grpSpPr>
        <p:sp>
          <p:nvSpPr>
            <p:cNvPr id="69" name="Google Shape;69;p16"/>
            <p:cNvSpPr txBox="1"/>
            <p:nvPr/>
          </p:nvSpPr>
          <p:spPr>
            <a:xfrm>
              <a:off x="0" y="0"/>
              <a:ext cx="16097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85">
                  <a:solidFill>
                    <a:srgbClr val="1D1F20"/>
                  </a:solidFill>
                  <a:latin typeface="Barlow Condensed"/>
                  <a:ea typeface="Barlow Condensed"/>
                  <a:cs typeface="Barlow Condensed"/>
                  <a:sym typeface="Barlow Condensed"/>
                </a:rPr>
                <a:t>Objectives for the Week</a:t>
              </a:r>
              <a:endParaRPr b="0" sz="1480">
                <a:solidFill>
                  <a:srgbClr val="5980A6"/>
                </a:solidFill>
                <a:latin typeface="Barlow Medium"/>
                <a:ea typeface="Barlow Medium"/>
                <a:cs typeface="Barlow Medium"/>
                <a:sym typeface="Barlow Medium"/>
              </a:endParaRPr>
            </a:p>
          </p:txBody>
        </p:sp>
        <p:grpSp>
          <p:nvGrpSpPr>
            <p:cNvPr id="70" name="Google Shape;70;p16"/>
            <p:cNvGrpSpPr/>
            <p:nvPr/>
          </p:nvGrpSpPr>
          <p:grpSpPr>
            <a:xfrm>
              <a:off x="0" y="2095500"/>
              <a:ext cx="4762500" cy="5715000"/>
              <a:chOff x="0" y="0"/>
              <a:chExt cx="4762500" cy="5715000"/>
            </a:xfrm>
          </p:grpSpPr>
          <p:sp>
            <p:nvSpPr>
              <p:cNvPr id="71" name="Google Shape;71;p16"/>
              <p:cNvSpPr/>
              <p:nvPr/>
            </p:nvSpPr>
            <p:spPr>
              <a:xfrm>
                <a:off x="0" y="0"/>
                <a:ext cx="4762500" cy="57150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6"/>
              <p:cNvSpPr txBox="1"/>
              <p:nvPr/>
            </p:nvSpPr>
            <p:spPr>
              <a:xfrm>
                <a:off x="381000" y="381000"/>
                <a:ext cx="4000500" cy="495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200">
                    <a:solidFill>
                      <a:srgbClr val="5980A6"/>
                    </a:solidFill>
                    <a:latin typeface="Barlow Condensed"/>
                    <a:ea typeface="Barlow Condensed"/>
                    <a:cs typeface="Barlow Condensed"/>
                    <a:sym typeface="Barlow Condensed"/>
                  </a:rPr>
                  <a:t>STEP 01</a:t>
                </a:r>
                <a:endParaRPr b="1" sz="3200">
                  <a:solidFill>
                    <a:srgbClr val="5980A6"/>
                  </a:solidFill>
                  <a:latin typeface="Barlow Condensed"/>
                  <a:ea typeface="Barlow Condensed"/>
                  <a:cs typeface="Barlow Condensed"/>
                  <a:sym typeface="Barlow Condensed"/>
                </a:endParaRPr>
              </a:p>
              <a:p>
                <a:pPr indent="0" lvl="0" marL="0" rtl="0" algn="l">
                  <a:spcBef>
                    <a:spcPts val="900"/>
                  </a:spcBef>
                  <a:spcAft>
                    <a:spcPts val="0"/>
                  </a:spcAft>
                  <a:buNone/>
                </a:pPr>
                <a:r>
                  <a:rPr b="1" lang="en" sz="2400">
                    <a:solidFill>
                      <a:srgbClr val="1D1F20"/>
                    </a:solidFill>
                    <a:latin typeface="Barlow Condensed"/>
                    <a:ea typeface="Barlow Condensed"/>
                    <a:cs typeface="Barlow Condensed"/>
                    <a:sym typeface="Barlow Condensed"/>
                  </a:rPr>
                  <a:t>Finalize Filing Types</a:t>
                </a:r>
                <a:endParaRPr b="1" sz="2400">
                  <a:solidFill>
                    <a:srgbClr val="1D1F20"/>
                  </a:solidFill>
                  <a:latin typeface="Barlow Condensed"/>
                  <a:ea typeface="Barlow Condensed"/>
                  <a:cs typeface="Barlow Condensed"/>
                  <a:sym typeface="Barlow Condensed"/>
                </a:endParaRPr>
              </a:p>
              <a:p>
                <a:pPr indent="0" lvl="0" marL="0" rtl="0" algn="l">
                  <a:spcBef>
                    <a:spcPts val="1500"/>
                  </a:spcBef>
                  <a:spcAft>
                    <a:spcPts val="0"/>
                  </a:spcAft>
                  <a:buNone/>
                </a:pPr>
                <a:r>
                  <a:rPr b="0" lang="en" sz="1300">
                    <a:solidFill>
                      <a:srgbClr val="33475B"/>
                    </a:solidFill>
                    <a:latin typeface="Barlow"/>
                    <a:ea typeface="Barlow"/>
                    <a:cs typeface="Barlow"/>
                    <a:sym typeface="Barlow"/>
                  </a:rPr>
                  <a:t>Mapped and finalized specific SEC filing types and supporting forms across all corporate action categories.</a:t>
                </a:r>
                <a:endParaRPr b="0" sz="1300">
                  <a:solidFill>
                    <a:srgbClr val="33475B"/>
                  </a:solidFill>
                  <a:latin typeface="Barlow"/>
                  <a:ea typeface="Barlow"/>
                  <a:cs typeface="Barlow"/>
                  <a:sym typeface="Barlow"/>
                </a:endParaRPr>
              </a:p>
            </p:txBody>
          </p:sp>
        </p:grpSp>
        <p:pic>
          <p:nvPicPr>
            <p:cNvPr id="73" name="Google Shape;73;p16"/>
            <p:cNvPicPr preferRelativeResize="0"/>
            <p:nvPr/>
          </p:nvPicPr>
          <p:blipFill rotWithShape="1">
            <a:blip r:embed="rId4">
              <a:alphaModFix/>
            </a:blip>
            <a:srcRect b="0" l="0" r="0" t="0"/>
            <a:stretch/>
          </p:blipFill>
          <p:spPr>
            <a:xfrm>
              <a:off x="6096000" y="4938713"/>
              <a:ext cx="285900" cy="28500"/>
            </a:xfrm>
            <a:prstGeom prst="rect">
              <a:avLst/>
            </a:prstGeom>
            <a:noFill/>
            <a:ln>
              <a:noFill/>
            </a:ln>
          </p:spPr>
        </p:pic>
        <p:sp>
          <p:nvSpPr>
            <p:cNvPr id="74" name="Google Shape;74;p16"/>
            <p:cNvSpPr/>
            <p:nvPr/>
          </p:nvSpPr>
          <p:spPr>
            <a:xfrm>
              <a:off x="6381750" y="4876800"/>
              <a:ext cx="142800" cy="152400"/>
            </a:xfrm>
            <a:custGeom>
              <a:rect b="b" l="l" r="r" t="t"/>
              <a:pathLst>
                <a:path extrusionOk="0" h="120000" w="120000">
                  <a:moveTo>
                    <a:pt x="120000" y="60000"/>
                  </a:moveTo>
                  <a:lnTo>
                    <a:pt x="0" y="0"/>
                  </a:lnTo>
                  <a:lnTo>
                    <a:pt x="0" y="120000"/>
                  </a:lnTo>
                  <a:close/>
                </a:path>
              </a:pathLst>
            </a:custGeom>
            <a:solidFill>
              <a:srgbClr val="5980A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5" name="Google Shape;75;p16"/>
            <p:cNvGrpSpPr/>
            <p:nvPr/>
          </p:nvGrpSpPr>
          <p:grpSpPr>
            <a:xfrm>
              <a:off x="5667375" y="2095500"/>
              <a:ext cx="4762500" cy="5715000"/>
              <a:chOff x="0" y="0"/>
              <a:chExt cx="4762500" cy="5715000"/>
            </a:xfrm>
          </p:grpSpPr>
          <p:sp>
            <p:nvSpPr>
              <p:cNvPr id="76" name="Google Shape;76;p16"/>
              <p:cNvSpPr/>
              <p:nvPr/>
            </p:nvSpPr>
            <p:spPr>
              <a:xfrm>
                <a:off x="0" y="0"/>
                <a:ext cx="4762500" cy="57150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6"/>
              <p:cNvSpPr txBox="1"/>
              <p:nvPr/>
            </p:nvSpPr>
            <p:spPr>
              <a:xfrm>
                <a:off x="381000" y="381000"/>
                <a:ext cx="4000500" cy="495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200">
                    <a:solidFill>
                      <a:srgbClr val="5980A6"/>
                    </a:solidFill>
                    <a:latin typeface="Barlow Condensed"/>
                    <a:ea typeface="Barlow Condensed"/>
                    <a:cs typeface="Barlow Condensed"/>
                    <a:sym typeface="Barlow Condensed"/>
                  </a:rPr>
                  <a:t>STEP 02</a:t>
                </a:r>
                <a:endParaRPr b="1" sz="3200">
                  <a:solidFill>
                    <a:srgbClr val="5980A6"/>
                  </a:solidFill>
                  <a:latin typeface="Barlow Condensed"/>
                  <a:ea typeface="Barlow Condensed"/>
                  <a:cs typeface="Barlow Condensed"/>
                  <a:sym typeface="Barlow Condensed"/>
                </a:endParaRPr>
              </a:p>
              <a:p>
                <a:pPr indent="0" lvl="0" marL="0" rtl="0" algn="l">
                  <a:spcBef>
                    <a:spcPts val="900"/>
                  </a:spcBef>
                  <a:spcAft>
                    <a:spcPts val="0"/>
                  </a:spcAft>
                  <a:buNone/>
                </a:pPr>
                <a:r>
                  <a:rPr b="1" lang="en" sz="2400">
                    <a:solidFill>
                      <a:srgbClr val="1D1F20"/>
                    </a:solidFill>
                    <a:latin typeface="Barlow Condensed"/>
                    <a:ea typeface="Barlow Condensed"/>
                    <a:cs typeface="Barlow Condensed"/>
                    <a:sym typeface="Barlow Condensed"/>
                  </a:rPr>
                  <a:t>Load Action Data</a:t>
                </a:r>
                <a:endParaRPr b="1" sz="2400">
                  <a:solidFill>
                    <a:srgbClr val="1D1F20"/>
                  </a:solidFill>
                  <a:latin typeface="Barlow Condensed"/>
                  <a:ea typeface="Barlow Condensed"/>
                  <a:cs typeface="Barlow Condensed"/>
                  <a:sym typeface="Barlow Condensed"/>
                </a:endParaRPr>
              </a:p>
              <a:p>
                <a:pPr indent="0" lvl="0" marL="0" rtl="0" algn="l">
                  <a:spcBef>
                    <a:spcPts val="1500"/>
                  </a:spcBef>
                  <a:spcAft>
                    <a:spcPts val="0"/>
                  </a:spcAft>
                  <a:buNone/>
                </a:pPr>
                <a:r>
                  <a:rPr b="0" lang="en" sz="1300">
                    <a:solidFill>
                      <a:srgbClr val="33475B"/>
                    </a:solidFill>
                    <a:latin typeface="Barlow"/>
                    <a:ea typeface="Barlow"/>
                    <a:cs typeface="Barlow"/>
                    <a:sym typeface="Barlow"/>
                  </a:rPr>
                  <a:t>Ingested, structured, and loaded underlying dataset files for every target corporate action type.</a:t>
                </a:r>
                <a:endParaRPr b="0" sz="1300">
                  <a:solidFill>
                    <a:srgbClr val="33475B"/>
                  </a:solidFill>
                  <a:latin typeface="Barlow"/>
                  <a:ea typeface="Barlow"/>
                  <a:cs typeface="Barlow"/>
                  <a:sym typeface="Barlow"/>
                </a:endParaRPr>
              </a:p>
            </p:txBody>
          </p:sp>
        </p:grpSp>
        <p:pic>
          <p:nvPicPr>
            <p:cNvPr id="78" name="Google Shape;78;p16"/>
            <p:cNvPicPr preferRelativeResize="0"/>
            <p:nvPr/>
          </p:nvPicPr>
          <p:blipFill rotWithShape="1">
            <a:blip r:embed="rId4">
              <a:alphaModFix/>
            </a:blip>
            <a:srcRect b="0" l="0" r="0" t="0"/>
            <a:stretch/>
          </p:blipFill>
          <p:spPr>
            <a:xfrm>
              <a:off x="11763375" y="4938713"/>
              <a:ext cx="285900" cy="28500"/>
            </a:xfrm>
            <a:prstGeom prst="rect">
              <a:avLst/>
            </a:prstGeom>
            <a:noFill/>
            <a:ln>
              <a:noFill/>
            </a:ln>
          </p:spPr>
        </p:pic>
        <p:sp>
          <p:nvSpPr>
            <p:cNvPr id="79" name="Google Shape;79;p16"/>
            <p:cNvSpPr/>
            <p:nvPr/>
          </p:nvSpPr>
          <p:spPr>
            <a:xfrm>
              <a:off x="12049125" y="4876800"/>
              <a:ext cx="142800" cy="152400"/>
            </a:xfrm>
            <a:custGeom>
              <a:rect b="b" l="l" r="r" t="t"/>
              <a:pathLst>
                <a:path extrusionOk="0" h="120000" w="120000">
                  <a:moveTo>
                    <a:pt x="120000" y="60000"/>
                  </a:moveTo>
                  <a:lnTo>
                    <a:pt x="0" y="0"/>
                  </a:lnTo>
                  <a:lnTo>
                    <a:pt x="0" y="120000"/>
                  </a:lnTo>
                  <a:close/>
                </a:path>
              </a:pathLst>
            </a:custGeom>
            <a:solidFill>
              <a:srgbClr val="5980A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0" name="Google Shape;80;p16"/>
            <p:cNvGrpSpPr/>
            <p:nvPr/>
          </p:nvGrpSpPr>
          <p:grpSpPr>
            <a:xfrm>
              <a:off x="11334750" y="2095500"/>
              <a:ext cx="4762500" cy="5715000"/>
              <a:chOff x="0" y="0"/>
              <a:chExt cx="4762500" cy="5715000"/>
            </a:xfrm>
          </p:grpSpPr>
          <p:sp>
            <p:nvSpPr>
              <p:cNvPr id="81" name="Google Shape;81;p16"/>
              <p:cNvSpPr/>
              <p:nvPr/>
            </p:nvSpPr>
            <p:spPr>
              <a:xfrm>
                <a:off x="0" y="0"/>
                <a:ext cx="4762500" cy="5715000"/>
              </a:xfrm>
              <a:prstGeom prst="roundRect">
                <a:avLst>
                  <a:gd fmla="val 32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6"/>
              <p:cNvSpPr txBox="1"/>
              <p:nvPr/>
            </p:nvSpPr>
            <p:spPr>
              <a:xfrm>
                <a:off x="381000" y="381000"/>
                <a:ext cx="4000500" cy="495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200">
                    <a:solidFill>
                      <a:srgbClr val="5980A6"/>
                    </a:solidFill>
                    <a:latin typeface="Barlow Condensed"/>
                    <a:ea typeface="Barlow Condensed"/>
                    <a:cs typeface="Barlow Condensed"/>
                    <a:sym typeface="Barlow Condensed"/>
                  </a:rPr>
                  <a:t>STEP 03</a:t>
                </a:r>
                <a:endParaRPr b="1" sz="3200">
                  <a:solidFill>
                    <a:srgbClr val="5980A6"/>
                  </a:solidFill>
                  <a:latin typeface="Barlow Condensed"/>
                  <a:ea typeface="Barlow Condensed"/>
                  <a:cs typeface="Barlow Condensed"/>
                  <a:sym typeface="Barlow Condensed"/>
                </a:endParaRPr>
              </a:p>
              <a:p>
                <a:pPr indent="0" lvl="0" marL="0" rtl="0" algn="l">
                  <a:spcBef>
                    <a:spcPts val="900"/>
                  </a:spcBef>
                  <a:spcAft>
                    <a:spcPts val="0"/>
                  </a:spcAft>
                  <a:buNone/>
                </a:pPr>
                <a:r>
                  <a:rPr b="1" lang="en" sz="2400">
                    <a:solidFill>
                      <a:srgbClr val="1D1F20"/>
                    </a:solidFill>
                    <a:latin typeface="Barlow Condensed"/>
                    <a:ea typeface="Barlow Condensed"/>
                    <a:cs typeface="Barlow Condensed"/>
                    <a:sym typeface="Barlow Condensed"/>
                  </a:rPr>
                  <a:t>Explore Extraction Methods</a:t>
                </a:r>
                <a:endParaRPr b="1" sz="2400">
                  <a:solidFill>
                    <a:srgbClr val="1D1F20"/>
                  </a:solidFill>
                  <a:latin typeface="Barlow Condensed"/>
                  <a:ea typeface="Barlow Condensed"/>
                  <a:cs typeface="Barlow Condensed"/>
                  <a:sym typeface="Barlow Condensed"/>
                </a:endParaRPr>
              </a:p>
              <a:p>
                <a:pPr indent="0" lvl="0" marL="0" rtl="0" algn="l">
                  <a:spcBef>
                    <a:spcPts val="1500"/>
                  </a:spcBef>
                  <a:spcAft>
                    <a:spcPts val="0"/>
                  </a:spcAft>
                  <a:buNone/>
                </a:pPr>
                <a:r>
                  <a:rPr b="0" lang="en" sz="1300">
                    <a:solidFill>
                      <a:srgbClr val="33475B"/>
                    </a:solidFill>
                    <a:latin typeface="Barlow"/>
                    <a:ea typeface="Barlow"/>
                    <a:cs typeface="Barlow"/>
                    <a:sym typeface="Barlow"/>
                  </a:rPr>
                  <a:t>Researched, prototyped, and coded field extraction pipelines tailored to specific assigned action types.</a:t>
                </a:r>
                <a:endParaRPr b="0" sz="1300">
                  <a:solidFill>
                    <a:srgbClr val="33475B"/>
                  </a:solidFill>
                  <a:latin typeface="Barlow"/>
                  <a:ea typeface="Barlow"/>
                  <a:cs typeface="Barlow"/>
                  <a:sym typeface="Barlow"/>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p:nvPr/>
        </p:nvSpPr>
        <p:spPr>
          <a:xfrm>
            <a:off x="0" y="0"/>
            <a:ext cx="18288000" cy="102870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7"/>
          <p:cNvSpPr txBox="1"/>
          <p:nvPr/>
        </p:nvSpPr>
        <p:spPr>
          <a:xfrm>
            <a:off x="1095375" y="762000"/>
            <a:ext cx="16097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85">
                <a:solidFill>
                  <a:srgbClr val="1D1F20"/>
                </a:solidFill>
                <a:latin typeface="Barlow Condensed"/>
                <a:ea typeface="Barlow Condensed"/>
                <a:cs typeface="Barlow Condensed"/>
                <a:sym typeface="Barlow Condensed"/>
              </a:rPr>
              <a:t>Data Extraction &amp; Processing Files</a:t>
            </a:r>
            <a:endParaRPr b="1" sz="3885">
              <a:solidFill>
                <a:srgbClr val="1D1F20"/>
              </a:solidFill>
              <a:latin typeface="Barlow Condensed"/>
              <a:ea typeface="Barlow Condensed"/>
              <a:cs typeface="Barlow Condensed"/>
              <a:sym typeface="Barlow Condensed"/>
            </a:endParaRPr>
          </a:p>
          <a:p>
            <a:pPr indent="0" lvl="0" marL="0" rtl="0" algn="l">
              <a:spcBef>
                <a:spcPts val="0"/>
              </a:spcBef>
              <a:spcAft>
                <a:spcPts val="0"/>
              </a:spcAft>
              <a:buNone/>
            </a:pPr>
            <a:r>
              <a:rPr b="0" lang="en" sz="1480">
                <a:solidFill>
                  <a:srgbClr val="5980A6"/>
                </a:solidFill>
                <a:latin typeface="Barlow Medium"/>
                <a:ea typeface="Barlow Medium"/>
                <a:cs typeface="Barlow Medium"/>
                <a:sym typeface="Barlow Medium"/>
              </a:rPr>
              <a:t>Mapping Corporate Action Types to SEC Filings and Corpus Extraction Rules</a:t>
            </a:r>
            <a:endParaRPr b="0" sz="1480">
              <a:solidFill>
                <a:srgbClr val="5980A6"/>
              </a:solidFill>
              <a:latin typeface="Barlow Medium"/>
              <a:ea typeface="Barlow Medium"/>
              <a:cs typeface="Barlow Medium"/>
              <a:sym typeface="Barlow Medium"/>
            </a:endParaRPr>
          </a:p>
        </p:txBody>
      </p:sp>
      <p:grpSp>
        <p:nvGrpSpPr>
          <p:cNvPr id="89" name="Google Shape;89;p17"/>
          <p:cNvGrpSpPr/>
          <p:nvPr/>
        </p:nvGrpSpPr>
        <p:grpSpPr>
          <a:xfrm>
            <a:off x="1095375" y="1714500"/>
            <a:ext cx="16097400" cy="7905900"/>
            <a:chOff x="0" y="0"/>
            <a:chExt cx="16097400" cy="7905900"/>
          </a:xfrm>
        </p:grpSpPr>
        <p:sp>
          <p:nvSpPr>
            <p:cNvPr id="90" name="Google Shape;90;p17"/>
            <p:cNvSpPr/>
            <p:nvPr/>
          </p:nvSpPr>
          <p:spPr>
            <a:xfrm>
              <a:off x="0" y="0"/>
              <a:ext cx="16097400" cy="7905900"/>
            </a:xfrm>
            <a:prstGeom prst="roundRect">
              <a:avLst>
                <a:gd fmla="val 144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7"/>
            <p:cNvSpPr/>
            <p:nvPr/>
          </p:nvSpPr>
          <p:spPr>
            <a:xfrm>
              <a:off x="238125" y="190500"/>
              <a:ext cx="15621000" cy="523800"/>
            </a:xfrm>
            <a:prstGeom prst="roundRect">
              <a:avLst>
                <a:gd fmla="val 14545" name="adj"/>
              </a:avLst>
            </a:prstGeom>
            <a:solidFill>
              <a:srgbClr val="EBEE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7"/>
            <p:cNvSpPr txBox="1"/>
            <p:nvPr/>
          </p:nvSpPr>
          <p:spPr>
            <a:xfrm>
              <a:off x="428625" y="304800"/>
              <a:ext cx="2095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80">
                  <a:solidFill>
                    <a:srgbClr val="1D1F20"/>
                  </a:solidFill>
                  <a:latin typeface="Barlow Condensed"/>
                  <a:ea typeface="Barlow Condensed"/>
                  <a:cs typeface="Barlow Condensed"/>
                  <a:sym typeface="Barlow Condensed"/>
                </a:rPr>
                <a:t>Action Type</a:t>
              </a:r>
              <a:endParaRPr b="1" sz="1480">
                <a:solidFill>
                  <a:srgbClr val="1D1F20"/>
                </a:solidFill>
                <a:latin typeface="Barlow Condensed"/>
                <a:ea typeface="Barlow Condensed"/>
                <a:cs typeface="Barlow Condensed"/>
                <a:sym typeface="Barlow Condensed"/>
              </a:endParaRPr>
            </a:p>
          </p:txBody>
        </p:sp>
        <p:sp>
          <p:nvSpPr>
            <p:cNvPr id="93" name="Google Shape;93;p17"/>
            <p:cNvSpPr txBox="1"/>
            <p:nvPr/>
          </p:nvSpPr>
          <p:spPr>
            <a:xfrm>
              <a:off x="2714625" y="304800"/>
              <a:ext cx="1333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80">
                  <a:solidFill>
                    <a:srgbClr val="1D1F20"/>
                  </a:solidFill>
                  <a:latin typeface="Barlow Condensed"/>
                  <a:ea typeface="Barlow Condensed"/>
                  <a:cs typeface="Barlow Condensed"/>
                  <a:sym typeface="Barlow Condensed"/>
                </a:rPr>
                <a:t>Status</a:t>
              </a:r>
              <a:endParaRPr b="1" sz="1480">
                <a:solidFill>
                  <a:srgbClr val="1D1F20"/>
                </a:solidFill>
                <a:latin typeface="Barlow Condensed"/>
                <a:ea typeface="Barlow Condensed"/>
                <a:cs typeface="Barlow Condensed"/>
                <a:sym typeface="Barlow Condensed"/>
              </a:endParaRPr>
            </a:p>
          </p:txBody>
        </p:sp>
        <p:sp>
          <p:nvSpPr>
            <p:cNvPr id="94" name="Google Shape;94;p17"/>
            <p:cNvSpPr txBox="1"/>
            <p:nvPr/>
          </p:nvSpPr>
          <p:spPr>
            <a:xfrm>
              <a:off x="4238625" y="304800"/>
              <a:ext cx="5334000" cy="333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480" u="none" strike="noStrike">
                  <a:solidFill>
                    <a:srgbClr val="1D1F20"/>
                  </a:solidFill>
                  <a:latin typeface="Barlow Condensed"/>
                  <a:ea typeface="Barlow Condensed"/>
                  <a:cs typeface="Barlow Condensed"/>
                  <a:sym typeface="Barlow Condensed"/>
                </a:rPr>
                <a:t>Primary SEC Forms</a:t>
              </a:r>
              <a:endParaRPr b="1" i="0" sz="1480" u="none" strike="noStrike">
                <a:solidFill>
                  <a:srgbClr val="1D1F20"/>
                </a:solidFill>
                <a:latin typeface="Barlow Condensed"/>
                <a:ea typeface="Barlow Condensed"/>
                <a:cs typeface="Barlow Condensed"/>
                <a:sym typeface="Barlow Condensed"/>
              </a:endParaRPr>
            </a:p>
          </p:txBody>
        </p:sp>
        <p:sp>
          <p:nvSpPr>
            <p:cNvPr id="95" name="Google Shape;95;p17"/>
            <p:cNvSpPr txBox="1"/>
            <p:nvPr/>
          </p:nvSpPr>
          <p:spPr>
            <a:xfrm>
              <a:off x="9953625" y="304800"/>
              <a:ext cx="5524500" cy="333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480" u="none" strike="noStrike">
                  <a:solidFill>
                    <a:srgbClr val="1D1F20"/>
                  </a:solidFill>
                  <a:latin typeface="Barlow Condensed"/>
                  <a:ea typeface="Barlow Condensed"/>
                  <a:cs typeface="Barlow Condensed"/>
                  <a:sym typeface="Barlow Condensed"/>
                </a:rPr>
                <a:t>Supporting SEC Forms</a:t>
              </a:r>
              <a:endParaRPr b="1" i="0" sz="1480" u="none" strike="noStrike">
                <a:solidFill>
                  <a:srgbClr val="1D1F20"/>
                </a:solidFill>
                <a:latin typeface="Barlow Condensed"/>
                <a:ea typeface="Barlow Condensed"/>
                <a:cs typeface="Barlow Condensed"/>
                <a:sym typeface="Barlow Condensed"/>
              </a:endParaRPr>
            </a:p>
          </p:txBody>
        </p:sp>
        <p:grpSp>
          <p:nvGrpSpPr>
            <p:cNvPr id="96" name="Google Shape;96;p17"/>
            <p:cNvGrpSpPr/>
            <p:nvPr/>
          </p:nvGrpSpPr>
          <p:grpSpPr>
            <a:xfrm>
              <a:off x="238125" y="857250"/>
              <a:ext cx="15621000" cy="1143000"/>
              <a:chOff x="0" y="0"/>
              <a:chExt cx="15621000" cy="1143000"/>
            </a:xfrm>
          </p:grpSpPr>
          <p:cxnSp>
            <p:nvCxnSpPr>
              <p:cNvPr id="97" name="Google Shape;97;p17"/>
              <p:cNvCxnSpPr/>
              <p:nvPr/>
            </p:nvCxnSpPr>
            <p:spPr>
              <a:xfrm>
                <a:off x="0" y="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sp>
            <p:nvSpPr>
              <p:cNvPr id="98" name="Google Shape;98;p17"/>
              <p:cNvSpPr txBox="1"/>
              <p:nvPr/>
            </p:nvSpPr>
            <p:spPr>
              <a:xfrm>
                <a:off x="190500" y="190500"/>
                <a:ext cx="2095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D1F20"/>
                    </a:solidFill>
                    <a:latin typeface="Barlow Condensed"/>
                    <a:ea typeface="Barlow Condensed"/>
                    <a:cs typeface="Barlow Condensed"/>
                    <a:sym typeface="Barlow Condensed"/>
                  </a:rPr>
                  <a:t>TENDER OFFER</a:t>
                </a:r>
                <a:endParaRPr b="1" sz="1800">
                  <a:solidFill>
                    <a:srgbClr val="1D1F20"/>
                  </a:solidFill>
                  <a:latin typeface="Barlow Condensed"/>
                  <a:ea typeface="Barlow Condensed"/>
                  <a:cs typeface="Barlow Condensed"/>
                  <a:sym typeface="Barlow Condensed"/>
                </a:endParaRPr>
              </a:p>
            </p:txBody>
          </p:sp>
          <p:sp>
            <p:nvSpPr>
              <p:cNvPr id="99" name="Google Shape;99;p17"/>
              <p:cNvSpPr/>
              <p:nvPr/>
            </p:nvSpPr>
            <p:spPr>
              <a:xfrm>
                <a:off x="2476500" y="190500"/>
                <a:ext cx="857400" cy="247800"/>
              </a:xfrm>
              <a:prstGeom prst="roundRect">
                <a:avLst>
                  <a:gd fmla="val 46153" name="adj"/>
                </a:avLst>
              </a:prstGeom>
              <a:solidFill>
                <a:srgbClr val="E7F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7"/>
              <p:cNvSpPr txBox="1"/>
              <p:nvPr/>
            </p:nvSpPr>
            <p:spPr>
              <a:xfrm>
                <a:off x="2476500" y="228600"/>
                <a:ext cx="857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D6EFD"/>
                    </a:solidFill>
                    <a:latin typeface="Barlow"/>
                    <a:ea typeface="Barlow"/>
                    <a:cs typeface="Barlow"/>
                    <a:sym typeface="Barlow"/>
                  </a:rPr>
                  <a:t>COLLECTED</a:t>
                </a:r>
                <a:endParaRPr b="1" sz="1100">
                  <a:solidFill>
                    <a:srgbClr val="0D6EFD"/>
                  </a:solidFill>
                  <a:latin typeface="Barlow"/>
                  <a:ea typeface="Barlow"/>
                  <a:cs typeface="Barlow"/>
                  <a:sym typeface="Barlow"/>
                </a:endParaRPr>
              </a:p>
            </p:txBody>
          </p:sp>
          <p:sp>
            <p:nvSpPr>
              <p:cNvPr id="101" name="Google Shape;101;p17"/>
              <p:cNvSpPr txBox="1"/>
              <p:nvPr/>
            </p:nvSpPr>
            <p:spPr>
              <a:xfrm>
                <a:off x="4000500" y="190500"/>
                <a:ext cx="53340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SC TO-T, SC TO-T/A, SC TO-I, SC TO-I/A</a:t>
                </a:r>
                <a:endParaRPr b="0" i="0" sz="1200" u="none" strike="noStrike">
                  <a:solidFill>
                    <a:srgbClr val="2B3A4A"/>
                  </a:solidFill>
                  <a:latin typeface="Roboto Mono Medium"/>
                  <a:ea typeface="Roboto Mono Medium"/>
                  <a:cs typeface="Roboto Mono Medium"/>
                  <a:sym typeface="Roboto Mono Medium"/>
                </a:endParaRPr>
              </a:p>
            </p:txBody>
          </p:sp>
          <p:sp>
            <p:nvSpPr>
              <p:cNvPr id="102" name="Google Shape;102;p17"/>
              <p:cNvSpPr txBox="1"/>
              <p:nvPr/>
            </p:nvSpPr>
            <p:spPr>
              <a:xfrm>
                <a:off x="9715500" y="190500"/>
                <a:ext cx="5524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SC 14D9, SC 14D9/A</a:t>
                </a:r>
                <a:endParaRPr b="0" i="0" sz="1200" u="none" strike="noStrike">
                  <a:solidFill>
                    <a:srgbClr val="2B3A4A"/>
                  </a:solidFill>
                  <a:latin typeface="Roboto Mono Medium"/>
                  <a:ea typeface="Roboto Mono Medium"/>
                  <a:cs typeface="Roboto Mono Medium"/>
                  <a:sym typeface="Roboto Mono Medium"/>
                </a:endParaRPr>
              </a:p>
            </p:txBody>
          </p:sp>
        </p:grpSp>
        <p:grpSp>
          <p:nvGrpSpPr>
            <p:cNvPr id="103" name="Google Shape;103;p17"/>
            <p:cNvGrpSpPr/>
            <p:nvPr/>
          </p:nvGrpSpPr>
          <p:grpSpPr>
            <a:xfrm>
              <a:off x="238125" y="2190750"/>
              <a:ext cx="15621000" cy="1143000"/>
              <a:chOff x="0" y="0"/>
              <a:chExt cx="15621000" cy="1143000"/>
            </a:xfrm>
          </p:grpSpPr>
          <p:cxnSp>
            <p:nvCxnSpPr>
              <p:cNvPr id="104" name="Google Shape;104;p17"/>
              <p:cNvCxnSpPr/>
              <p:nvPr/>
            </p:nvCxnSpPr>
            <p:spPr>
              <a:xfrm>
                <a:off x="0" y="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sp>
            <p:nvSpPr>
              <p:cNvPr id="105" name="Google Shape;105;p17"/>
              <p:cNvSpPr txBox="1"/>
              <p:nvPr/>
            </p:nvSpPr>
            <p:spPr>
              <a:xfrm>
                <a:off x="190500" y="190500"/>
                <a:ext cx="2095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D1F20"/>
                    </a:solidFill>
                    <a:latin typeface="Barlow Condensed"/>
                    <a:ea typeface="Barlow Condensed"/>
                    <a:cs typeface="Barlow Condensed"/>
                    <a:sym typeface="Barlow Condensed"/>
                  </a:rPr>
                  <a:t>EXCHANGE</a:t>
                </a:r>
                <a:endParaRPr b="1" sz="1800">
                  <a:solidFill>
                    <a:srgbClr val="1D1F20"/>
                  </a:solidFill>
                  <a:latin typeface="Barlow Condensed"/>
                  <a:ea typeface="Barlow Condensed"/>
                  <a:cs typeface="Barlow Condensed"/>
                  <a:sym typeface="Barlow Condensed"/>
                </a:endParaRPr>
              </a:p>
            </p:txBody>
          </p:sp>
          <p:sp>
            <p:nvSpPr>
              <p:cNvPr id="106" name="Google Shape;106;p17"/>
              <p:cNvSpPr/>
              <p:nvPr/>
            </p:nvSpPr>
            <p:spPr>
              <a:xfrm>
                <a:off x="2476500" y="190500"/>
                <a:ext cx="857400" cy="247800"/>
              </a:xfrm>
              <a:prstGeom prst="roundRect">
                <a:avLst>
                  <a:gd fmla="val 46153" name="adj"/>
                </a:avLst>
              </a:prstGeom>
              <a:solidFill>
                <a:srgbClr val="E7F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7"/>
              <p:cNvSpPr txBox="1"/>
              <p:nvPr/>
            </p:nvSpPr>
            <p:spPr>
              <a:xfrm>
                <a:off x="2476500" y="228600"/>
                <a:ext cx="857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D6EFD"/>
                    </a:solidFill>
                    <a:latin typeface="Barlow"/>
                    <a:ea typeface="Barlow"/>
                    <a:cs typeface="Barlow"/>
                    <a:sym typeface="Barlow"/>
                  </a:rPr>
                  <a:t>COLLECTED</a:t>
                </a:r>
                <a:endParaRPr b="1" sz="1100">
                  <a:solidFill>
                    <a:srgbClr val="0D6EFD"/>
                  </a:solidFill>
                  <a:latin typeface="Barlow"/>
                  <a:ea typeface="Barlow"/>
                  <a:cs typeface="Barlow"/>
                  <a:sym typeface="Barlow"/>
                </a:endParaRPr>
              </a:p>
            </p:txBody>
          </p:sp>
          <p:sp>
            <p:nvSpPr>
              <p:cNvPr id="108" name="Google Shape;108;p17"/>
              <p:cNvSpPr txBox="1"/>
              <p:nvPr/>
            </p:nvSpPr>
            <p:spPr>
              <a:xfrm>
                <a:off x="4000500" y="190500"/>
                <a:ext cx="53340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2B3A4A"/>
                    </a:solidFill>
                    <a:latin typeface="Roboto Mono Medium"/>
                    <a:ea typeface="Roboto Mono Medium"/>
                    <a:cs typeface="Roboto Mono Medium"/>
                    <a:sym typeface="Roboto Mono Medium"/>
                  </a:rPr>
                  <a:t>SC TO-T, SC TO-T/A, SC TO-I, SC TO-I/A, S-4, S-4/A, F-4, F-4/A, 424B3</a:t>
                </a:r>
                <a:endParaRPr b="0" i="0" sz="1200" u="none" strike="noStrike">
                  <a:solidFill>
                    <a:srgbClr val="2B3A4A"/>
                  </a:solidFill>
                  <a:latin typeface="Roboto Mono Medium"/>
                  <a:ea typeface="Roboto Mono Medium"/>
                  <a:cs typeface="Roboto Mono Medium"/>
                  <a:sym typeface="Roboto Mono Medium"/>
                </a:endParaRPr>
              </a:p>
            </p:txBody>
          </p:sp>
          <p:sp>
            <p:nvSpPr>
              <p:cNvPr id="109" name="Google Shape;109;p17"/>
              <p:cNvSpPr txBox="1"/>
              <p:nvPr/>
            </p:nvSpPr>
            <p:spPr>
              <a:xfrm>
                <a:off x="9715500" y="190500"/>
                <a:ext cx="5524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2B3A4A"/>
                    </a:solidFill>
                    <a:latin typeface="Roboto Mono Medium"/>
                    <a:ea typeface="Roboto Mono Medium"/>
                    <a:cs typeface="Roboto Mono Medium"/>
                    <a:sym typeface="Roboto Mono Medium"/>
                  </a:rPr>
                  <a:t>SC 14D9, SC 14D9/A, SC TO-C, 425, 8-K, 6-K </a:t>
                </a:r>
                <a:endParaRPr sz="1200">
                  <a:solidFill>
                    <a:srgbClr val="2B3A4A"/>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200">
                    <a:solidFill>
                      <a:srgbClr val="2B3A4A"/>
                    </a:solidFill>
                    <a:latin typeface="Roboto Mono Medium"/>
                    <a:ea typeface="Roboto Mono Medium"/>
                    <a:cs typeface="Roboto Mono Medium"/>
                    <a:sym typeface="Roboto Mono Medium"/>
                  </a:rPr>
                  <a:t>(Conditional - SC 13E3, SC 13E3/A)</a:t>
                </a:r>
                <a:endParaRPr b="0" i="0" sz="1200" u="none" strike="noStrike">
                  <a:solidFill>
                    <a:srgbClr val="2B3A4A"/>
                  </a:solidFill>
                  <a:latin typeface="Roboto Mono Medium"/>
                  <a:ea typeface="Roboto Mono Medium"/>
                  <a:cs typeface="Roboto Mono Medium"/>
                  <a:sym typeface="Roboto Mono Medium"/>
                </a:endParaRPr>
              </a:p>
            </p:txBody>
          </p:sp>
        </p:grpSp>
        <p:grpSp>
          <p:nvGrpSpPr>
            <p:cNvPr id="110" name="Google Shape;110;p17"/>
            <p:cNvGrpSpPr/>
            <p:nvPr/>
          </p:nvGrpSpPr>
          <p:grpSpPr>
            <a:xfrm>
              <a:off x="238125" y="3524250"/>
              <a:ext cx="15621000" cy="1143000"/>
              <a:chOff x="0" y="0"/>
              <a:chExt cx="15621000" cy="1143000"/>
            </a:xfrm>
          </p:grpSpPr>
          <p:cxnSp>
            <p:nvCxnSpPr>
              <p:cNvPr id="111" name="Google Shape;111;p17"/>
              <p:cNvCxnSpPr/>
              <p:nvPr/>
            </p:nvCxnSpPr>
            <p:spPr>
              <a:xfrm>
                <a:off x="0" y="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sp>
            <p:nvSpPr>
              <p:cNvPr id="112" name="Google Shape;112;p17"/>
              <p:cNvSpPr txBox="1"/>
              <p:nvPr/>
            </p:nvSpPr>
            <p:spPr>
              <a:xfrm>
                <a:off x="190500" y="190500"/>
                <a:ext cx="2095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D1F20"/>
                    </a:solidFill>
                    <a:latin typeface="Barlow Condensed"/>
                    <a:ea typeface="Barlow Condensed"/>
                    <a:cs typeface="Barlow Condensed"/>
                    <a:sym typeface="Barlow Condensed"/>
                  </a:rPr>
                  <a:t>RIGHTS ISSUE</a:t>
                </a:r>
                <a:endParaRPr b="1" sz="1800">
                  <a:solidFill>
                    <a:srgbClr val="1D1F20"/>
                  </a:solidFill>
                  <a:latin typeface="Barlow Condensed"/>
                  <a:ea typeface="Barlow Condensed"/>
                  <a:cs typeface="Barlow Condensed"/>
                  <a:sym typeface="Barlow Condensed"/>
                </a:endParaRPr>
              </a:p>
            </p:txBody>
          </p:sp>
          <p:sp>
            <p:nvSpPr>
              <p:cNvPr id="113" name="Google Shape;113;p17"/>
              <p:cNvSpPr/>
              <p:nvPr/>
            </p:nvSpPr>
            <p:spPr>
              <a:xfrm>
                <a:off x="2476500" y="190500"/>
                <a:ext cx="857400" cy="247800"/>
              </a:xfrm>
              <a:prstGeom prst="roundRect">
                <a:avLst>
                  <a:gd fmla="val 46153" name="adj"/>
                </a:avLst>
              </a:prstGeom>
              <a:solidFill>
                <a:srgbClr val="E7F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7"/>
              <p:cNvSpPr txBox="1"/>
              <p:nvPr/>
            </p:nvSpPr>
            <p:spPr>
              <a:xfrm>
                <a:off x="2476500" y="228600"/>
                <a:ext cx="857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D6EFD"/>
                    </a:solidFill>
                    <a:latin typeface="Barlow"/>
                    <a:ea typeface="Barlow"/>
                    <a:cs typeface="Barlow"/>
                    <a:sym typeface="Barlow"/>
                  </a:rPr>
                  <a:t>COLLECTED</a:t>
                </a:r>
                <a:endParaRPr b="1" sz="1100">
                  <a:solidFill>
                    <a:srgbClr val="0D6EFD"/>
                  </a:solidFill>
                  <a:latin typeface="Barlow"/>
                  <a:ea typeface="Barlow"/>
                  <a:cs typeface="Barlow"/>
                  <a:sym typeface="Barlow"/>
                </a:endParaRPr>
              </a:p>
            </p:txBody>
          </p:sp>
          <p:sp>
            <p:nvSpPr>
              <p:cNvPr id="115" name="Google Shape;115;p17"/>
              <p:cNvSpPr txBox="1"/>
              <p:nvPr/>
            </p:nvSpPr>
            <p:spPr>
              <a:xfrm>
                <a:off x="4000500" y="190500"/>
                <a:ext cx="53340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424B2, 424B3, 424B5, S-3, S-3ASR</a:t>
                </a:r>
                <a:endParaRPr b="0" i="0" sz="1200" u="none" strike="noStrike">
                  <a:solidFill>
                    <a:srgbClr val="2B3A4A"/>
                  </a:solidFill>
                  <a:latin typeface="Roboto Mono Medium"/>
                  <a:ea typeface="Roboto Mono Medium"/>
                  <a:cs typeface="Roboto Mono Medium"/>
                  <a:sym typeface="Roboto Mono Medium"/>
                </a:endParaRPr>
              </a:p>
            </p:txBody>
          </p:sp>
          <p:sp>
            <p:nvSpPr>
              <p:cNvPr id="116" name="Google Shape;116;p17"/>
              <p:cNvSpPr txBox="1"/>
              <p:nvPr/>
            </p:nvSpPr>
            <p:spPr>
              <a:xfrm>
                <a:off x="9715500" y="190500"/>
                <a:ext cx="5524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8-K, 424B4</a:t>
                </a:r>
                <a:endParaRPr b="0" i="0" sz="1200" u="none" strike="noStrike">
                  <a:solidFill>
                    <a:srgbClr val="2B3A4A"/>
                  </a:solidFill>
                  <a:latin typeface="Roboto Mono Medium"/>
                  <a:ea typeface="Roboto Mono Medium"/>
                  <a:cs typeface="Roboto Mono Medium"/>
                  <a:sym typeface="Roboto Mono Medium"/>
                </a:endParaRPr>
              </a:p>
            </p:txBody>
          </p:sp>
        </p:grpSp>
        <p:grpSp>
          <p:nvGrpSpPr>
            <p:cNvPr id="117" name="Google Shape;117;p17"/>
            <p:cNvGrpSpPr/>
            <p:nvPr/>
          </p:nvGrpSpPr>
          <p:grpSpPr>
            <a:xfrm>
              <a:off x="238125" y="4857750"/>
              <a:ext cx="15621000" cy="1143000"/>
              <a:chOff x="0" y="0"/>
              <a:chExt cx="15621000" cy="1143000"/>
            </a:xfrm>
          </p:grpSpPr>
          <p:cxnSp>
            <p:nvCxnSpPr>
              <p:cNvPr id="118" name="Google Shape;118;p17"/>
              <p:cNvCxnSpPr/>
              <p:nvPr/>
            </p:nvCxnSpPr>
            <p:spPr>
              <a:xfrm>
                <a:off x="0" y="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sp>
            <p:nvSpPr>
              <p:cNvPr id="119" name="Google Shape;119;p17"/>
              <p:cNvSpPr txBox="1"/>
              <p:nvPr/>
            </p:nvSpPr>
            <p:spPr>
              <a:xfrm>
                <a:off x="190500" y="190500"/>
                <a:ext cx="2095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D1F20"/>
                    </a:solidFill>
                    <a:latin typeface="Barlow Condensed"/>
                    <a:ea typeface="Barlow Condensed"/>
                    <a:cs typeface="Barlow Condensed"/>
                    <a:sym typeface="Barlow Condensed"/>
                  </a:rPr>
                  <a:t>MERGER</a:t>
                </a:r>
                <a:endParaRPr b="1" sz="1800">
                  <a:solidFill>
                    <a:srgbClr val="1D1F20"/>
                  </a:solidFill>
                  <a:latin typeface="Barlow Condensed"/>
                  <a:ea typeface="Barlow Condensed"/>
                  <a:cs typeface="Barlow Condensed"/>
                  <a:sym typeface="Barlow Condensed"/>
                </a:endParaRPr>
              </a:p>
            </p:txBody>
          </p:sp>
          <p:sp>
            <p:nvSpPr>
              <p:cNvPr id="120" name="Google Shape;120;p17"/>
              <p:cNvSpPr/>
              <p:nvPr/>
            </p:nvSpPr>
            <p:spPr>
              <a:xfrm>
                <a:off x="2476500" y="190500"/>
                <a:ext cx="857400" cy="247800"/>
              </a:xfrm>
              <a:prstGeom prst="roundRect">
                <a:avLst>
                  <a:gd fmla="val 46153" name="adj"/>
                </a:avLst>
              </a:prstGeom>
              <a:solidFill>
                <a:srgbClr val="E7F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7"/>
              <p:cNvSpPr txBox="1"/>
              <p:nvPr/>
            </p:nvSpPr>
            <p:spPr>
              <a:xfrm>
                <a:off x="2476500" y="228600"/>
                <a:ext cx="857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D6EFD"/>
                    </a:solidFill>
                    <a:latin typeface="Barlow"/>
                    <a:ea typeface="Barlow"/>
                    <a:cs typeface="Barlow"/>
                    <a:sym typeface="Barlow"/>
                  </a:rPr>
                  <a:t>COLLECTED</a:t>
                </a:r>
                <a:endParaRPr b="1" sz="1100">
                  <a:solidFill>
                    <a:srgbClr val="0D6EFD"/>
                  </a:solidFill>
                  <a:latin typeface="Barlow"/>
                  <a:ea typeface="Barlow"/>
                  <a:cs typeface="Barlow"/>
                  <a:sym typeface="Barlow"/>
                </a:endParaRPr>
              </a:p>
            </p:txBody>
          </p:sp>
          <p:sp>
            <p:nvSpPr>
              <p:cNvPr id="122" name="Google Shape;122;p17"/>
              <p:cNvSpPr txBox="1"/>
              <p:nvPr/>
            </p:nvSpPr>
            <p:spPr>
              <a:xfrm>
                <a:off x="4000500" y="190500"/>
                <a:ext cx="53340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DEFM14A, PREM14A, S-4, S-4/A, SC 13E3, SC 13E3/A</a:t>
                </a:r>
                <a:endParaRPr b="0" i="0" sz="1200" u="none" strike="noStrike">
                  <a:solidFill>
                    <a:srgbClr val="2B3A4A"/>
                  </a:solidFill>
                  <a:latin typeface="Roboto Mono Medium"/>
                  <a:ea typeface="Roboto Mono Medium"/>
                  <a:cs typeface="Roboto Mono Medium"/>
                  <a:sym typeface="Roboto Mono Medium"/>
                </a:endParaRPr>
              </a:p>
            </p:txBody>
          </p:sp>
          <p:sp>
            <p:nvSpPr>
              <p:cNvPr id="123" name="Google Shape;123;p17"/>
              <p:cNvSpPr txBox="1"/>
              <p:nvPr/>
            </p:nvSpPr>
            <p:spPr>
              <a:xfrm>
                <a:off x="9715500" y="190500"/>
                <a:ext cx="5524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8-K, 425</a:t>
                </a:r>
                <a:endParaRPr b="0" i="0" sz="1200" u="none" strike="noStrike">
                  <a:solidFill>
                    <a:srgbClr val="2B3A4A"/>
                  </a:solidFill>
                  <a:latin typeface="Roboto Mono Medium"/>
                  <a:ea typeface="Roboto Mono Medium"/>
                  <a:cs typeface="Roboto Mono Medium"/>
                  <a:sym typeface="Roboto Mono Medium"/>
                </a:endParaRPr>
              </a:p>
            </p:txBody>
          </p:sp>
        </p:grpSp>
        <p:grpSp>
          <p:nvGrpSpPr>
            <p:cNvPr id="124" name="Google Shape;124;p17"/>
            <p:cNvGrpSpPr/>
            <p:nvPr/>
          </p:nvGrpSpPr>
          <p:grpSpPr>
            <a:xfrm>
              <a:off x="238125" y="6191250"/>
              <a:ext cx="15621000" cy="1143000"/>
              <a:chOff x="0" y="0"/>
              <a:chExt cx="15621000" cy="1143000"/>
            </a:xfrm>
          </p:grpSpPr>
          <p:cxnSp>
            <p:nvCxnSpPr>
              <p:cNvPr id="125" name="Google Shape;125;p17"/>
              <p:cNvCxnSpPr/>
              <p:nvPr/>
            </p:nvCxnSpPr>
            <p:spPr>
              <a:xfrm>
                <a:off x="0" y="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sp>
            <p:nvSpPr>
              <p:cNvPr id="126" name="Google Shape;126;p17"/>
              <p:cNvSpPr txBox="1"/>
              <p:nvPr/>
            </p:nvSpPr>
            <p:spPr>
              <a:xfrm>
                <a:off x="190500" y="190500"/>
                <a:ext cx="2095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D1F20"/>
                    </a:solidFill>
                    <a:latin typeface="Barlow Condensed"/>
                    <a:ea typeface="Barlow Condensed"/>
                    <a:cs typeface="Barlow Condensed"/>
                    <a:sym typeface="Barlow Condensed"/>
                  </a:rPr>
                  <a:t>CONVERSION</a:t>
                </a:r>
                <a:endParaRPr b="1" sz="1800">
                  <a:solidFill>
                    <a:srgbClr val="1D1F20"/>
                  </a:solidFill>
                  <a:latin typeface="Barlow Condensed"/>
                  <a:ea typeface="Barlow Condensed"/>
                  <a:cs typeface="Barlow Condensed"/>
                  <a:sym typeface="Barlow Condensed"/>
                </a:endParaRPr>
              </a:p>
            </p:txBody>
          </p:sp>
          <p:sp>
            <p:nvSpPr>
              <p:cNvPr id="127" name="Google Shape;127;p17"/>
              <p:cNvSpPr/>
              <p:nvPr/>
            </p:nvSpPr>
            <p:spPr>
              <a:xfrm>
                <a:off x="2476500" y="190500"/>
                <a:ext cx="857400" cy="247800"/>
              </a:xfrm>
              <a:prstGeom prst="roundRect">
                <a:avLst>
                  <a:gd fmla="val 46153" name="adj"/>
                </a:avLst>
              </a:prstGeom>
              <a:solidFill>
                <a:srgbClr val="E7F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7"/>
              <p:cNvSpPr txBox="1"/>
              <p:nvPr/>
            </p:nvSpPr>
            <p:spPr>
              <a:xfrm>
                <a:off x="2476500" y="228600"/>
                <a:ext cx="857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D6EFD"/>
                    </a:solidFill>
                    <a:latin typeface="Barlow"/>
                    <a:ea typeface="Barlow"/>
                    <a:cs typeface="Barlow"/>
                    <a:sym typeface="Barlow"/>
                  </a:rPr>
                  <a:t>COLLECTED</a:t>
                </a:r>
                <a:endParaRPr b="1" sz="1100">
                  <a:solidFill>
                    <a:srgbClr val="0D6EFD"/>
                  </a:solidFill>
                  <a:latin typeface="Barlow"/>
                  <a:ea typeface="Barlow"/>
                  <a:cs typeface="Barlow"/>
                  <a:sym typeface="Barlow"/>
                </a:endParaRPr>
              </a:p>
            </p:txBody>
          </p:sp>
          <p:sp>
            <p:nvSpPr>
              <p:cNvPr id="129" name="Google Shape;129;p17"/>
              <p:cNvSpPr txBox="1"/>
              <p:nvPr/>
            </p:nvSpPr>
            <p:spPr>
              <a:xfrm>
                <a:off x="4000500" y="190500"/>
                <a:ext cx="53340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8-K, 424B2, 424B3, S-3, S-3ASR</a:t>
                </a:r>
                <a:endParaRPr b="0" i="0" sz="1200" u="none" strike="noStrike">
                  <a:solidFill>
                    <a:srgbClr val="2B3A4A"/>
                  </a:solidFill>
                  <a:latin typeface="Roboto Mono Medium"/>
                  <a:ea typeface="Roboto Mono Medium"/>
                  <a:cs typeface="Roboto Mono Medium"/>
                  <a:sym typeface="Roboto Mono Medium"/>
                </a:endParaRPr>
              </a:p>
            </p:txBody>
          </p:sp>
          <p:sp>
            <p:nvSpPr>
              <p:cNvPr id="130" name="Google Shape;130;p17"/>
              <p:cNvSpPr txBox="1"/>
              <p:nvPr/>
            </p:nvSpPr>
            <p:spPr>
              <a:xfrm>
                <a:off x="9715500" y="190500"/>
                <a:ext cx="5524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00" u="none" strike="noStrike">
                    <a:solidFill>
                      <a:srgbClr val="2B3A4A"/>
                    </a:solidFill>
                    <a:latin typeface="Roboto Mono Medium"/>
                    <a:ea typeface="Roboto Mono Medium"/>
                    <a:cs typeface="Roboto Mono Medium"/>
                    <a:sym typeface="Roboto Mono Medium"/>
                  </a:rPr>
                  <a:t>10-K, 10-Q</a:t>
                </a:r>
                <a:endParaRPr b="0" i="0" sz="1200" u="none" strike="noStrike">
                  <a:solidFill>
                    <a:srgbClr val="2B3A4A"/>
                  </a:solidFill>
                  <a:latin typeface="Roboto Mono Medium"/>
                  <a:ea typeface="Roboto Mono Medium"/>
                  <a:cs typeface="Roboto Mono Medium"/>
                  <a:sym typeface="Roboto Mono Medium"/>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18"/>
          <p:cNvSpPr txBox="1"/>
          <p:nvPr/>
        </p:nvSpPr>
        <p:spPr>
          <a:xfrm>
            <a:off x="952500" y="476250"/>
            <a:ext cx="16383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515">
                <a:solidFill>
                  <a:srgbClr val="111827"/>
                </a:solidFill>
                <a:latin typeface="Barlow Condensed"/>
                <a:ea typeface="Barlow Condensed"/>
                <a:cs typeface="Barlow Condensed"/>
                <a:sym typeface="Barlow Condensed"/>
              </a:rPr>
              <a:t>Tender Offer: Document Package Architecture</a:t>
            </a:r>
            <a:endParaRPr b="1" sz="3515">
              <a:solidFill>
                <a:srgbClr val="111827"/>
              </a:solidFill>
              <a:latin typeface="Barlow Condensed"/>
              <a:ea typeface="Barlow Condensed"/>
              <a:cs typeface="Barlow Condensed"/>
              <a:sym typeface="Barlow Condensed"/>
            </a:endParaRPr>
          </a:p>
          <a:p>
            <a:pPr indent="0" lvl="0" marL="0" rtl="0" algn="l">
              <a:spcBef>
                <a:spcPts val="300"/>
              </a:spcBef>
              <a:spcAft>
                <a:spcPts val="0"/>
              </a:spcAft>
              <a:buNone/>
            </a:pPr>
            <a:r>
              <a:rPr b="0" lang="en" sz="1295">
                <a:solidFill>
                  <a:srgbClr val="4B5563"/>
                </a:solidFill>
                <a:latin typeface="Barlow Medium"/>
                <a:ea typeface="Barlow Medium"/>
                <a:cs typeface="Barlow Medium"/>
                <a:sym typeface="Barlow Medium"/>
              </a:rPr>
              <a:t>Multi-document SEC filing relationships, document roles, and event-level processing hierarchy</a:t>
            </a:r>
            <a:endParaRPr b="0" sz="1295">
              <a:solidFill>
                <a:srgbClr val="4B5563"/>
              </a:solidFill>
              <a:latin typeface="Barlow Medium"/>
              <a:ea typeface="Barlow Medium"/>
              <a:cs typeface="Barlow Medium"/>
              <a:sym typeface="Barlow Medium"/>
            </a:endParaRPr>
          </a:p>
        </p:txBody>
      </p:sp>
      <p:grpSp>
        <p:nvGrpSpPr>
          <p:cNvPr id="136" name="Google Shape;136;p18"/>
          <p:cNvGrpSpPr/>
          <p:nvPr/>
        </p:nvGrpSpPr>
        <p:grpSpPr>
          <a:xfrm>
            <a:off x="952463" y="2193325"/>
            <a:ext cx="16383075" cy="1666800"/>
            <a:chOff x="0" y="0"/>
            <a:chExt cx="16383075" cy="1666800"/>
          </a:xfrm>
        </p:grpSpPr>
        <p:sp>
          <p:nvSpPr>
            <p:cNvPr id="137" name="Google Shape;137;p18"/>
            <p:cNvSpPr/>
            <p:nvPr/>
          </p:nvSpPr>
          <p:spPr>
            <a:xfrm>
              <a:off x="0" y="0"/>
              <a:ext cx="8048700" cy="1666800"/>
            </a:xfrm>
            <a:prstGeom prst="roundRect">
              <a:avLst>
                <a:gd fmla="val 6857"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8"/>
            <p:cNvSpPr/>
            <p:nvPr/>
          </p:nvSpPr>
          <p:spPr>
            <a:xfrm>
              <a:off x="0" y="0"/>
              <a:ext cx="76200" cy="1666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8"/>
            <p:cNvSpPr txBox="1"/>
            <p:nvPr/>
          </p:nvSpPr>
          <p:spPr>
            <a:xfrm>
              <a:off x="285750" y="171450"/>
              <a:ext cx="75249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E3A8A"/>
                  </a:solidFill>
                  <a:latin typeface="Barlow Condensed"/>
                  <a:ea typeface="Barlow Condensed"/>
                  <a:cs typeface="Barlow Condensed"/>
                  <a:sym typeface="Barlow Condensed"/>
                </a:rPr>
                <a:t>Third-Party Tender</a:t>
              </a:r>
              <a:endParaRPr b="1" sz="1800">
                <a:solidFill>
                  <a:srgbClr val="1E3A8A"/>
                </a:solidFill>
                <a:latin typeface="Barlow Condensed"/>
                <a:ea typeface="Barlow Condensed"/>
                <a:cs typeface="Barlow Condensed"/>
                <a:sym typeface="Barlow Condensed"/>
              </a:endParaRPr>
            </a:p>
            <a:p>
              <a:pPr indent="0" lvl="0" marL="0" rtl="0" algn="l">
                <a:spcBef>
                  <a:spcPts val="750"/>
                </a:spcBef>
                <a:spcAft>
                  <a:spcPts val="0"/>
                </a:spcAft>
                <a:buNone/>
              </a:pPr>
              <a:r>
                <a:rPr b="1" lang="en" sz="1250">
                  <a:solidFill>
                    <a:srgbClr val="111827"/>
                  </a:solidFill>
                  <a:latin typeface="Barlow"/>
                  <a:ea typeface="Barlow"/>
                  <a:cs typeface="Barlow"/>
                  <a:sym typeface="Barlow"/>
                </a:rPr>
                <a:t>Bidder:</a:t>
              </a:r>
              <a:r>
                <a:rPr lang="en" sz="1250">
                  <a:solidFill>
                    <a:srgbClr val="374151"/>
                  </a:solidFill>
                  <a:latin typeface="Barlow"/>
                  <a:ea typeface="Barlow"/>
                  <a:cs typeface="Barlow"/>
                  <a:sym typeface="Barlow"/>
                </a:rPr>
                <a:t> SC TO-T (Schedule TO cover) </a:t>
              </a:r>
              <a:r>
                <a:rPr b="1" lang="en" sz="1250">
                  <a:solidFill>
                    <a:srgbClr val="2563EB"/>
                  </a:solidFill>
                  <a:latin typeface="Barlow"/>
                  <a:ea typeface="Barlow"/>
                  <a:cs typeface="Barlow"/>
                  <a:sym typeface="Barlow"/>
                </a:rPr>
                <a:t>→</a:t>
              </a:r>
              <a:r>
                <a:rPr lang="en" sz="1250">
                  <a:solidFill>
                    <a:srgbClr val="374151"/>
                  </a:solidFill>
                  <a:latin typeface="Barlow"/>
                  <a:ea typeface="Barlow"/>
                  <a:cs typeface="Barlow"/>
                  <a:sym typeface="Barlow"/>
                </a:rPr>
                <a:t> attaches </a:t>
              </a:r>
              <a:r>
                <a:rPr b="1" lang="en" sz="1250">
                  <a:solidFill>
                    <a:srgbClr val="1E3A8A"/>
                  </a:solidFill>
                  <a:latin typeface="Barlow"/>
                  <a:ea typeface="Barlow"/>
                  <a:cs typeface="Barlow"/>
                  <a:sym typeface="Barlow"/>
                </a:rPr>
                <a:t>Offer to Purchase (OTP)</a:t>
              </a:r>
              <a:r>
                <a:rPr lang="en" sz="1250">
                  <a:solidFill>
                    <a:srgbClr val="374151"/>
                  </a:solidFill>
                  <a:latin typeface="Barlow"/>
                  <a:ea typeface="Barlow"/>
                  <a:cs typeface="Barlow"/>
                  <a:sym typeface="Barlow"/>
                </a:rPr>
                <a:t> </a:t>
              </a:r>
              <a:r>
                <a:rPr lang="en" sz="1100">
                  <a:solidFill>
                    <a:srgbClr val="6B7280"/>
                  </a:solidFill>
                  <a:latin typeface="Barlow"/>
                  <a:ea typeface="Barlow"/>
                  <a:cs typeface="Barlow"/>
                  <a:sym typeface="Barlow"/>
                </a:rPr>
                <a:t>(Exhibit (a)(1)(A))</a:t>
              </a:r>
              <a:endParaRPr sz="1250">
                <a:solidFill>
                  <a:srgbClr val="374151"/>
                </a:solidFill>
                <a:latin typeface="Barlow"/>
                <a:ea typeface="Barlow"/>
                <a:cs typeface="Barlow"/>
                <a:sym typeface="Barlow"/>
              </a:endParaRPr>
            </a:p>
            <a:p>
              <a:pPr indent="0" lvl="0" marL="0" rtl="0" algn="l">
                <a:spcBef>
                  <a:spcPts val="600"/>
                </a:spcBef>
                <a:spcAft>
                  <a:spcPts val="0"/>
                </a:spcAft>
                <a:buNone/>
              </a:pPr>
              <a:r>
                <a:rPr b="1" lang="en" sz="1250">
                  <a:solidFill>
                    <a:srgbClr val="111827"/>
                  </a:solidFill>
                  <a:latin typeface="Barlow"/>
                  <a:ea typeface="Barlow"/>
                  <a:cs typeface="Barlow"/>
                  <a:sym typeface="Barlow"/>
                </a:rPr>
                <a:t>Target:</a:t>
              </a:r>
              <a:r>
                <a:rPr lang="en" sz="1250">
                  <a:solidFill>
                    <a:srgbClr val="374151"/>
                  </a:solidFill>
                  <a:latin typeface="Barlow"/>
                  <a:ea typeface="Barlow"/>
                  <a:cs typeface="Barlow"/>
                  <a:sym typeface="Barlow"/>
                </a:rPr>
                <a:t> SC 14D-9 </a:t>
              </a:r>
              <a:r>
                <a:rPr lang="en" sz="1100">
                  <a:solidFill>
                    <a:srgbClr val="6B7280"/>
                  </a:solidFill>
                  <a:latin typeface="Barlow"/>
                  <a:ea typeface="Barlow"/>
                  <a:cs typeface="Barlow"/>
                  <a:sym typeface="Barlow"/>
                </a:rPr>
                <a:t>(Subject company response)</a:t>
              </a:r>
              <a:endParaRPr sz="1250">
                <a:solidFill>
                  <a:srgbClr val="374151"/>
                </a:solidFill>
                <a:latin typeface="Barlow"/>
                <a:ea typeface="Barlow"/>
                <a:cs typeface="Barlow"/>
                <a:sym typeface="Barlow"/>
              </a:endParaRPr>
            </a:p>
            <a:p>
              <a:pPr indent="0" lvl="0" marL="0" rtl="0" algn="l">
                <a:spcBef>
                  <a:spcPts val="600"/>
                </a:spcBef>
                <a:spcAft>
                  <a:spcPts val="0"/>
                </a:spcAft>
                <a:buNone/>
              </a:pPr>
              <a:r>
                <a:rPr b="1" lang="en" sz="1250">
                  <a:solidFill>
                    <a:srgbClr val="111827"/>
                  </a:solidFill>
                  <a:latin typeface="Barlow"/>
                  <a:ea typeface="Barlow"/>
                  <a:cs typeface="Barlow"/>
                  <a:sym typeface="Barlow"/>
                </a:rPr>
                <a:t>Lifecycle Deltas:</a:t>
              </a:r>
              <a:r>
                <a:rPr lang="en" sz="1250">
                  <a:solidFill>
                    <a:srgbClr val="374151"/>
                  </a:solidFill>
                  <a:latin typeface="Barlow"/>
                  <a:ea typeface="Barlow"/>
                  <a:cs typeface="Barlow"/>
                  <a:sym typeface="Barlow"/>
                </a:rPr>
                <a:t> SC TO-T/A &amp; SC 14D-9/A </a:t>
              </a:r>
              <a:r>
                <a:rPr lang="en" sz="1100">
                  <a:solidFill>
                    <a:srgbClr val="6B7280"/>
                  </a:solidFill>
                  <a:latin typeface="Barlow"/>
                  <a:ea typeface="Barlow"/>
                  <a:cs typeface="Barlow"/>
                  <a:sym typeface="Barlow"/>
                </a:rPr>
                <a:t>(Amendments for extensions, price changes, exhibits)</a:t>
              </a:r>
              <a:endParaRPr sz="1250">
                <a:solidFill>
                  <a:srgbClr val="374151"/>
                </a:solidFill>
                <a:latin typeface="Barlow"/>
                <a:ea typeface="Barlow"/>
                <a:cs typeface="Barlow"/>
                <a:sym typeface="Barlow"/>
              </a:endParaRPr>
            </a:p>
          </p:txBody>
        </p:sp>
        <p:sp>
          <p:nvSpPr>
            <p:cNvPr id="140" name="Google Shape;140;p18"/>
            <p:cNvSpPr/>
            <p:nvPr/>
          </p:nvSpPr>
          <p:spPr>
            <a:xfrm>
              <a:off x="8334375" y="0"/>
              <a:ext cx="8048700" cy="1666800"/>
            </a:xfrm>
            <a:prstGeom prst="roundRect">
              <a:avLst>
                <a:gd fmla="val 6857"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8"/>
            <p:cNvSpPr/>
            <p:nvPr/>
          </p:nvSpPr>
          <p:spPr>
            <a:xfrm>
              <a:off x="8334375" y="0"/>
              <a:ext cx="76200" cy="16668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8"/>
            <p:cNvSpPr txBox="1"/>
            <p:nvPr/>
          </p:nvSpPr>
          <p:spPr>
            <a:xfrm>
              <a:off x="8620125" y="171450"/>
              <a:ext cx="75249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0F766E"/>
                  </a:solidFill>
                  <a:latin typeface="Barlow Condensed"/>
                  <a:ea typeface="Barlow Condensed"/>
                  <a:cs typeface="Barlow Condensed"/>
                  <a:sym typeface="Barlow Condensed"/>
                </a:rPr>
                <a:t>Issuer Self-Tender Branch</a:t>
              </a:r>
              <a:endParaRPr b="1" sz="1800">
                <a:solidFill>
                  <a:srgbClr val="0F766E"/>
                </a:solidFill>
                <a:latin typeface="Barlow Condensed"/>
                <a:ea typeface="Barlow Condensed"/>
                <a:cs typeface="Barlow Condensed"/>
                <a:sym typeface="Barlow Condensed"/>
              </a:endParaRPr>
            </a:p>
            <a:p>
              <a:pPr indent="0" lvl="0" marL="0" rtl="0" algn="l">
                <a:spcBef>
                  <a:spcPts val="750"/>
                </a:spcBef>
                <a:spcAft>
                  <a:spcPts val="0"/>
                </a:spcAft>
                <a:buNone/>
              </a:pPr>
              <a:r>
                <a:rPr b="1" lang="en" sz="1250">
                  <a:solidFill>
                    <a:srgbClr val="111827"/>
                  </a:solidFill>
                  <a:latin typeface="Barlow"/>
                  <a:ea typeface="Barlow"/>
                  <a:cs typeface="Barlow"/>
                  <a:sym typeface="Barlow"/>
                </a:rPr>
                <a:t>Issuer:</a:t>
              </a:r>
              <a:r>
                <a:rPr lang="en" sz="1250">
                  <a:solidFill>
                    <a:srgbClr val="374151"/>
                  </a:solidFill>
                  <a:latin typeface="Barlow"/>
                  <a:ea typeface="Barlow"/>
                  <a:cs typeface="Barlow"/>
                  <a:sym typeface="Barlow"/>
                </a:rPr>
                <a:t> SC TO-I + </a:t>
              </a:r>
              <a:r>
                <a:rPr b="1" lang="en" sz="1250">
                  <a:solidFill>
                    <a:srgbClr val="0F766E"/>
                  </a:solidFill>
                  <a:latin typeface="Barlow"/>
                  <a:ea typeface="Barlow"/>
                  <a:cs typeface="Barlow"/>
                  <a:sym typeface="Barlow"/>
                </a:rPr>
                <a:t>Offer to Purchase (OTP)</a:t>
              </a:r>
              <a:endParaRPr sz="1250">
                <a:solidFill>
                  <a:srgbClr val="374151"/>
                </a:solidFill>
                <a:latin typeface="Barlow"/>
                <a:ea typeface="Barlow"/>
                <a:cs typeface="Barlow"/>
                <a:sym typeface="Barlow"/>
              </a:endParaRPr>
            </a:p>
            <a:p>
              <a:pPr indent="0" lvl="0" marL="0" rtl="0" algn="l">
                <a:spcBef>
                  <a:spcPts val="750"/>
                </a:spcBef>
                <a:spcAft>
                  <a:spcPts val="0"/>
                </a:spcAft>
                <a:buNone/>
              </a:pPr>
              <a:r>
                <a:rPr b="1" lang="en" sz="1250">
                  <a:solidFill>
                    <a:srgbClr val="111827"/>
                  </a:solidFill>
                  <a:latin typeface="Barlow"/>
                  <a:ea typeface="Barlow"/>
                  <a:cs typeface="Barlow"/>
                  <a:sym typeface="Barlow"/>
                </a:rPr>
                <a:t>Target Response:</a:t>
              </a:r>
              <a:r>
                <a:rPr lang="en" sz="1250">
                  <a:solidFill>
                    <a:srgbClr val="374151"/>
                  </a:solidFill>
                  <a:latin typeface="Barlow"/>
                  <a:ea typeface="Barlow"/>
                  <a:cs typeface="Barlow"/>
                  <a:sym typeface="Barlow"/>
                </a:rPr>
                <a:t> SC 14D-9 usually absent </a:t>
              </a:r>
              <a:r>
                <a:rPr lang="en" sz="1100">
                  <a:solidFill>
                    <a:srgbClr val="6B7280"/>
                  </a:solidFill>
                  <a:latin typeface="Barlow"/>
                  <a:ea typeface="Barlow"/>
                  <a:cs typeface="Barlow"/>
                  <a:sym typeface="Barlow"/>
                </a:rPr>
                <a:t>(consolidated disclosures inside SC TO-I)</a:t>
              </a:r>
              <a:endParaRPr sz="1250">
                <a:solidFill>
                  <a:srgbClr val="374151"/>
                </a:solidFill>
                <a:latin typeface="Barlow"/>
                <a:ea typeface="Barlow"/>
                <a:cs typeface="Barlow"/>
                <a:sym typeface="Barlow"/>
              </a:endParaRPr>
            </a:p>
          </p:txBody>
        </p:sp>
      </p:grpSp>
      <p:grpSp>
        <p:nvGrpSpPr>
          <p:cNvPr id="143" name="Google Shape;143;p18"/>
          <p:cNvGrpSpPr/>
          <p:nvPr/>
        </p:nvGrpSpPr>
        <p:grpSpPr>
          <a:xfrm>
            <a:off x="952538" y="4293975"/>
            <a:ext cx="16383000" cy="4953000"/>
            <a:chOff x="0" y="0"/>
            <a:chExt cx="16383000" cy="4953000"/>
          </a:xfrm>
        </p:grpSpPr>
        <p:sp>
          <p:nvSpPr>
            <p:cNvPr id="144" name="Google Shape;144;p18"/>
            <p:cNvSpPr/>
            <p:nvPr/>
          </p:nvSpPr>
          <p:spPr>
            <a:xfrm>
              <a:off x="0" y="0"/>
              <a:ext cx="16383000" cy="4953000"/>
            </a:xfrm>
            <a:prstGeom prst="roundRect">
              <a:avLst>
                <a:gd fmla="val 2692"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8"/>
            <p:cNvSpPr/>
            <p:nvPr/>
          </p:nvSpPr>
          <p:spPr>
            <a:xfrm>
              <a:off x="190500" y="152400"/>
              <a:ext cx="16002000" cy="400200"/>
            </a:xfrm>
            <a:prstGeom prst="roundRect">
              <a:avLst>
                <a:gd fmla="val 19047"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8"/>
            <p:cNvSpPr txBox="1"/>
            <p:nvPr/>
          </p:nvSpPr>
          <p:spPr>
            <a:xfrm>
              <a:off x="333375" y="238125"/>
              <a:ext cx="15716100" cy="238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solidFill>
                    <a:srgbClr val="334155"/>
                  </a:solidFill>
                  <a:latin typeface="Barlow Condensed"/>
                  <a:ea typeface="Barlow Condensed"/>
                  <a:cs typeface="Barlow Condensed"/>
                  <a:sym typeface="Barlow Condensed"/>
                </a:rPr>
                <a:t>DOCUMENT ROLE PRIMARY EXTRACTION SCOPE PROFILE &amp; STRUCTURE EXTRACTION ORDER</a:t>
              </a:r>
              <a:endParaRPr b="1" sz="1300">
                <a:solidFill>
                  <a:srgbClr val="334155"/>
                </a:solidFill>
                <a:latin typeface="Barlow Condensed"/>
                <a:ea typeface="Barlow Condensed"/>
                <a:cs typeface="Barlow Condensed"/>
                <a:sym typeface="Barlow Condensed"/>
              </a:endParaRPr>
            </a:p>
          </p:txBody>
        </p:sp>
        <p:grpSp>
          <p:nvGrpSpPr>
            <p:cNvPr id="147" name="Google Shape;147;p18"/>
            <p:cNvGrpSpPr/>
            <p:nvPr/>
          </p:nvGrpSpPr>
          <p:grpSpPr>
            <a:xfrm>
              <a:off x="190500" y="685800"/>
              <a:ext cx="16002000" cy="933600"/>
              <a:chOff x="0" y="0"/>
              <a:chExt cx="16002000" cy="933600"/>
            </a:xfrm>
          </p:grpSpPr>
          <p:sp>
            <p:nvSpPr>
              <p:cNvPr id="148" name="Google Shape;148;p18"/>
              <p:cNvSpPr/>
              <p:nvPr/>
            </p:nvSpPr>
            <p:spPr>
              <a:xfrm>
                <a:off x="0" y="0"/>
                <a:ext cx="16002000" cy="933600"/>
              </a:xfrm>
              <a:prstGeom prst="roundRect">
                <a:avLst>
                  <a:gd fmla="val 1020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8"/>
              <p:cNvSpPr/>
              <p:nvPr/>
            </p:nvSpPr>
            <p:spPr>
              <a:xfrm>
                <a:off x="0" y="0"/>
                <a:ext cx="1428900" cy="933600"/>
              </a:xfrm>
              <a:prstGeom prst="roundRect">
                <a:avLst>
                  <a:gd fmla="val 10204"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8"/>
              <p:cNvSpPr txBox="1"/>
              <p:nvPr/>
            </p:nvSpPr>
            <p:spPr>
              <a:xfrm>
                <a:off x="95250" y="95250"/>
                <a:ext cx="1238400" cy="74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2563EB"/>
                    </a:solidFill>
                    <a:latin typeface="Barlow Condensed"/>
                    <a:ea typeface="Barlow Condensed"/>
                    <a:cs typeface="Barlow Condensed"/>
                    <a:sym typeface="Barlow Condensed"/>
                  </a:rPr>
                  <a:t>STEP 1</a:t>
                </a:r>
                <a:endParaRPr b="1" sz="1100">
                  <a:solidFill>
                    <a:srgbClr val="2563EB"/>
                  </a:solidFill>
                  <a:latin typeface="Barlow Condensed"/>
                  <a:ea typeface="Barlow Condensed"/>
                  <a:cs typeface="Barlow Condensed"/>
                  <a:sym typeface="Barlow Condensed"/>
                </a:endParaRPr>
              </a:p>
              <a:p>
                <a:pPr indent="0" lvl="0" marL="0" rtl="0" algn="ctr">
                  <a:spcBef>
                    <a:spcPts val="150"/>
                  </a:spcBef>
                  <a:spcAft>
                    <a:spcPts val="0"/>
                  </a:spcAft>
                  <a:buNone/>
                </a:pPr>
                <a:r>
                  <a:rPr b="1" lang="en" sz="1500">
                    <a:solidFill>
                      <a:srgbClr val="1E40AF"/>
                    </a:solidFill>
                    <a:latin typeface="Barlow Condensed"/>
                    <a:ea typeface="Barlow Condensed"/>
                    <a:cs typeface="Barlow Condensed"/>
                    <a:sym typeface="Barlow Condensed"/>
                  </a:rPr>
                  <a:t>Anchor</a:t>
                </a:r>
                <a:endParaRPr b="1" sz="1500">
                  <a:solidFill>
                    <a:srgbClr val="1E40AF"/>
                  </a:solidFill>
                  <a:latin typeface="Barlow Condensed"/>
                  <a:ea typeface="Barlow Condensed"/>
                  <a:cs typeface="Barlow Condensed"/>
                  <a:sym typeface="Barlow Condensed"/>
                </a:endParaRPr>
              </a:p>
            </p:txBody>
          </p:sp>
          <p:sp>
            <p:nvSpPr>
              <p:cNvPr id="151" name="Google Shape;151;p18"/>
              <p:cNvSpPr txBox="1"/>
              <p:nvPr/>
            </p:nvSpPr>
            <p:spPr>
              <a:xfrm>
                <a:off x="1666875" y="142875"/>
                <a:ext cx="361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0F172A"/>
                    </a:solidFill>
                    <a:latin typeface="Barlow Condensed"/>
                    <a:ea typeface="Barlow Condensed"/>
                    <a:cs typeface="Barlow Condensed"/>
                    <a:sym typeface="Barlow Condensed"/>
                  </a:rPr>
                  <a:t>Schedule TO Cover</a:t>
                </a:r>
                <a:endParaRPr b="1" sz="2000">
                  <a:solidFill>
                    <a:srgbClr val="0F172A"/>
                  </a:solidFill>
                  <a:latin typeface="Barlow Condensed"/>
                  <a:ea typeface="Barlow Condensed"/>
                  <a:cs typeface="Barlow Condensed"/>
                  <a:sym typeface="Barlow Condensed"/>
                </a:endParaRPr>
              </a:p>
              <a:p>
                <a:pPr indent="0" lvl="0" marL="0" rtl="0" algn="l">
                  <a:spcBef>
                    <a:spcPts val="150"/>
                  </a:spcBef>
                  <a:spcAft>
                    <a:spcPts val="0"/>
                  </a:spcAft>
                  <a:buNone/>
                </a:pPr>
                <a:r>
                  <a:rPr b="0" lang="en" sz="1200">
                    <a:solidFill>
                      <a:srgbClr val="2563EB"/>
                    </a:solidFill>
                    <a:latin typeface="Barlow Medium"/>
                    <a:ea typeface="Barlow Medium"/>
                    <a:cs typeface="Barlow Medium"/>
                    <a:sym typeface="Barlow Medium"/>
                  </a:rPr>
                  <a:t>Strong Item structure</a:t>
                </a:r>
                <a:endParaRPr b="0" sz="1200">
                  <a:solidFill>
                    <a:srgbClr val="2563EB"/>
                  </a:solidFill>
                  <a:latin typeface="Barlow Medium"/>
                  <a:ea typeface="Barlow Medium"/>
                  <a:cs typeface="Barlow Medium"/>
                  <a:sym typeface="Barlow Medium"/>
                </a:endParaRPr>
              </a:p>
            </p:txBody>
          </p:sp>
          <p:sp>
            <p:nvSpPr>
              <p:cNvPr id="152" name="Google Shape;152;p18"/>
              <p:cNvSpPr txBox="1"/>
              <p:nvPr/>
            </p:nvSpPr>
            <p:spPr>
              <a:xfrm>
                <a:off x="5476875" y="142875"/>
                <a:ext cx="742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50">
                    <a:solidFill>
                      <a:srgbClr val="0F172A"/>
                    </a:solidFill>
                    <a:latin typeface="Barlow SemiBold"/>
                    <a:ea typeface="Barlow SemiBold"/>
                    <a:cs typeface="Barlow SemiBold"/>
                    <a:sym typeface="Barlow SemiBold"/>
                  </a:rPr>
                  <a:t>Scope:</a:t>
                </a:r>
                <a:r>
                  <a:rPr lang="en" sz="1250">
                    <a:solidFill>
                      <a:srgbClr val="334155"/>
                    </a:solidFill>
                    <a:latin typeface="Barlow"/>
                    <a:ea typeface="Barlow"/>
                    <a:cs typeface="Barlow"/>
                    <a:sym typeface="Barlow"/>
                  </a:rPr>
                  <a:t> Parties, CUSIP, form identity, exhibit pointers</a:t>
                </a:r>
                <a:endParaRPr sz="1250">
                  <a:solidFill>
                    <a:srgbClr val="334155"/>
                  </a:solidFill>
                  <a:latin typeface="Barlow"/>
                  <a:ea typeface="Barlow"/>
                  <a:cs typeface="Barlow"/>
                  <a:sym typeface="Barlow"/>
                </a:endParaRPr>
              </a:p>
            </p:txBody>
          </p:sp>
          <p:sp>
            <p:nvSpPr>
              <p:cNvPr id="153" name="Google Shape;153;p18"/>
              <p:cNvSpPr/>
              <p:nvPr/>
            </p:nvSpPr>
            <p:spPr>
              <a:xfrm>
                <a:off x="13144500" y="266700"/>
                <a:ext cx="2619300" cy="400200"/>
              </a:xfrm>
              <a:prstGeom prst="roundRect">
                <a:avLst>
                  <a:gd fmla="val 5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8"/>
              <p:cNvSpPr txBox="1"/>
              <p:nvPr/>
            </p:nvSpPr>
            <p:spPr>
              <a:xfrm>
                <a:off x="13239750" y="266700"/>
                <a:ext cx="24288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1E40AF"/>
                    </a:solidFill>
                    <a:latin typeface="Roboto Mono SemiBold"/>
                    <a:ea typeface="Roboto Mono SemiBold"/>
                    <a:cs typeface="Roboto Mono SemiBold"/>
                    <a:sym typeface="Roboto Mono SemiBold"/>
                  </a:rPr>
                  <a:t>~1.8k–2k words</a:t>
                </a:r>
                <a:endParaRPr b="0" sz="1200">
                  <a:solidFill>
                    <a:srgbClr val="1E40AF"/>
                  </a:solidFill>
                  <a:latin typeface="Roboto Mono SemiBold"/>
                  <a:ea typeface="Roboto Mono SemiBold"/>
                  <a:cs typeface="Roboto Mono SemiBold"/>
                  <a:sym typeface="Roboto Mono SemiBold"/>
                </a:endParaRPr>
              </a:p>
            </p:txBody>
          </p:sp>
        </p:grpSp>
        <p:grpSp>
          <p:nvGrpSpPr>
            <p:cNvPr id="155" name="Google Shape;155;p18"/>
            <p:cNvGrpSpPr/>
            <p:nvPr/>
          </p:nvGrpSpPr>
          <p:grpSpPr>
            <a:xfrm>
              <a:off x="190500" y="1714500"/>
              <a:ext cx="16002000" cy="933600"/>
              <a:chOff x="0" y="0"/>
              <a:chExt cx="16002000" cy="933600"/>
            </a:xfrm>
          </p:grpSpPr>
          <p:sp>
            <p:nvSpPr>
              <p:cNvPr id="156" name="Google Shape;156;p18"/>
              <p:cNvSpPr/>
              <p:nvPr/>
            </p:nvSpPr>
            <p:spPr>
              <a:xfrm>
                <a:off x="0" y="0"/>
                <a:ext cx="16002000" cy="933600"/>
              </a:xfrm>
              <a:prstGeom prst="roundRect">
                <a:avLst>
                  <a:gd fmla="val 1020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8"/>
              <p:cNvSpPr/>
              <p:nvPr/>
            </p:nvSpPr>
            <p:spPr>
              <a:xfrm>
                <a:off x="0" y="0"/>
                <a:ext cx="1428900" cy="933600"/>
              </a:xfrm>
              <a:prstGeom prst="roundRect">
                <a:avLst>
                  <a:gd fmla="val 10204" name="adj"/>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8"/>
              <p:cNvSpPr txBox="1"/>
              <p:nvPr/>
            </p:nvSpPr>
            <p:spPr>
              <a:xfrm>
                <a:off x="95250" y="95250"/>
                <a:ext cx="1238400" cy="74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0D9488"/>
                    </a:solidFill>
                    <a:latin typeface="Barlow Condensed"/>
                    <a:ea typeface="Barlow Condensed"/>
                    <a:cs typeface="Barlow Condensed"/>
                    <a:sym typeface="Barlow Condensed"/>
                  </a:rPr>
                  <a:t>STEP 2</a:t>
                </a:r>
                <a:endParaRPr b="1" sz="1100">
                  <a:solidFill>
                    <a:srgbClr val="0D9488"/>
                  </a:solidFill>
                  <a:latin typeface="Barlow Condensed"/>
                  <a:ea typeface="Barlow Condensed"/>
                  <a:cs typeface="Barlow Condensed"/>
                  <a:sym typeface="Barlow Condensed"/>
                </a:endParaRPr>
              </a:p>
              <a:p>
                <a:pPr indent="0" lvl="0" marL="0" rtl="0" algn="ctr">
                  <a:spcBef>
                    <a:spcPts val="150"/>
                  </a:spcBef>
                  <a:spcAft>
                    <a:spcPts val="0"/>
                  </a:spcAft>
                  <a:buNone/>
                </a:pPr>
                <a:r>
                  <a:rPr b="1" lang="en" sz="1500">
                    <a:solidFill>
                      <a:srgbClr val="0F766E"/>
                    </a:solidFill>
                    <a:latin typeface="Barlow Condensed"/>
                    <a:ea typeface="Barlow Condensed"/>
                    <a:cs typeface="Barlow Condensed"/>
                    <a:sym typeface="Barlow Condensed"/>
                  </a:rPr>
                  <a:t>Mechanics</a:t>
                </a:r>
                <a:endParaRPr b="1" sz="1500">
                  <a:solidFill>
                    <a:srgbClr val="0F766E"/>
                  </a:solidFill>
                  <a:latin typeface="Barlow Condensed"/>
                  <a:ea typeface="Barlow Condensed"/>
                  <a:cs typeface="Barlow Condensed"/>
                  <a:sym typeface="Barlow Condensed"/>
                </a:endParaRPr>
              </a:p>
            </p:txBody>
          </p:sp>
          <p:sp>
            <p:nvSpPr>
              <p:cNvPr id="159" name="Google Shape;159;p18"/>
              <p:cNvSpPr txBox="1"/>
              <p:nvPr/>
            </p:nvSpPr>
            <p:spPr>
              <a:xfrm>
                <a:off x="1666875" y="142875"/>
                <a:ext cx="361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0F172A"/>
                    </a:solidFill>
                    <a:latin typeface="Barlow Condensed"/>
                    <a:ea typeface="Barlow Condensed"/>
                    <a:cs typeface="Barlow Condensed"/>
                    <a:sym typeface="Barlow Condensed"/>
                  </a:rPr>
                  <a:t>Offer to Purchase (OTP)</a:t>
                </a:r>
                <a:endParaRPr b="1" sz="2000">
                  <a:solidFill>
                    <a:srgbClr val="0F172A"/>
                  </a:solidFill>
                  <a:latin typeface="Barlow Condensed"/>
                  <a:ea typeface="Barlow Condensed"/>
                  <a:cs typeface="Barlow Condensed"/>
                  <a:sym typeface="Barlow Condensed"/>
                </a:endParaRPr>
              </a:p>
              <a:p>
                <a:pPr indent="0" lvl="0" marL="0" rtl="0" algn="l">
                  <a:spcBef>
                    <a:spcPts val="150"/>
                  </a:spcBef>
                  <a:spcAft>
                    <a:spcPts val="0"/>
                  </a:spcAft>
                  <a:buNone/>
                </a:pPr>
                <a:r>
                  <a:rPr b="0" lang="en" sz="1200">
                    <a:solidFill>
                      <a:srgbClr val="0D9488"/>
                    </a:solidFill>
                    <a:latin typeface="Barlow Medium"/>
                    <a:ea typeface="Barlow Medium"/>
                    <a:cs typeface="Barlow Medium"/>
                    <a:sym typeface="Barlow Medium"/>
                  </a:rPr>
                  <a:t>TOC &amp; narrative section-driven</a:t>
                </a:r>
                <a:endParaRPr b="0" sz="1200">
                  <a:solidFill>
                    <a:srgbClr val="0D9488"/>
                  </a:solidFill>
                  <a:latin typeface="Barlow Medium"/>
                  <a:ea typeface="Barlow Medium"/>
                  <a:cs typeface="Barlow Medium"/>
                  <a:sym typeface="Barlow Medium"/>
                </a:endParaRPr>
              </a:p>
            </p:txBody>
          </p:sp>
          <p:sp>
            <p:nvSpPr>
              <p:cNvPr id="160" name="Google Shape;160;p18"/>
              <p:cNvSpPr txBox="1"/>
              <p:nvPr/>
            </p:nvSpPr>
            <p:spPr>
              <a:xfrm>
                <a:off x="5476875" y="142875"/>
                <a:ext cx="742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0F766E"/>
                    </a:solidFill>
                    <a:latin typeface="Barlow"/>
                    <a:ea typeface="Barlow"/>
                    <a:cs typeface="Barlow"/>
                    <a:sym typeface="Barlow"/>
                  </a:rPr>
                  <a:t>Offer mechanics:</a:t>
                </a:r>
                <a:r>
                  <a:rPr lang="en" sz="1250">
                    <a:solidFill>
                      <a:srgbClr val="334155"/>
                    </a:solidFill>
                    <a:latin typeface="Barlow"/>
                    <a:ea typeface="Barlow"/>
                    <a:cs typeface="Barlow"/>
                    <a:sym typeface="Barlow"/>
                  </a:rPr>
                  <a:t> Price, expiration, tender procedures, withdrawal rights, closing conditions</a:t>
                </a:r>
                <a:endParaRPr sz="1250">
                  <a:solidFill>
                    <a:srgbClr val="334155"/>
                  </a:solidFill>
                  <a:latin typeface="Barlow"/>
                  <a:ea typeface="Barlow"/>
                  <a:cs typeface="Barlow"/>
                  <a:sym typeface="Barlow"/>
                </a:endParaRPr>
              </a:p>
            </p:txBody>
          </p:sp>
          <p:sp>
            <p:nvSpPr>
              <p:cNvPr id="161" name="Google Shape;161;p18"/>
              <p:cNvSpPr/>
              <p:nvPr/>
            </p:nvSpPr>
            <p:spPr>
              <a:xfrm>
                <a:off x="13144500" y="266700"/>
                <a:ext cx="2619300" cy="400200"/>
              </a:xfrm>
              <a:prstGeom prst="roundRect">
                <a:avLst>
                  <a:gd fmla="val 50000"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8"/>
              <p:cNvSpPr txBox="1"/>
              <p:nvPr/>
            </p:nvSpPr>
            <p:spPr>
              <a:xfrm>
                <a:off x="13239750" y="266700"/>
                <a:ext cx="24288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166534"/>
                    </a:solidFill>
                    <a:latin typeface="Roboto Mono SemiBold"/>
                    <a:ea typeface="Roboto Mono SemiBold"/>
                    <a:cs typeface="Roboto Mono SemiBold"/>
                    <a:sym typeface="Roboto Mono SemiBold"/>
                  </a:rPr>
                  <a:t>~16k words</a:t>
                </a:r>
                <a:endParaRPr b="0" sz="1200">
                  <a:solidFill>
                    <a:srgbClr val="166534"/>
                  </a:solidFill>
                  <a:latin typeface="Roboto Mono SemiBold"/>
                  <a:ea typeface="Roboto Mono SemiBold"/>
                  <a:cs typeface="Roboto Mono SemiBold"/>
                  <a:sym typeface="Roboto Mono SemiBold"/>
                </a:endParaRPr>
              </a:p>
            </p:txBody>
          </p:sp>
        </p:grpSp>
        <p:grpSp>
          <p:nvGrpSpPr>
            <p:cNvPr id="163" name="Google Shape;163;p18"/>
            <p:cNvGrpSpPr/>
            <p:nvPr/>
          </p:nvGrpSpPr>
          <p:grpSpPr>
            <a:xfrm>
              <a:off x="190500" y="2743200"/>
              <a:ext cx="16002000" cy="933600"/>
              <a:chOff x="0" y="0"/>
              <a:chExt cx="16002000" cy="933600"/>
            </a:xfrm>
          </p:grpSpPr>
          <p:sp>
            <p:nvSpPr>
              <p:cNvPr id="164" name="Google Shape;164;p18"/>
              <p:cNvSpPr/>
              <p:nvPr/>
            </p:nvSpPr>
            <p:spPr>
              <a:xfrm>
                <a:off x="0" y="0"/>
                <a:ext cx="16002000" cy="933600"/>
              </a:xfrm>
              <a:prstGeom prst="roundRect">
                <a:avLst>
                  <a:gd fmla="val 1020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8"/>
              <p:cNvSpPr/>
              <p:nvPr/>
            </p:nvSpPr>
            <p:spPr>
              <a:xfrm>
                <a:off x="0" y="0"/>
                <a:ext cx="1428900" cy="933600"/>
              </a:xfrm>
              <a:prstGeom prst="roundRect">
                <a:avLst>
                  <a:gd fmla="val 10204"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8"/>
              <p:cNvSpPr txBox="1"/>
              <p:nvPr/>
            </p:nvSpPr>
            <p:spPr>
              <a:xfrm>
                <a:off x="95250" y="95250"/>
                <a:ext cx="1238400" cy="74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D97706"/>
                    </a:solidFill>
                    <a:latin typeface="Barlow Condensed"/>
                    <a:ea typeface="Barlow Condensed"/>
                    <a:cs typeface="Barlow Condensed"/>
                    <a:sym typeface="Barlow Condensed"/>
                  </a:rPr>
                  <a:t>STEP 3</a:t>
                </a:r>
                <a:endParaRPr b="1" sz="1100">
                  <a:solidFill>
                    <a:srgbClr val="D97706"/>
                  </a:solidFill>
                  <a:latin typeface="Barlow Condensed"/>
                  <a:ea typeface="Barlow Condensed"/>
                  <a:cs typeface="Barlow Condensed"/>
                  <a:sym typeface="Barlow Condensed"/>
                </a:endParaRPr>
              </a:p>
              <a:p>
                <a:pPr indent="0" lvl="0" marL="0" rtl="0" algn="ctr">
                  <a:spcBef>
                    <a:spcPts val="150"/>
                  </a:spcBef>
                  <a:spcAft>
                    <a:spcPts val="0"/>
                  </a:spcAft>
                  <a:buNone/>
                </a:pPr>
                <a:r>
                  <a:rPr b="1" lang="en" sz="1500">
                    <a:solidFill>
                      <a:srgbClr val="B45309"/>
                    </a:solidFill>
                    <a:latin typeface="Barlow Condensed"/>
                    <a:ea typeface="Barlow Condensed"/>
                    <a:cs typeface="Barlow Condensed"/>
                    <a:sym typeface="Barlow Condensed"/>
                  </a:rPr>
                  <a:t>Stance</a:t>
                </a:r>
                <a:endParaRPr b="1" sz="1500">
                  <a:solidFill>
                    <a:srgbClr val="B45309"/>
                  </a:solidFill>
                  <a:latin typeface="Barlow Condensed"/>
                  <a:ea typeface="Barlow Condensed"/>
                  <a:cs typeface="Barlow Condensed"/>
                  <a:sym typeface="Barlow Condensed"/>
                </a:endParaRPr>
              </a:p>
            </p:txBody>
          </p:sp>
          <p:sp>
            <p:nvSpPr>
              <p:cNvPr id="167" name="Google Shape;167;p18"/>
              <p:cNvSpPr txBox="1"/>
              <p:nvPr/>
            </p:nvSpPr>
            <p:spPr>
              <a:xfrm>
                <a:off x="1666875" y="142875"/>
                <a:ext cx="361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0F172A"/>
                    </a:solidFill>
                    <a:latin typeface="Barlow Condensed"/>
                    <a:ea typeface="Barlow Condensed"/>
                    <a:cs typeface="Barlow Condensed"/>
                    <a:sym typeface="Barlow Condensed"/>
                  </a:rPr>
                  <a:t>SC 14D-9</a:t>
                </a:r>
                <a:endParaRPr b="1" sz="2000">
                  <a:solidFill>
                    <a:srgbClr val="0F172A"/>
                  </a:solidFill>
                  <a:latin typeface="Barlow Condensed"/>
                  <a:ea typeface="Barlow Condensed"/>
                  <a:cs typeface="Barlow Condensed"/>
                  <a:sym typeface="Barlow Condensed"/>
                </a:endParaRPr>
              </a:p>
              <a:p>
                <a:pPr indent="0" lvl="0" marL="0" rtl="0" algn="l">
                  <a:spcBef>
                    <a:spcPts val="150"/>
                  </a:spcBef>
                  <a:spcAft>
                    <a:spcPts val="0"/>
                  </a:spcAft>
                  <a:buNone/>
                </a:pPr>
                <a:r>
                  <a:rPr b="0" lang="en" sz="1200">
                    <a:solidFill>
                      <a:srgbClr val="D97706"/>
                    </a:solidFill>
                    <a:latin typeface="Barlow Medium"/>
                    <a:ea typeface="Barlow Medium"/>
                    <a:cs typeface="Barlow Medium"/>
                    <a:sym typeface="Barlow Medium"/>
                  </a:rPr>
                  <a:t>Item structure </a:t>
                </a:r>
                <a:r>
                  <a:rPr b="0" lang="en" sz="1200">
                    <a:solidFill>
                      <a:srgbClr val="78350F"/>
                    </a:solidFill>
                    <a:latin typeface="Barlow Medium"/>
                    <a:ea typeface="Barlow Medium"/>
                    <a:cs typeface="Barlow Medium"/>
                    <a:sym typeface="Barlow Medium"/>
                  </a:rPr>
                  <a:t>(Item 4 focus)</a:t>
                </a:r>
                <a:endParaRPr b="0" sz="1200">
                  <a:solidFill>
                    <a:srgbClr val="D97706"/>
                  </a:solidFill>
                  <a:latin typeface="Barlow Medium"/>
                  <a:ea typeface="Barlow Medium"/>
                  <a:cs typeface="Barlow Medium"/>
                  <a:sym typeface="Barlow Medium"/>
                </a:endParaRPr>
              </a:p>
            </p:txBody>
          </p:sp>
          <p:sp>
            <p:nvSpPr>
              <p:cNvPr id="168" name="Google Shape;168;p18"/>
              <p:cNvSpPr txBox="1"/>
              <p:nvPr/>
            </p:nvSpPr>
            <p:spPr>
              <a:xfrm>
                <a:off x="5476875" y="142875"/>
                <a:ext cx="742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B45309"/>
                    </a:solidFill>
                    <a:latin typeface="Barlow"/>
                    <a:ea typeface="Barlow"/>
                    <a:cs typeface="Barlow"/>
                    <a:sym typeface="Barlow"/>
                  </a:rPr>
                  <a:t>Target response:</a:t>
                </a:r>
                <a:r>
                  <a:rPr lang="en" sz="1250">
                    <a:solidFill>
                      <a:srgbClr val="334155"/>
                    </a:solidFill>
                    <a:latin typeface="Barlow"/>
                    <a:ea typeface="Barlow"/>
                    <a:cs typeface="Barlow"/>
                    <a:sym typeface="Barlow"/>
                  </a:rPr>
                  <a:t> Board recommendation, fairness opinion, background</a:t>
                </a:r>
                <a:endParaRPr sz="1250">
                  <a:solidFill>
                    <a:srgbClr val="334155"/>
                  </a:solidFill>
                  <a:latin typeface="Barlow"/>
                  <a:ea typeface="Barlow"/>
                  <a:cs typeface="Barlow"/>
                  <a:sym typeface="Barlow"/>
                </a:endParaRPr>
              </a:p>
            </p:txBody>
          </p:sp>
          <p:sp>
            <p:nvSpPr>
              <p:cNvPr id="169" name="Google Shape;169;p18"/>
              <p:cNvSpPr/>
              <p:nvPr/>
            </p:nvSpPr>
            <p:spPr>
              <a:xfrm>
                <a:off x="13144500" y="266700"/>
                <a:ext cx="2619300" cy="400200"/>
              </a:xfrm>
              <a:prstGeom prst="roundRect">
                <a:avLst>
                  <a:gd fmla="val 50000" name="adj"/>
                </a:avLst>
              </a:prstGeom>
              <a:solidFill>
                <a:srgbClr val="FFFB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txBox="1"/>
              <p:nvPr/>
            </p:nvSpPr>
            <p:spPr>
              <a:xfrm>
                <a:off x="13239750" y="266700"/>
                <a:ext cx="24288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92400E"/>
                    </a:solidFill>
                    <a:latin typeface="Roboto Mono SemiBold"/>
                    <a:ea typeface="Roboto Mono SemiBold"/>
                    <a:cs typeface="Roboto Mono SemiBold"/>
                    <a:sym typeface="Roboto Mono SemiBold"/>
                  </a:rPr>
                  <a:t>~35k words</a:t>
                </a:r>
                <a:endParaRPr b="0" sz="1200">
                  <a:solidFill>
                    <a:srgbClr val="92400E"/>
                  </a:solidFill>
                  <a:latin typeface="Roboto Mono SemiBold"/>
                  <a:ea typeface="Roboto Mono SemiBold"/>
                  <a:cs typeface="Roboto Mono SemiBold"/>
                  <a:sym typeface="Roboto Mono SemiBold"/>
                </a:endParaRPr>
              </a:p>
            </p:txBody>
          </p:sp>
        </p:grpSp>
        <p:grpSp>
          <p:nvGrpSpPr>
            <p:cNvPr id="171" name="Google Shape;171;p18"/>
            <p:cNvGrpSpPr/>
            <p:nvPr/>
          </p:nvGrpSpPr>
          <p:grpSpPr>
            <a:xfrm>
              <a:off x="190500" y="3771900"/>
              <a:ext cx="16002000" cy="933600"/>
              <a:chOff x="0" y="0"/>
              <a:chExt cx="16002000" cy="933600"/>
            </a:xfrm>
          </p:grpSpPr>
          <p:sp>
            <p:nvSpPr>
              <p:cNvPr id="172" name="Google Shape;172;p18"/>
              <p:cNvSpPr/>
              <p:nvPr/>
            </p:nvSpPr>
            <p:spPr>
              <a:xfrm>
                <a:off x="0" y="0"/>
                <a:ext cx="16002000" cy="933600"/>
              </a:xfrm>
              <a:prstGeom prst="roundRect">
                <a:avLst>
                  <a:gd fmla="val 1020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8"/>
              <p:cNvSpPr/>
              <p:nvPr/>
            </p:nvSpPr>
            <p:spPr>
              <a:xfrm>
                <a:off x="0" y="0"/>
                <a:ext cx="1428900" cy="933600"/>
              </a:xfrm>
              <a:prstGeom prst="roundRect">
                <a:avLst>
                  <a:gd fmla="val 10204"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8"/>
              <p:cNvSpPr txBox="1"/>
              <p:nvPr/>
            </p:nvSpPr>
            <p:spPr>
              <a:xfrm>
                <a:off x="95250" y="95250"/>
                <a:ext cx="1238400" cy="74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9333EA"/>
                    </a:solidFill>
                    <a:latin typeface="Barlow Condensed"/>
                    <a:ea typeface="Barlow Condensed"/>
                    <a:cs typeface="Barlow Condensed"/>
                    <a:sym typeface="Barlow Condensed"/>
                  </a:rPr>
                  <a:t>STEP 4</a:t>
                </a:r>
                <a:endParaRPr b="1" sz="1100">
                  <a:solidFill>
                    <a:srgbClr val="9333EA"/>
                  </a:solidFill>
                  <a:latin typeface="Barlow Condensed"/>
                  <a:ea typeface="Barlow Condensed"/>
                  <a:cs typeface="Barlow Condensed"/>
                  <a:sym typeface="Barlow Condensed"/>
                </a:endParaRPr>
              </a:p>
              <a:p>
                <a:pPr indent="0" lvl="0" marL="0" rtl="0" algn="ctr">
                  <a:spcBef>
                    <a:spcPts val="150"/>
                  </a:spcBef>
                  <a:spcAft>
                    <a:spcPts val="0"/>
                  </a:spcAft>
                  <a:buNone/>
                </a:pPr>
                <a:r>
                  <a:rPr b="1" lang="en" sz="1500">
                    <a:solidFill>
                      <a:srgbClr val="7E22CE"/>
                    </a:solidFill>
                    <a:latin typeface="Barlow Condensed"/>
                    <a:ea typeface="Barlow Condensed"/>
                    <a:cs typeface="Barlow Condensed"/>
                    <a:sym typeface="Barlow Condensed"/>
                  </a:rPr>
                  <a:t>Reconcile</a:t>
                </a:r>
                <a:endParaRPr b="1" sz="1500">
                  <a:solidFill>
                    <a:srgbClr val="7E22CE"/>
                  </a:solidFill>
                  <a:latin typeface="Barlow Condensed"/>
                  <a:ea typeface="Barlow Condensed"/>
                  <a:cs typeface="Barlow Condensed"/>
                  <a:sym typeface="Barlow Condensed"/>
                </a:endParaRPr>
              </a:p>
            </p:txBody>
          </p:sp>
          <p:sp>
            <p:nvSpPr>
              <p:cNvPr id="175" name="Google Shape;175;p18"/>
              <p:cNvSpPr txBox="1"/>
              <p:nvPr/>
            </p:nvSpPr>
            <p:spPr>
              <a:xfrm>
                <a:off x="1666875" y="142875"/>
                <a:ext cx="361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0F172A"/>
                    </a:solidFill>
                    <a:latin typeface="Barlow Condensed"/>
                    <a:ea typeface="Barlow Condensed"/>
                    <a:cs typeface="Barlow Condensed"/>
                    <a:sym typeface="Barlow Condensed"/>
                  </a:rPr>
                  <a:t>Amendments (/A)</a:t>
                </a:r>
                <a:endParaRPr b="1" sz="2000">
                  <a:solidFill>
                    <a:srgbClr val="0F172A"/>
                  </a:solidFill>
                  <a:latin typeface="Barlow Condensed"/>
                  <a:ea typeface="Barlow Condensed"/>
                  <a:cs typeface="Barlow Condensed"/>
                  <a:sym typeface="Barlow Condensed"/>
                </a:endParaRPr>
              </a:p>
              <a:p>
                <a:pPr indent="0" lvl="0" marL="0" rtl="0" algn="l">
                  <a:spcBef>
                    <a:spcPts val="150"/>
                  </a:spcBef>
                  <a:spcAft>
                    <a:spcPts val="0"/>
                  </a:spcAft>
                  <a:buNone/>
                </a:pPr>
                <a:r>
                  <a:rPr b="0" lang="en" sz="1200">
                    <a:solidFill>
                      <a:srgbClr val="9333EA"/>
                    </a:solidFill>
                    <a:latin typeface="Barlow Medium"/>
                    <a:ea typeface="Barlow Medium"/>
                    <a:cs typeface="Barlow Medium"/>
                    <a:sym typeface="Barlow Medium"/>
                  </a:rPr>
                  <a:t>Changed Items / diffs</a:t>
                </a:r>
                <a:endParaRPr b="0" sz="1200">
                  <a:solidFill>
                    <a:srgbClr val="9333EA"/>
                  </a:solidFill>
                  <a:latin typeface="Barlow Medium"/>
                  <a:ea typeface="Barlow Medium"/>
                  <a:cs typeface="Barlow Medium"/>
                  <a:sym typeface="Barlow Medium"/>
                </a:endParaRPr>
              </a:p>
            </p:txBody>
          </p:sp>
          <p:sp>
            <p:nvSpPr>
              <p:cNvPr id="176" name="Google Shape;176;p18"/>
              <p:cNvSpPr txBox="1"/>
              <p:nvPr/>
            </p:nvSpPr>
            <p:spPr>
              <a:xfrm>
                <a:off x="5476875" y="142875"/>
                <a:ext cx="74295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7E22CE"/>
                    </a:solidFill>
                    <a:latin typeface="Barlow"/>
                    <a:ea typeface="Barlow"/>
                    <a:cs typeface="Barlow"/>
                    <a:sym typeface="Barlow"/>
                  </a:rPr>
                  <a:t>Delta updates:</a:t>
                </a:r>
                <a:r>
                  <a:rPr lang="en" sz="1250">
                    <a:solidFill>
                      <a:srgbClr val="334155"/>
                    </a:solidFill>
                    <a:latin typeface="Barlow"/>
                    <a:ea typeface="Barlow"/>
                    <a:cs typeface="Barlow"/>
                    <a:sym typeface="Barlow"/>
                  </a:rPr>
                  <a:t> Updates prior terms rather than restating the offer</a:t>
                </a:r>
                <a:endParaRPr sz="1250">
                  <a:solidFill>
                    <a:srgbClr val="334155"/>
                  </a:solidFill>
                  <a:latin typeface="Barlow"/>
                  <a:ea typeface="Barlow"/>
                  <a:cs typeface="Barlow"/>
                  <a:sym typeface="Barlow"/>
                </a:endParaRPr>
              </a:p>
            </p:txBody>
          </p:sp>
          <p:sp>
            <p:nvSpPr>
              <p:cNvPr id="177" name="Google Shape;177;p18"/>
              <p:cNvSpPr/>
              <p:nvPr/>
            </p:nvSpPr>
            <p:spPr>
              <a:xfrm>
                <a:off x="13144500" y="266700"/>
                <a:ext cx="2619300" cy="400200"/>
              </a:xfrm>
              <a:prstGeom prst="roundRect">
                <a:avLst>
                  <a:gd fmla="val 50000" name="adj"/>
                </a:avLst>
              </a:prstGeom>
              <a:solidFill>
                <a:srgbClr val="FAF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8"/>
              <p:cNvSpPr txBox="1"/>
              <p:nvPr/>
            </p:nvSpPr>
            <p:spPr>
              <a:xfrm>
                <a:off x="13239750" y="266700"/>
                <a:ext cx="24288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6B21A8"/>
                    </a:solidFill>
                    <a:latin typeface="Roboto Mono SemiBold"/>
                    <a:ea typeface="Roboto Mono SemiBold"/>
                    <a:cs typeface="Roboto Mono SemiBold"/>
                    <a:sym typeface="Roboto Mono SemiBold"/>
                  </a:rPr>
                  <a:t>~1k words</a:t>
                </a:r>
                <a:endParaRPr b="0" sz="1200">
                  <a:solidFill>
                    <a:srgbClr val="6B21A8"/>
                  </a:solidFill>
                  <a:latin typeface="Roboto Mono SemiBold"/>
                  <a:ea typeface="Roboto Mono SemiBold"/>
                  <a:cs typeface="Roboto Mono SemiBold"/>
                  <a:sym typeface="Roboto Mono SemiBold"/>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sp>
        <p:nvSpPr>
          <p:cNvPr id="183" name="Google Shape;183;p19"/>
          <p:cNvSpPr txBox="1"/>
          <p:nvPr/>
        </p:nvSpPr>
        <p:spPr>
          <a:xfrm>
            <a:off x="1095375" y="571500"/>
            <a:ext cx="16097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00">
                <a:solidFill>
                  <a:srgbClr val="1D1F20"/>
                </a:solidFill>
                <a:latin typeface="Barlow Condensed"/>
                <a:ea typeface="Barlow Condensed"/>
                <a:cs typeface="Barlow Condensed"/>
                <a:sym typeface="Barlow Condensed"/>
              </a:rPr>
              <a:t>Structure-First Extraction Pipeline</a:t>
            </a:r>
            <a:endParaRPr b="1" sz="3800">
              <a:solidFill>
                <a:srgbClr val="1D1F20"/>
              </a:solidFill>
              <a:latin typeface="Barlow Condensed"/>
              <a:ea typeface="Barlow Condensed"/>
              <a:cs typeface="Barlow Condensed"/>
              <a:sym typeface="Barlow Condensed"/>
            </a:endParaRPr>
          </a:p>
          <a:p>
            <a:pPr indent="0" lvl="0" marL="0" rtl="0" algn="l">
              <a:spcBef>
                <a:spcPts val="0"/>
              </a:spcBef>
              <a:spcAft>
                <a:spcPts val="0"/>
              </a:spcAft>
              <a:buNone/>
            </a:pPr>
            <a:r>
              <a:rPr b="0" lang="en" sz="1450">
                <a:solidFill>
                  <a:srgbClr val="5980A6"/>
                </a:solidFill>
                <a:latin typeface="Barlow Medium"/>
                <a:ea typeface="Barlow Medium"/>
                <a:cs typeface="Barlow Medium"/>
                <a:sym typeface="Barlow Medium"/>
              </a:rPr>
              <a:t>Deterministic section routing and targeted local extraction using GLiNER and Regex</a:t>
            </a:r>
            <a:endParaRPr b="0" sz="1450">
              <a:solidFill>
                <a:srgbClr val="5980A6"/>
              </a:solidFill>
              <a:latin typeface="Barlow Medium"/>
              <a:ea typeface="Barlow Medium"/>
              <a:cs typeface="Barlow Medium"/>
              <a:sym typeface="Barlow Medium"/>
            </a:endParaRPr>
          </a:p>
        </p:txBody>
      </p:sp>
      <p:grpSp>
        <p:nvGrpSpPr>
          <p:cNvPr id="184" name="Google Shape;184;p19"/>
          <p:cNvGrpSpPr/>
          <p:nvPr/>
        </p:nvGrpSpPr>
        <p:grpSpPr>
          <a:xfrm>
            <a:off x="1095375" y="1996389"/>
            <a:ext cx="16097400" cy="1162200"/>
            <a:chOff x="0" y="0"/>
            <a:chExt cx="16097400" cy="1162200"/>
          </a:xfrm>
        </p:grpSpPr>
        <p:sp>
          <p:nvSpPr>
            <p:cNvPr id="185" name="Google Shape;185;p19"/>
            <p:cNvSpPr/>
            <p:nvPr/>
          </p:nvSpPr>
          <p:spPr>
            <a:xfrm>
              <a:off x="0" y="0"/>
              <a:ext cx="16097400" cy="1162200"/>
            </a:xfrm>
            <a:prstGeom prst="roundRect">
              <a:avLst>
                <a:gd fmla="val 81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9"/>
            <p:cNvSpPr/>
            <p:nvPr/>
          </p:nvSpPr>
          <p:spPr>
            <a:xfrm>
              <a:off x="0" y="0"/>
              <a:ext cx="1428900" cy="11622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9"/>
            <p:cNvSpPr txBox="1"/>
            <p:nvPr/>
          </p:nvSpPr>
          <p:spPr>
            <a:xfrm>
              <a:off x="0" y="0"/>
              <a:ext cx="1428900" cy="11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2563EB"/>
                  </a:solidFill>
                  <a:latin typeface="Barlow Condensed"/>
                  <a:ea typeface="Barlow Condensed"/>
                  <a:cs typeface="Barlow Condensed"/>
                  <a:sym typeface="Barlow Condensed"/>
                </a:rPr>
                <a:t>STEP 1</a:t>
              </a:r>
              <a:endParaRPr b="1" sz="1100">
                <a:solidFill>
                  <a:srgbClr val="2563EB"/>
                </a:solidFill>
                <a:latin typeface="Barlow Condensed"/>
                <a:ea typeface="Barlow Condensed"/>
                <a:cs typeface="Barlow Condensed"/>
                <a:sym typeface="Barlow Condensed"/>
              </a:endParaRPr>
            </a:p>
            <a:p>
              <a:pPr indent="0" lvl="0" marL="0" rtl="0" algn="ctr">
                <a:spcBef>
                  <a:spcPts val="200"/>
                </a:spcBef>
                <a:spcAft>
                  <a:spcPts val="0"/>
                </a:spcAft>
                <a:buNone/>
              </a:pPr>
              <a:r>
                <a:rPr b="1" lang="en" sz="1600">
                  <a:solidFill>
                    <a:srgbClr val="1E40AF"/>
                  </a:solidFill>
                  <a:latin typeface="Barlow Condensed"/>
                  <a:ea typeface="Barlow Condensed"/>
                  <a:cs typeface="Barlow Condensed"/>
                  <a:sym typeface="Barlow Condensed"/>
                </a:rPr>
                <a:t>CLASSIFY</a:t>
              </a:r>
              <a:endParaRPr b="1" sz="1600">
                <a:solidFill>
                  <a:srgbClr val="1E40AF"/>
                </a:solidFill>
                <a:latin typeface="Barlow Condensed"/>
                <a:ea typeface="Barlow Condensed"/>
                <a:cs typeface="Barlow Condensed"/>
                <a:sym typeface="Barlow Condensed"/>
              </a:endParaRPr>
            </a:p>
          </p:txBody>
        </p:sp>
        <p:sp>
          <p:nvSpPr>
            <p:cNvPr id="188" name="Google Shape;188;p19"/>
            <p:cNvSpPr txBox="1"/>
            <p:nvPr/>
          </p:nvSpPr>
          <p:spPr>
            <a:xfrm>
              <a:off x="1666875" y="0"/>
              <a:ext cx="49053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00">
                  <a:solidFill>
                    <a:srgbClr val="0F172A"/>
                  </a:solidFill>
                  <a:latin typeface="Barlow Condensed"/>
                  <a:ea typeface="Barlow Condensed"/>
                  <a:cs typeface="Barlow Condensed"/>
                  <a:sym typeface="Barlow Condensed"/>
                </a:rPr>
                <a:t>1. Document Role</a:t>
              </a:r>
              <a:endParaRPr b="1" sz="1900">
                <a:solidFill>
                  <a:srgbClr val="0F172A"/>
                </a:solidFill>
                <a:latin typeface="Barlow Condensed"/>
                <a:ea typeface="Barlow Condensed"/>
                <a:cs typeface="Barlow Condensed"/>
                <a:sym typeface="Barlow Condensed"/>
              </a:endParaRPr>
            </a:p>
            <a:p>
              <a:pPr indent="0" lvl="0" marL="0" rtl="0" algn="l">
                <a:spcBef>
                  <a:spcPts val="300"/>
                </a:spcBef>
                <a:spcAft>
                  <a:spcPts val="0"/>
                </a:spcAft>
                <a:buNone/>
              </a:pPr>
              <a:r>
                <a:rPr b="0" lang="en" sz="1200">
                  <a:solidFill>
                    <a:srgbClr val="2563EB"/>
                  </a:solidFill>
                  <a:latin typeface="Barlow Medium"/>
                  <a:ea typeface="Barlow Medium"/>
                  <a:cs typeface="Barlow Medium"/>
                  <a:sym typeface="Barlow Medium"/>
                </a:rPr>
                <a:t>Tag file as cover, otp, sc_14d9, or amendment.</a:t>
              </a:r>
              <a:endParaRPr b="0" sz="1200">
                <a:solidFill>
                  <a:srgbClr val="2563EB"/>
                </a:solidFill>
                <a:latin typeface="Barlow Medium"/>
                <a:ea typeface="Barlow Medium"/>
                <a:cs typeface="Barlow Medium"/>
                <a:sym typeface="Barlow Medium"/>
              </a:endParaRPr>
            </a:p>
          </p:txBody>
        </p:sp>
        <p:cxnSp>
          <p:nvCxnSpPr>
            <p:cNvPr id="189" name="Google Shape;189;p19"/>
            <p:cNvCxnSpPr/>
            <p:nvPr/>
          </p:nvCxnSpPr>
          <p:spPr>
            <a:xfrm>
              <a:off x="6762750" y="142875"/>
              <a:ext cx="0" cy="8763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190" name="Google Shape;190;p19"/>
            <p:cNvSpPr txBox="1"/>
            <p:nvPr/>
          </p:nvSpPr>
          <p:spPr>
            <a:xfrm>
              <a:off x="7000875" y="0"/>
              <a:ext cx="88584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50">
                  <a:solidFill>
                    <a:srgbClr val="0F172A"/>
                  </a:solidFill>
                  <a:latin typeface="Barlow SemiBold"/>
                  <a:ea typeface="Barlow SemiBold"/>
                  <a:cs typeface="Barlow SemiBold"/>
                  <a:sym typeface="Barlow SemiBold"/>
                </a:rPr>
                <a:t>Classification Targets: </a:t>
              </a:r>
              <a:r>
                <a:rPr b="0" lang="en" sz="1250">
                  <a:solidFill>
                    <a:srgbClr val="334155"/>
                  </a:solidFill>
                  <a:latin typeface="Barlow"/>
                  <a:ea typeface="Barlow"/>
                  <a:cs typeface="Barlow"/>
                  <a:sym typeface="Barlow"/>
                </a:rPr>
                <a:t>Schedule TO Cover, Offer to Purchase (OTP), SC 14D-9, Amendments (/A)</a:t>
              </a:r>
              <a:endParaRPr b="0" sz="1250">
                <a:solidFill>
                  <a:srgbClr val="0F172A"/>
                </a:solidFill>
                <a:latin typeface="Barlow SemiBold"/>
                <a:ea typeface="Barlow SemiBold"/>
                <a:cs typeface="Barlow SemiBold"/>
                <a:sym typeface="Barlow SemiBold"/>
              </a:endParaRPr>
            </a:p>
            <a:p>
              <a:pPr indent="0" lvl="0" marL="0" rtl="0" algn="l">
                <a:spcBef>
                  <a:spcPts val="400"/>
                </a:spcBef>
                <a:spcAft>
                  <a:spcPts val="0"/>
                </a:spcAft>
                <a:buNone/>
              </a:pPr>
              <a:r>
                <a:rPr b="0" lang="en" sz="1150">
                  <a:solidFill>
                    <a:srgbClr val="64748B"/>
                  </a:solidFill>
                  <a:latin typeface="Barlow"/>
                  <a:ea typeface="Barlow"/>
                  <a:cs typeface="Barlow"/>
                  <a:sym typeface="Barlow"/>
                </a:rPr>
                <a:t>Establishes baseline document hierarchy and expected section maps before running downstream extractors.</a:t>
              </a:r>
              <a:endParaRPr b="0" sz="1150">
                <a:solidFill>
                  <a:srgbClr val="64748B"/>
                </a:solidFill>
                <a:latin typeface="Barlow"/>
                <a:ea typeface="Barlow"/>
                <a:cs typeface="Barlow"/>
                <a:sym typeface="Barlow"/>
              </a:endParaRPr>
            </a:p>
          </p:txBody>
        </p:sp>
      </p:grpSp>
      <p:grpSp>
        <p:nvGrpSpPr>
          <p:cNvPr id="191" name="Google Shape;191;p19"/>
          <p:cNvGrpSpPr/>
          <p:nvPr/>
        </p:nvGrpSpPr>
        <p:grpSpPr>
          <a:xfrm>
            <a:off x="1095375" y="3301314"/>
            <a:ext cx="16097400" cy="1162200"/>
            <a:chOff x="0" y="0"/>
            <a:chExt cx="16097400" cy="1162200"/>
          </a:xfrm>
        </p:grpSpPr>
        <p:sp>
          <p:nvSpPr>
            <p:cNvPr id="192" name="Google Shape;192;p19"/>
            <p:cNvSpPr/>
            <p:nvPr/>
          </p:nvSpPr>
          <p:spPr>
            <a:xfrm>
              <a:off x="0" y="0"/>
              <a:ext cx="16097400" cy="1162200"/>
            </a:xfrm>
            <a:prstGeom prst="roundRect">
              <a:avLst>
                <a:gd fmla="val 81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9"/>
            <p:cNvSpPr/>
            <p:nvPr/>
          </p:nvSpPr>
          <p:spPr>
            <a:xfrm>
              <a:off x="0" y="0"/>
              <a:ext cx="1428900" cy="11622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9"/>
            <p:cNvSpPr txBox="1"/>
            <p:nvPr/>
          </p:nvSpPr>
          <p:spPr>
            <a:xfrm>
              <a:off x="0" y="0"/>
              <a:ext cx="1428900" cy="11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0D9488"/>
                  </a:solidFill>
                  <a:latin typeface="Barlow Condensed"/>
                  <a:ea typeface="Barlow Condensed"/>
                  <a:cs typeface="Barlow Condensed"/>
                  <a:sym typeface="Barlow Condensed"/>
                </a:rPr>
                <a:t>STEP 2</a:t>
              </a:r>
              <a:endParaRPr b="1" sz="1100">
                <a:solidFill>
                  <a:srgbClr val="0D9488"/>
                </a:solidFill>
                <a:latin typeface="Barlow Condensed"/>
                <a:ea typeface="Barlow Condensed"/>
                <a:cs typeface="Barlow Condensed"/>
                <a:sym typeface="Barlow Condensed"/>
              </a:endParaRPr>
            </a:p>
            <a:p>
              <a:pPr indent="0" lvl="0" marL="0" rtl="0" algn="ctr">
                <a:spcBef>
                  <a:spcPts val="200"/>
                </a:spcBef>
                <a:spcAft>
                  <a:spcPts val="0"/>
                </a:spcAft>
                <a:buNone/>
              </a:pPr>
              <a:r>
                <a:rPr b="1" lang="en" sz="1600">
                  <a:solidFill>
                    <a:srgbClr val="0F766E"/>
                  </a:solidFill>
                  <a:latin typeface="Barlow Condensed"/>
                  <a:ea typeface="Barlow Condensed"/>
                  <a:cs typeface="Barlow Condensed"/>
                  <a:sym typeface="Barlow Condensed"/>
                </a:rPr>
                <a:t>ROUTE</a:t>
              </a:r>
              <a:endParaRPr b="1" sz="1600">
                <a:solidFill>
                  <a:srgbClr val="0F766E"/>
                </a:solidFill>
                <a:latin typeface="Barlow Condensed"/>
                <a:ea typeface="Barlow Condensed"/>
                <a:cs typeface="Barlow Condensed"/>
                <a:sym typeface="Barlow Condensed"/>
              </a:endParaRPr>
            </a:p>
          </p:txBody>
        </p:sp>
        <p:sp>
          <p:nvSpPr>
            <p:cNvPr id="195" name="Google Shape;195;p19"/>
            <p:cNvSpPr txBox="1"/>
            <p:nvPr/>
          </p:nvSpPr>
          <p:spPr>
            <a:xfrm>
              <a:off x="1666875" y="0"/>
              <a:ext cx="49053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00">
                  <a:solidFill>
                    <a:srgbClr val="0F172A"/>
                  </a:solidFill>
                  <a:latin typeface="Barlow Condensed"/>
                  <a:ea typeface="Barlow Condensed"/>
                  <a:cs typeface="Barlow Condensed"/>
                  <a:sym typeface="Barlow Condensed"/>
                </a:rPr>
                <a:t>2. Structure Routing</a:t>
              </a:r>
              <a:endParaRPr b="1" sz="1900">
                <a:solidFill>
                  <a:srgbClr val="0F172A"/>
                </a:solidFill>
                <a:latin typeface="Barlow Condensed"/>
                <a:ea typeface="Barlow Condensed"/>
                <a:cs typeface="Barlow Condensed"/>
                <a:sym typeface="Barlow Condensed"/>
              </a:endParaRPr>
            </a:p>
            <a:p>
              <a:pPr indent="0" lvl="0" marL="0" rtl="0" algn="l">
                <a:spcBef>
                  <a:spcPts val="300"/>
                </a:spcBef>
                <a:spcAft>
                  <a:spcPts val="0"/>
                </a:spcAft>
                <a:buNone/>
              </a:pPr>
              <a:r>
                <a:rPr b="0" lang="en" sz="1200">
                  <a:solidFill>
                    <a:srgbClr val="0D9488"/>
                  </a:solidFill>
                  <a:latin typeface="Barlow Medium"/>
                  <a:ea typeface="Barlow Medium"/>
                  <a:cs typeface="Barlow Medium"/>
                  <a:sym typeface="Barlow Medium"/>
                </a:rPr>
                <a:t>Deterministically find candidate sections instead of full-doc search</a:t>
              </a:r>
              <a:endParaRPr b="0" sz="1200">
                <a:solidFill>
                  <a:srgbClr val="0D9488"/>
                </a:solidFill>
                <a:latin typeface="Barlow Medium"/>
                <a:ea typeface="Barlow Medium"/>
                <a:cs typeface="Barlow Medium"/>
                <a:sym typeface="Barlow Medium"/>
              </a:endParaRPr>
            </a:p>
          </p:txBody>
        </p:sp>
        <p:cxnSp>
          <p:nvCxnSpPr>
            <p:cNvPr id="196" name="Google Shape;196;p19"/>
            <p:cNvCxnSpPr/>
            <p:nvPr/>
          </p:nvCxnSpPr>
          <p:spPr>
            <a:xfrm>
              <a:off x="6762750" y="142875"/>
              <a:ext cx="0" cy="8763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197" name="Google Shape;197;p19"/>
            <p:cNvSpPr txBox="1"/>
            <p:nvPr/>
          </p:nvSpPr>
          <p:spPr>
            <a:xfrm>
              <a:off x="7000875" y="0"/>
              <a:ext cx="88584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0F172A"/>
                  </a:solidFill>
                  <a:latin typeface="Barlow SemiBold"/>
                  <a:ea typeface="Barlow SemiBold"/>
                  <a:cs typeface="Barlow SemiBold"/>
                  <a:sym typeface="Barlow SemiBold"/>
                </a:rPr>
                <a:t>Schedule TO: </a:t>
              </a:r>
              <a:r>
                <a:rPr b="0" lang="en" sz="1200">
                  <a:solidFill>
                    <a:srgbClr val="334155"/>
                  </a:solidFill>
                  <a:latin typeface="Barlow"/>
                  <a:ea typeface="Barlow"/>
                  <a:cs typeface="Barlow"/>
                  <a:sym typeface="Barlow"/>
                </a:rPr>
                <a:t>Item headings (Item 1–Item 12)</a:t>
              </a:r>
              <a:r>
                <a:rPr b="0" lang="en" sz="1200">
                  <a:solidFill>
                    <a:srgbClr val="0F172A"/>
                  </a:solidFill>
                  <a:latin typeface="Barlow SemiBold"/>
                  <a:ea typeface="Barlow SemiBold"/>
                  <a:cs typeface="Barlow SemiBold"/>
                  <a:sym typeface="Barlow SemiBold"/>
                </a:rPr>
                <a:t>  |  OTP: </a:t>
              </a:r>
              <a:r>
                <a:rPr b="0" lang="en" sz="1200">
                  <a:solidFill>
                    <a:srgbClr val="334155"/>
                  </a:solidFill>
                  <a:latin typeface="Barlow"/>
                  <a:ea typeface="Barlow"/>
                  <a:cs typeface="Barlow"/>
                  <a:sym typeface="Barlow"/>
                </a:rPr>
                <a:t>TOC &amp; narrative section titles</a:t>
              </a:r>
              <a:endParaRPr b="0" sz="1200">
                <a:solidFill>
                  <a:srgbClr val="0F172A"/>
                </a:solidFill>
                <a:latin typeface="Barlow SemiBold"/>
                <a:ea typeface="Barlow SemiBold"/>
                <a:cs typeface="Barlow SemiBold"/>
                <a:sym typeface="Barlow SemiBold"/>
              </a:endParaRPr>
            </a:p>
            <a:p>
              <a:pPr indent="0" lvl="0" marL="0" rtl="0" algn="l">
                <a:spcBef>
                  <a:spcPts val="300"/>
                </a:spcBef>
                <a:spcAft>
                  <a:spcPts val="0"/>
                </a:spcAft>
                <a:buNone/>
              </a:pPr>
              <a:r>
                <a:rPr b="0" lang="en" sz="1200">
                  <a:solidFill>
                    <a:srgbClr val="0F172A"/>
                  </a:solidFill>
                  <a:latin typeface="Barlow SemiBold"/>
                  <a:ea typeface="Barlow SemiBold"/>
                  <a:cs typeface="Barlow SemiBold"/>
                  <a:sym typeface="Barlow SemiBold"/>
                </a:rPr>
                <a:t>14D-9: </a:t>
              </a:r>
              <a:r>
                <a:rPr b="0" lang="en" sz="1200">
                  <a:solidFill>
                    <a:srgbClr val="334155"/>
                  </a:solidFill>
                  <a:latin typeface="Barlow"/>
                  <a:ea typeface="Barlow"/>
                  <a:cs typeface="Barlow"/>
                  <a:sym typeface="Barlow"/>
                </a:rPr>
                <a:t>Formal Item structure, isolating Item 4 (Solicitation/Recommendation)</a:t>
              </a:r>
              <a:endParaRPr b="0" sz="1200">
                <a:solidFill>
                  <a:srgbClr val="0F172A"/>
                </a:solidFill>
                <a:latin typeface="Barlow SemiBold"/>
                <a:ea typeface="Barlow SemiBold"/>
                <a:cs typeface="Barlow SemiBold"/>
                <a:sym typeface="Barlow SemiBold"/>
              </a:endParaRPr>
            </a:p>
            <a:p>
              <a:pPr indent="0" lvl="0" marL="0" rtl="0" algn="l">
                <a:spcBef>
                  <a:spcPts val="300"/>
                </a:spcBef>
                <a:spcAft>
                  <a:spcPts val="0"/>
                </a:spcAft>
                <a:buNone/>
              </a:pPr>
              <a:r>
                <a:rPr b="0" lang="en" sz="1200">
                  <a:solidFill>
                    <a:srgbClr val="0F172A"/>
                  </a:solidFill>
                  <a:latin typeface="Barlow SemiBold"/>
                  <a:ea typeface="Barlow SemiBold"/>
                  <a:cs typeface="Barlow SemiBold"/>
                  <a:sym typeface="Barlow SemiBold"/>
                </a:rPr>
                <a:t>Amendments: </a:t>
              </a:r>
              <a:r>
                <a:rPr b="0" lang="en" sz="1200">
                  <a:solidFill>
                    <a:srgbClr val="334155"/>
                  </a:solidFill>
                  <a:latin typeface="Barlow"/>
                  <a:ea typeface="Barlow"/>
                  <a:cs typeface="Barlow"/>
                  <a:sym typeface="Barlow"/>
                </a:rPr>
                <a:t>Changed Item markers or text diffs against prior filings</a:t>
              </a:r>
              <a:endParaRPr b="0" sz="1200">
                <a:solidFill>
                  <a:srgbClr val="0F172A"/>
                </a:solidFill>
                <a:latin typeface="Barlow SemiBold"/>
                <a:ea typeface="Barlow SemiBold"/>
                <a:cs typeface="Barlow SemiBold"/>
                <a:sym typeface="Barlow SemiBold"/>
              </a:endParaRPr>
            </a:p>
          </p:txBody>
        </p:sp>
      </p:grpSp>
      <p:grpSp>
        <p:nvGrpSpPr>
          <p:cNvPr id="198" name="Google Shape;198;p19"/>
          <p:cNvGrpSpPr/>
          <p:nvPr/>
        </p:nvGrpSpPr>
        <p:grpSpPr>
          <a:xfrm>
            <a:off x="1095375" y="4606239"/>
            <a:ext cx="16097400" cy="1162200"/>
            <a:chOff x="0" y="0"/>
            <a:chExt cx="16097400" cy="1162200"/>
          </a:xfrm>
        </p:grpSpPr>
        <p:sp>
          <p:nvSpPr>
            <p:cNvPr id="199" name="Google Shape;199;p19"/>
            <p:cNvSpPr/>
            <p:nvPr/>
          </p:nvSpPr>
          <p:spPr>
            <a:xfrm>
              <a:off x="0" y="0"/>
              <a:ext cx="16097400" cy="1162200"/>
            </a:xfrm>
            <a:prstGeom prst="roundRect">
              <a:avLst>
                <a:gd fmla="val 81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9"/>
            <p:cNvSpPr/>
            <p:nvPr/>
          </p:nvSpPr>
          <p:spPr>
            <a:xfrm>
              <a:off x="0" y="0"/>
              <a:ext cx="1428900" cy="11622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9"/>
            <p:cNvSpPr txBox="1"/>
            <p:nvPr/>
          </p:nvSpPr>
          <p:spPr>
            <a:xfrm>
              <a:off x="0" y="0"/>
              <a:ext cx="1428900" cy="11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D97706"/>
                  </a:solidFill>
                  <a:latin typeface="Barlow Condensed"/>
                  <a:ea typeface="Barlow Condensed"/>
                  <a:cs typeface="Barlow Condensed"/>
                  <a:sym typeface="Barlow Condensed"/>
                </a:rPr>
                <a:t>STEP 3</a:t>
              </a:r>
              <a:endParaRPr b="1" sz="1100">
                <a:solidFill>
                  <a:srgbClr val="D97706"/>
                </a:solidFill>
                <a:latin typeface="Barlow Condensed"/>
                <a:ea typeface="Barlow Condensed"/>
                <a:cs typeface="Barlow Condensed"/>
                <a:sym typeface="Barlow Condensed"/>
              </a:endParaRPr>
            </a:p>
            <a:p>
              <a:pPr indent="0" lvl="0" marL="0" rtl="0" algn="ctr">
                <a:spcBef>
                  <a:spcPts val="200"/>
                </a:spcBef>
                <a:spcAft>
                  <a:spcPts val="0"/>
                </a:spcAft>
                <a:buNone/>
              </a:pPr>
              <a:r>
                <a:rPr b="1" lang="en" sz="1600">
                  <a:solidFill>
                    <a:srgbClr val="B45309"/>
                  </a:solidFill>
                  <a:latin typeface="Barlow Condensed"/>
                  <a:ea typeface="Barlow Condensed"/>
                  <a:cs typeface="Barlow Condensed"/>
                  <a:sym typeface="Barlow Condensed"/>
                </a:rPr>
                <a:t>BOUND</a:t>
              </a:r>
              <a:endParaRPr b="1" sz="1600">
                <a:solidFill>
                  <a:srgbClr val="B45309"/>
                </a:solidFill>
                <a:latin typeface="Barlow Condensed"/>
                <a:ea typeface="Barlow Condensed"/>
                <a:cs typeface="Barlow Condensed"/>
                <a:sym typeface="Barlow Condensed"/>
              </a:endParaRPr>
            </a:p>
          </p:txBody>
        </p:sp>
        <p:sp>
          <p:nvSpPr>
            <p:cNvPr id="202" name="Google Shape;202;p19"/>
            <p:cNvSpPr txBox="1"/>
            <p:nvPr/>
          </p:nvSpPr>
          <p:spPr>
            <a:xfrm>
              <a:off x="1666875" y="0"/>
              <a:ext cx="49053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00">
                  <a:solidFill>
                    <a:srgbClr val="0F172A"/>
                  </a:solidFill>
                  <a:latin typeface="Barlow Condensed"/>
                  <a:ea typeface="Barlow Condensed"/>
                  <a:cs typeface="Barlow Condensed"/>
                  <a:sym typeface="Barlow Condensed"/>
                </a:rPr>
                <a:t>3. Local Window</a:t>
              </a:r>
              <a:endParaRPr b="1" sz="1900">
                <a:solidFill>
                  <a:srgbClr val="0F172A"/>
                </a:solidFill>
                <a:latin typeface="Barlow Condensed"/>
                <a:ea typeface="Barlow Condensed"/>
                <a:cs typeface="Barlow Condensed"/>
                <a:sym typeface="Barlow Condensed"/>
              </a:endParaRPr>
            </a:p>
            <a:p>
              <a:pPr indent="0" lvl="0" marL="0" rtl="0" algn="l">
                <a:spcBef>
                  <a:spcPts val="300"/>
                </a:spcBef>
                <a:spcAft>
                  <a:spcPts val="0"/>
                </a:spcAft>
                <a:buNone/>
              </a:pPr>
              <a:r>
                <a:rPr b="0" lang="en" sz="1200">
                  <a:solidFill>
                    <a:srgbClr val="D97706"/>
                  </a:solidFill>
                  <a:latin typeface="Barlow Medium"/>
                  <a:ea typeface="Barlow Medium"/>
                  <a:cs typeface="Barlow Medium"/>
                  <a:sym typeface="Barlow Medium"/>
                </a:rPr>
                <a:t>Isolate bounding spans around identified target headings</a:t>
              </a:r>
              <a:endParaRPr b="0" sz="1200">
                <a:solidFill>
                  <a:srgbClr val="D97706"/>
                </a:solidFill>
                <a:latin typeface="Barlow Medium"/>
                <a:ea typeface="Barlow Medium"/>
                <a:cs typeface="Barlow Medium"/>
                <a:sym typeface="Barlow Medium"/>
              </a:endParaRPr>
            </a:p>
          </p:txBody>
        </p:sp>
        <p:cxnSp>
          <p:nvCxnSpPr>
            <p:cNvPr id="203" name="Google Shape;203;p19"/>
            <p:cNvCxnSpPr/>
            <p:nvPr/>
          </p:nvCxnSpPr>
          <p:spPr>
            <a:xfrm>
              <a:off x="6762750" y="142875"/>
              <a:ext cx="0" cy="8763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204" name="Google Shape;204;p19"/>
            <p:cNvSpPr txBox="1"/>
            <p:nvPr/>
          </p:nvSpPr>
          <p:spPr>
            <a:xfrm>
              <a:off x="7000875" y="0"/>
              <a:ext cx="88584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50">
                  <a:solidFill>
                    <a:srgbClr val="0F172A"/>
                  </a:solidFill>
                  <a:latin typeface="Barlow SemiBold"/>
                  <a:ea typeface="Barlow SemiBold"/>
                  <a:cs typeface="Barlow SemiBold"/>
                  <a:sym typeface="Barlow SemiBold"/>
                </a:rPr>
                <a:t>Context Bounding: </a:t>
              </a:r>
              <a:r>
                <a:rPr b="0" lang="en" sz="1250">
                  <a:solidFill>
                    <a:srgbClr val="334155"/>
                  </a:solidFill>
                  <a:latin typeface="Barlow"/>
                  <a:ea typeface="Barlow"/>
                  <a:cs typeface="Barlow"/>
                  <a:sym typeface="Barlow"/>
                </a:rPr>
                <a:t>Bounding spans of ~500–2,000 tokens focused strictly around located section anchors</a:t>
              </a:r>
              <a:endParaRPr b="0" sz="1250">
                <a:solidFill>
                  <a:srgbClr val="0F172A"/>
                </a:solidFill>
                <a:latin typeface="Barlow SemiBold"/>
                <a:ea typeface="Barlow SemiBold"/>
                <a:cs typeface="Barlow SemiBold"/>
                <a:sym typeface="Barlow SemiBold"/>
              </a:endParaRPr>
            </a:p>
            <a:p>
              <a:pPr indent="0" lvl="0" marL="0" rtl="0" algn="l">
                <a:spcBef>
                  <a:spcPts val="400"/>
                </a:spcBef>
                <a:spcAft>
                  <a:spcPts val="0"/>
                </a:spcAft>
                <a:buNone/>
              </a:pPr>
              <a:r>
                <a:rPr b="0" lang="en" sz="1150">
                  <a:solidFill>
                    <a:srgbClr val="64748B"/>
                  </a:solidFill>
                  <a:latin typeface="Barlow"/>
                  <a:ea typeface="Barlow"/>
                  <a:cs typeface="Barlow"/>
                  <a:sym typeface="Barlow"/>
                </a:rPr>
                <a:t>Eliminates noise from long disclosures and reduces context window overhead for extraction models.</a:t>
              </a:r>
              <a:endParaRPr b="0" sz="1150">
                <a:solidFill>
                  <a:srgbClr val="64748B"/>
                </a:solidFill>
                <a:latin typeface="Barlow"/>
                <a:ea typeface="Barlow"/>
                <a:cs typeface="Barlow"/>
                <a:sym typeface="Barlow"/>
              </a:endParaRPr>
            </a:p>
          </p:txBody>
        </p:sp>
      </p:grpSp>
      <p:grpSp>
        <p:nvGrpSpPr>
          <p:cNvPr id="205" name="Google Shape;205;p19"/>
          <p:cNvGrpSpPr/>
          <p:nvPr/>
        </p:nvGrpSpPr>
        <p:grpSpPr>
          <a:xfrm>
            <a:off x="1095375" y="5911164"/>
            <a:ext cx="16097400" cy="1162200"/>
            <a:chOff x="0" y="0"/>
            <a:chExt cx="16097400" cy="1162200"/>
          </a:xfrm>
        </p:grpSpPr>
        <p:sp>
          <p:nvSpPr>
            <p:cNvPr id="206" name="Google Shape;206;p19"/>
            <p:cNvSpPr/>
            <p:nvPr/>
          </p:nvSpPr>
          <p:spPr>
            <a:xfrm>
              <a:off x="0" y="0"/>
              <a:ext cx="16097400" cy="1162200"/>
            </a:xfrm>
            <a:prstGeom prst="roundRect">
              <a:avLst>
                <a:gd fmla="val 81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9"/>
            <p:cNvSpPr/>
            <p:nvPr/>
          </p:nvSpPr>
          <p:spPr>
            <a:xfrm>
              <a:off x="0" y="0"/>
              <a:ext cx="1428900" cy="11622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9"/>
            <p:cNvSpPr txBox="1"/>
            <p:nvPr/>
          </p:nvSpPr>
          <p:spPr>
            <a:xfrm>
              <a:off x="0" y="0"/>
              <a:ext cx="1428900" cy="11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9333EA"/>
                  </a:solidFill>
                  <a:latin typeface="Barlow Condensed"/>
                  <a:ea typeface="Barlow Condensed"/>
                  <a:cs typeface="Barlow Condensed"/>
                  <a:sym typeface="Barlow Condensed"/>
                </a:rPr>
                <a:t>STEP 4</a:t>
              </a:r>
              <a:endParaRPr b="1" sz="1100">
                <a:solidFill>
                  <a:srgbClr val="9333EA"/>
                </a:solidFill>
                <a:latin typeface="Barlow Condensed"/>
                <a:ea typeface="Barlow Condensed"/>
                <a:cs typeface="Barlow Condensed"/>
                <a:sym typeface="Barlow Condensed"/>
              </a:endParaRPr>
            </a:p>
            <a:p>
              <a:pPr indent="0" lvl="0" marL="0" rtl="0" algn="ctr">
                <a:spcBef>
                  <a:spcPts val="200"/>
                </a:spcBef>
                <a:spcAft>
                  <a:spcPts val="0"/>
                </a:spcAft>
                <a:buNone/>
              </a:pPr>
              <a:r>
                <a:rPr b="1" lang="en" sz="1600">
                  <a:solidFill>
                    <a:srgbClr val="7E22CE"/>
                  </a:solidFill>
                  <a:latin typeface="Barlow Condensed"/>
                  <a:ea typeface="Barlow Condensed"/>
                  <a:cs typeface="Barlow Condensed"/>
                  <a:sym typeface="Barlow Condensed"/>
                </a:rPr>
                <a:t>EXTRACT</a:t>
              </a:r>
              <a:endParaRPr b="1" sz="1600">
                <a:solidFill>
                  <a:srgbClr val="7E22CE"/>
                </a:solidFill>
                <a:latin typeface="Barlow Condensed"/>
                <a:ea typeface="Barlow Condensed"/>
                <a:cs typeface="Barlow Condensed"/>
                <a:sym typeface="Barlow Condensed"/>
              </a:endParaRPr>
            </a:p>
          </p:txBody>
        </p:sp>
        <p:sp>
          <p:nvSpPr>
            <p:cNvPr id="209" name="Google Shape;209;p19"/>
            <p:cNvSpPr txBox="1"/>
            <p:nvPr/>
          </p:nvSpPr>
          <p:spPr>
            <a:xfrm>
              <a:off x="1666875" y="0"/>
              <a:ext cx="49053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00">
                  <a:solidFill>
                    <a:srgbClr val="0F172A"/>
                  </a:solidFill>
                  <a:latin typeface="Barlow Condensed"/>
                  <a:ea typeface="Barlow Condensed"/>
                  <a:cs typeface="Barlow Condensed"/>
                  <a:sym typeface="Barlow Condensed"/>
                </a:rPr>
                <a:t>4. GLiNER / Regex Extraction</a:t>
              </a:r>
              <a:endParaRPr b="1" sz="1900">
                <a:solidFill>
                  <a:srgbClr val="0F172A"/>
                </a:solidFill>
                <a:latin typeface="Barlow Condensed"/>
                <a:ea typeface="Barlow Condensed"/>
                <a:cs typeface="Barlow Condensed"/>
                <a:sym typeface="Barlow Condensed"/>
              </a:endParaRPr>
            </a:p>
            <a:p>
              <a:pPr indent="0" lvl="0" marL="0" rtl="0" algn="l">
                <a:spcBef>
                  <a:spcPts val="300"/>
                </a:spcBef>
                <a:spcAft>
                  <a:spcPts val="0"/>
                </a:spcAft>
                <a:buNone/>
              </a:pPr>
              <a:r>
                <a:rPr b="0" lang="en" sz="1200">
                  <a:solidFill>
                    <a:srgbClr val="9333EA"/>
                  </a:solidFill>
                  <a:latin typeface="Barlow Medium"/>
                  <a:ea typeface="Barlow Medium"/>
                  <a:cs typeface="Barlow Medium"/>
                  <a:sym typeface="Barlow Medium"/>
                </a:rPr>
                <a:t>Targeted entity extraction on bounded spans</a:t>
              </a:r>
              <a:endParaRPr b="0" sz="1200">
                <a:solidFill>
                  <a:srgbClr val="9333EA"/>
                </a:solidFill>
                <a:latin typeface="Barlow Medium"/>
                <a:ea typeface="Barlow Medium"/>
                <a:cs typeface="Barlow Medium"/>
                <a:sym typeface="Barlow Medium"/>
              </a:endParaRPr>
            </a:p>
          </p:txBody>
        </p:sp>
        <p:cxnSp>
          <p:nvCxnSpPr>
            <p:cNvPr id="210" name="Google Shape;210;p19"/>
            <p:cNvCxnSpPr/>
            <p:nvPr/>
          </p:nvCxnSpPr>
          <p:spPr>
            <a:xfrm>
              <a:off x="6762750" y="142875"/>
              <a:ext cx="0" cy="8763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211" name="Google Shape;211;p19"/>
            <p:cNvSpPr txBox="1"/>
            <p:nvPr/>
          </p:nvSpPr>
          <p:spPr>
            <a:xfrm>
              <a:off x="7000875" y="0"/>
              <a:ext cx="88584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50">
                  <a:solidFill>
                    <a:srgbClr val="0F172A"/>
                  </a:solidFill>
                  <a:latin typeface="Barlow SemiBold"/>
                  <a:ea typeface="Barlow SemiBold"/>
                  <a:cs typeface="Barlow SemiBold"/>
                  <a:sym typeface="Barlow SemiBold"/>
                </a:rPr>
                <a:t>Regex Rules: </a:t>
              </a:r>
              <a:r>
                <a:rPr b="0" lang="en" sz="1250">
                  <a:solidFill>
                    <a:srgbClr val="334155"/>
                  </a:solidFill>
                  <a:latin typeface="Barlow"/>
                  <a:ea typeface="Barlow"/>
                  <a:cs typeface="Barlow"/>
                  <a:sym typeface="Barlow"/>
                </a:rPr>
                <a:t>CUSIP, cash price, expiration date/time &amp; time zone</a:t>
              </a:r>
              <a:endParaRPr b="0" sz="1250">
                <a:solidFill>
                  <a:srgbClr val="0F172A"/>
                </a:solidFill>
                <a:latin typeface="Barlow SemiBold"/>
                <a:ea typeface="Barlow SemiBold"/>
                <a:cs typeface="Barlow SemiBold"/>
                <a:sym typeface="Barlow SemiBold"/>
              </a:endParaRPr>
            </a:p>
            <a:p>
              <a:pPr indent="0" lvl="0" marL="0" rtl="0" algn="l">
                <a:spcBef>
                  <a:spcPts val="400"/>
                </a:spcBef>
                <a:spcAft>
                  <a:spcPts val="0"/>
                </a:spcAft>
                <a:buNone/>
              </a:pPr>
              <a:r>
                <a:rPr b="0" lang="en" sz="1250">
                  <a:solidFill>
                    <a:srgbClr val="0F172A"/>
                  </a:solidFill>
                  <a:latin typeface="Barlow SemiBold"/>
                  <a:ea typeface="Barlow SemiBold"/>
                  <a:cs typeface="Barlow SemiBold"/>
                  <a:sym typeface="Barlow SemiBold"/>
                </a:rPr>
                <a:t>GLiNER Model: </a:t>
              </a:r>
              <a:r>
                <a:rPr b="0" lang="en" sz="1250">
                  <a:solidFill>
                    <a:srgbClr val="334155"/>
                  </a:solidFill>
                  <a:latin typeface="Barlow"/>
                  <a:ea typeface="Barlow"/>
                  <a:cs typeface="Barlow"/>
                  <a:sym typeface="Barlow"/>
                </a:rPr>
                <a:t>Offeror/target entity roles, security classes, recommendation language</a:t>
              </a:r>
              <a:endParaRPr b="0" sz="1250">
                <a:solidFill>
                  <a:srgbClr val="0F172A"/>
                </a:solidFill>
                <a:latin typeface="Barlow SemiBold"/>
                <a:ea typeface="Barlow SemiBold"/>
                <a:cs typeface="Barlow SemiBold"/>
                <a:sym typeface="Barlow SemiBold"/>
              </a:endParaRPr>
            </a:p>
          </p:txBody>
        </p:sp>
      </p:grpSp>
      <p:grpSp>
        <p:nvGrpSpPr>
          <p:cNvPr id="212" name="Google Shape;212;p19"/>
          <p:cNvGrpSpPr/>
          <p:nvPr/>
        </p:nvGrpSpPr>
        <p:grpSpPr>
          <a:xfrm>
            <a:off x="1095375" y="7216089"/>
            <a:ext cx="16097400" cy="1162200"/>
            <a:chOff x="0" y="0"/>
            <a:chExt cx="16097400" cy="1162200"/>
          </a:xfrm>
        </p:grpSpPr>
        <p:sp>
          <p:nvSpPr>
            <p:cNvPr id="213" name="Google Shape;213;p19"/>
            <p:cNvSpPr/>
            <p:nvPr/>
          </p:nvSpPr>
          <p:spPr>
            <a:xfrm>
              <a:off x="0" y="0"/>
              <a:ext cx="16097400" cy="1162200"/>
            </a:xfrm>
            <a:prstGeom prst="roundRect">
              <a:avLst>
                <a:gd fmla="val 819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9"/>
            <p:cNvSpPr/>
            <p:nvPr/>
          </p:nvSpPr>
          <p:spPr>
            <a:xfrm>
              <a:off x="0" y="0"/>
              <a:ext cx="1428900" cy="11622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19"/>
            <p:cNvSpPr txBox="1"/>
            <p:nvPr/>
          </p:nvSpPr>
          <p:spPr>
            <a:xfrm>
              <a:off x="0" y="0"/>
              <a:ext cx="1428900" cy="11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059669"/>
                  </a:solidFill>
                  <a:latin typeface="Barlow Condensed"/>
                  <a:ea typeface="Barlow Condensed"/>
                  <a:cs typeface="Barlow Condensed"/>
                  <a:sym typeface="Barlow Condensed"/>
                </a:rPr>
                <a:t>STEP 5</a:t>
              </a:r>
              <a:endParaRPr b="1" sz="1100">
                <a:solidFill>
                  <a:srgbClr val="059669"/>
                </a:solidFill>
                <a:latin typeface="Barlow Condensed"/>
                <a:ea typeface="Barlow Condensed"/>
                <a:cs typeface="Barlow Condensed"/>
                <a:sym typeface="Barlow Condensed"/>
              </a:endParaRPr>
            </a:p>
            <a:p>
              <a:pPr indent="0" lvl="0" marL="0" rtl="0" algn="ctr">
                <a:spcBef>
                  <a:spcPts val="200"/>
                </a:spcBef>
                <a:spcAft>
                  <a:spcPts val="0"/>
                </a:spcAft>
                <a:buNone/>
              </a:pPr>
              <a:r>
                <a:rPr b="1" lang="en" sz="1500">
                  <a:solidFill>
                    <a:srgbClr val="047857"/>
                  </a:solidFill>
                  <a:latin typeface="Barlow Condensed"/>
                  <a:ea typeface="Barlow Condensed"/>
                  <a:cs typeface="Barlow Condensed"/>
                  <a:sym typeface="Barlow Condensed"/>
                </a:rPr>
                <a:t>RECONCILE</a:t>
              </a:r>
              <a:endParaRPr b="1" sz="1500">
                <a:solidFill>
                  <a:srgbClr val="047857"/>
                </a:solidFill>
                <a:latin typeface="Barlow Condensed"/>
                <a:ea typeface="Barlow Condensed"/>
                <a:cs typeface="Barlow Condensed"/>
                <a:sym typeface="Barlow Condensed"/>
              </a:endParaRPr>
            </a:p>
          </p:txBody>
        </p:sp>
        <p:sp>
          <p:nvSpPr>
            <p:cNvPr id="216" name="Google Shape;216;p19"/>
            <p:cNvSpPr txBox="1"/>
            <p:nvPr/>
          </p:nvSpPr>
          <p:spPr>
            <a:xfrm>
              <a:off x="1666875" y="0"/>
              <a:ext cx="49053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00">
                  <a:solidFill>
                    <a:srgbClr val="0F172A"/>
                  </a:solidFill>
                  <a:latin typeface="Barlow Condensed"/>
                  <a:ea typeface="Barlow Condensed"/>
                  <a:cs typeface="Barlow Condensed"/>
                  <a:sym typeface="Barlow Condensed"/>
                </a:rPr>
                <a:t>5. Source-Aware Reconciliation</a:t>
              </a:r>
              <a:endParaRPr b="1" sz="1900">
                <a:solidFill>
                  <a:srgbClr val="0F172A"/>
                </a:solidFill>
                <a:latin typeface="Barlow Condensed"/>
                <a:ea typeface="Barlow Condensed"/>
                <a:cs typeface="Barlow Condensed"/>
                <a:sym typeface="Barlow Condensed"/>
              </a:endParaRPr>
            </a:p>
            <a:p>
              <a:pPr indent="0" lvl="0" marL="0" rtl="0" algn="l">
                <a:spcBef>
                  <a:spcPts val="300"/>
                </a:spcBef>
                <a:spcAft>
                  <a:spcPts val="0"/>
                </a:spcAft>
                <a:buNone/>
              </a:pPr>
              <a:r>
                <a:rPr b="0" lang="en" sz="1200">
                  <a:solidFill>
                    <a:srgbClr val="059669"/>
                  </a:solidFill>
                  <a:latin typeface="Barlow Medium"/>
                  <a:ea typeface="Barlow Medium"/>
                  <a:cs typeface="Barlow Medium"/>
                  <a:sym typeface="Barlow Medium"/>
                </a:rPr>
                <a:t>Resolve field conflicts across the package</a:t>
              </a:r>
              <a:endParaRPr b="0" sz="1200">
                <a:solidFill>
                  <a:srgbClr val="059669"/>
                </a:solidFill>
                <a:latin typeface="Barlow Medium"/>
                <a:ea typeface="Barlow Medium"/>
                <a:cs typeface="Barlow Medium"/>
                <a:sym typeface="Barlow Medium"/>
              </a:endParaRPr>
            </a:p>
          </p:txBody>
        </p:sp>
        <p:cxnSp>
          <p:nvCxnSpPr>
            <p:cNvPr id="217" name="Google Shape;217;p19"/>
            <p:cNvCxnSpPr/>
            <p:nvPr/>
          </p:nvCxnSpPr>
          <p:spPr>
            <a:xfrm>
              <a:off x="6762750" y="142875"/>
              <a:ext cx="0" cy="8763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218" name="Google Shape;218;p19"/>
            <p:cNvSpPr txBox="1"/>
            <p:nvPr/>
          </p:nvSpPr>
          <p:spPr>
            <a:xfrm>
              <a:off x="7000875" y="0"/>
              <a:ext cx="88584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50">
                  <a:solidFill>
                    <a:srgbClr val="0F172A"/>
                  </a:solidFill>
                  <a:latin typeface="Barlow SemiBold"/>
                  <a:ea typeface="Barlow SemiBold"/>
                  <a:cs typeface="Barlow SemiBold"/>
                  <a:sym typeface="Barlow SemiBold"/>
                </a:rPr>
                <a:t>Price &amp; Expiration: </a:t>
              </a:r>
              <a:r>
                <a:rPr b="0" lang="en" sz="1250">
                  <a:solidFill>
                    <a:srgbClr val="334155"/>
                  </a:solidFill>
                  <a:latin typeface="Barlow"/>
                  <a:ea typeface="Barlow"/>
                  <a:cs typeface="Barlow"/>
                  <a:sym typeface="Barlow"/>
                </a:rPr>
                <a:t>Prefer OTP over cover page</a:t>
              </a:r>
              <a:r>
                <a:rPr b="0" lang="en" sz="1250">
                  <a:solidFill>
                    <a:srgbClr val="0F172A"/>
                  </a:solidFill>
                  <a:latin typeface="Barlow SemiBold"/>
                  <a:ea typeface="Barlow SemiBold"/>
                  <a:cs typeface="Barlow SemiBold"/>
                  <a:sym typeface="Barlow SemiBold"/>
                </a:rPr>
                <a:t>  |  CUSIP: </a:t>
              </a:r>
              <a:r>
                <a:rPr b="0" lang="en" sz="1250">
                  <a:solidFill>
                    <a:srgbClr val="334155"/>
                  </a:solidFill>
                  <a:latin typeface="Barlow"/>
                  <a:ea typeface="Barlow"/>
                  <a:cs typeface="Barlow"/>
                  <a:sym typeface="Barlow"/>
                </a:rPr>
                <a:t>Prefer Schedule TO cover</a:t>
              </a:r>
              <a:endParaRPr b="0" sz="1250">
                <a:solidFill>
                  <a:srgbClr val="0F172A"/>
                </a:solidFill>
                <a:latin typeface="Barlow SemiBold"/>
                <a:ea typeface="Barlow SemiBold"/>
                <a:cs typeface="Barlow SemiBold"/>
                <a:sym typeface="Barlow SemiBold"/>
              </a:endParaRPr>
            </a:p>
            <a:p>
              <a:pPr indent="0" lvl="0" marL="0" rtl="0" algn="l">
                <a:spcBef>
                  <a:spcPts val="400"/>
                </a:spcBef>
                <a:spcAft>
                  <a:spcPts val="0"/>
                </a:spcAft>
                <a:buNone/>
              </a:pPr>
              <a:r>
                <a:rPr b="0" lang="en" sz="1250">
                  <a:solidFill>
                    <a:srgbClr val="0F172A"/>
                  </a:solidFill>
                  <a:latin typeface="Barlow SemiBold"/>
                  <a:ea typeface="Barlow SemiBold"/>
                  <a:cs typeface="Barlow SemiBold"/>
                  <a:sym typeface="Barlow SemiBold"/>
                </a:rPr>
                <a:t>Board Stance: </a:t>
              </a:r>
              <a:r>
                <a:rPr b="0" lang="en" sz="1250">
                  <a:solidFill>
                    <a:srgbClr val="334155"/>
                  </a:solidFill>
                  <a:latin typeface="Barlow"/>
                  <a:ea typeface="Barlow"/>
                  <a:cs typeface="Barlow"/>
                  <a:sym typeface="Barlow"/>
                </a:rPr>
                <a:t>Prefer 14D-9 Item 4</a:t>
              </a:r>
              <a:r>
                <a:rPr b="0" lang="en" sz="1250">
                  <a:solidFill>
                    <a:srgbClr val="0F172A"/>
                  </a:solidFill>
                  <a:latin typeface="Barlow SemiBold"/>
                  <a:ea typeface="Barlow SemiBold"/>
                  <a:cs typeface="Barlow SemiBold"/>
                  <a:sym typeface="Barlow SemiBold"/>
                </a:rPr>
                <a:t>  |  Temporal Deltas: </a:t>
              </a:r>
              <a:r>
                <a:rPr b="0" lang="en" sz="1250">
                  <a:solidFill>
                    <a:srgbClr val="334155"/>
                  </a:solidFill>
                  <a:latin typeface="Barlow"/>
                  <a:ea typeface="Barlow"/>
                  <a:cs typeface="Barlow"/>
                  <a:sym typeface="Barlow"/>
                </a:rPr>
                <a:t>Later amendment values supersede earlier values</a:t>
              </a:r>
              <a:endParaRPr b="0" sz="1250">
                <a:solidFill>
                  <a:srgbClr val="0F172A"/>
                </a:solidFill>
                <a:latin typeface="Barlow SemiBold"/>
                <a:ea typeface="Barlow SemiBold"/>
                <a:cs typeface="Barlow SemiBold"/>
                <a:sym typeface="Barlow SemiBold"/>
              </a:endParaRPr>
            </a:p>
          </p:txBody>
        </p:sp>
      </p:grpSp>
      <p:grpSp>
        <p:nvGrpSpPr>
          <p:cNvPr id="219" name="Google Shape;219;p19"/>
          <p:cNvGrpSpPr/>
          <p:nvPr/>
        </p:nvGrpSpPr>
        <p:grpSpPr>
          <a:xfrm>
            <a:off x="1095375" y="8540064"/>
            <a:ext cx="16097400" cy="590700"/>
            <a:chOff x="0" y="0"/>
            <a:chExt cx="16097400" cy="590700"/>
          </a:xfrm>
        </p:grpSpPr>
        <p:sp>
          <p:nvSpPr>
            <p:cNvPr id="220" name="Google Shape;220;p19"/>
            <p:cNvSpPr/>
            <p:nvPr/>
          </p:nvSpPr>
          <p:spPr>
            <a:xfrm>
              <a:off x="0" y="0"/>
              <a:ext cx="16097400" cy="590700"/>
            </a:xfrm>
            <a:prstGeom prst="roundRect">
              <a:avLst>
                <a:gd fmla="val 16129"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9"/>
            <p:cNvSpPr txBox="1"/>
            <p:nvPr/>
          </p:nvSpPr>
          <p:spPr>
            <a:xfrm>
              <a:off x="238125" y="0"/>
              <a:ext cx="15621000" cy="59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50">
                  <a:solidFill>
                    <a:srgbClr val="38BDF8"/>
                  </a:solidFill>
                  <a:latin typeface="Barlow"/>
                  <a:ea typeface="Barlow"/>
                  <a:cs typeface="Barlow"/>
                  <a:sym typeface="Barlow"/>
                </a:rPr>
                <a:t>“Structure finds where to look. GLiNER finds the value.”</a:t>
              </a:r>
              <a:endParaRPr b="1" sz="1350">
                <a:solidFill>
                  <a:srgbClr val="38BDF8"/>
                </a:solidFill>
                <a:latin typeface="Barlow"/>
                <a:ea typeface="Barlow"/>
                <a:cs typeface="Barlow"/>
                <a:sym typeface="Barlow"/>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5" name="Shape 225"/>
        <p:cNvGrpSpPr/>
        <p:nvPr/>
      </p:nvGrpSpPr>
      <p:grpSpPr>
        <a:xfrm>
          <a:off x="0" y="0"/>
          <a:ext cx="0" cy="0"/>
          <a:chOff x="0" y="0"/>
          <a:chExt cx="0" cy="0"/>
        </a:xfrm>
      </p:grpSpPr>
      <p:sp>
        <p:nvSpPr>
          <p:cNvPr id="226" name="Google Shape;226;p20"/>
          <p:cNvSpPr txBox="1"/>
          <p:nvPr/>
        </p:nvSpPr>
        <p:spPr>
          <a:xfrm>
            <a:off x="1095375" y="762000"/>
            <a:ext cx="16097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85">
                <a:solidFill>
                  <a:srgbClr val="1D1F20"/>
                </a:solidFill>
                <a:latin typeface="Barlow Condensed"/>
                <a:ea typeface="Barlow Condensed"/>
                <a:cs typeface="Barlow Condensed"/>
                <a:sym typeface="Barlow Condensed"/>
              </a:rPr>
              <a:t>Exchange Offers: Preliminary Field Extraction Approach</a:t>
            </a:r>
            <a:endParaRPr b="1" sz="3885">
              <a:solidFill>
                <a:srgbClr val="1D1F20"/>
              </a:solidFill>
              <a:latin typeface="Barlow Condensed"/>
              <a:ea typeface="Barlow Condensed"/>
              <a:cs typeface="Barlow Condensed"/>
              <a:sym typeface="Barlow Condensed"/>
            </a:endParaRPr>
          </a:p>
        </p:txBody>
      </p:sp>
      <p:grpSp>
        <p:nvGrpSpPr>
          <p:cNvPr id="227" name="Google Shape;227;p20"/>
          <p:cNvGrpSpPr/>
          <p:nvPr/>
        </p:nvGrpSpPr>
        <p:grpSpPr>
          <a:xfrm>
            <a:off x="1095375" y="1714500"/>
            <a:ext cx="16097400" cy="7000800"/>
            <a:chOff x="0" y="0"/>
            <a:chExt cx="16097400" cy="7000800"/>
          </a:xfrm>
        </p:grpSpPr>
        <p:sp>
          <p:nvSpPr>
            <p:cNvPr id="228" name="Google Shape;228;p20"/>
            <p:cNvSpPr/>
            <p:nvPr/>
          </p:nvSpPr>
          <p:spPr>
            <a:xfrm>
              <a:off x="0" y="0"/>
              <a:ext cx="16097400" cy="7000800"/>
            </a:xfrm>
            <a:prstGeom prst="roundRect">
              <a:avLst>
                <a:gd fmla="val 1632"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20"/>
            <p:cNvSpPr/>
            <p:nvPr/>
          </p:nvSpPr>
          <p:spPr>
            <a:xfrm>
              <a:off x="238125" y="190500"/>
              <a:ext cx="15621000" cy="457200"/>
            </a:xfrm>
            <a:prstGeom prst="roundRect">
              <a:avLst>
                <a:gd fmla="val 16666" name="adj"/>
              </a:avLst>
            </a:prstGeom>
            <a:solidFill>
              <a:srgbClr val="EBEE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0" name="Google Shape;230;p20"/>
            <p:cNvGrpSpPr/>
            <p:nvPr/>
          </p:nvGrpSpPr>
          <p:grpSpPr>
            <a:xfrm>
              <a:off x="428625" y="304800"/>
              <a:ext cx="15144900" cy="228600"/>
              <a:chOff x="0" y="0"/>
              <a:chExt cx="15144900" cy="228600"/>
            </a:xfrm>
          </p:grpSpPr>
          <p:sp>
            <p:nvSpPr>
              <p:cNvPr id="231" name="Google Shape;231;p20"/>
              <p:cNvSpPr txBox="1"/>
              <p:nvPr/>
            </p:nvSpPr>
            <p:spPr>
              <a:xfrm>
                <a:off x="0" y="0"/>
                <a:ext cx="41910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600">
                    <a:solidFill>
                      <a:srgbClr val="1D1F20"/>
                    </a:solidFill>
                    <a:latin typeface="Barlow Condensed"/>
                    <a:ea typeface="Barlow Condensed"/>
                    <a:cs typeface="Barlow Condensed"/>
                    <a:sym typeface="Barlow Condensed"/>
                  </a:rPr>
                  <a:t>FIELDS</a:t>
                </a:r>
                <a:endParaRPr b="1" sz="1600">
                  <a:solidFill>
                    <a:srgbClr val="1D1F20"/>
                  </a:solidFill>
                  <a:latin typeface="Barlow Condensed"/>
                  <a:ea typeface="Barlow Condensed"/>
                  <a:cs typeface="Barlow Condensed"/>
                  <a:sym typeface="Barlow Condensed"/>
                </a:endParaRPr>
              </a:p>
            </p:txBody>
          </p:sp>
          <p:sp>
            <p:nvSpPr>
              <p:cNvPr id="232" name="Google Shape;232;p20"/>
              <p:cNvSpPr txBox="1"/>
              <p:nvPr/>
            </p:nvSpPr>
            <p:spPr>
              <a:xfrm>
                <a:off x="4286250" y="0"/>
                <a:ext cx="46674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600">
                    <a:solidFill>
                      <a:srgbClr val="1D1F20"/>
                    </a:solidFill>
                    <a:latin typeface="Barlow Condensed"/>
                    <a:ea typeface="Barlow Condensed"/>
                    <a:cs typeface="Barlow Condensed"/>
                    <a:sym typeface="Barlow Condensed"/>
                  </a:rPr>
                  <a:t>PROPOSED EXTRACTION TECHNIQUE</a:t>
                </a:r>
                <a:endParaRPr b="1" sz="1600">
                  <a:solidFill>
                    <a:srgbClr val="1D1F20"/>
                  </a:solidFill>
                  <a:latin typeface="Barlow Condensed"/>
                  <a:ea typeface="Barlow Condensed"/>
                  <a:cs typeface="Barlow Condensed"/>
                  <a:sym typeface="Barlow Condensed"/>
                </a:endParaRPr>
              </a:p>
            </p:txBody>
          </p:sp>
          <p:sp>
            <p:nvSpPr>
              <p:cNvPr id="233" name="Google Shape;233;p20"/>
              <p:cNvSpPr txBox="1"/>
              <p:nvPr/>
            </p:nvSpPr>
            <p:spPr>
              <a:xfrm>
                <a:off x="9144000" y="0"/>
                <a:ext cx="60009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600">
                    <a:solidFill>
                      <a:srgbClr val="1D1F20"/>
                    </a:solidFill>
                    <a:latin typeface="Barlow Condensed"/>
                    <a:ea typeface="Barlow Condensed"/>
                    <a:cs typeface="Barlow Condensed"/>
                    <a:sym typeface="Barlow Condensed"/>
                  </a:rPr>
                  <a:t>EXPECTED DIFFICULTY / KEY CHALLENGE</a:t>
                </a:r>
                <a:endParaRPr b="1" sz="1600">
                  <a:solidFill>
                    <a:srgbClr val="1D1F20"/>
                  </a:solidFill>
                  <a:latin typeface="Barlow Condensed"/>
                  <a:ea typeface="Barlow Condensed"/>
                  <a:cs typeface="Barlow Condensed"/>
                  <a:sym typeface="Barlow Condensed"/>
                </a:endParaRPr>
              </a:p>
            </p:txBody>
          </p:sp>
        </p:grpSp>
        <p:cxnSp>
          <p:nvCxnSpPr>
            <p:cNvPr id="234" name="Google Shape;234;p20"/>
            <p:cNvCxnSpPr/>
            <p:nvPr/>
          </p:nvCxnSpPr>
          <p:spPr>
            <a:xfrm>
              <a:off x="238125" y="140970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cxnSp>
          <p:nvCxnSpPr>
            <p:cNvPr id="235" name="Google Shape;235;p20"/>
            <p:cNvCxnSpPr/>
            <p:nvPr/>
          </p:nvCxnSpPr>
          <p:spPr>
            <a:xfrm>
              <a:off x="238125" y="217170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cxnSp>
          <p:nvCxnSpPr>
            <p:cNvPr id="236" name="Google Shape;236;p20"/>
            <p:cNvCxnSpPr/>
            <p:nvPr/>
          </p:nvCxnSpPr>
          <p:spPr>
            <a:xfrm>
              <a:off x="238125" y="293370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cxnSp>
          <p:nvCxnSpPr>
            <p:cNvPr id="237" name="Google Shape;237;p20"/>
            <p:cNvCxnSpPr/>
            <p:nvPr/>
          </p:nvCxnSpPr>
          <p:spPr>
            <a:xfrm>
              <a:off x="238125" y="369570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cxnSp>
          <p:nvCxnSpPr>
            <p:cNvPr id="238" name="Google Shape;238;p20"/>
            <p:cNvCxnSpPr/>
            <p:nvPr/>
          </p:nvCxnSpPr>
          <p:spPr>
            <a:xfrm>
              <a:off x="238125" y="445770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cxnSp>
          <p:nvCxnSpPr>
            <p:cNvPr id="239" name="Google Shape;239;p20"/>
            <p:cNvCxnSpPr/>
            <p:nvPr/>
          </p:nvCxnSpPr>
          <p:spPr>
            <a:xfrm>
              <a:off x="238125" y="521970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cxnSp>
          <p:nvCxnSpPr>
            <p:cNvPr id="240" name="Google Shape;240;p20"/>
            <p:cNvCxnSpPr/>
            <p:nvPr/>
          </p:nvCxnSpPr>
          <p:spPr>
            <a:xfrm>
              <a:off x="238125" y="5981700"/>
              <a:ext cx="15621000" cy="0"/>
            </a:xfrm>
            <a:prstGeom prst="straightConnector1">
              <a:avLst/>
            </a:prstGeom>
            <a:solidFill>
              <a:srgbClr val="FFFFFF"/>
            </a:solidFill>
            <a:ln cap="flat" cmpd="sng" w="14300">
              <a:solidFill>
                <a:srgbClr val="EDF2F7"/>
              </a:solidFill>
              <a:prstDash val="solid"/>
              <a:round/>
              <a:headEnd len="sm" w="sm" type="none"/>
              <a:tailEnd len="sm" w="sm" type="none"/>
            </a:ln>
          </p:spPr>
        </p:cxnSp>
        <p:grpSp>
          <p:nvGrpSpPr>
            <p:cNvPr id="241" name="Google Shape;241;p20"/>
            <p:cNvGrpSpPr/>
            <p:nvPr/>
          </p:nvGrpSpPr>
          <p:grpSpPr>
            <a:xfrm>
              <a:off x="428625" y="781050"/>
              <a:ext cx="15144900" cy="514500"/>
              <a:chOff x="0" y="0"/>
              <a:chExt cx="15144900" cy="514500"/>
            </a:xfrm>
          </p:grpSpPr>
          <p:sp>
            <p:nvSpPr>
              <p:cNvPr id="242" name="Google Shape;242;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Issuer, offeror and security names</a:t>
                </a:r>
                <a:endParaRPr b="1" sz="1450">
                  <a:solidFill>
                    <a:srgbClr val="1D1F20"/>
                  </a:solidFill>
                  <a:latin typeface="Barlow"/>
                  <a:ea typeface="Barlow"/>
                  <a:cs typeface="Barlow"/>
                  <a:sym typeface="Barlow"/>
                </a:endParaRPr>
              </a:p>
            </p:txBody>
          </p:sp>
          <p:sp>
            <p:nvSpPr>
              <p:cNvPr id="243" name="Google Shape;243;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Labeled sections + entity recognition (e.g., GLiNER)</a:t>
                </a:r>
                <a:endParaRPr b="0">
                  <a:solidFill>
                    <a:srgbClr val="27313A"/>
                  </a:solidFill>
                  <a:latin typeface="Barlow"/>
                  <a:ea typeface="Barlow"/>
                  <a:cs typeface="Barlow"/>
                  <a:sym typeface="Barlow"/>
                </a:endParaRPr>
              </a:p>
            </p:txBody>
          </p:sp>
          <p:sp>
            <p:nvSpPr>
              <p:cNvPr id="244" name="Google Shape;244;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Low–Medium: identify names, then distinguish company roles and old/new securities</a:t>
                </a:r>
                <a:endParaRPr b="0">
                  <a:solidFill>
                    <a:srgbClr val="27313A"/>
                  </a:solidFill>
                  <a:latin typeface="Barlow"/>
                  <a:ea typeface="Barlow"/>
                  <a:cs typeface="Barlow"/>
                  <a:sym typeface="Barlow"/>
                </a:endParaRPr>
              </a:p>
            </p:txBody>
          </p:sp>
        </p:grpSp>
        <p:grpSp>
          <p:nvGrpSpPr>
            <p:cNvPr id="245" name="Google Shape;245;p20"/>
            <p:cNvGrpSpPr/>
            <p:nvPr/>
          </p:nvGrpSpPr>
          <p:grpSpPr>
            <a:xfrm>
              <a:off x="428625" y="1543050"/>
              <a:ext cx="15144900" cy="514500"/>
              <a:chOff x="0" y="0"/>
              <a:chExt cx="15144900" cy="514500"/>
            </a:xfrm>
          </p:grpSpPr>
          <p:sp>
            <p:nvSpPr>
              <p:cNvPr id="246" name="Google Shape;246;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CUSIP, ISIN and ticker</a:t>
                </a:r>
                <a:endParaRPr b="1" sz="1450">
                  <a:solidFill>
                    <a:srgbClr val="1D1F20"/>
                  </a:solidFill>
                  <a:latin typeface="Barlow"/>
                  <a:ea typeface="Barlow"/>
                  <a:cs typeface="Barlow"/>
                  <a:sym typeface="Barlow"/>
                </a:endParaRPr>
              </a:p>
            </p:txBody>
          </p:sp>
          <p:sp>
            <p:nvSpPr>
              <p:cNvPr id="247" name="Google Shape;247;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Label matching + table parsing + format checks</a:t>
                </a:r>
                <a:endParaRPr b="0">
                  <a:solidFill>
                    <a:srgbClr val="27313A"/>
                  </a:solidFill>
                  <a:latin typeface="Barlow"/>
                  <a:ea typeface="Barlow"/>
                  <a:cs typeface="Barlow"/>
                  <a:sym typeface="Barlow"/>
                </a:endParaRPr>
              </a:p>
            </p:txBody>
          </p:sp>
          <p:sp>
            <p:nvSpPr>
              <p:cNvPr id="248" name="Google Shape;248;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Low when present: associate each identifier with the correct security</a:t>
                </a:r>
                <a:endParaRPr b="0">
                  <a:solidFill>
                    <a:srgbClr val="27313A"/>
                  </a:solidFill>
                  <a:latin typeface="Barlow"/>
                  <a:ea typeface="Barlow"/>
                  <a:cs typeface="Barlow"/>
                  <a:sym typeface="Barlow"/>
                </a:endParaRPr>
              </a:p>
            </p:txBody>
          </p:sp>
        </p:grpSp>
        <p:grpSp>
          <p:nvGrpSpPr>
            <p:cNvPr id="249" name="Google Shape;249;p20"/>
            <p:cNvGrpSpPr/>
            <p:nvPr/>
          </p:nvGrpSpPr>
          <p:grpSpPr>
            <a:xfrm>
              <a:off x="428625" y="2305050"/>
              <a:ext cx="15144900" cy="514500"/>
              <a:chOff x="0" y="0"/>
              <a:chExt cx="15144900" cy="514500"/>
            </a:xfrm>
          </p:grpSpPr>
          <p:sp>
            <p:nvSpPr>
              <p:cNvPr id="250" name="Google Shape;250;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Commencement and expiration dates</a:t>
                </a:r>
                <a:endParaRPr b="1" sz="1450">
                  <a:solidFill>
                    <a:srgbClr val="1D1F20"/>
                  </a:solidFill>
                  <a:latin typeface="Barlow"/>
                  <a:ea typeface="Barlow"/>
                  <a:cs typeface="Barlow"/>
                  <a:sym typeface="Barlow"/>
                </a:endParaRPr>
              </a:p>
            </p:txBody>
          </p:sp>
          <p:sp>
            <p:nvSpPr>
              <p:cNvPr id="251" name="Google Shape;251;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Heading/keyword matching + date patterns (regex)</a:t>
                </a:r>
                <a:endParaRPr b="0">
                  <a:solidFill>
                    <a:srgbClr val="27313A"/>
                  </a:solidFill>
                  <a:latin typeface="Barlow"/>
                  <a:ea typeface="Barlow"/>
                  <a:cs typeface="Barlow"/>
                  <a:sym typeface="Barlow"/>
                </a:endParaRPr>
              </a:p>
            </p:txBody>
          </p:sp>
          <p:sp>
            <p:nvSpPr>
              <p:cNvPr id="252" name="Google Shape;252;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Low–Medium: retain time zones and recognize amended deadlines</a:t>
                </a:r>
                <a:endParaRPr b="0">
                  <a:solidFill>
                    <a:srgbClr val="27313A"/>
                  </a:solidFill>
                  <a:latin typeface="Barlow"/>
                  <a:ea typeface="Barlow"/>
                  <a:cs typeface="Barlow"/>
                  <a:sym typeface="Barlow"/>
                </a:endParaRPr>
              </a:p>
            </p:txBody>
          </p:sp>
        </p:grpSp>
        <p:grpSp>
          <p:nvGrpSpPr>
            <p:cNvPr id="253" name="Google Shape;253;p20"/>
            <p:cNvGrpSpPr/>
            <p:nvPr/>
          </p:nvGrpSpPr>
          <p:grpSpPr>
            <a:xfrm>
              <a:off x="428625" y="3067050"/>
              <a:ext cx="15144900" cy="514500"/>
              <a:chOff x="0" y="0"/>
              <a:chExt cx="15144900" cy="514500"/>
            </a:xfrm>
          </p:grpSpPr>
          <p:sp>
            <p:nvSpPr>
              <p:cNvPr id="254" name="Google Shape;254;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Exchange ratio and cash consideration</a:t>
                </a:r>
                <a:endParaRPr b="1" sz="1450">
                  <a:solidFill>
                    <a:srgbClr val="1D1F20"/>
                  </a:solidFill>
                  <a:latin typeface="Barlow"/>
                  <a:ea typeface="Barlow"/>
                  <a:cs typeface="Barlow"/>
                  <a:sym typeface="Barlow"/>
                </a:endParaRPr>
              </a:p>
            </p:txBody>
          </p:sp>
          <p:sp>
            <p:nvSpPr>
              <p:cNvPr id="255" name="Google Shape;255;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Section-based numeric patterns + contextual checks</a:t>
                </a:r>
                <a:endParaRPr b="0">
                  <a:solidFill>
                    <a:srgbClr val="27313A"/>
                  </a:solidFill>
                  <a:latin typeface="Barlow"/>
                  <a:ea typeface="Barlow"/>
                  <a:cs typeface="Barlow"/>
                  <a:sym typeface="Barlow"/>
                </a:endParaRPr>
              </a:p>
            </p:txBody>
          </p:sp>
          <p:sp>
            <p:nvSpPr>
              <p:cNvPr id="256" name="Google Shape;256;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Medium: distinguish final ratios from caps and separate consideration options</a:t>
                </a:r>
                <a:endParaRPr b="0">
                  <a:solidFill>
                    <a:srgbClr val="27313A"/>
                  </a:solidFill>
                  <a:latin typeface="Barlow"/>
                  <a:ea typeface="Barlow"/>
                  <a:cs typeface="Barlow"/>
                  <a:sym typeface="Barlow"/>
                </a:endParaRPr>
              </a:p>
            </p:txBody>
          </p:sp>
        </p:grpSp>
        <p:grpSp>
          <p:nvGrpSpPr>
            <p:cNvPr id="257" name="Google Shape;257;p20"/>
            <p:cNvGrpSpPr/>
            <p:nvPr/>
          </p:nvGrpSpPr>
          <p:grpSpPr>
            <a:xfrm>
              <a:off x="428625" y="3829050"/>
              <a:ext cx="15144900" cy="514500"/>
              <a:chOff x="0" y="0"/>
              <a:chExt cx="15144900" cy="514500"/>
            </a:xfrm>
          </p:grpSpPr>
          <p:sp>
            <p:nvSpPr>
              <p:cNvPr id="258" name="Google Shape;258;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Election options and default choice</a:t>
                </a:r>
                <a:endParaRPr b="1" sz="1450">
                  <a:solidFill>
                    <a:srgbClr val="1D1F20"/>
                  </a:solidFill>
                  <a:latin typeface="Barlow"/>
                  <a:ea typeface="Barlow"/>
                  <a:cs typeface="Barlow"/>
                  <a:sym typeface="Barlow"/>
                </a:endParaRPr>
              </a:p>
            </p:txBody>
          </p:sp>
          <p:sp>
            <p:nvSpPr>
              <p:cNvPr id="259" name="Google Shape;259;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Election-section rules + semantic/NLP verification</a:t>
                </a:r>
                <a:endParaRPr b="0">
                  <a:solidFill>
                    <a:srgbClr val="27313A"/>
                  </a:solidFill>
                  <a:latin typeface="Barlow"/>
                  <a:ea typeface="Barlow"/>
                  <a:cs typeface="Barlow"/>
                  <a:sym typeface="Barlow"/>
                </a:endParaRPr>
              </a:p>
            </p:txBody>
          </p:sp>
          <p:sp>
            <p:nvSpPr>
              <p:cNvPr id="260" name="Google Shape;260;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Medium–High: interpret conditional choices and consequences of no election</a:t>
                </a:r>
                <a:endParaRPr b="0">
                  <a:solidFill>
                    <a:srgbClr val="27313A"/>
                  </a:solidFill>
                  <a:latin typeface="Barlow"/>
                  <a:ea typeface="Barlow"/>
                  <a:cs typeface="Barlow"/>
                  <a:sym typeface="Barlow"/>
                </a:endParaRPr>
              </a:p>
            </p:txBody>
          </p:sp>
        </p:grpSp>
        <p:grpSp>
          <p:nvGrpSpPr>
            <p:cNvPr id="261" name="Google Shape;261;p20"/>
            <p:cNvGrpSpPr/>
            <p:nvPr/>
          </p:nvGrpSpPr>
          <p:grpSpPr>
            <a:xfrm>
              <a:off x="428625" y="4591050"/>
              <a:ext cx="15144900" cy="514500"/>
              <a:chOff x="0" y="0"/>
              <a:chExt cx="15144900" cy="514500"/>
            </a:xfrm>
          </p:grpSpPr>
          <p:sp>
            <p:nvSpPr>
              <p:cNvPr id="262" name="Google Shape;262;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Withdrawal and settlement timing</a:t>
                </a:r>
                <a:endParaRPr b="1" sz="1450">
                  <a:solidFill>
                    <a:srgbClr val="1D1F20"/>
                  </a:solidFill>
                  <a:latin typeface="Barlow"/>
                  <a:ea typeface="Barlow"/>
                  <a:cs typeface="Barlow"/>
                  <a:sym typeface="Barlow"/>
                </a:endParaRPr>
              </a:p>
            </p:txBody>
          </p:sp>
          <p:sp>
            <p:nvSpPr>
              <p:cNvPr id="263" name="Google Shape;263;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Date patterns + interpretation of timing clauses</a:t>
                </a:r>
                <a:endParaRPr b="0">
                  <a:solidFill>
                    <a:srgbClr val="27313A"/>
                  </a:solidFill>
                  <a:latin typeface="Barlow"/>
                  <a:ea typeface="Barlow"/>
                  <a:cs typeface="Barlow"/>
                  <a:sym typeface="Barlow"/>
                </a:endParaRPr>
              </a:p>
            </p:txBody>
          </p:sp>
          <p:sp>
            <p:nvSpPr>
              <p:cNvPr id="264" name="Google Shape;264;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Medium–High: information may be relative or conditional rather than a fixed date</a:t>
                </a:r>
                <a:endParaRPr b="0">
                  <a:solidFill>
                    <a:srgbClr val="27313A"/>
                  </a:solidFill>
                  <a:latin typeface="Barlow"/>
                  <a:ea typeface="Barlow"/>
                  <a:cs typeface="Barlow"/>
                  <a:sym typeface="Barlow"/>
                </a:endParaRPr>
              </a:p>
            </p:txBody>
          </p:sp>
        </p:grpSp>
        <p:grpSp>
          <p:nvGrpSpPr>
            <p:cNvPr id="265" name="Google Shape;265;p20"/>
            <p:cNvGrpSpPr/>
            <p:nvPr/>
          </p:nvGrpSpPr>
          <p:grpSpPr>
            <a:xfrm>
              <a:off x="428625" y="5353050"/>
              <a:ext cx="15144900" cy="514500"/>
              <a:chOff x="0" y="0"/>
              <a:chExt cx="15144900" cy="514500"/>
            </a:xfrm>
          </p:grpSpPr>
          <p:sp>
            <p:nvSpPr>
              <p:cNvPr id="266" name="Google Shape;266;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Minimum thresholds, proration and other conditions</a:t>
                </a:r>
                <a:endParaRPr b="1" sz="1450">
                  <a:solidFill>
                    <a:srgbClr val="1D1F20"/>
                  </a:solidFill>
                  <a:latin typeface="Barlow"/>
                  <a:ea typeface="Barlow"/>
                  <a:cs typeface="Barlow"/>
                  <a:sym typeface="Barlow"/>
                </a:endParaRPr>
              </a:p>
            </p:txBody>
          </p:sp>
          <p:sp>
            <p:nvSpPr>
              <p:cNvPr id="267" name="Google Shape;267;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Clause/table extraction + NLP/LLM-assisted review</a:t>
                </a:r>
                <a:endParaRPr b="0">
                  <a:solidFill>
                    <a:srgbClr val="27313A"/>
                  </a:solidFill>
                  <a:latin typeface="Barlow"/>
                  <a:ea typeface="Barlow"/>
                  <a:cs typeface="Barlow"/>
                  <a:sym typeface="Barlow"/>
                </a:endParaRPr>
              </a:p>
            </p:txBody>
          </p:sp>
          <p:sp>
            <p:nvSpPr>
              <p:cNvPr id="268" name="Google Shape;268;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High: preserve exceptions, allocation rules and waiver provisions</a:t>
                </a:r>
                <a:endParaRPr b="0">
                  <a:solidFill>
                    <a:srgbClr val="27313A"/>
                  </a:solidFill>
                  <a:latin typeface="Barlow"/>
                  <a:ea typeface="Barlow"/>
                  <a:cs typeface="Barlow"/>
                  <a:sym typeface="Barlow"/>
                </a:endParaRPr>
              </a:p>
            </p:txBody>
          </p:sp>
        </p:grpSp>
        <p:grpSp>
          <p:nvGrpSpPr>
            <p:cNvPr id="269" name="Google Shape;269;p20"/>
            <p:cNvGrpSpPr/>
            <p:nvPr/>
          </p:nvGrpSpPr>
          <p:grpSpPr>
            <a:xfrm>
              <a:off x="428625" y="6115050"/>
              <a:ext cx="15144900" cy="514500"/>
              <a:chOff x="0" y="0"/>
              <a:chExt cx="15144900" cy="514500"/>
            </a:xfrm>
          </p:grpSpPr>
          <p:sp>
            <p:nvSpPr>
              <p:cNvPr id="270" name="Google Shape;270;p20"/>
              <p:cNvSpPr txBox="1"/>
              <p:nvPr/>
            </p:nvSpPr>
            <p:spPr>
              <a:xfrm>
                <a:off x="0" y="0"/>
                <a:ext cx="4095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1D1F20"/>
                    </a:solidFill>
                    <a:latin typeface="Barlow"/>
                    <a:ea typeface="Barlow"/>
                    <a:cs typeface="Barlow"/>
                    <a:sym typeface="Barlow"/>
                  </a:rPr>
                  <a:t>Event status and revised terms</a:t>
                </a:r>
                <a:endParaRPr b="1" sz="1450">
                  <a:solidFill>
                    <a:srgbClr val="1D1F20"/>
                  </a:solidFill>
                  <a:latin typeface="Barlow"/>
                  <a:ea typeface="Barlow"/>
                  <a:cs typeface="Barlow"/>
                  <a:sym typeface="Barlow"/>
                </a:endParaRPr>
              </a:p>
            </p:txBody>
          </p:sp>
          <p:sp>
            <p:nvSpPr>
              <p:cNvPr id="271" name="Google Shape;271;p20"/>
              <p:cNvSpPr txBox="1"/>
              <p:nvPr/>
            </p:nvSpPr>
            <p:spPr>
              <a:xfrm>
                <a:off x="4286250" y="0"/>
                <a:ext cx="45720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Compare announcements and amendments over time</a:t>
                </a:r>
                <a:endParaRPr b="0">
                  <a:solidFill>
                    <a:srgbClr val="27313A"/>
                  </a:solidFill>
                  <a:latin typeface="Barlow"/>
                  <a:ea typeface="Barlow"/>
                  <a:cs typeface="Barlow"/>
                  <a:sym typeface="Barlow"/>
                </a:endParaRPr>
              </a:p>
            </p:txBody>
          </p:sp>
          <p:sp>
            <p:nvSpPr>
              <p:cNvPr id="272" name="Google Shape;272;p20"/>
              <p:cNvSpPr txBox="1"/>
              <p:nvPr/>
            </p:nvSpPr>
            <p:spPr>
              <a:xfrm>
                <a:off x="9144000" y="0"/>
                <a:ext cx="6000900" cy="5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a:solidFill>
                      <a:srgbClr val="27313A"/>
                    </a:solidFill>
                    <a:latin typeface="Barlow"/>
                    <a:ea typeface="Barlow"/>
                    <a:cs typeface="Barlow"/>
                    <a:sym typeface="Barlow"/>
                  </a:rPr>
                  <a:t>Medium–High: reconcile changes across multiple filings</a:t>
                </a:r>
                <a:endParaRPr b="0">
                  <a:solidFill>
                    <a:srgbClr val="27313A"/>
                  </a:solidFill>
                  <a:latin typeface="Barlow"/>
                  <a:ea typeface="Barlow"/>
                  <a:cs typeface="Barlow"/>
                  <a:sym typeface="Barlow"/>
                </a:endParaRPr>
              </a:p>
            </p:txBody>
          </p:sp>
        </p:grpSp>
      </p:grpSp>
      <p:grpSp>
        <p:nvGrpSpPr>
          <p:cNvPr id="273" name="Google Shape;273;p20"/>
          <p:cNvGrpSpPr/>
          <p:nvPr/>
        </p:nvGrpSpPr>
        <p:grpSpPr>
          <a:xfrm>
            <a:off x="1095375" y="8874775"/>
            <a:ext cx="16097400" cy="650225"/>
            <a:chOff x="0" y="-78725"/>
            <a:chExt cx="16097400" cy="650225"/>
          </a:xfrm>
        </p:grpSpPr>
        <p:sp>
          <p:nvSpPr>
            <p:cNvPr id="274" name="Google Shape;274;p20"/>
            <p:cNvSpPr/>
            <p:nvPr/>
          </p:nvSpPr>
          <p:spPr>
            <a:xfrm>
              <a:off x="0" y="0"/>
              <a:ext cx="16097400" cy="571500"/>
            </a:xfrm>
            <a:prstGeom prst="roundRect">
              <a:avLst>
                <a:gd fmla="val 16666" name="adj"/>
              </a:avLst>
            </a:prstGeom>
            <a:solidFill>
              <a:srgbClr val="E8EEF4"/>
            </a:solidFill>
            <a:ln cap="flat" cmpd="sng" w="14300">
              <a:solidFill>
                <a:srgbClr val="CA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0"/>
            <p:cNvSpPr txBox="1"/>
            <p:nvPr/>
          </p:nvSpPr>
          <p:spPr>
            <a:xfrm>
              <a:off x="238125" y="-78725"/>
              <a:ext cx="15621000" cy="65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17324D"/>
                  </a:solidFill>
                  <a:latin typeface="Barlow"/>
                  <a:ea typeface="Barlow"/>
                  <a:cs typeface="Barlow"/>
                  <a:sym typeface="Barlow"/>
                </a:rPr>
                <a:t>Approach: </a:t>
              </a:r>
              <a:r>
                <a:rPr b="0" lang="en" sz="1800">
                  <a:solidFill>
                    <a:srgbClr val="33475B"/>
                  </a:solidFill>
                  <a:latin typeface="Barlow"/>
                  <a:ea typeface="Barlow"/>
                  <a:cs typeface="Barlow"/>
                  <a:sym typeface="Barlow"/>
                </a:rPr>
                <a:t>Locate relevant sections → extract candidate values → verify ambiguous terms → retain source evidence</a:t>
              </a:r>
              <a:endParaRPr b="1" sz="1800">
                <a:solidFill>
                  <a:srgbClr val="17324D"/>
                </a:solidFill>
                <a:latin typeface="Barlow"/>
                <a:ea typeface="Barlow"/>
                <a:cs typeface="Barlow"/>
                <a:sym typeface="Barlow"/>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21"/>
          <p:cNvPicPr preferRelativeResize="0"/>
          <p:nvPr/>
        </p:nvPicPr>
        <p:blipFill>
          <a:blip r:embed="rId3">
            <a:alphaModFix/>
          </a:blip>
          <a:stretch>
            <a:fillRect/>
          </a:stretch>
        </p:blipFill>
        <p:spPr>
          <a:xfrm>
            <a:off x="0" y="0"/>
            <a:ext cx="18287990" cy="10287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4" name="Shape 284"/>
        <p:cNvGrpSpPr/>
        <p:nvPr/>
      </p:nvGrpSpPr>
      <p:grpSpPr>
        <a:xfrm>
          <a:off x="0" y="0"/>
          <a:ext cx="0" cy="0"/>
          <a:chOff x="0" y="0"/>
          <a:chExt cx="0" cy="0"/>
        </a:xfrm>
      </p:grpSpPr>
      <p:sp>
        <p:nvSpPr>
          <p:cNvPr id="285" name="Google Shape;285;p22"/>
          <p:cNvSpPr txBox="1"/>
          <p:nvPr/>
        </p:nvSpPr>
        <p:spPr>
          <a:xfrm>
            <a:off x="1095375" y="697642"/>
            <a:ext cx="16097400" cy="85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3900">
                <a:solidFill>
                  <a:srgbClr val="1D1F20"/>
                </a:solidFill>
                <a:latin typeface="Barlow Condensed"/>
                <a:ea typeface="Barlow Condensed"/>
                <a:cs typeface="Barlow Condensed"/>
                <a:sym typeface="Barlow Condensed"/>
              </a:rPr>
              <a:t>Rights Issues: Field Extraction Approach</a:t>
            </a:r>
            <a:endParaRPr b="1" sz="3900">
              <a:solidFill>
                <a:srgbClr val="1D1F20"/>
              </a:solidFill>
              <a:latin typeface="Barlow Condensed"/>
              <a:ea typeface="Barlow Condensed"/>
              <a:cs typeface="Barlow Condensed"/>
              <a:sym typeface="Barlow Condensed"/>
            </a:endParaRPr>
          </a:p>
          <a:p>
            <a:pPr indent="0" lvl="0" marL="0" rtl="0" algn="l">
              <a:spcBef>
                <a:spcPts val="0"/>
              </a:spcBef>
              <a:spcAft>
                <a:spcPts val="0"/>
              </a:spcAft>
              <a:buNone/>
            </a:pPr>
            <a:r>
              <a:t/>
            </a:r>
            <a:endParaRPr b="1" sz="3885">
              <a:solidFill>
                <a:srgbClr val="1D1F20"/>
              </a:solidFill>
              <a:latin typeface="Barlow Condensed"/>
              <a:ea typeface="Barlow Condensed"/>
              <a:cs typeface="Barlow Condensed"/>
              <a:sym typeface="Barlow Condensed"/>
            </a:endParaRPr>
          </a:p>
          <a:p>
            <a:pPr indent="0" lvl="0" marL="0" rtl="0" algn="l">
              <a:spcBef>
                <a:spcPts val="0"/>
              </a:spcBef>
              <a:spcAft>
                <a:spcPts val="0"/>
              </a:spcAft>
              <a:buNone/>
            </a:pPr>
            <a:r>
              <a:rPr b="0" lang="en" sz="1480">
                <a:solidFill>
                  <a:srgbClr val="5980A6"/>
                </a:solidFill>
                <a:latin typeface="Barlow Medium"/>
                <a:ea typeface="Barlow Medium"/>
                <a:cs typeface="Barlow Medium"/>
                <a:sym typeface="Barlow Medium"/>
              </a:rPr>
              <a:t>Mapping Corporate Action Types to SEC Filings and Corpus Extraction Rules</a:t>
            </a:r>
            <a:endParaRPr b="0" sz="1480">
              <a:solidFill>
                <a:srgbClr val="5980A6"/>
              </a:solidFill>
              <a:latin typeface="Barlow Medium"/>
              <a:ea typeface="Barlow Medium"/>
              <a:cs typeface="Barlow Medium"/>
              <a:sym typeface="Barlow Medium"/>
            </a:endParaRPr>
          </a:p>
        </p:txBody>
      </p:sp>
      <p:pic>
        <p:nvPicPr>
          <p:cNvPr id="286" name="Google Shape;286;p22"/>
          <p:cNvPicPr preferRelativeResize="0"/>
          <p:nvPr/>
        </p:nvPicPr>
        <p:blipFill>
          <a:blip r:embed="rId4">
            <a:alphaModFix/>
          </a:blip>
          <a:stretch>
            <a:fillRect/>
          </a:stretch>
        </p:blipFill>
        <p:spPr>
          <a:xfrm>
            <a:off x="1095375" y="1619400"/>
            <a:ext cx="16097398" cy="80015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23"/>
          <p:cNvSpPr/>
          <p:nvPr/>
        </p:nvSpPr>
        <p:spPr>
          <a:xfrm>
            <a:off x="914400" y="3467397"/>
            <a:ext cx="5296200" cy="2372100"/>
          </a:xfrm>
          <a:prstGeom prst="roundRect">
            <a:avLst>
              <a:gd fmla="val 7228"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2" name="Google Shape;292;p23"/>
          <p:cNvSpPr/>
          <p:nvPr/>
        </p:nvSpPr>
        <p:spPr>
          <a:xfrm>
            <a:off x="6496124" y="3467397"/>
            <a:ext cx="5296200" cy="2372100"/>
          </a:xfrm>
          <a:prstGeom prst="roundRect">
            <a:avLst>
              <a:gd fmla="val 7228"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3" name="Google Shape;293;p23"/>
          <p:cNvSpPr/>
          <p:nvPr/>
        </p:nvSpPr>
        <p:spPr>
          <a:xfrm>
            <a:off x="12077848" y="3467397"/>
            <a:ext cx="5296200" cy="2372100"/>
          </a:xfrm>
          <a:prstGeom prst="roundRect">
            <a:avLst>
              <a:gd fmla="val 7228"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4" name="Google Shape;294;p23"/>
          <p:cNvSpPr/>
          <p:nvPr/>
        </p:nvSpPr>
        <p:spPr>
          <a:xfrm>
            <a:off x="914400" y="6124872"/>
            <a:ext cx="5296200" cy="2372100"/>
          </a:xfrm>
          <a:prstGeom prst="roundRect">
            <a:avLst>
              <a:gd fmla="val 7228"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5" name="Google Shape;295;p23"/>
          <p:cNvSpPr/>
          <p:nvPr/>
        </p:nvSpPr>
        <p:spPr>
          <a:xfrm>
            <a:off x="6496124" y="6124872"/>
            <a:ext cx="5296200" cy="2372100"/>
          </a:xfrm>
          <a:prstGeom prst="roundRect">
            <a:avLst>
              <a:gd fmla="val 7228"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6" name="Google Shape;296;p23"/>
          <p:cNvSpPr/>
          <p:nvPr/>
        </p:nvSpPr>
        <p:spPr>
          <a:xfrm>
            <a:off x="12077848" y="6124872"/>
            <a:ext cx="5296200" cy="2372100"/>
          </a:xfrm>
          <a:prstGeom prst="roundRect">
            <a:avLst>
              <a:gd fmla="val 7228"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7" name="Google Shape;297;p23"/>
          <p:cNvSpPr/>
          <p:nvPr/>
        </p:nvSpPr>
        <p:spPr>
          <a:xfrm>
            <a:off x="1271588" y="3767435"/>
            <a:ext cx="442800" cy="342900"/>
          </a:xfrm>
          <a:prstGeom prst="roundRect">
            <a:avLst>
              <a:gd fmla="val 25000" name="adj"/>
            </a:avLst>
          </a:prstGeom>
          <a:solidFill>
            <a:srgbClr val="EFF6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8" name="Google Shape;298;p23"/>
          <p:cNvSpPr/>
          <p:nvPr/>
        </p:nvSpPr>
        <p:spPr>
          <a:xfrm>
            <a:off x="6853311" y="3767435"/>
            <a:ext cx="471600" cy="342900"/>
          </a:xfrm>
          <a:prstGeom prst="roundRect">
            <a:avLst>
              <a:gd fmla="val 25000" name="adj"/>
            </a:avLst>
          </a:prstGeom>
          <a:solidFill>
            <a:srgbClr val="EFF6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299" name="Google Shape;299;p23"/>
          <p:cNvSpPr/>
          <p:nvPr/>
        </p:nvSpPr>
        <p:spPr>
          <a:xfrm>
            <a:off x="12435036" y="3767435"/>
            <a:ext cx="486000" cy="342900"/>
          </a:xfrm>
          <a:prstGeom prst="roundRect">
            <a:avLst>
              <a:gd fmla="val 25000" name="adj"/>
            </a:avLst>
          </a:prstGeom>
          <a:solidFill>
            <a:srgbClr val="EFF6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300" name="Google Shape;300;p23"/>
          <p:cNvSpPr/>
          <p:nvPr/>
        </p:nvSpPr>
        <p:spPr>
          <a:xfrm>
            <a:off x="1271588" y="6424910"/>
            <a:ext cx="486000" cy="342900"/>
          </a:xfrm>
          <a:prstGeom prst="roundRect">
            <a:avLst>
              <a:gd fmla="val 25000" name="adj"/>
            </a:avLst>
          </a:prstGeom>
          <a:solidFill>
            <a:srgbClr val="EFF6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301" name="Google Shape;301;p23"/>
          <p:cNvSpPr/>
          <p:nvPr/>
        </p:nvSpPr>
        <p:spPr>
          <a:xfrm>
            <a:off x="6853311" y="6424910"/>
            <a:ext cx="471600" cy="342900"/>
          </a:xfrm>
          <a:prstGeom prst="roundRect">
            <a:avLst>
              <a:gd fmla="val 25000" name="adj"/>
            </a:avLst>
          </a:prstGeom>
          <a:solidFill>
            <a:srgbClr val="EFF6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302" name="Google Shape;302;p23"/>
          <p:cNvSpPr/>
          <p:nvPr/>
        </p:nvSpPr>
        <p:spPr>
          <a:xfrm>
            <a:off x="12435036" y="6424910"/>
            <a:ext cx="486000" cy="342900"/>
          </a:xfrm>
          <a:prstGeom prst="roundRect">
            <a:avLst>
              <a:gd fmla="val 25000" name="adj"/>
            </a:avLst>
          </a:prstGeom>
          <a:solidFill>
            <a:srgbClr val="EFF6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Calibri"/>
              <a:ea typeface="Calibri"/>
              <a:cs typeface="Calibri"/>
              <a:sym typeface="Calibri"/>
            </a:endParaRPr>
          </a:p>
        </p:txBody>
      </p:sp>
      <p:sp>
        <p:nvSpPr>
          <p:cNvPr id="303" name="Google Shape;303;p23"/>
          <p:cNvSpPr txBox="1"/>
          <p:nvPr/>
        </p:nvSpPr>
        <p:spPr>
          <a:xfrm>
            <a:off x="914400" y="685800"/>
            <a:ext cx="17373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END-TO-END OPERATIONAL PLAN</a:t>
            </a:r>
            <a:endParaRPr sz="2100"/>
          </a:p>
        </p:txBody>
      </p:sp>
      <p:sp>
        <p:nvSpPr>
          <p:cNvPr id="304" name="Google Shape;304;p23"/>
          <p:cNvSpPr txBox="1"/>
          <p:nvPr/>
        </p:nvSpPr>
        <p:spPr>
          <a:xfrm>
            <a:off x="914400" y="1260389"/>
            <a:ext cx="17373600" cy="5541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 sz="3600" u="none" cap="none" strike="noStrike">
                <a:solidFill>
                  <a:srgbClr val="0F172A"/>
                </a:solidFill>
                <a:latin typeface="Space Grotesk"/>
                <a:ea typeface="Space Grotesk"/>
                <a:cs typeface="Space Grotesk"/>
                <a:sym typeface="Space Grotesk"/>
              </a:rPr>
              <a:t>SEC Filing Conversion &amp; Transaction Extraction Pipeline</a:t>
            </a:r>
            <a:endParaRPr sz="2100"/>
          </a:p>
        </p:txBody>
      </p:sp>
      <p:sp>
        <p:nvSpPr>
          <p:cNvPr id="305" name="Google Shape;305;p23"/>
          <p:cNvSpPr txBox="1"/>
          <p:nvPr/>
        </p:nvSpPr>
        <p:spPr>
          <a:xfrm>
            <a:off x="914400" y="1997592"/>
            <a:ext cx="173736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64748B"/>
                </a:solidFill>
                <a:latin typeface="Inter"/>
                <a:ea typeface="Inter"/>
                <a:cs typeface="Inter"/>
                <a:sym typeface="Inter"/>
              </a:rPr>
              <a:t>Automated workflow for parsing EDGAR disclosures into verified structured terms.</a:t>
            </a:r>
            <a:endParaRPr sz="2100"/>
          </a:p>
        </p:txBody>
      </p:sp>
      <p:sp>
        <p:nvSpPr>
          <p:cNvPr id="306" name="Google Shape;306;p23"/>
          <p:cNvSpPr txBox="1"/>
          <p:nvPr/>
        </p:nvSpPr>
        <p:spPr>
          <a:xfrm>
            <a:off x="1271588" y="4253210"/>
            <a:ext cx="5727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Link filings by company CIK.</a:t>
            </a:r>
            <a:endParaRPr sz="2100"/>
          </a:p>
        </p:txBody>
      </p:sp>
      <p:sp>
        <p:nvSpPr>
          <p:cNvPr id="307" name="Google Shape;307;p23"/>
          <p:cNvSpPr txBox="1"/>
          <p:nvPr/>
        </p:nvSpPr>
        <p:spPr>
          <a:xfrm>
            <a:off x="1271588" y="4638972"/>
            <a:ext cx="5727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Group multi-party transaction filings.</a:t>
            </a:r>
            <a:endParaRPr sz="2100"/>
          </a:p>
        </p:txBody>
      </p:sp>
      <p:sp>
        <p:nvSpPr>
          <p:cNvPr id="308" name="Google Shape;308;p23"/>
          <p:cNvSpPr txBox="1"/>
          <p:nvPr/>
        </p:nvSpPr>
        <p:spPr>
          <a:xfrm>
            <a:off x="6853311" y="4253210"/>
            <a:ext cx="5727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Download detailed deal agreements.</a:t>
            </a:r>
            <a:endParaRPr sz="2100"/>
          </a:p>
        </p:txBody>
      </p:sp>
      <p:sp>
        <p:nvSpPr>
          <p:cNvPr id="309" name="Google Shape;309;p23"/>
          <p:cNvSpPr txBox="1"/>
          <p:nvPr/>
        </p:nvSpPr>
        <p:spPr>
          <a:xfrm>
            <a:off x="6853311" y="4638972"/>
            <a:ext cx="4724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Retrieve indentures and S-4 exhibits.</a:t>
            </a:r>
            <a:endParaRPr sz="2100"/>
          </a:p>
        </p:txBody>
      </p:sp>
      <p:sp>
        <p:nvSpPr>
          <p:cNvPr id="310" name="Google Shape;310;p23"/>
          <p:cNvSpPr txBox="1"/>
          <p:nvPr/>
        </p:nvSpPr>
        <p:spPr>
          <a:xfrm>
            <a:off x="12435036" y="4253210"/>
            <a:ext cx="4724700" cy="61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Distinguish standalone security conversions.</a:t>
            </a:r>
            <a:endParaRPr sz="2100"/>
          </a:p>
        </p:txBody>
      </p:sp>
      <p:sp>
        <p:nvSpPr>
          <p:cNvPr id="311" name="Google Shape;311;p23"/>
          <p:cNvSpPr txBox="1"/>
          <p:nvPr/>
        </p:nvSpPr>
        <p:spPr>
          <a:xfrm>
            <a:off x="12435036" y="4939010"/>
            <a:ext cx="4724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Isolate complex merger consideration.</a:t>
            </a:r>
            <a:endParaRPr sz="2100"/>
          </a:p>
        </p:txBody>
      </p:sp>
      <p:sp>
        <p:nvSpPr>
          <p:cNvPr id="312" name="Google Shape;312;p23"/>
          <p:cNvSpPr txBox="1"/>
          <p:nvPr/>
        </p:nvSpPr>
        <p:spPr>
          <a:xfrm>
            <a:off x="1271588" y="6910685"/>
            <a:ext cx="4724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Locate conversion rates and formulas.</a:t>
            </a:r>
            <a:endParaRPr sz="2100"/>
          </a:p>
        </p:txBody>
      </p:sp>
      <p:sp>
        <p:nvSpPr>
          <p:cNvPr id="313" name="Google Shape;313;p23"/>
          <p:cNvSpPr txBox="1"/>
          <p:nvPr/>
        </p:nvSpPr>
        <p:spPr>
          <a:xfrm>
            <a:off x="1271588" y="7596485"/>
            <a:ext cx="4724700" cy="61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Preserve verbatim contingent conditions.</a:t>
            </a:r>
            <a:endParaRPr sz="2100"/>
          </a:p>
        </p:txBody>
      </p:sp>
      <p:sp>
        <p:nvSpPr>
          <p:cNvPr id="314" name="Google Shape;314;p23"/>
          <p:cNvSpPr txBox="1"/>
          <p:nvPr/>
        </p:nvSpPr>
        <p:spPr>
          <a:xfrm>
            <a:off x="6853311" y="6910685"/>
            <a:ext cx="5727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Store citation per value.</a:t>
            </a:r>
            <a:endParaRPr sz="2100"/>
          </a:p>
        </p:txBody>
      </p:sp>
      <p:sp>
        <p:nvSpPr>
          <p:cNvPr id="315" name="Google Shape;315;p23"/>
          <p:cNvSpPr txBox="1"/>
          <p:nvPr/>
        </p:nvSpPr>
        <p:spPr>
          <a:xfrm>
            <a:off x="6853311" y="7296447"/>
            <a:ext cx="5727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Save exhibit section and excerpt.</a:t>
            </a:r>
            <a:endParaRPr sz="2100"/>
          </a:p>
        </p:txBody>
      </p:sp>
      <p:sp>
        <p:nvSpPr>
          <p:cNvPr id="316" name="Google Shape;316;p23"/>
          <p:cNvSpPr txBox="1"/>
          <p:nvPr/>
        </p:nvSpPr>
        <p:spPr>
          <a:xfrm>
            <a:off x="12435036" y="6910685"/>
            <a:ext cx="5727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Track term revisions across filings.</a:t>
            </a:r>
            <a:endParaRPr sz="2100"/>
          </a:p>
        </p:txBody>
      </p:sp>
      <p:sp>
        <p:nvSpPr>
          <p:cNvPr id="317" name="Google Shape;317;p23"/>
          <p:cNvSpPr txBox="1"/>
          <p:nvPr/>
        </p:nvSpPr>
        <p:spPr>
          <a:xfrm>
            <a:off x="12435036" y="7296447"/>
            <a:ext cx="5727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2000" u="none" cap="none" strike="noStrike">
                <a:solidFill>
                  <a:srgbClr val="475569"/>
                </a:solidFill>
                <a:latin typeface="Inter"/>
                <a:ea typeface="Inter"/>
                <a:cs typeface="Inter"/>
                <a:sym typeface="Inter"/>
              </a:rPr>
              <a:t>Route complex cases for review.</a:t>
            </a:r>
            <a:endParaRPr sz="2100"/>
          </a:p>
        </p:txBody>
      </p:sp>
      <p:sp>
        <p:nvSpPr>
          <p:cNvPr id="318" name="Google Shape;318;p23"/>
          <p:cNvSpPr txBox="1"/>
          <p:nvPr/>
        </p:nvSpPr>
        <p:spPr>
          <a:xfrm>
            <a:off x="1385888" y="3810297"/>
            <a:ext cx="3573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01</a:t>
            </a:r>
            <a:endParaRPr sz="2100"/>
          </a:p>
        </p:txBody>
      </p:sp>
      <p:sp>
        <p:nvSpPr>
          <p:cNvPr id="319" name="Google Shape;319;p23"/>
          <p:cNvSpPr txBox="1"/>
          <p:nvPr/>
        </p:nvSpPr>
        <p:spPr>
          <a:xfrm>
            <a:off x="1857375" y="3774578"/>
            <a:ext cx="2381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rgbClr val="0F172A"/>
                </a:solidFill>
                <a:latin typeface="Space Grotesk"/>
                <a:ea typeface="Space Grotesk"/>
                <a:cs typeface="Space Grotesk"/>
                <a:sym typeface="Space Grotesk"/>
              </a:rPr>
              <a:t>Ingest &amp; Group</a:t>
            </a:r>
            <a:endParaRPr sz="2100"/>
          </a:p>
        </p:txBody>
      </p:sp>
      <p:sp>
        <p:nvSpPr>
          <p:cNvPr id="320" name="Google Shape;320;p23"/>
          <p:cNvSpPr txBox="1"/>
          <p:nvPr/>
        </p:nvSpPr>
        <p:spPr>
          <a:xfrm>
            <a:off x="6967611" y="3810297"/>
            <a:ext cx="3858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02</a:t>
            </a:r>
            <a:endParaRPr sz="2100"/>
          </a:p>
        </p:txBody>
      </p:sp>
      <p:sp>
        <p:nvSpPr>
          <p:cNvPr id="321" name="Google Shape;321;p23"/>
          <p:cNvSpPr txBox="1"/>
          <p:nvPr/>
        </p:nvSpPr>
        <p:spPr>
          <a:xfrm>
            <a:off x="7467674" y="3774578"/>
            <a:ext cx="23442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rgbClr val="0F172A"/>
                </a:solidFill>
                <a:latin typeface="Space Grotesk"/>
                <a:ea typeface="Space Grotesk"/>
                <a:cs typeface="Space Grotesk"/>
                <a:sym typeface="Space Grotesk"/>
              </a:rPr>
              <a:t>Fetch Exhibits</a:t>
            </a:r>
            <a:endParaRPr sz="2100"/>
          </a:p>
        </p:txBody>
      </p:sp>
      <p:sp>
        <p:nvSpPr>
          <p:cNvPr id="322" name="Google Shape;322;p23"/>
          <p:cNvSpPr txBox="1"/>
          <p:nvPr/>
        </p:nvSpPr>
        <p:spPr>
          <a:xfrm>
            <a:off x="12549336" y="3810297"/>
            <a:ext cx="400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03</a:t>
            </a:r>
            <a:endParaRPr sz="2100"/>
          </a:p>
        </p:txBody>
      </p:sp>
      <p:sp>
        <p:nvSpPr>
          <p:cNvPr id="323" name="Google Shape;323;p23"/>
          <p:cNvSpPr txBox="1"/>
          <p:nvPr/>
        </p:nvSpPr>
        <p:spPr>
          <a:xfrm>
            <a:off x="13063686" y="3774578"/>
            <a:ext cx="2306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rgbClr val="0F172A"/>
                </a:solidFill>
                <a:latin typeface="Space Grotesk"/>
                <a:ea typeface="Space Grotesk"/>
                <a:cs typeface="Space Grotesk"/>
                <a:sym typeface="Space Grotesk"/>
              </a:rPr>
              <a:t>Classify Event</a:t>
            </a:r>
            <a:endParaRPr sz="2100"/>
          </a:p>
        </p:txBody>
      </p:sp>
      <p:sp>
        <p:nvSpPr>
          <p:cNvPr id="324" name="Google Shape;324;p23"/>
          <p:cNvSpPr txBox="1"/>
          <p:nvPr/>
        </p:nvSpPr>
        <p:spPr>
          <a:xfrm>
            <a:off x="1385888" y="6467772"/>
            <a:ext cx="400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04</a:t>
            </a:r>
            <a:endParaRPr sz="2100"/>
          </a:p>
        </p:txBody>
      </p:sp>
      <p:sp>
        <p:nvSpPr>
          <p:cNvPr id="325" name="Google Shape;325;p23"/>
          <p:cNvSpPr txBox="1"/>
          <p:nvPr/>
        </p:nvSpPr>
        <p:spPr>
          <a:xfrm>
            <a:off x="1900238" y="6432052"/>
            <a:ext cx="2235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rgbClr val="0F172A"/>
                </a:solidFill>
                <a:latin typeface="Space Grotesk"/>
                <a:ea typeface="Space Grotesk"/>
                <a:cs typeface="Space Grotesk"/>
                <a:sym typeface="Space Grotesk"/>
              </a:rPr>
              <a:t>Extract Terms</a:t>
            </a:r>
            <a:endParaRPr sz="2100"/>
          </a:p>
        </p:txBody>
      </p:sp>
      <p:sp>
        <p:nvSpPr>
          <p:cNvPr id="326" name="Google Shape;326;p23"/>
          <p:cNvSpPr txBox="1"/>
          <p:nvPr/>
        </p:nvSpPr>
        <p:spPr>
          <a:xfrm>
            <a:off x="6967611" y="6467772"/>
            <a:ext cx="3858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05</a:t>
            </a:r>
            <a:endParaRPr sz="2100"/>
          </a:p>
        </p:txBody>
      </p:sp>
      <p:sp>
        <p:nvSpPr>
          <p:cNvPr id="327" name="Google Shape;327;p23"/>
          <p:cNvSpPr txBox="1"/>
          <p:nvPr/>
        </p:nvSpPr>
        <p:spPr>
          <a:xfrm>
            <a:off x="7467674" y="6432052"/>
            <a:ext cx="24192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rgbClr val="0F172A"/>
                </a:solidFill>
                <a:latin typeface="Space Grotesk"/>
                <a:ea typeface="Space Grotesk"/>
                <a:cs typeface="Space Grotesk"/>
                <a:sym typeface="Space Grotesk"/>
              </a:rPr>
              <a:t>Attach Lineage</a:t>
            </a:r>
            <a:endParaRPr sz="2100"/>
          </a:p>
        </p:txBody>
      </p:sp>
      <p:sp>
        <p:nvSpPr>
          <p:cNvPr id="328" name="Google Shape;328;p23"/>
          <p:cNvSpPr txBox="1"/>
          <p:nvPr/>
        </p:nvSpPr>
        <p:spPr>
          <a:xfrm>
            <a:off x="12549336" y="6467772"/>
            <a:ext cx="400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06</a:t>
            </a:r>
            <a:endParaRPr sz="2100"/>
          </a:p>
        </p:txBody>
      </p:sp>
      <p:sp>
        <p:nvSpPr>
          <p:cNvPr id="329" name="Google Shape;329;p23"/>
          <p:cNvSpPr txBox="1"/>
          <p:nvPr/>
        </p:nvSpPr>
        <p:spPr>
          <a:xfrm>
            <a:off x="13063686" y="6432052"/>
            <a:ext cx="24375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rgbClr val="0F172A"/>
                </a:solidFill>
                <a:latin typeface="Space Grotesk"/>
                <a:ea typeface="Space Grotesk"/>
                <a:cs typeface="Space Grotesk"/>
                <a:sym typeface="Space Grotesk"/>
              </a:rPr>
              <a:t>Version &amp; Audit</a:t>
            </a: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graphicFrame>
        <p:nvGraphicFramePr>
          <p:cNvPr id="334" name="Google Shape;334;p24"/>
          <p:cNvGraphicFramePr/>
          <p:nvPr/>
        </p:nvGraphicFramePr>
        <p:xfrm>
          <a:off x="914400" y="2424673"/>
          <a:ext cx="3000000" cy="3000000"/>
        </p:xfrm>
        <a:graphic>
          <a:graphicData uri="http://schemas.openxmlformats.org/drawingml/2006/table">
            <a:tbl>
              <a:tblPr>
                <a:noFill/>
                <a:tableStyleId>{2F454751-0B4A-44F8-AF24-90D53124BF19}</a:tableStyleId>
              </a:tblPr>
              <a:tblGrid>
                <a:gridCol w="3649325"/>
                <a:gridCol w="7630225"/>
                <a:gridCol w="5308350"/>
              </a:tblGrid>
              <a:tr h="867925">
                <a:tc>
                  <a:txBody>
                    <a:bodyPr/>
                    <a:lstStyle/>
                    <a:p>
                      <a:pPr indent="0" lvl="0" marL="0" marR="0" rtl="0" algn="l">
                        <a:spcBef>
                          <a:spcPts val="0"/>
                        </a:spcBef>
                        <a:spcAft>
                          <a:spcPts val="0"/>
                        </a:spcAft>
                        <a:buNone/>
                      </a:pPr>
                      <a:r>
                        <a:rPr b="1" i="0" lang="en" sz="1900" cap="none" strike="noStrike">
                          <a:solidFill>
                            <a:srgbClr val="475569"/>
                          </a:solidFill>
                          <a:latin typeface="Space Grotesk"/>
                          <a:ea typeface="Space Grotesk"/>
                          <a:cs typeface="Space Grotesk"/>
                          <a:sym typeface="Space Grotesk"/>
                        </a:rPr>
                        <a:t>Fields</a:t>
                      </a:r>
                      <a:endParaRPr sz="26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lang="en" sz="1900">
                          <a:solidFill>
                            <a:srgbClr val="475569"/>
                          </a:solidFill>
                          <a:latin typeface="Space Grotesk"/>
                          <a:ea typeface="Space Grotesk"/>
                          <a:cs typeface="Space Grotesk"/>
                          <a:sym typeface="Space Grotesk"/>
                        </a:rPr>
                        <a:t>Proposed Extraction Technique</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lang="en" sz="1900">
                          <a:solidFill>
                            <a:srgbClr val="475569"/>
                          </a:solidFill>
                          <a:latin typeface="Space Grotesk"/>
                          <a:ea typeface="Space Grotesk"/>
                          <a:cs typeface="Space Grotesk"/>
                          <a:sym typeface="Space Grotesk"/>
                        </a:rPr>
                        <a:t>Expected Difficulty / Key Challenge</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1F5F9"/>
                    </a:solidFill>
                  </a:tcPr>
                </a:tc>
              </a:tr>
              <a:tr h="867925">
                <a:tc>
                  <a:txBody>
                    <a:bodyPr/>
                    <a:lstStyle/>
                    <a:p>
                      <a:pPr indent="0" lvl="0" marL="0" marR="0" rtl="0" algn="l">
                        <a:lnSpc>
                          <a:spcPct val="150000"/>
                        </a:lnSpc>
                        <a:spcBef>
                          <a:spcPts val="0"/>
                        </a:spcBef>
                        <a:spcAft>
                          <a:spcPts val="0"/>
                        </a:spcAft>
                        <a:buNone/>
                      </a:pPr>
                      <a:r>
                        <a:rPr b="1" i="0" lang="en" sz="1600" u="none" cap="none" strike="noStrike">
                          <a:solidFill>
                            <a:srgbClr val="0F172A"/>
                          </a:solidFill>
                          <a:latin typeface="Inter"/>
                          <a:ea typeface="Inter"/>
                          <a:cs typeface="Inter"/>
                          <a:sym typeface="Inter"/>
                        </a:rPr>
                        <a:t>Issuer, offeror and security names</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0" i="0" lang="en" sz="1600" u="none" cap="none" strike="noStrike">
                          <a:solidFill>
                            <a:srgbClr val="334155"/>
                          </a:solidFill>
                          <a:latin typeface="Inter"/>
                          <a:ea typeface="Inter"/>
                          <a:cs typeface="Inter"/>
                          <a:sym typeface="Inter"/>
                        </a:rPr>
                        <a:t>Identify labeled sections and defined terms; use entity recognition to link each security to its issuer</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1" i="0" lang="en" sz="1600" u="none" cap="none" strike="noStrike">
                          <a:solidFill>
                            <a:srgbClr val="0284C7"/>
                          </a:solidFill>
                          <a:latin typeface="Inter"/>
                          <a:ea typeface="Inter"/>
                          <a:cs typeface="Inter"/>
                          <a:sym typeface="Inter"/>
                        </a:rPr>
                        <a:t>Low–Medium:</a:t>
                      </a:r>
                      <a:r>
                        <a:rPr b="0" i="0" lang="en" sz="1600" u="none" cap="none" strike="noStrike">
                          <a:solidFill>
                            <a:srgbClr val="334155"/>
                          </a:solidFill>
                          <a:latin typeface="Inter"/>
                          <a:ea typeface="Inter"/>
                          <a:cs typeface="Inter"/>
                          <a:sym typeface="Inter"/>
                        </a:rPr>
                        <a:t> distinguish issuer, holder, old security, and security received</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r>
              <a:tr h="867925">
                <a:tc>
                  <a:txBody>
                    <a:bodyPr/>
                    <a:lstStyle/>
                    <a:p>
                      <a:pPr indent="0" lvl="0" marL="0" marR="0" rtl="0" algn="l">
                        <a:lnSpc>
                          <a:spcPct val="150000"/>
                        </a:lnSpc>
                        <a:spcBef>
                          <a:spcPts val="0"/>
                        </a:spcBef>
                        <a:spcAft>
                          <a:spcPts val="0"/>
                        </a:spcAft>
                        <a:buNone/>
                      </a:pPr>
                      <a:r>
                        <a:rPr b="1" i="0" lang="en" sz="1600" u="none" cap="none" strike="noStrike">
                          <a:solidFill>
                            <a:srgbClr val="0F172A"/>
                          </a:solidFill>
                          <a:latin typeface="Inter"/>
                          <a:ea typeface="Inter"/>
                          <a:cs typeface="Inter"/>
                          <a:sym typeface="Inter"/>
                        </a:rPr>
                        <a:t>Conversion type and direction</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0" i="0" lang="en" sz="1600" u="none" cap="none" strike="noStrike">
                          <a:solidFill>
                            <a:srgbClr val="334155"/>
                          </a:solidFill>
                          <a:latin typeface="Inter"/>
                          <a:ea typeface="Inter"/>
                          <a:cs typeface="Inter"/>
                          <a:sym typeface="Inter"/>
                        </a:rPr>
                        <a:t>Match terms such as </a:t>
                      </a:r>
                      <a:r>
                        <a:rPr b="0" i="1" lang="en" sz="1600" u="none" cap="none" strike="noStrike">
                          <a:solidFill>
                            <a:srgbClr val="334155"/>
                          </a:solidFill>
                          <a:latin typeface="Inter"/>
                          <a:ea typeface="Inter"/>
                          <a:cs typeface="Inter"/>
                          <a:sym typeface="Inter"/>
                        </a:rPr>
                        <a:t>convertible</a:t>
                      </a:r>
                      <a:r>
                        <a:rPr b="0" i="0" lang="en" sz="1600" u="none" cap="none" strike="noStrike">
                          <a:solidFill>
                            <a:srgbClr val="334155"/>
                          </a:solidFill>
                          <a:latin typeface="Inter"/>
                          <a:ea typeface="Inter"/>
                          <a:cs typeface="Inter"/>
                          <a:sym typeface="Inter"/>
                        </a:rPr>
                        <a:t>, </a:t>
                      </a:r>
                      <a:r>
                        <a:rPr b="0" i="1" lang="en" sz="1600" u="none" cap="none" strike="noStrike">
                          <a:solidFill>
                            <a:srgbClr val="334155"/>
                          </a:solidFill>
                          <a:latin typeface="Inter"/>
                          <a:ea typeface="Inter"/>
                          <a:cs typeface="Inter"/>
                          <a:sym typeface="Inter"/>
                        </a:rPr>
                        <a:t>conversion</a:t>
                      </a:r>
                      <a:r>
                        <a:rPr b="0" i="0" lang="en" sz="1600" u="none" cap="none" strike="noStrike">
                          <a:solidFill>
                            <a:srgbClr val="334155"/>
                          </a:solidFill>
                          <a:latin typeface="Inter"/>
                          <a:ea typeface="Inter"/>
                          <a:cs typeface="Inter"/>
                          <a:sym typeface="Inter"/>
                        </a:rPr>
                        <a:t>, </a:t>
                      </a:r>
                      <a:r>
                        <a:rPr b="0" i="1" lang="en" sz="1600" u="none" cap="none" strike="noStrike">
                          <a:solidFill>
                            <a:srgbClr val="334155"/>
                          </a:solidFill>
                          <a:latin typeface="Inter"/>
                          <a:ea typeface="Inter"/>
                          <a:cs typeface="Inter"/>
                          <a:sym typeface="Inter"/>
                        </a:rPr>
                        <a:t>automatic conversion</a:t>
                      </a:r>
                      <a:r>
                        <a:rPr b="0" i="0" lang="en" sz="1600" u="none" cap="none" strike="noStrike">
                          <a:solidFill>
                            <a:srgbClr val="334155"/>
                          </a:solidFill>
                          <a:latin typeface="Inter"/>
                          <a:ea typeface="Inter"/>
                          <a:cs typeface="Inter"/>
                          <a:sym typeface="Inter"/>
                        </a:rPr>
                        <a:t>, and </a:t>
                      </a:r>
                      <a:r>
                        <a:rPr b="0" i="1" lang="en" sz="1600" u="none" cap="none" strike="noStrike">
                          <a:solidFill>
                            <a:srgbClr val="334155"/>
                          </a:solidFill>
                          <a:latin typeface="Inter"/>
                          <a:ea typeface="Inter"/>
                          <a:cs typeface="Inter"/>
                          <a:sym typeface="Inter"/>
                        </a:rPr>
                        <a:t>optional conversion</a:t>
                      </a:r>
                      <a:r>
                        <a:rPr b="0" i="0" lang="en" sz="1600" u="none" cap="none" strike="noStrike">
                          <a:solidFill>
                            <a:srgbClr val="334155"/>
                          </a:solidFill>
                          <a:latin typeface="Inter"/>
                          <a:ea typeface="Inter"/>
                          <a:cs typeface="Inter"/>
                          <a:sym typeface="Inter"/>
                        </a:rPr>
                        <a:t> in relevant sections</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1" i="0" lang="en" sz="1600" u="none" cap="none" strike="noStrike">
                          <a:solidFill>
                            <a:srgbClr val="2563EB"/>
                          </a:solidFill>
                          <a:latin typeface="Inter"/>
                          <a:ea typeface="Inter"/>
                          <a:cs typeface="Inter"/>
                          <a:sym typeface="Inter"/>
                        </a:rPr>
                        <a:t>Medium:</a:t>
                      </a:r>
                      <a:r>
                        <a:rPr b="0" i="0" lang="en" sz="1600" u="none" cap="none" strike="noStrike">
                          <a:solidFill>
                            <a:srgbClr val="334155"/>
                          </a:solidFill>
                          <a:latin typeface="Inter"/>
                          <a:ea typeface="Inter"/>
                          <a:cs typeface="Inter"/>
                          <a:sym typeface="Inter"/>
                        </a:rPr>
                        <a:t> distinguish a stand-alone security conversion from shares converting in a merger</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r>
              <a:tr h="867925">
                <a:tc>
                  <a:txBody>
                    <a:bodyPr/>
                    <a:lstStyle/>
                    <a:p>
                      <a:pPr indent="0" lvl="0" marL="0" marR="0" rtl="0" algn="l">
                        <a:lnSpc>
                          <a:spcPct val="150000"/>
                        </a:lnSpc>
                        <a:spcBef>
                          <a:spcPts val="0"/>
                        </a:spcBef>
                        <a:spcAft>
                          <a:spcPts val="0"/>
                        </a:spcAft>
                        <a:buNone/>
                      </a:pPr>
                      <a:r>
                        <a:rPr b="1" i="0" lang="en" sz="1600" u="none" cap="none" strike="noStrike">
                          <a:solidFill>
                            <a:srgbClr val="0F172A"/>
                          </a:solidFill>
                          <a:latin typeface="Inter"/>
                          <a:ea typeface="Inter"/>
                          <a:cs typeface="Inter"/>
                          <a:sym typeface="Inter"/>
                        </a:rPr>
                        <a:t>Conversion ratio or rate</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0" i="0" lang="en" sz="1600" u="none" cap="none" strike="noStrike">
                          <a:solidFill>
                            <a:srgbClr val="334155"/>
                          </a:solidFill>
                          <a:latin typeface="Inter"/>
                          <a:ea typeface="Inter"/>
                          <a:cs typeface="Inter"/>
                          <a:sym typeface="Inter"/>
                        </a:rPr>
                        <a:t>Extract numeric terms near </a:t>
                      </a:r>
                      <a:r>
                        <a:rPr b="0" i="1" lang="en" sz="1600" u="none" cap="none" strike="noStrike">
                          <a:solidFill>
                            <a:srgbClr val="334155"/>
                          </a:solidFill>
                          <a:latin typeface="Inter"/>
                          <a:ea typeface="Inter"/>
                          <a:cs typeface="Inter"/>
                          <a:sym typeface="Inter"/>
                        </a:rPr>
                        <a:t>conversion rate</a:t>
                      </a:r>
                      <a:r>
                        <a:rPr b="0" i="0" lang="en" sz="1600" u="none" cap="none" strike="noStrike">
                          <a:solidFill>
                            <a:srgbClr val="334155"/>
                          </a:solidFill>
                          <a:latin typeface="Inter"/>
                          <a:ea typeface="Inter"/>
                          <a:cs typeface="Inter"/>
                          <a:sym typeface="Inter"/>
                        </a:rPr>
                        <a:t>, </a:t>
                      </a:r>
                      <a:r>
                        <a:rPr b="0" i="1" lang="en" sz="1600" u="none" cap="none" strike="noStrike">
                          <a:solidFill>
                            <a:srgbClr val="334155"/>
                          </a:solidFill>
                          <a:latin typeface="Inter"/>
                          <a:ea typeface="Inter"/>
                          <a:cs typeface="Inter"/>
                          <a:sym typeface="Inter"/>
                        </a:rPr>
                        <a:t>conversion ratio</a:t>
                      </a:r>
                      <a:r>
                        <a:rPr b="0" i="0" lang="en" sz="1600" u="none" cap="none" strike="noStrike">
                          <a:solidFill>
                            <a:srgbClr val="334155"/>
                          </a:solidFill>
                          <a:latin typeface="Inter"/>
                          <a:ea typeface="Inter"/>
                          <a:cs typeface="Inter"/>
                          <a:sym typeface="Inter"/>
                        </a:rPr>
                        <a:t>, or formula language; normalize units</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1" i="0" lang="en" sz="1600" u="none" cap="none" strike="noStrike">
                          <a:solidFill>
                            <a:srgbClr val="D97706"/>
                          </a:solidFill>
                          <a:latin typeface="Inter"/>
                          <a:ea typeface="Inter"/>
                          <a:cs typeface="Inter"/>
                          <a:sym typeface="Inter"/>
                        </a:rPr>
                        <a:t>Medium–High:</a:t>
                      </a:r>
                      <a:r>
                        <a:rPr b="0" i="0" lang="en" sz="1600" u="none" cap="none" strike="noStrike">
                          <a:solidFill>
                            <a:srgbClr val="334155"/>
                          </a:solidFill>
                          <a:latin typeface="Inter"/>
                          <a:ea typeface="Inter"/>
                          <a:cs typeface="Inter"/>
                          <a:sym typeface="Inter"/>
                        </a:rPr>
                        <a:t> ratios may be formulas, adjustable, or expressed as shares per dollar/value</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r>
              <a:tr h="867925">
                <a:tc>
                  <a:txBody>
                    <a:bodyPr/>
                    <a:lstStyle/>
                    <a:p>
                      <a:pPr indent="0" lvl="0" marL="0" marR="0" rtl="0" algn="l">
                        <a:lnSpc>
                          <a:spcPct val="150000"/>
                        </a:lnSpc>
                        <a:spcBef>
                          <a:spcPts val="0"/>
                        </a:spcBef>
                        <a:spcAft>
                          <a:spcPts val="0"/>
                        </a:spcAft>
                        <a:buNone/>
                      </a:pPr>
                      <a:r>
                        <a:rPr b="1" i="0" lang="en" sz="1600" u="none" cap="none" strike="noStrike">
                          <a:solidFill>
                            <a:srgbClr val="0F172A"/>
                          </a:solidFill>
                          <a:latin typeface="Inter"/>
                          <a:ea typeface="Inter"/>
                          <a:cs typeface="Inter"/>
                          <a:sym typeface="Inter"/>
                        </a:rPr>
                        <a:t>Conversion price</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0" i="0" lang="en" sz="1600" u="none" cap="none" strike="noStrike">
                          <a:solidFill>
                            <a:srgbClr val="334155"/>
                          </a:solidFill>
                          <a:latin typeface="Inter"/>
                          <a:ea typeface="Inter"/>
                          <a:cs typeface="Inter"/>
                          <a:sym typeface="Inter"/>
                        </a:rPr>
                        <a:t>Extract price and currency near </a:t>
                      </a:r>
                      <a:r>
                        <a:rPr b="0" i="1" lang="en" sz="1600" u="none" cap="none" strike="noStrike">
                          <a:solidFill>
                            <a:srgbClr val="334155"/>
                          </a:solidFill>
                          <a:latin typeface="Inter"/>
                          <a:ea typeface="Inter"/>
                          <a:cs typeface="Inter"/>
                          <a:sym typeface="Inter"/>
                        </a:rPr>
                        <a:t>conversion price</a:t>
                      </a:r>
                      <a:r>
                        <a:rPr b="0" i="0" lang="en" sz="1600" u="none" cap="none" strike="noStrike">
                          <a:solidFill>
                            <a:srgbClr val="334155"/>
                          </a:solidFill>
                          <a:latin typeface="Inter"/>
                          <a:ea typeface="Inter"/>
                          <a:cs typeface="Inter"/>
                          <a:sym typeface="Inter"/>
                        </a:rPr>
                        <a:t>; capture floor, cap, and adjustment rules separately</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1" i="0" lang="en" sz="1600" u="none" cap="none" strike="noStrike">
                          <a:solidFill>
                            <a:srgbClr val="2563EB"/>
                          </a:solidFill>
                          <a:latin typeface="Inter"/>
                          <a:ea typeface="Inter"/>
                          <a:cs typeface="Inter"/>
                          <a:sym typeface="Inter"/>
                        </a:rPr>
                        <a:t>Medium:</a:t>
                      </a:r>
                      <a:r>
                        <a:rPr b="0" i="0" lang="en" sz="1600" u="none" cap="none" strike="noStrike">
                          <a:solidFill>
                            <a:srgbClr val="334155"/>
                          </a:solidFill>
                          <a:latin typeface="Inter"/>
                          <a:ea typeface="Inter"/>
                          <a:cs typeface="Inter"/>
                          <a:sym typeface="Inter"/>
                        </a:rPr>
                        <a:t> price may reset over time or change for anti-dilution events</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r>
              <a:tr h="867925">
                <a:tc>
                  <a:txBody>
                    <a:bodyPr/>
                    <a:lstStyle/>
                    <a:p>
                      <a:pPr indent="0" lvl="0" marL="0" marR="0" rtl="0" algn="l">
                        <a:lnSpc>
                          <a:spcPct val="150000"/>
                        </a:lnSpc>
                        <a:spcBef>
                          <a:spcPts val="0"/>
                        </a:spcBef>
                        <a:spcAft>
                          <a:spcPts val="0"/>
                        </a:spcAft>
                        <a:buNone/>
                      </a:pPr>
                      <a:r>
                        <a:rPr b="1" i="0" lang="en" sz="1600" u="none" cap="none" strike="noStrike">
                          <a:solidFill>
                            <a:srgbClr val="0F172A"/>
                          </a:solidFill>
                          <a:latin typeface="Inter"/>
                          <a:ea typeface="Inter"/>
                          <a:cs typeface="Inter"/>
                          <a:sym typeface="Inter"/>
                        </a:rPr>
                        <a:t>Conversion date, deadline, or effective time</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0" i="0" lang="en" sz="1600" u="none" cap="none" strike="noStrike">
                          <a:solidFill>
                            <a:srgbClr val="334155"/>
                          </a:solidFill>
                          <a:latin typeface="Inter"/>
                          <a:ea typeface="Inter"/>
                          <a:cs typeface="Inter"/>
                          <a:sym typeface="Inter"/>
                        </a:rPr>
                        <a:t>Match date headings and timing clauses; distinguish holder election deadlines from automatic effective dates</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1" i="0" lang="en" sz="1600" u="none" cap="none" strike="noStrike">
                          <a:solidFill>
                            <a:srgbClr val="D97706"/>
                          </a:solidFill>
                          <a:latin typeface="Inter"/>
                          <a:ea typeface="Inter"/>
                          <a:cs typeface="Inter"/>
                          <a:sym typeface="Inter"/>
                        </a:rPr>
                        <a:t>Medium–High:</a:t>
                      </a:r>
                      <a:r>
                        <a:rPr b="0" i="0" lang="en" sz="1600" u="none" cap="none" strike="noStrike">
                          <a:solidFill>
                            <a:srgbClr val="334155"/>
                          </a:solidFill>
                          <a:latin typeface="Inter"/>
                          <a:ea typeface="Inter"/>
                          <a:cs typeface="Inter"/>
                          <a:sym typeface="Inter"/>
                        </a:rPr>
                        <a:t> may depend on notice, approval, closing, or another future event</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r>
              <a:tr h="867925">
                <a:tc>
                  <a:txBody>
                    <a:bodyPr/>
                    <a:lstStyle/>
                    <a:p>
                      <a:pPr indent="0" lvl="0" marL="0" marR="0" rtl="0" algn="l">
                        <a:lnSpc>
                          <a:spcPct val="150000"/>
                        </a:lnSpc>
                        <a:spcBef>
                          <a:spcPts val="0"/>
                        </a:spcBef>
                        <a:spcAft>
                          <a:spcPts val="0"/>
                        </a:spcAft>
                        <a:buNone/>
                      </a:pPr>
                      <a:r>
                        <a:rPr b="1" i="0" lang="en" sz="1600" u="none" cap="none" strike="noStrike">
                          <a:solidFill>
                            <a:srgbClr val="0F172A"/>
                          </a:solidFill>
                          <a:latin typeface="Inter"/>
                          <a:ea typeface="Inter"/>
                          <a:cs typeface="Inter"/>
                          <a:sym typeface="Inter"/>
                        </a:rPr>
                        <a:t>Conversion conditions and eligibility</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0" i="0" lang="en" sz="1600" u="none" cap="none" strike="noStrike">
                          <a:solidFill>
                            <a:srgbClr val="334155"/>
                          </a:solidFill>
                          <a:latin typeface="Inter"/>
                          <a:ea typeface="Inter"/>
                          <a:cs typeface="Inter"/>
                          <a:sym typeface="Inter"/>
                        </a:rPr>
                        <a:t>Extract clauses on approvals, triggering events, minimum holdings, and eligibility; use LLM-assisted review</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1" i="0" lang="en" sz="1600" u="none" cap="none" strike="noStrike">
                          <a:solidFill>
                            <a:srgbClr val="DC2626"/>
                          </a:solidFill>
                          <a:latin typeface="Inter"/>
                          <a:ea typeface="Inter"/>
                          <a:cs typeface="Inter"/>
                          <a:sym typeface="Inter"/>
                        </a:rPr>
                        <a:t>High:</a:t>
                      </a:r>
                      <a:r>
                        <a:rPr b="0" i="0" lang="en" sz="1600" u="none" cap="none" strike="noStrike">
                          <a:solidFill>
                            <a:srgbClr val="334155"/>
                          </a:solidFill>
                          <a:latin typeface="Inter"/>
                          <a:ea typeface="Inter"/>
                          <a:cs typeface="Inter"/>
                          <a:sym typeface="Inter"/>
                        </a:rPr>
                        <a:t> multiple conditions, exceptions, and cross-references may apply</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r>
              <a:tr h="867975">
                <a:tc>
                  <a:txBody>
                    <a:bodyPr/>
                    <a:lstStyle/>
                    <a:p>
                      <a:pPr indent="0" lvl="0" marL="0" marR="0" rtl="0" algn="l">
                        <a:lnSpc>
                          <a:spcPct val="150000"/>
                        </a:lnSpc>
                        <a:spcBef>
                          <a:spcPts val="0"/>
                        </a:spcBef>
                        <a:spcAft>
                          <a:spcPts val="0"/>
                        </a:spcAft>
                        <a:buNone/>
                      </a:pPr>
                      <a:r>
                        <a:rPr b="1" i="0" lang="en" sz="1600" u="none" cap="none" strike="noStrike">
                          <a:solidFill>
                            <a:srgbClr val="0F172A"/>
                          </a:solidFill>
                          <a:latin typeface="Inter"/>
                          <a:ea typeface="Inter"/>
                          <a:cs typeface="Inter"/>
                          <a:sym typeface="Inter"/>
                        </a:rPr>
                        <a:t>Treatment of accrued interest, dividends, or fractional shares</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0" i="0" lang="en" sz="1600" u="none" cap="none" strike="noStrike">
                          <a:solidFill>
                            <a:srgbClr val="334155"/>
                          </a:solidFill>
                          <a:latin typeface="Inter"/>
                          <a:ea typeface="Inter"/>
                          <a:cs typeface="Inter"/>
                          <a:sym typeface="Inter"/>
                        </a:rPr>
                        <a:t>Search adjacent "treatment" and "settlement" clauses; extract each component separately</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None/>
                      </a:pPr>
                      <a:r>
                        <a:rPr b="1" i="0" lang="en" sz="1600" u="none" cap="none" strike="noStrike">
                          <a:solidFill>
                            <a:srgbClr val="DC2626"/>
                          </a:solidFill>
                          <a:latin typeface="Inter"/>
                          <a:ea typeface="Inter"/>
                          <a:cs typeface="Inter"/>
                          <a:sym typeface="Inter"/>
                        </a:rPr>
                        <a:t>High:</a:t>
                      </a:r>
                      <a:r>
                        <a:rPr b="0" i="0" lang="en" sz="1600" u="none" cap="none" strike="noStrike">
                          <a:solidFill>
                            <a:srgbClr val="334155"/>
                          </a:solidFill>
                          <a:latin typeface="Inter"/>
                          <a:ea typeface="Inter"/>
                          <a:cs typeface="Inter"/>
                          <a:sym typeface="Inter"/>
                        </a:rPr>
                        <a:t> cash, securities, accrued amounts, and rounding rules can vary</a:t>
                      </a:r>
                      <a:endParaRPr sz="2100"/>
                    </a:p>
                  </a:txBody>
                  <a:tcPr marT="38100" marB="38100" marR="95250" marL="95250" anchor="ctr">
                    <a:lnL cap="flat" cmpd="sng" w="14300">
                      <a:solidFill>
                        <a:srgbClr val="000000">
                          <a:alpha val="0"/>
                        </a:srgbClr>
                      </a:solidFill>
                      <a:prstDash val="solid"/>
                      <a:round/>
                      <a:headEnd len="sm" w="sm" type="none"/>
                      <a:tailEnd len="sm" w="sm" type="none"/>
                    </a:lnL>
                    <a:lnR cap="flat" cmpd="sng" w="14300">
                      <a:solidFill>
                        <a:srgbClr val="000000">
                          <a:alpha val="0"/>
                        </a:srgbClr>
                      </a:solidFill>
                      <a:prstDash val="solid"/>
                      <a:round/>
                      <a:headEnd len="sm" w="sm" type="none"/>
                      <a:tailEnd len="sm" w="sm" type="none"/>
                    </a:lnR>
                    <a:lnT cap="flat" cmpd="sng" w="14300">
                      <a:solidFill>
                        <a:srgbClr val="000000">
                          <a:alpha val="0"/>
                        </a:srgbClr>
                      </a:solidFill>
                      <a:prstDash val="solid"/>
                      <a:round/>
                      <a:headEnd len="sm" w="sm" type="none"/>
                      <a:tailEnd len="sm" w="sm" type="none"/>
                    </a:lnT>
                    <a:lnB cap="flat" cmpd="sng" w="14300">
                      <a:solidFill>
                        <a:srgbClr val="000000">
                          <a:alpha val="0"/>
                        </a:srgbClr>
                      </a:solidFill>
                      <a:prstDash val="solid"/>
                      <a:round/>
                      <a:headEnd len="sm" w="sm" type="none"/>
                      <a:tailEnd len="sm" w="sm" type="none"/>
                    </a:lnB>
                    <a:solidFill>
                      <a:srgbClr val="FFFFFF"/>
                    </a:solidFill>
                  </a:tcPr>
                </a:tc>
              </a:tr>
            </a:tbl>
          </a:graphicData>
        </a:graphic>
      </p:graphicFrame>
      <p:sp>
        <p:nvSpPr>
          <p:cNvPr id="335" name="Google Shape;335;p24"/>
          <p:cNvSpPr txBox="1"/>
          <p:nvPr/>
        </p:nvSpPr>
        <p:spPr>
          <a:xfrm>
            <a:off x="914400" y="571500"/>
            <a:ext cx="17373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2563EB"/>
                </a:solidFill>
                <a:latin typeface="Space Grotesk"/>
                <a:ea typeface="Space Grotesk"/>
                <a:cs typeface="Space Grotesk"/>
                <a:sym typeface="Space Grotesk"/>
              </a:rPr>
              <a:t>EXTRACTION FIELD SPECIFICATIONS</a:t>
            </a:r>
            <a:endParaRPr sz="2100"/>
          </a:p>
        </p:txBody>
      </p:sp>
      <p:sp>
        <p:nvSpPr>
          <p:cNvPr id="336" name="Google Shape;336;p24"/>
          <p:cNvSpPr txBox="1"/>
          <p:nvPr/>
        </p:nvSpPr>
        <p:spPr>
          <a:xfrm>
            <a:off x="914400" y="885825"/>
            <a:ext cx="17373600" cy="49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3200" u="none" cap="none" strike="noStrike">
                <a:solidFill>
                  <a:srgbClr val="0F172A"/>
                </a:solidFill>
                <a:latin typeface="Space Grotesk"/>
                <a:ea typeface="Space Grotesk"/>
                <a:cs typeface="Space Grotesk"/>
                <a:sym typeface="Space Grotesk"/>
              </a:rPr>
              <a:t>Conversions: Field Extraction &amp; Complexity Analysis</a:t>
            </a:r>
            <a:endParaRPr sz="2100"/>
          </a:p>
        </p:txBody>
      </p:sp>
      <p:sp>
        <p:nvSpPr>
          <p:cNvPr id="337" name="Google Shape;337;p24"/>
          <p:cNvSpPr txBox="1"/>
          <p:nvPr/>
        </p:nvSpPr>
        <p:spPr>
          <a:xfrm>
            <a:off x="914400" y="1422945"/>
            <a:ext cx="173736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00" u="none" cap="none" strike="noStrike">
                <a:solidFill>
                  <a:srgbClr val="64748B"/>
                </a:solidFill>
                <a:latin typeface="Inter"/>
                <a:ea typeface="Inter"/>
                <a:cs typeface="Inter"/>
                <a:sym typeface="Inter"/>
              </a:rPr>
              <a:t>Targeted extraction techniques and technical challenges for key conversion terms.</a:t>
            </a:r>
            <a:endParaRPr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1" name="Shape 341"/>
        <p:cNvGrpSpPr/>
        <p:nvPr/>
      </p:nvGrpSpPr>
      <p:grpSpPr>
        <a:xfrm>
          <a:off x="0" y="0"/>
          <a:ext cx="0" cy="0"/>
          <a:chOff x="0" y="0"/>
          <a:chExt cx="0" cy="0"/>
        </a:xfrm>
      </p:grpSpPr>
      <p:sp>
        <p:nvSpPr>
          <p:cNvPr id="342" name="Google Shape;342;p25"/>
          <p:cNvSpPr txBox="1"/>
          <p:nvPr/>
        </p:nvSpPr>
        <p:spPr>
          <a:xfrm>
            <a:off x="1095375" y="1638300"/>
            <a:ext cx="160974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0">
                <a:solidFill>
                  <a:srgbClr val="1D1F20"/>
                </a:solidFill>
                <a:latin typeface="Barlow Condensed"/>
                <a:ea typeface="Barlow Condensed"/>
                <a:cs typeface="Barlow Condensed"/>
                <a:sym typeface="Barlow Condensed"/>
              </a:rPr>
              <a:t>Thank You!</a:t>
            </a:r>
            <a:endParaRPr b="1" sz="8000">
              <a:solidFill>
                <a:srgbClr val="1D1F20"/>
              </a:solidFill>
              <a:latin typeface="Barlow Condensed"/>
              <a:ea typeface="Barlow Condensed"/>
              <a:cs typeface="Barlow Condensed"/>
              <a:sym typeface="Barlow Condensed"/>
            </a:endParaRPr>
          </a:p>
          <a:p>
            <a:pPr indent="0" lvl="0" marL="0" rtl="0" algn="l">
              <a:spcBef>
                <a:spcPts val="1800"/>
              </a:spcBef>
              <a:spcAft>
                <a:spcPts val="0"/>
              </a:spcAft>
              <a:buNone/>
            </a:pPr>
            <a:r>
              <a:rPr b="0" lang="en" sz="2800">
                <a:solidFill>
                  <a:srgbClr val="4B7091"/>
                </a:solidFill>
                <a:latin typeface="Barlow"/>
                <a:ea typeface="Barlow"/>
                <a:cs typeface="Barlow"/>
                <a:sym typeface="Barlow"/>
              </a:rPr>
              <a:t>Questions &amp; Discussion</a:t>
            </a:r>
            <a:endParaRPr b="0" sz="2800">
              <a:solidFill>
                <a:srgbClr val="4B7091"/>
              </a:solidFill>
              <a:latin typeface="Barlow"/>
              <a:ea typeface="Barlow"/>
              <a:cs typeface="Barlow"/>
              <a:sym typeface="Barlo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