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Barlow Condensed"/>
      <p:bold r:id="rId17"/>
      <p:boldItalic r:id="rId18"/>
    </p:embeddedFont>
    <p:embeddedFont>
      <p:font typeface="Barlow Medium"/>
      <p:regular r:id="rId19"/>
      <p:bold r:id="rId20"/>
      <p:italic r:id="rId21"/>
      <p:boldItalic r:id="rId22"/>
    </p:embeddedFont>
    <p:embeddedFont>
      <p:font typeface="Barlow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Medium-bold.fntdata"/><Relationship Id="rId11" Type="http://schemas.openxmlformats.org/officeDocument/2006/relationships/slide" Target="slides/slide6.xml"/><Relationship Id="rId22" Type="http://schemas.openxmlformats.org/officeDocument/2006/relationships/font" Target="fonts/Barlow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BarlowMedium-italic.fntdata"/><Relationship Id="rId13" Type="http://schemas.openxmlformats.org/officeDocument/2006/relationships/slide" Target="slides/slide8.xml"/><Relationship Id="rId24" Type="http://schemas.openxmlformats.org/officeDocument/2006/relationships/font" Target="fonts/Barlow-boldItalic.fntdata"/><Relationship Id="rId12" Type="http://schemas.openxmlformats.org/officeDocument/2006/relationships/slide" Target="slides/slide7.xml"/><Relationship Id="rId23" Type="http://schemas.openxmlformats.org/officeDocument/2006/relationships/font" Target="fonts/Barl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BarlowCondensed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BarlowMedium-regular.fntdata"/><Relationship Id="rId6" Type="http://schemas.openxmlformats.org/officeDocument/2006/relationships/slide" Target="slides/slide1.xml"/><Relationship Id="rId18" Type="http://schemas.openxmlformats.org/officeDocument/2006/relationships/font" Target="fonts/BarlowCondense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f4af6847654f19e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f4af6847654f19e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f27d1cad8f48055_1_14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hf27d1cad8f48055_1_14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hf27d1cad8f48055_1_14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f27d1cad8f48055_1_536:notes"/>
          <p:cNvSpPr txBox="1"/>
          <p:nvPr>
            <p:ph idx="2" type="hdr"/>
          </p:nvPr>
        </p:nvSpPr>
        <p:spPr>
          <a:xfrm>
            <a:off x="0" y="0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hf27d1cad8f48055_1_536:notes"/>
          <p:cNvSpPr txBox="1"/>
          <p:nvPr>
            <p:ph idx="10" type="dt"/>
          </p:nvPr>
        </p:nvSpPr>
        <p:spPr>
          <a:xfrm>
            <a:off x="2589742" y="0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hf27d1cad8f48055_1_536:notes"/>
          <p:cNvSpPr/>
          <p:nvPr>
            <p:ph idx="3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hf27d1cad8f48055_1_53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hf27d1cad8f48055_1_536:notes"/>
          <p:cNvSpPr txBox="1"/>
          <p:nvPr>
            <p:ph idx="11" type="ftr"/>
          </p:nvPr>
        </p:nvSpPr>
        <p:spPr>
          <a:xfrm>
            <a:off x="0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hf27d1cad8f48055_1_53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f27d1cad8f48055_1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f27d1cad8f48055_1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f27d1cad8f48055_1_1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f27d1cad8f48055_1_1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39dcd94f80a7eae3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39dcd94f80a7eae3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f27d1cad8f48055_1_2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hf27d1cad8f48055_1_2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f27d1cad8f48055_1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hf27d1cad8f48055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f27d1cad8f48055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hf27d1cad8f48055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f27d1cad8f48055_1_2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hf27d1cad8f48055_1_2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f27d1cad8f48055_1_2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hf27d1cad8f48055_1_2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f4af6847654f19e_7_0)">
  <p:cSld name="Generated (h5f4af6847654f19e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18287700" cy="164700"/>
          </a:xfrm>
          <a:prstGeom prst="rect">
            <a:avLst/>
          </a:prstGeom>
          <a:solidFill>
            <a:srgbClr val="17324D"/>
          </a:solidFill>
          <a:ln cap="flat" cmpd="sng" w="19050">
            <a:solidFill>
              <a:srgbClr val="173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795528" y="301752"/>
            <a:ext cx="74064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885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6C7885"/>
                </a:solidFill>
                <a:latin typeface="Arial"/>
                <a:ea typeface="Arial"/>
                <a:cs typeface="Arial"/>
                <a:sym typeface="Arial"/>
              </a:rPr>
              <a:t>BNY CAPSTONE · CORPORATE ACTION INTELLIGENCE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17213580" y="9710928"/>
            <a:ext cx="12003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AA3A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88ad8e03_36_0)">
  <p:cSld name="Generated (g3fb88ad8e03_36_0)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6"/>
          <p:cNvGrpSpPr/>
          <p:nvPr/>
        </p:nvGrpSpPr>
        <p:grpSpPr>
          <a:xfrm>
            <a:off x="1143000" y="1660427"/>
            <a:ext cx="15674100" cy="5111700"/>
            <a:chOff x="0" y="0"/>
            <a:chExt cx="15674100" cy="5111700"/>
          </a:xfrm>
        </p:grpSpPr>
        <p:sp>
          <p:nvSpPr>
            <p:cNvPr id="61" name="Google Shape;61;p16"/>
            <p:cNvSpPr/>
            <p:nvPr/>
          </p:nvSpPr>
          <p:spPr>
            <a:xfrm>
              <a:off x="0" y="0"/>
              <a:ext cx="15674100" cy="5111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6"/>
            <p:cNvSpPr txBox="1"/>
            <p:nvPr/>
          </p:nvSpPr>
          <p:spPr>
            <a:xfrm>
              <a:off x="0" y="0"/>
              <a:ext cx="15674100" cy="5111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BNY</a:t>
              </a:r>
              <a:endParaRPr b="1" i="0" sz="150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" sz="80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Corporate Action</a:t>
              </a:r>
              <a:r>
                <a:rPr b="1" lang="en" sz="80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 Intelligence</a:t>
              </a:r>
              <a:r>
                <a:rPr b="1" i="0" lang="en" sz="80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 – Demo</a:t>
              </a:r>
              <a:endParaRPr b="1" i="0" sz="80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16"/>
          <p:cNvSpPr/>
          <p:nvPr/>
        </p:nvSpPr>
        <p:spPr>
          <a:xfrm>
            <a:off x="1285999" y="7703334"/>
            <a:ext cx="14372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1285875" y="7048500"/>
            <a:ext cx="1333500" cy="57300"/>
          </a:xfrm>
          <a:prstGeom prst="roundRect">
            <a:avLst>
              <a:gd fmla="val 50000" name="adj"/>
            </a:avLst>
          </a:pr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1285999" y="7334250"/>
            <a:ext cx="14372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04243C"/>
                </a:solidFill>
                <a:latin typeface="Barlow"/>
                <a:ea typeface="Barlow"/>
                <a:cs typeface="Barlow"/>
                <a:sym typeface="Barlow"/>
              </a:rPr>
              <a:t>Corporate Action Intelligence Team</a:t>
            </a:r>
            <a:endParaRPr b="1" i="0" sz="2000">
              <a:solidFill>
                <a:srgbClr val="04243C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600">
                <a:solidFill>
                  <a:srgbClr val="475569"/>
                </a:solidFill>
                <a:latin typeface="Barlow"/>
                <a:ea typeface="Barlow"/>
                <a:cs typeface="Barlow"/>
                <a:sym typeface="Barlow"/>
              </a:rPr>
              <a:t>Aesha Gandhi, Pranshul Bhatnagar, Alex Li, Kedar Vaidya, Aaron Jiang</a:t>
            </a:r>
            <a:endParaRPr b="1" i="0" sz="1600">
              <a:solidFill>
                <a:srgbClr val="04243C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/>
        </p:nvSpPr>
        <p:spPr>
          <a:xfrm>
            <a:off x="1028700" y="571500"/>
            <a:ext cx="16230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rPr>
              <a:t>CORPORATE ACTION INTELLIGENCE</a:t>
            </a:r>
            <a:endParaRPr b="1" sz="1300">
              <a:solidFill>
                <a:srgbClr val="2B9C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Problem Statement &amp; Solution Architecture</a:t>
            </a:r>
            <a:endParaRPr b="1" sz="3600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17"/>
          <p:cNvGrpSpPr/>
          <p:nvPr/>
        </p:nvGrpSpPr>
        <p:grpSpPr>
          <a:xfrm>
            <a:off x="1028700" y="1666875"/>
            <a:ext cx="5219700" cy="1571700"/>
            <a:chOff x="0" y="0"/>
            <a:chExt cx="5219700" cy="1571700"/>
          </a:xfrm>
        </p:grpSpPr>
        <p:sp>
          <p:nvSpPr>
            <p:cNvPr id="73" name="Google Shape;73;p17"/>
            <p:cNvSpPr/>
            <p:nvPr/>
          </p:nvSpPr>
          <p:spPr>
            <a:xfrm>
              <a:off x="0" y="0"/>
              <a:ext cx="5219700" cy="1571700"/>
            </a:xfrm>
            <a:prstGeom prst="roundRect">
              <a:avLst>
                <a:gd fmla="val 7271" name="adj"/>
              </a:avLst>
            </a:prstGeom>
            <a:solidFill>
              <a:srgbClr val="FFFFFF"/>
            </a:solidFill>
            <a:ln cap="flat" cmpd="sng" w="14300">
              <a:solidFill>
                <a:srgbClr val="D5E0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0" y="0"/>
              <a:ext cx="57300" cy="1571700"/>
            </a:xfrm>
            <a:prstGeom prst="roundRect">
              <a:avLst>
                <a:gd fmla="val 49999" name="adj"/>
              </a:avLst>
            </a:prstGeom>
            <a:solidFill>
              <a:srgbClr val="2B9CA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7"/>
            <p:cNvSpPr txBox="1"/>
            <p:nvPr/>
          </p:nvSpPr>
          <p:spPr>
            <a:xfrm>
              <a:off x="266700" y="171450"/>
              <a:ext cx="47244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1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Large &amp; Complex Documents</a:t>
              </a:r>
              <a:endParaRPr b="1" sz="21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Relevant information is spread across lengthy filings, footnotes, and supporting exhibits.</a:t>
              </a:r>
              <a:endParaRPr b="1" i="0" sz="14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76;p17"/>
          <p:cNvGrpSpPr/>
          <p:nvPr/>
        </p:nvGrpSpPr>
        <p:grpSpPr>
          <a:xfrm>
            <a:off x="6534150" y="1666875"/>
            <a:ext cx="5219700" cy="1571700"/>
            <a:chOff x="0" y="0"/>
            <a:chExt cx="5219700" cy="1571700"/>
          </a:xfrm>
        </p:grpSpPr>
        <p:sp>
          <p:nvSpPr>
            <p:cNvPr id="77" name="Google Shape;77;p17"/>
            <p:cNvSpPr/>
            <p:nvPr/>
          </p:nvSpPr>
          <p:spPr>
            <a:xfrm>
              <a:off x="0" y="0"/>
              <a:ext cx="5219700" cy="1571700"/>
            </a:xfrm>
            <a:prstGeom prst="roundRect">
              <a:avLst>
                <a:gd fmla="val 7271" name="adj"/>
              </a:avLst>
            </a:prstGeom>
            <a:solidFill>
              <a:srgbClr val="FFFFFF"/>
            </a:solidFill>
            <a:ln cap="flat" cmpd="sng" w="14300">
              <a:solidFill>
                <a:srgbClr val="D5E0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0" y="0"/>
              <a:ext cx="57300" cy="1571700"/>
            </a:xfrm>
            <a:prstGeom prst="roundRect">
              <a:avLst>
                <a:gd fmla="val 49999" name="adj"/>
              </a:avLst>
            </a:prstGeom>
            <a:solidFill>
              <a:srgbClr val="2B9CA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7"/>
            <p:cNvSpPr txBox="1"/>
            <p:nvPr/>
          </p:nvSpPr>
          <p:spPr>
            <a:xfrm>
              <a:off x="266700" y="171450"/>
              <a:ext cx="47244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21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Terms Change Over Time</a:t>
              </a:r>
              <a:endParaRPr b="1" i="0" sz="21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Amendments dynamically revise transaction prices, key dates, and execution conditions.</a:t>
              </a:r>
              <a:endParaRPr b="1" i="0" sz="14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17"/>
          <p:cNvGrpSpPr/>
          <p:nvPr/>
        </p:nvGrpSpPr>
        <p:grpSpPr>
          <a:xfrm>
            <a:off x="12039600" y="1666875"/>
            <a:ext cx="5219700" cy="1571700"/>
            <a:chOff x="0" y="0"/>
            <a:chExt cx="5219700" cy="1571700"/>
          </a:xfrm>
        </p:grpSpPr>
        <p:sp>
          <p:nvSpPr>
            <p:cNvPr id="81" name="Google Shape;81;p17"/>
            <p:cNvSpPr/>
            <p:nvPr/>
          </p:nvSpPr>
          <p:spPr>
            <a:xfrm>
              <a:off x="0" y="0"/>
              <a:ext cx="5219700" cy="1571700"/>
            </a:xfrm>
            <a:prstGeom prst="roundRect">
              <a:avLst>
                <a:gd fmla="val 7271" name="adj"/>
              </a:avLst>
            </a:prstGeom>
            <a:solidFill>
              <a:srgbClr val="FFFFFF"/>
            </a:solidFill>
            <a:ln cap="flat" cmpd="sng" w="14300">
              <a:solidFill>
                <a:srgbClr val="D5E0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0" y="0"/>
              <a:ext cx="57300" cy="1571700"/>
            </a:xfrm>
            <a:prstGeom prst="roundRect">
              <a:avLst>
                <a:gd fmla="val 49999" name="adj"/>
              </a:avLst>
            </a:prstGeom>
            <a:solidFill>
              <a:srgbClr val="2B9CA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7"/>
            <p:cNvSpPr txBox="1"/>
            <p:nvPr/>
          </p:nvSpPr>
          <p:spPr>
            <a:xfrm>
              <a:off x="266700" y="171450"/>
              <a:ext cx="47244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1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Values Need Context</a:t>
              </a:r>
              <a:endParaRPr b="1" i="0" sz="21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Key numerical values must be linked to the correct event, field, and verified source.</a:t>
              </a:r>
              <a:endParaRPr b="1" i="0" sz="14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17"/>
          <p:cNvGrpSpPr/>
          <p:nvPr/>
        </p:nvGrpSpPr>
        <p:grpSpPr>
          <a:xfrm>
            <a:off x="1028700" y="4457700"/>
            <a:ext cx="16230600" cy="647700"/>
            <a:chOff x="0" y="0"/>
            <a:chExt cx="16230600" cy="647700"/>
          </a:xfrm>
        </p:grpSpPr>
        <p:sp>
          <p:nvSpPr>
            <p:cNvPr id="85" name="Google Shape;85;p17"/>
            <p:cNvSpPr/>
            <p:nvPr/>
          </p:nvSpPr>
          <p:spPr>
            <a:xfrm>
              <a:off x="0" y="0"/>
              <a:ext cx="16230600" cy="647700"/>
            </a:xfrm>
            <a:prstGeom prst="roundRect">
              <a:avLst>
                <a:gd fmla="val 14705" name="adj"/>
              </a:avLst>
            </a:prstGeom>
            <a:solidFill>
              <a:srgbClr val="0424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</p:txBody>
        </p:sp>
        <p:sp>
          <p:nvSpPr>
            <p:cNvPr id="86" name="Google Shape;86;p17"/>
            <p:cNvSpPr txBox="1"/>
            <p:nvPr/>
          </p:nvSpPr>
          <p:spPr>
            <a:xfrm>
              <a:off x="285750" y="0"/>
              <a:ext cx="156591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GOAL:</a:t>
              </a:r>
              <a:r>
                <a:rPr lang="en" sz="1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Build a structured corporate-action dataset with traceable evidence for review and downstream automated processing.</a:t>
              </a:r>
              <a:endParaRPr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17"/>
          <p:cNvGrpSpPr/>
          <p:nvPr/>
        </p:nvGrpSpPr>
        <p:grpSpPr>
          <a:xfrm>
            <a:off x="1028700" y="5470301"/>
            <a:ext cx="3838500" cy="2857500"/>
            <a:chOff x="0" y="0"/>
            <a:chExt cx="3838500" cy="2857500"/>
          </a:xfrm>
        </p:grpSpPr>
        <p:sp>
          <p:nvSpPr>
            <p:cNvPr id="88" name="Google Shape;88;p17"/>
            <p:cNvSpPr/>
            <p:nvPr/>
          </p:nvSpPr>
          <p:spPr>
            <a:xfrm>
              <a:off x="0" y="0"/>
              <a:ext cx="3838500" cy="2857500"/>
            </a:xfrm>
            <a:prstGeom prst="roundRect">
              <a:avLst>
                <a:gd fmla="val 3999" name="adj"/>
              </a:avLst>
            </a:prstGeom>
            <a:solidFill>
              <a:srgbClr val="FFFFFF"/>
            </a:solidFill>
            <a:ln cap="flat" cmpd="sng" w="14300">
              <a:solidFill>
                <a:srgbClr val="D5E0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7"/>
            <p:cNvSpPr txBox="1"/>
            <p:nvPr/>
          </p:nvSpPr>
          <p:spPr>
            <a:xfrm>
              <a:off x="228600" y="228600"/>
              <a:ext cx="3381300" cy="24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2B9CAE"/>
                  </a:solidFill>
                  <a:highlight>
                    <a:srgbClr val="04243C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input</a:t>
              </a:r>
              <a:r>
                <a:rPr b="1" i="0" lang="en" sz="22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 01</a:t>
              </a:r>
              <a:endParaRPr b="1" i="0" sz="22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22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Intake &amp; Classification</a:t>
              </a:r>
              <a:endParaRPr b="0" i="0" sz="2200">
                <a:solidFill>
                  <a:srgbClr val="2B9CA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50">
                <a:solidFill>
                  <a:srgbClr val="2B9CA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90" name="Google Shape;90;p17"/>
          <p:cNvGrpSpPr/>
          <p:nvPr/>
        </p:nvGrpSpPr>
        <p:grpSpPr>
          <a:xfrm>
            <a:off x="5153025" y="5470301"/>
            <a:ext cx="3838500" cy="2857500"/>
            <a:chOff x="0" y="0"/>
            <a:chExt cx="3838500" cy="2857500"/>
          </a:xfrm>
        </p:grpSpPr>
        <p:sp>
          <p:nvSpPr>
            <p:cNvPr id="91" name="Google Shape;91;p17"/>
            <p:cNvSpPr/>
            <p:nvPr/>
          </p:nvSpPr>
          <p:spPr>
            <a:xfrm>
              <a:off x="0" y="0"/>
              <a:ext cx="3838500" cy="2857500"/>
            </a:xfrm>
            <a:prstGeom prst="roundRect">
              <a:avLst>
                <a:gd fmla="val 3999" name="adj"/>
              </a:avLst>
            </a:prstGeom>
            <a:solidFill>
              <a:srgbClr val="FFFFFF"/>
            </a:solidFill>
            <a:ln cap="flat" cmpd="sng" w="14300">
              <a:solidFill>
                <a:srgbClr val="D5E0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7"/>
            <p:cNvSpPr txBox="1"/>
            <p:nvPr/>
          </p:nvSpPr>
          <p:spPr>
            <a:xfrm>
              <a:off x="228600" y="228600"/>
              <a:ext cx="3381300" cy="24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2B9CAE"/>
                  </a:solidFill>
                  <a:highlight>
                    <a:srgbClr val="04243C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timeline</a:t>
              </a:r>
              <a:r>
                <a:rPr b="1" i="0" lang="en" sz="22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 02</a:t>
              </a:r>
              <a:endParaRPr b="1" i="0" sz="22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22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Temporal Event Tracking</a:t>
              </a:r>
              <a:endParaRPr b="0" i="0" sz="2200">
                <a:solidFill>
                  <a:srgbClr val="2B9CA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50">
                <a:solidFill>
                  <a:srgbClr val="2B9CA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93" name="Google Shape;93;p17"/>
          <p:cNvGrpSpPr/>
          <p:nvPr/>
        </p:nvGrpSpPr>
        <p:grpSpPr>
          <a:xfrm>
            <a:off x="9286875" y="5470301"/>
            <a:ext cx="3838500" cy="2857500"/>
            <a:chOff x="0" y="0"/>
            <a:chExt cx="3838500" cy="2857500"/>
          </a:xfrm>
        </p:grpSpPr>
        <p:sp>
          <p:nvSpPr>
            <p:cNvPr id="94" name="Google Shape;94;p17"/>
            <p:cNvSpPr/>
            <p:nvPr/>
          </p:nvSpPr>
          <p:spPr>
            <a:xfrm>
              <a:off x="0" y="0"/>
              <a:ext cx="3838500" cy="2857500"/>
            </a:xfrm>
            <a:prstGeom prst="roundRect">
              <a:avLst>
                <a:gd fmla="val 3999" name="adj"/>
              </a:avLst>
            </a:prstGeom>
            <a:solidFill>
              <a:srgbClr val="FFFFFF"/>
            </a:solidFill>
            <a:ln cap="flat" cmpd="sng" w="14300">
              <a:solidFill>
                <a:srgbClr val="D5E0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7"/>
            <p:cNvSpPr txBox="1"/>
            <p:nvPr/>
          </p:nvSpPr>
          <p:spPr>
            <a:xfrm>
              <a:off x="228600" y="228600"/>
              <a:ext cx="3381300" cy="24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2B9CAE"/>
                  </a:solidFill>
                  <a:highlight>
                    <a:srgbClr val="04243C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r>
                <a:rPr b="1" i="0" lang="en" sz="22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 03</a:t>
              </a:r>
              <a:endParaRPr b="1" i="0" sz="22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22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Downstream Processing</a:t>
              </a:r>
              <a:endParaRPr b="0" i="0" sz="2200">
                <a:solidFill>
                  <a:srgbClr val="2B9CA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50">
                <a:solidFill>
                  <a:srgbClr val="2B9CA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96" name="Google Shape;96;p17"/>
          <p:cNvGrpSpPr/>
          <p:nvPr/>
        </p:nvGrpSpPr>
        <p:grpSpPr>
          <a:xfrm>
            <a:off x="1028700" y="3619538"/>
            <a:ext cx="16230600" cy="695288"/>
            <a:chOff x="0" y="-238087"/>
            <a:chExt cx="16230600" cy="695288"/>
          </a:xfrm>
        </p:grpSpPr>
        <p:sp>
          <p:nvSpPr>
            <p:cNvPr id="97" name="Google Shape;97;p17"/>
            <p:cNvSpPr/>
            <p:nvPr/>
          </p:nvSpPr>
          <p:spPr>
            <a:xfrm>
              <a:off x="0" y="0"/>
              <a:ext cx="16230600" cy="457200"/>
            </a:xfrm>
            <a:prstGeom prst="roundRect">
              <a:avLst>
                <a:gd fmla="val 16666" name="adj"/>
              </a:avLst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0" y="-238087"/>
              <a:ext cx="16230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Covered Event Types: </a:t>
              </a:r>
              <a:r>
                <a:rPr lang="en" sz="1600">
                  <a:solidFill>
                    <a:srgbClr val="2B9CAE"/>
                  </a:solidFill>
                </a:rPr>
                <a:t>Mergers  •  </a:t>
              </a:r>
              <a:r>
                <a:rPr b="0" lang="en" sz="16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Tender Offers  •  Exchange Offers  •  Rights Issues  •  Conversions </a:t>
              </a:r>
              <a:endParaRPr b="1" sz="16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17"/>
          <p:cNvGrpSpPr/>
          <p:nvPr/>
        </p:nvGrpSpPr>
        <p:grpSpPr>
          <a:xfrm>
            <a:off x="13411200" y="5470301"/>
            <a:ext cx="3838500" cy="2857500"/>
            <a:chOff x="0" y="0"/>
            <a:chExt cx="3838500" cy="2857500"/>
          </a:xfrm>
        </p:grpSpPr>
        <p:sp>
          <p:nvSpPr>
            <p:cNvPr id="100" name="Google Shape;100;p17"/>
            <p:cNvSpPr/>
            <p:nvPr/>
          </p:nvSpPr>
          <p:spPr>
            <a:xfrm>
              <a:off x="0" y="0"/>
              <a:ext cx="3838500" cy="2857500"/>
            </a:xfrm>
            <a:prstGeom prst="roundRect">
              <a:avLst>
                <a:gd fmla="val 3999" name="adj"/>
              </a:avLst>
            </a:prstGeom>
            <a:solidFill>
              <a:srgbClr val="FFFFFF"/>
            </a:solidFill>
            <a:ln cap="flat" cmpd="sng" w="14300">
              <a:solidFill>
                <a:srgbClr val="D5E0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7"/>
            <p:cNvSpPr txBox="1"/>
            <p:nvPr/>
          </p:nvSpPr>
          <p:spPr>
            <a:xfrm>
              <a:off x="228600" y="228600"/>
              <a:ext cx="3381300" cy="24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200">
                  <a:solidFill>
                    <a:srgbClr val="2B9CAE"/>
                  </a:solidFill>
                  <a:highlight>
                    <a:srgbClr val="04243C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r>
                <a:rPr b="1" i="0" lang="en" sz="22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 04</a:t>
              </a:r>
              <a:endParaRPr b="1" i="0" sz="22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" sz="22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Audit &amp; Exceptions</a:t>
              </a:r>
              <a:endParaRPr b="0" i="0" sz="2200">
                <a:solidFill>
                  <a:srgbClr val="2B9CA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50">
                <a:solidFill>
                  <a:srgbClr val="2B9CA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8"/>
          <p:cNvGrpSpPr/>
          <p:nvPr/>
        </p:nvGrpSpPr>
        <p:grpSpPr>
          <a:xfrm>
            <a:off x="1028700" y="942750"/>
            <a:ext cx="16230600" cy="781200"/>
            <a:chOff x="0" y="0"/>
            <a:chExt cx="16230600" cy="781200"/>
          </a:xfrm>
        </p:grpSpPr>
        <p:sp>
          <p:nvSpPr>
            <p:cNvPr id="111" name="Google Shape;111;p18"/>
            <p:cNvSpPr txBox="1"/>
            <p:nvPr/>
          </p:nvSpPr>
          <p:spPr>
            <a:xfrm>
              <a:off x="0" y="0"/>
              <a:ext cx="162306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u="none" strike="noStrike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DATA PREPROCESSING &amp; REASONING ARCHITECTURE</a:t>
              </a:r>
              <a:endParaRPr b="1" i="0" u="none" strike="noStrike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8"/>
            <p:cNvSpPr txBox="1"/>
            <p:nvPr/>
          </p:nvSpPr>
          <p:spPr>
            <a:xfrm>
              <a:off x="0" y="304800"/>
              <a:ext cx="162306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160" u="none" strike="noStrike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End-to-End Event Pipeline</a:t>
              </a:r>
              <a:endParaRPr b="1" i="0" sz="3160" u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18"/>
          <p:cNvGrpSpPr/>
          <p:nvPr/>
        </p:nvGrpSpPr>
        <p:grpSpPr>
          <a:xfrm>
            <a:off x="1047750" y="2428950"/>
            <a:ext cx="3619500" cy="2000100"/>
            <a:chOff x="0" y="0"/>
            <a:chExt cx="3619500" cy="2000100"/>
          </a:xfrm>
        </p:grpSpPr>
        <p:sp>
          <p:nvSpPr>
            <p:cNvPr id="114" name="Google Shape;114;p1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380" u="none" strike="noStrike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i="0" sz="2380" u="none" strike="noStrike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strike="noStrike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SEC Metadata</a:t>
              </a:r>
              <a:endParaRPr b="1" i="0" sz="2000" u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Initial discovery and indexing via SEC E</a:t>
              </a:r>
              <a:r>
                <a:rPr lang="en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DGAR</a:t>
              </a:r>
              <a:endParaRPr b="0" i="0" sz="16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18"/>
          <p:cNvGrpSpPr/>
          <p:nvPr/>
        </p:nvGrpSpPr>
        <p:grpSpPr>
          <a:xfrm>
            <a:off x="5238750" y="2428950"/>
            <a:ext cx="3619500" cy="2000100"/>
            <a:chOff x="0" y="0"/>
            <a:chExt cx="3619500" cy="2000100"/>
          </a:xfrm>
        </p:grpSpPr>
        <p:sp>
          <p:nvSpPr>
            <p:cNvPr id="119" name="Google Shape;119;p1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380" u="none" strike="noStrike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i="0" sz="2380" u="none" strike="noStrike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strike="noStrike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Retrieve Filing Bundle</a:t>
              </a:r>
              <a:endParaRPr b="1" i="0" sz="2000" u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Fetch complete source documents and exhibits from SEC EDGAR.</a:t>
              </a:r>
              <a:endParaRPr b="0" i="0" sz="16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18"/>
          <p:cNvGrpSpPr/>
          <p:nvPr/>
        </p:nvGrpSpPr>
        <p:grpSpPr>
          <a:xfrm>
            <a:off x="9429750" y="2428950"/>
            <a:ext cx="3619500" cy="2000100"/>
            <a:chOff x="0" y="0"/>
            <a:chExt cx="3619500" cy="2000100"/>
          </a:xfrm>
        </p:grpSpPr>
        <p:sp>
          <p:nvSpPr>
            <p:cNvPr id="124" name="Google Shape;124;p1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380" u="none" strike="noStrike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i="0" sz="2380" u="none" strike="noStrike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strike="noStrike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Normalize Documents</a:t>
              </a:r>
              <a:endParaRPr b="1" i="0" sz="2000" u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Convert raw HTML into clean, searchable plain text.</a:t>
              </a:r>
              <a:endParaRPr b="0" i="0" sz="16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18"/>
          <p:cNvGrpSpPr/>
          <p:nvPr/>
        </p:nvGrpSpPr>
        <p:grpSpPr>
          <a:xfrm>
            <a:off x="13620750" y="2428950"/>
            <a:ext cx="3619500" cy="2000100"/>
            <a:chOff x="0" y="0"/>
            <a:chExt cx="3619500" cy="2000100"/>
          </a:xfrm>
        </p:grpSpPr>
        <p:sp>
          <p:nvSpPr>
            <p:cNvPr id="129" name="Google Shape;129;p1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380" u="none" strike="noStrike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2380" u="none" strike="noStrike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strike="noStrike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Extract Candidate Facts</a:t>
              </a:r>
              <a:endParaRPr b="1" i="0" sz="2000" u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AI layer (GliNER) extracts structured candidate fact payloads.</a:t>
              </a:r>
              <a:endParaRPr b="0" i="0" sz="16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18"/>
          <p:cNvGrpSpPr/>
          <p:nvPr/>
        </p:nvGrpSpPr>
        <p:grpSpPr>
          <a:xfrm>
            <a:off x="1047750" y="5857950"/>
            <a:ext cx="3619500" cy="2000100"/>
            <a:chOff x="0" y="0"/>
            <a:chExt cx="3619500" cy="2000100"/>
          </a:xfrm>
        </p:grpSpPr>
        <p:sp>
          <p:nvSpPr>
            <p:cNvPr id="134" name="Google Shape;134;p1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380" u="none" strike="noStrike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i="0" sz="2380" u="none" strike="noStrike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strike="noStrike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Concise Represen</a:t>
              </a:r>
              <a:r>
                <a:rPr b="1" lang="en" sz="20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tation</a:t>
              </a:r>
              <a:endParaRPr b="1" i="0" sz="2000" u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Compact event representation preserving evidence &amp; context.</a:t>
              </a:r>
              <a:endParaRPr b="0" i="0" sz="16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8"/>
          <p:cNvGrpSpPr/>
          <p:nvPr/>
        </p:nvGrpSpPr>
        <p:grpSpPr>
          <a:xfrm>
            <a:off x="5238750" y="5857950"/>
            <a:ext cx="3619500" cy="2000100"/>
            <a:chOff x="0" y="0"/>
            <a:chExt cx="3619500" cy="2000100"/>
          </a:xfrm>
        </p:grpSpPr>
        <p:sp>
          <p:nvSpPr>
            <p:cNvPr id="139" name="Google Shape;139;p1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380" u="none" strike="noStrike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i="0" sz="2380" u="none" strike="noStrike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strike="noStrike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Reason / Verify / Resolve</a:t>
              </a:r>
              <a:endParaRPr b="1" i="0" sz="2000" u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Process amendments and resolve canonical facts.</a:t>
              </a:r>
              <a:endParaRPr b="0" i="0" sz="16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9429750" y="5857950"/>
            <a:ext cx="3619500" cy="2000100"/>
            <a:chOff x="0" y="0"/>
            <a:chExt cx="3619500" cy="2000100"/>
          </a:xfrm>
        </p:grpSpPr>
        <p:sp>
          <p:nvSpPr>
            <p:cNvPr id="144" name="Google Shape;144;p1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380" u="none" strike="noStrike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i="0" sz="2380" u="none" strike="noStrike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strike="noStrike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Canonical Event State</a:t>
              </a:r>
              <a:endParaRPr b="1" i="0" sz="2000" u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Single source of truth for verified corporate action facts.</a:t>
              </a:r>
              <a:endParaRPr b="0" i="0" sz="16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18"/>
          <p:cNvGrpSpPr/>
          <p:nvPr/>
        </p:nvGrpSpPr>
        <p:grpSpPr>
          <a:xfrm>
            <a:off x="13620750" y="5857950"/>
            <a:ext cx="3619500" cy="2000100"/>
            <a:chOff x="0" y="0"/>
            <a:chExt cx="3619500" cy="2000100"/>
          </a:xfrm>
        </p:grpSpPr>
        <p:sp>
          <p:nvSpPr>
            <p:cNvPr id="149" name="Google Shape;149;p1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380" u="none" strike="noStrike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b="1" i="0" sz="2380" u="none" strike="noStrike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strike="noStrike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BNY Client Notification</a:t>
              </a:r>
              <a:endParaRPr b="1" i="0" sz="2000" u="none" strike="noStrike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Enriched internal context integrated for downstream alerts.</a:t>
              </a:r>
              <a:endParaRPr b="0" i="0" sz="16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7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/>
          <p:nvPr/>
        </p:nvSpPr>
        <p:spPr>
          <a:xfrm>
            <a:off x="5143500" y="3381451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9334500" y="3381451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13525500" y="3381451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4560" y="5134050"/>
            <a:ext cx="6315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2809875" y="5762701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60000" y="120000"/>
                </a:lnTo>
                <a:lnTo>
                  <a:pt x="120000" y="0"/>
                </a:lnTo>
                <a:close/>
              </a:path>
            </a:pathLst>
          </a:cu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7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/>
          <p:nvPr/>
        </p:nvSpPr>
        <p:spPr>
          <a:xfrm>
            <a:off x="5143500" y="6810451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/>
          <p:nvPr/>
        </p:nvSpPr>
        <p:spPr>
          <a:xfrm>
            <a:off x="9334500" y="6810451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13525500" y="6810451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2B9CA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873347" y="4432127"/>
            <a:ext cx="7579200" cy="7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1760029" y="619125"/>
            <a:ext cx="147678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rPr>
              <a:t>CORPORATE ACTION INTELLIGENCE</a:t>
            </a:r>
            <a:endParaRPr b="1" i="0" sz="1400">
              <a:solidFill>
                <a:srgbClr val="2B9C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40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Filings Monitor Demo</a:t>
            </a:r>
            <a:endParaRPr b="1" i="0" sz="4000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9" title="Image 10-15-26 at 1.18 P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025" y="1677450"/>
            <a:ext cx="14767949" cy="804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/>
        </p:nvSpPr>
        <p:spPr>
          <a:xfrm>
            <a:off x="1028700" y="762000"/>
            <a:ext cx="162306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rPr>
              <a:t>EVALUATION FRAMEWORK</a:t>
            </a:r>
            <a:endParaRPr b="1" i="0" sz="1500">
              <a:solidFill>
                <a:srgbClr val="2B9C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i="0" lang="en" sz="44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Ground Truth Creation for Evaluation</a:t>
            </a:r>
            <a:endParaRPr b="1" i="0" sz="1500">
              <a:solidFill>
                <a:srgbClr val="2B9C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20"/>
          <p:cNvGrpSpPr/>
          <p:nvPr/>
        </p:nvGrpSpPr>
        <p:grpSpPr>
          <a:xfrm>
            <a:off x="1028700" y="1905000"/>
            <a:ext cx="16230600" cy="762000"/>
            <a:chOff x="0" y="0"/>
            <a:chExt cx="16230600" cy="762000"/>
          </a:xfrm>
        </p:grpSpPr>
        <p:sp>
          <p:nvSpPr>
            <p:cNvPr id="180" name="Google Shape;180;p20"/>
            <p:cNvSpPr/>
            <p:nvPr/>
          </p:nvSpPr>
          <p:spPr>
            <a:xfrm>
              <a:off x="0" y="0"/>
              <a:ext cx="162306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0" y="0"/>
              <a:ext cx="76200" cy="762000"/>
            </a:xfrm>
            <a:prstGeom prst="roundRect">
              <a:avLst>
                <a:gd fmla="val 50000" name="adj"/>
              </a:avLst>
            </a:prstGeom>
            <a:solidFill>
              <a:srgbClr val="2B9CA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304800" y="0"/>
              <a:ext cx="1562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1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GOAL: </a:t>
              </a:r>
              <a:r>
                <a:rPr b="0" i="0" lang="en" sz="2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Create a consistent benchmark for evaluating our extraction pipeline.</a:t>
              </a:r>
              <a:endParaRPr b="1" i="0" sz="21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20"/>
          <p:cNvGrpSpPr/>
          <p:nvPr/>
        </p:nvGrpSpPr>
        <p:grpSpPr>
          <a:xfrm>
            <a:off x="1028700" y="2952750"/>
            <a:ext cx="16230600" cy="2667000"/>
            <a:chOff x="0" y="0"/>
            <a:chExt cx="16230600" cy="2667000"/>
          </a:xfrm>
        </p:grpSpPr>
        <p:sp>
          <p:nvSpPr>
            <p:cNvPr id="184" name="Google Shape;184;p20"/>
            <p:cNvSpPr txBox="1"/>
            <p:nvPr/>
          </p:nvSpPr>
          <p:spPr>
            <a:xfrm>
              <a:off x="0" y="0"/>
              <a:ext cx="16230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5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Approach</a:t>
              </a:r>
              <a:endParaRPr b="1" i="0" sz="2405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5" name="Google Shape;185;p20"/>
            <p:cNvGrpSpPr/>
            <p:nvPr/>
          </p:nvGrpSpPr>
          <p:grpSpPr>
            <a:xfrm>
              <a:off x="0" y="571500"/>
              <a:ext cx="3048000" cy="2095500"/>
              <a:chOff x="0" y="0"/>
              <a:chExt cx="3048000" cy="2095500"/>
            </a:xfrm>
          </p:grpSpPr>
          <p:sp>
            <p:nvSpPr>
              <p:cNvPr id="186" name="Google Shape;186;p20"/>
              <p:cNvSpPr/>
              <p:nvPr/>
            </p:nvSpPr>
            <p:spPr>
              <a:xfrm>
                <a:off x="0" y="0"/>
                <a:ext cx="30480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20"/>
              <p:cNvSpPr txBox="1"/>
              <p:nvPr/>
            </p:nvSpPr>
            <p:spPr>
              <a:xfrm>
                <a:off x="228600" y="190500"/>
                <a:ext cx="2590800" cy="1714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800">
                    <a:solidFill>
                      <a:srgbClr val="2B9CAE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i="0" sz="28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800">
                    <a:solidFill>
                      <a:srgbClr val="04243C"/>
                    </a:solidFill>
                    <a:latin typeface="Arial"/>
                    <a:ea typeface="Arial"/>
                    <a:cs typeface="Arial"/>
                    <a:sym typeface="Arial"/>
                  </a:rPr>
                  <a:t>Collect Filings</a:t>
                </a:r>
                <a:endParaRPr b="1" i="0" sz="18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en" sz="14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Collect historical SEC filings.</a:t>
                </a:r>
                <a:endParaRPr b="1" i="0" sz="14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88" name="Google Shape;188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00400" y="1609725"/>
              <a:ext cx="1716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0"/>
            <p:cNvSpPr/>
            <p:nvPr/>
          </p:nvSpPr>
          <p:spPr>
            <a:xfrm>
              <a:off x="3371850" y="157162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B9CA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0" name="Google Shape;190;p20"/>
            <p:cNvGrpSpPr/>
            <p:nvPr/>
          </p:nvGrpSpPr>
          <p:grpSpPr>
            <a:xfrm>
              <a:off x="3581400" y="571500"/>
              <a:ext cx="3048000" cy="2095500"/>
              <a:chOff x="0" y="0"/>
              <a:chExt cx="3048000" cy="2095500"/>
            </a:xfrm>
          </p:grpSpPr>
          <p:sp>
            <p:nvSpPr>
              <p:cNvPr id="191" name="Google Shape;191;p20"/>
              <p:cNvSpPr/>
              <p:nvPr/>
            </p:nvSpPr>
            <p:spPr>
              <a:xfrm>
                <a:off x="0" y="0"/>
                <a:ext cx="30480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0"/>
              <p:cNvSpPr txBox="1"/>
              <p:nvPr/>
            </p:nvSpPr>
            <p:spPr>
              <a:xfrm>
                <a:off x="228600" y="190500"/>
                <a:ext cx="2590800" cy="1714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800">
                    <a:solidFill>
                      <a:srgbClr val="2B9CAE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1" i="0" sz="28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800">
                    <a:solidFill>
                      <a:srgbClr val="04243C"/>
                    </a:solidFill>
                    <a:latin typeface="Arial"/>
                    <a:ea typeface="Arial"/>
                    <a:cs typeface="Arial"/>
                    <a:sym typeface="Arial"/>
                  </a:rPr>
                  <a:t>Standardize Prompt</a:t>
                </a:r>
                <a:endParaRPr b="1" i="0" sz="18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en" sz="14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Use one standardized schema + prompt across all filings.</a:t>
                </a:r>
                <a:endParaRPr b="1" i="0" sz="14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3" name="Google Shape;193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81800" y="1609725"/>
              <a:ext cx="1716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0"/>
            <p:cNvSpPr/>
            <p:nvPr/>
          </p:nvSpPr>
          <p:spPr>
            <a:xfrm>
              <a:off x="6953250" y="157162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B9CA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5" name="Google Shape;195;p20"/>
            <p:cNvGrpSpPr/>
            <p:nvPr/>
          </p:nvGrpSpPr>
          <p:grpSpPr>
            <a:xfrm>
              <a:off x="7162800" y="571500"/>
              <a:ext cx="3048000" cy="2095500"/>
              <a:chOff x="0" y="0"/>
              <a:chExt cx="3048000" cy="2095500"/>
            </a:xfrm>
          </p:grpSpPr>
          <p:sp>
            <p:nvSpPr>
              <p:cNvPr id="196" name="Google Shape;196;p20"/>
              <p:cNvSpPr/>
              <p:nvPr/>
            </p:nvSpPr>
            <p:spPr>
              <a:xfrm>
                <a:off x="0" y="0"/>
                <a:ext cx="30480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0"/>
              <p:cNvSpPr txBox="1"/>
              <p:nvPr/>
            </p:nvSpPr>
            <p:spPr>
              <a:xfrm>
                <a:off x="228600" y="190500"/>
                <a:ext cx="2590800" cy="1714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800">
                    <a:solidFill>
                      <a:srgbClr val="2B9CAE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i="0" sz="28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800">
                    <a:solidFill>
                      <a:srgbClr val="04243C"/>
                    </a:solidFill>
                    <a:latin typeface="Arial"/>
                    <a:ea typeface="Arial"/>
                    <a:cs typeface="Arial"/>
                    <a:sym typeface="Arial"/>
                  </a:rPr>
                  <a:t>LLM Generation</a:t>
                </a:r>
                <a:endParaRPr b="1" i="0" sz="18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en" sz="14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Run each filing through an LLM to generate structured reference outputs.</a:t>
                </a:r>
                <a:endParaRPr b="1" i="0" sz="14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8" name="Google Shape;198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63200" y="1609725"/>
              <a:ext cx="1716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20"/>
            <p:cNvSpPr/>
            <p:nvPr/>
          </p:nvSpPr>
          <p:spPr>
            <a:xfrm>
              <a:off x="10534650" y="157162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B9CA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0" name="Google Shape;200;p20"/>
            <p:cNvGrpSpPr/>
            <p:nvPr/>
          </p:nvGrpSpPr>
          <p:grpSpPr>
            <a:xfrm>
              <a:off x="10744200" y="571500"/>
              <a:ext cx="3048000" cy="2095500"/>
              <a:chOff x="0" y="0"/>
              <a:chExt cx="3048000" cy="2095500"/>
            </a:xfrm>
          </p:grpSpPr>
          <p:sp>
            <p:nvSpPr>
              <p:cNvPr id="201" name="Google Shape;201;p20"/>
              <p:cNvSpPr/>
              <p:nvPr/>
            </p:nvSpPr>
            <p:spPr>
              <a:xfrm>
                <a:off x="0" y="0"/>
                <a:ext cx="3048000" cy="20955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0"/>
              <p:cNvSpPr txBox="1"/>
              <p:nvPr/>
            </p:nvSpPr>
            <p:spPr>
              <a:xfrm>
                <a:off x="228600" y="190500"/>
                <a:ext cx="2590800" cy="1714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800">
                    <a:solidFill>
                      <a:srgbClr val="2B9CAE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b="1" i="0" sz="28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800">
                    <a:solidFill>
                      <a:srgbClr val="04243C"/>
                    </a:solidFill>
                    <a:latin typeface="Arial"/>
                    <a:ea typeface="Arial"/>
                    <a:cs typeface="Arial"/>
                    <a:sym typeface="Arial"/>
                  </a:rPr>
                  <a:t>Normalize &amp; Retain</a:t>
                </a:r>
                <a:endParaRPr b="1" i="0" sz="18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en" sz="14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Normalize field formats and retain source passages.</a:t>
                </a:r>
                <a:endParaRPr b="1" i="0" sz="14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03" name="Google Shape;203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44600" y="1609725"/>
              <a:ext cx="1716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20"/>
            <p:cNvSpPr/>
            <p:nvPr/>
          </p:nvSpPr>
          <p:spPr>
            <a:xfrm>
              <a:off x="14116050" y="157162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B9CA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5" name="Google Shape;205;p20"/>
            <p:cNvGrpSpPr/>
            <p:nvPr/>
          </p:nvGrpSpPr>
          <p:grpSpPr>
            <a:xfrm>
              <a:off x="14325600" y="571500"/>
              <a:ext cx="1905000" cy="2095500"/>
              <a:chOff x="0" y="0"/>
              <a:chExt cx="1905000" cy="2095500"/>
            </a:xfrm>
          </p:grpSpPr>
          <p:sp>
            <p:nvSpPr>
              <p:cNvPr id="206" name="Google Shape;206;p20"/>
              <p:cNvSpPr/>
              <p:nvPr/>
            </p:nvSpPr>
            <p:spPr>
              <a:xfrm>
                <a:off x="0" y="0"/>
                <a:ext cx="1905000" cy="2095500"/>
              </a:xfrm>
              <a:prstGeom prst="roundRect">
                <a:avLst>
                  <a:gd fmla="val 60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2B9CA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0"/>
              <p:cNvSpPr txBox="1"/>
              <p:nvPr/>
            </p:nvSpPr>
            <p:spPr>
              <a:xfrm>
                <a:off x="190500" y="190500"/>
                <a:ext cx="1524000" cy="1714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800">
                    <a:solidFill>
                      <a:srgbClr val="2B9CAE"/>
                    </a:solidFill>
                    <a:latin typeface="Arial"/>
                    <a:ea typeface="Arial"/>
                    <a:cs typeface="Arial"/>
                    <a:sym typeface="Arial"/>
                  </a:rPr>
                  <a:t>05</a:t>
                </a:r>
                <a:endParaRPr b="1" i="0" sz="28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i="0" lang="en" sz="1800">
                    <a:solidFill>
                      <a:srgbClr val="04243C"/>
                    </a:solidFill>
                    <a:latin typeface="Arial"/>
                    <a:ea typeface="Arial"/>
                    <a:cs typeface="Arial"/>
                    <a:sym typeface="Arial"/>
                  </a:rPr>
                  <a:t>Manual Review</a:t>
                </a:r>
                <a:endParaRPr b="1" i="0" sz="18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en" sz="14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Review ambiguous cases.</a:t>
                </a:r>
                <a:endParaRPr b="1" i="0" sz="14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8" name="Google Shape;208;p20"/>
          <p:cNvGrpSpPr/>
          <p:nvPr/>
        </p:nvGrpSpPr>
        <p:grpSpPr>
          <a:xfrm>
            <a:off x="1028700" y="6096000"/>
            <a:ext cx="16230600" cy="2762400"/>
            <a:chOff x="0" y="0"/>
            <a:chExt cx="16230600" cy="2762400"/>
          </a:xfrm>
        </p:grpSpPr>
        <p:sp>
          <p:nvSpPr>
            <p:cNvPr id="209" name="Google Shape;209;p20"/>
            <p:cNvSpPr txBox="1"/>
            <p:nvPr/>
          </p:nvSpPr>
          <p:spPr>
            <a:xfrm>
              <a:off x="0" y="0"/>
              <a:ext cx="16230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5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Why</a:t>
              </a:r>
              <a:endParaRPr b="1" i="0" sz="2405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" name="Google Shape;210;p20"/>
            <p:cNvGrpSpPr/>
            <p:nvPr/>
          </p:nvGrpSpPr>
          <p:grpSpPr>
            <a:xfrm>
              <a:off x="0" y="571500"/>
              <a:ext cx="7886700" cy="2190900"/>
              <a:chOff x="0" y="0"/>
              <a:chExt cx="7886700" cy="2190900"/>
            </a:xfrm>
          </p:grpSpPr>
          <p:sp>
            <p:nvSpPr>
              <p:cNvPr id="211" name="Google Shape;211;p20"/>
              <p:cNvSpPr/>
              <p:nvPr/>
            </p:nvSpPr>
            <p:spPr>
              <a:xfrm>
                <a:off x="0" y="0"/>
                <a:ext cx="7886700" cy="2190900"/>
              </a:xfrm>
              <a:prstGeom prst="roundRect">
                <a:avLst>
                  <a:gd fmla="val 521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>
                <a:off x="0" y="0"/>
                <a:ext cx="78867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04243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0"/>
              <p:cNvSpPr txBox="1"/>
              <p:nvPr/>
            </p:nvSpPr>
            <p:spPr>
              <a:xfrm>
                <a:off x="342900" y="304800"/>
                <a:ext cx="7200900" cy="15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400">
                    <a:solidFill>
                      <a:srgbClr val="04243C"/>
                    </a:solidFill>
                    <a:latin typeface="Arial"/>
                    <a:ea typeface="Arial"/>
                    <a:cs typeface="Arial"/>
                    <a:sym typeface="Arial"/>
                  </a:rPr>
                  <a:t>Scalable Methodology</a:t>
                </a:r>
                <a:endParaRPr b="1" i="0" sz="24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0" i="0" lang="en" sz="17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Scales efficiently without relying entirely on fully manual labeling efforts, accelerating dataset creation while preserving quality.</a:t>
                </a:r>
                <a:endParaRPr b="1" i="0" sz="17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214;p20"/>
            <p:cNvGrpSpPr/>
            <p:nvPr/>
          </p:nvGrpSpPr>
          <p:grpSpPr>
            <a:xfrm>
              <a:off x="8343900" y="571500"/>
              <a:ext cx="7886700" cy="2190900"/>
              <a:chOff x="0" y="0"/>
              <a:chExt cx="7886700" cy="2190900"/>
            </a:xfrm>
          </p:grpSpPr>
          <p:sp>
            <p:nvSpPr>
              <p:cNvPr id="215" name="Google Shape;215;p20"/>
              <p:cNvSpPr/>
              <p:nvPr/>
            </p:nvSpPr>
            <p:spPr>
              <a:xfrm>
                <a:off x="0" y="0"/>
                <a:ext cx="7886700" cy="2190900"/>
              </a:xfrm>
              <a:prstGeom prst="roundRect">
                <a:avLst>
                  <a:gd fmla="val 521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0"/>
              <p:cNvSpPr/>
              <p:nvPr/>
            </p:nvSpPr>
            <p:spPr>
              <a:xfrm>
                <a:off x="0" y="0"/>
                <a:ext cx="78867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2B9CA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0"/>
              <p:cNvSpPr txBox="1"/>
              <p:nvPr/>
            </p:nvSpPr>
            <p:spPr>
              <a:xfrm>
                <a:off x="342900" y="304800"/>
                <a:ext cx="7200900" cy="1581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400">
                    <a:solidFill>
                      <a:srgbClr val="04243C"/>
                    </a:solidFill>
                    <a:latin typeface="Arial"/>
                    <a:ea typeface="Arial"/>
                    <a:cs typeface="Arial"/>
                    <a:sym typeface="Arial"/>
                  </a:rPr>
                  <a:t>Comprehensive Evaluation</a:t>
                </a:r>
                <a:endParaRPr b="1" i="0" sz="24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0" i="0" lang="en" sz="17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Enables rigorous and consistent benchmarking of extraction accuracy, completeness, source grounding, and amendment handling.</a:t>
                </a:r>
                <a:endParaRPr b="1" i="0" sz="17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/>
          <p:nvPr/>
        </p:nvSpPr>
        <p:spPr>
          <a:xfrm>
            <a:off x="857250" y="1973985"/>
            <a:ext cx="16573500" cy="1793700"/>
          </a:xfrm>
          <a:prstGeom prst="roundRect">
            <a:avLst>
              <a:gd fmla="val 79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857250" y="1993424"/>
            <a:ext cx="16573500" cy="57000"/>
          </a:xfrm>
          <a:prstGeom prst="rect">
            <a:avLst/>
          </a:prstGeom>
          <a:solidFill>
            <a:srgbClr val="07203B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7170538" y="2288310"/>
            <a:ext cx="4815900" cy="1222200"/>
          </a:xfrm>
          <a:prstGeom prst="roundRect">
            <a:avLst>
              <a:gd fmla="val 467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2272069" y="2288310"/>
            <a:ext cx="4815900" cy="1222200"/>
          </a:xfrm>
          <a:prstGeom prst="roundRect">
            <a:avLst>
              <a:gd fmla="val 467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857250" y="4667626"/>
            <a:ext cx="16573500" cy="2210100"/>
          </a:xfrm>
          <a:prstGeom prst="roundRect">
            <a:avLst>
              <a:gd fmla="val 64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857250" y="7077748"/>
            <a:ext cx="16573500" cy="2210100"/>
          </a:xfrm>
          <a:prstGeom prst="roundRect">
            <a:avLst>
              <a:gd fmla="val 64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7170538" y="2288310"/>
            <a:ext cx="42900" cy="1222200"/>
          </a:xfrm>
          <a:prstGeom prst="rect">
            <a:avLst/>
          </a:prstGeom>
          <a:solidFill>
            <a:srgbClr val="1692A4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12272069" y="2288310"/>
            <a:ext cx="42900" cy="1222200"/>
          </a:xfrm>
          <a:prstGeom prst="rect">
            <a:avLst/>
          </a:prstGeom>
          <a:solidFill>
            <a:srgbClr val="1692A4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857250" y="4667626"/>
            <a:ext cx="16573500" cy="57000"/>
          </a:xfrm>
          <a:prstGeom prst="rect">
            <a:avLst/>
          </a:prstGeom>
          <a:solidFill>
            <a:srgbClr val="07203B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857250" y="7077748"/>
            <a:ext cx="16573500" cy="57000"/>
          </a:xfrm>
          <a:prstGeom prst="rect">
            <a:avLst/>
          </a:prstGeom>
          <a:solidFill>
            <a:srgbClr val="1692A4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3773150" y="5423892"/>
            <a:ext cx="3314700" cy="257400"/>
          </a:xfrm>
          <a:prstGeom prst="roundRect">
            <a:avLst>
              <a:gd fmla="val 2222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1200150" y="5439151"/>
            <a:ext cx="5001000" cy="1210200"/>
          </a:xfrm>
          <a:prstGeom prst="roundRect">
            <a:avLst>
              <a:gd fmla="val 7084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6643688" y="5439151"/>
            <a:ext cx="5001000" cy="1210200"/>
          </a:xfrm>
          <a:prstGeom prst="roundRect">
            <a:avLst>
              <a:gd fmla="val 7084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12087225" y="5439151"/>
            <a:ext cx="5001000" cy="1210200"/>
          </a:xfrm>
          <a:prstGeom prst="roundRect">
            <a:avLst>
              <a:gd fmla="val 7084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14130338" y="7834014"/>
            <a:ext cx="2957400" cy="257400"/>
          </a:xfrm>
          <a:prstGeom prst="roundRect">
            <a:avLst>
              <a:gd fmla="val 22222" name="adj"/>
            </a:avLst>
          </a:prstGeom>
          <a:solidFill>
            <a:srgbClr val="E6F6F8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1200150" y="7849273"/>
            <a:ext cx="5001000" cy="1210200"/>
          </a:xfrm>
          <a:prstGeom prst="roundRect">
            <a:avLst>
              <a:gd fmla="val 7084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643688" y="7849273"/>
            <a:ext cx="5001000" cy="1210200"/>
          </a:xfrm>
          <a:prstGeom prst="roundRect">
            <a:avLst>
              <a:gd fmla="val 7084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12087225" y="7849273"/>
            <a:ext cx="5001000" cy="1210200"/>
          </a:xfrm>
          <a:prstGeom prst="roundRect">
            <a:avLst>
              <a:gd fmla="val 7084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0150" y="495337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5958412"/>
            <a:ext cx="15716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87188" y="5958412"/>
            <a:ext cx="15716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50" y="736349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8368534"/>
            <a:ext cx="15716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87188" y="8368534"/>
            <a:ext cx="15716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3018" y="5046244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93018" y="7456368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857250" y="571500"/>
            <a:ext cx="17430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692A4"/>
                </a:solidFill>
                <a:latin typeface="Arial"/>
                <a:ea typeface="Arial"/>
                <a:cs typeface="Arial"/>
                <a:sym typeface="Arial"/>
              </a:rPr>
              <a:t>EVALUATION METHODOLOGY</a:t>
            </a:r>
            <a:endParaRPr sz="2100"/>
          </a:p>
        </p:txBody>
      </p:sp>
      <p:sp>
        <p:nvSpPr>
          <p:cNvPr id="249" name="Google Shape;249;p21"/>
          <p:cNvSpPr txBox="1"/>
          <p:nvPr/>
        </p:nvSpPr>
        <p:spPr>
          <a:xfrm>
            <a:off x="857250" y="885825"/>
            <a:ext cx="17430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Validation &amp; Observability Framework</a:t>
            </a:r>
            <a:endParaRPr sz="2100"/>
          </a:p>
        </p:txBody>
      </p:sp>
      <p:sp>
        <p:nvSpPr>
          <p:cNvPr id="250" name="Google Shape;250;p21"/>
          <p:cNvSpPr txBox="1"/>
          <p:nvPr/>
        </p:nvSpPr>
        <p:spPr>
          <a:xfrm>
            <a:off x="1200150" y="2288310"/>
            <a:ext cx="746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Human–Like Verification Approach</a:t>
            </a:r>
            <a:endParaRPr sz="2100"/>
          </a:p>
        </p:txBody>
      </p:sp>
      <p:sp>
        <p:nvSpPr>
          <p:cNvPr id="251" name="Google Shape;251;p21"/>
          <p:cNvSpPr txBox="1"/>
          <p:nvPr/>
        </p:nvSpPr>
        <p:spPr>
          <a:xfrm>
            <a:off x="1200150" y="2702647"/>
            <a:ext cx="58275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Evaluates extracted corporate action fields by leveraging LLMs to inspect the source document retrospectively, mimicking human domain audit rigor.</a:t>
            </a:r>
            <a:endParaRPr sz="2100"/>
          </a:p>
        </p:txBody>
      </p:sp>
      <p:sp>
        <p:nvSpPr>
          <p:cNvPr id="252" name="Google Shape;252;p21"/>
          <p:cNvSpPr txBox="1"/>
          <p:nvPr/>
        </p:nvSpPr>
        <p:spPr>
          <a:xfrm>
            <a:off x="7413426" y="2516464"/>
            <a:ext cx="573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Mimics Expert Verification</a:t>
            </a:r>
            <a:endParaRPr sz="2100"/>
          </a:p>
        </p:txBody>
      </p:sp>
      <p:sp>
        <p:nvSpPr>
          <p:cNvPr id="253" name="Google Shape;253;p21"/>
          <p:cNvSpPr txBox="1"/>
          <p:nvPr/>
        </p:nvSpPr>
        <p:spPr>
          <a:xfrm>
            <a:off x="7413426" y="2802214"/>
            <a:ext cx="451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Replicates how domain experts verify structured facts against raw source text.</a:t>
            </a:r>
            <a:endParaRPr sz="2100"/>
          </a:p>
        </p:txBody>
      </p:sp>
      <p:sp>
        <p:nvSpPr>
          <p:cNvPr id="254" name="Google Shape;254;p21"/>
          <p:cNvSpPr txBox="1"/>
          <p:nvPr/>
        </p:nvSpPr>
        <p:spPr>
          <a:xfrm>
            <a:off x="12514956" y="2516464"/>
            <a:ext cx="573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Contextual Grounding Check</a:t>
            </a:r>
            <a:endParaRPr sz="2100"/>
          </a:p>
        </p:txBody>
      </p:sp>
      <p:sp>
        <p:nvSpPr>
          <p:cNvPr id="255" name="Google Shape;255;p21"/>
          <p:cNvSpPr txBox="1"/>
          <p:nvPr/>
        </p:nvSpPr>
        <p:spPr>
          <a:xfrm>
            <a:off x="12514956" y="2802214"/>
            <a:ext cx="451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Confirms extracted values are explicitly supported by filing context.</a:t>
            </a:r>
            <a:endParaRPr sz="2100"/>
          </a:p>
        </p:txBody>
      </p:sp>
      <p:sp>
        <p:nvSpPr>
          <p:cNvPr id="256" name="Google Shape;256;p21"/>
          <p:cNvSpPr txBox="1"/>
          <p:nvPr/>
        </p:nvSpPr>
        <p:spPr>
          <a:xfrm>
            <a:off x="13887450" y="5058540"/>
            <a:ext cx="322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PIPELINE TESTING &amp; ACCURACY BASELINING</a:t>
            </a:r>
            <a:endParaRPr sz="2100"/>
          </a:p>
        </p:txBody>
      </p:sp>
      <p:sp>
        <p:nvSpPr>
          <p:cNvPr id="257" name="Google Shape;257;p21"/>
          <p:cNvSpPr txBox="1"/>
          <p:nvPr/>
        </p:nvSpPr>
        <p:spPr>
          <a:xfrm>
            <a:off x="14244638" y="7468662"/>
            <a:ext cx="287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692A4"/>
                </a:solidFill>
                <a:latin typeface="Arial"/>
                <a:ea typeface="Arial"/>
                <a:cs typeface="Arial"/>
                <a:sym typeface="Arial"/>
              </a:rPr>
              <a:t>CONTINUOUS PRODUCTION SAMPLING</a:t>
            </a:r>
            <a:endParaRPr sz="2100"/>
          </a:p>
        </p:txBody>
      </p:sp>
      <p:sp>
        <p:nvSpPr>
          <p:cNvPr id="258" name="Google Shape;258;p21"/>
          <p:cNvSpPr txBox="1"/>
          <p:nvPr/>
        </p:nvSpPr>
        <p:spPr>
          <a:xfrm>
            <a:off x="1657350" y="4989094"/>
            <a:ext cx="684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Stream 1 · Baseline Benchmark (Pre-Deployment)</a:t>
            </a:r>
            <a:endParaRPr sz="2100"/>
          </a:p>
        </p:txBody>
      </p:sp>
      <p:sp>
        <p:nvSpPr>
          <p:cNvPr id="259" name="Google Shape;259;p21"/>
          <p:cNvSpPr txBox="1"/>
          <p:nvPr/>
        </p:nvSpPr>
        <p:spPr>
          <a:xfrm>
            <a:off x="1385888" y="5596314"/>
            <a:ext cx="578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692A4"/>
                </a:solidFill>
                <a:latin typeface="Arial"/>
                <a:ea typeface="Arial"/>
                <a:cs typeface="Arial"/>
                <a:sym typeface="Arial"/>
              </a:rPr>
              <a:t>STAGE 01</a:t>
            </a:r>
            <a:endParaRPr sz="2100"/>
          </a:p>
        </p:txBody>
      </p:sp>
      <p:sp>
        <p:nvSpPr>
          <p:cNvPr id="260" name="Google Shape;260;p21"/>
          <p:cNvSpPr txBox="1"/>
          <p:nvPr/>
        </p:nvSpPr>
        <p:spPr>
          <a:xfrm>
            <a:off x="1385888" y="5796339"/>
            <a:ext cx="607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LLM GT Extraction</a:t>
            </a:r>
            <a:endParaRPr sz="2100"/>
          </a:p>
        </p:txBody>
      </p:sp>
      <p:sp>
        <p:nvSpPr>
          <p:cNvPr id="261" name="Google Shape;261;p21"/>
          <p:cNvSpPr txBox="1"/>
          <p:nvPr/>
        </p:nvSpPr>
        <p:spPr>
          <a:xfrm>
            <a:off x="1385888" y="6067801"/>
            <a:ext cx="4771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LLM extracts golden facts from 1,000 reference corporate action filings.</a:t>
            </a:r>
            <a:endParaRPr sz="2100"/>
          </a:p>
        </p:txBody>
      </p:sp>
      <p:sp>
        <p:nvSpPr>
          <p:cNvPr id="262" name="Google Shape;262;p21"/>
          <p:cNvSpPr txBox="1"/>
          <p:nvPr/>
        </p:nvSpPr>
        <p:spPr>
          <a:xfrm>
            <a:off x="6829425" y="5596314"/>
            <a:ext cx="578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692A4"/>
                </a:solidFill>
                <a:latin typeface="Arial"/>
                <a:ea typeface="Arial"/>
                <a:cs typeface="Arial"/>
                <a:sym typeface="Arial"/>
              </a:rPr>
              <a:t>STAGE 02</a:t>
            </a:r>
            <a:endParaRPr sz="2100"/>
          </a:p>
        </p:txBody>
      </p:sp>
      <p:sp>
        <p:nvSpPr>
          <p:cNvPr id="263" name="Google Shape;263;p21"/>
          <p:cNvSpPr txBox="1"/>
          <p:nvPr/>
        </p:nvSpPr>
        <p:spPr>
          <a:xfrm>
            <a:off x="6829425" y="5796339"/>
            <a:ext cx="607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Run Pipeline</a:t>
            </a:r>
            <a:endParaRPr sz="2100"/>
          </a:p>
        </p:txBody>
      </p:sp>
      <p:sp>
        <p:nvSpPr>
          <p:cNvPr id="264" name="Google Shape;264;p21"/>
          <p:cNvSpPr txBox="1"/>
          <p:nvPr/>
        </p:nvSpPr>
        <p:spPr>
          <a:xfrm>
            <a:off x="6829425" y="6067801"/>
            <a:ext cx="4771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Execute extraction pipeline against the identical 1,000-document set.</a:t>
            </a:r>
            <a:endParaRPr sz="2100"/>
          </a:p>
        </p:txBody>
      </p:sp>
      <p:sp>
        <p:nvSpPr>
          <p:cNvPr id="265" name="Google Shape;265;p21"/>
          <p:cNvSpPr txBox="1"/>
          <p:nvPr/>
        </p:nvSpPr>
        <p:spPr>
          <a:xfrm>
            <a:off x="12272963" y="5596314"/>
            <a:ext cx="578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692A4"/>
                </a:solidFill>
                <a:latin typeface="Arial"/>
                <a:ea typeface="Arial"/>
                <a:cs typeface="Arial"/>
                <a:sym typeface="Arial"/>
              </a:rPr>
              <a:t>STAGE 03</a:t>
            </a:r>
            <a:endParaRPr sz="2100"/>
          </a:p>
        </p:txBody>
      </p:sp>
      <p:sp>
        <p:nvSpPr>
          <p:cNvPr id="266" name="Google Shape;266;p21"/>
          <p:cNvSpPr txBox="1"/>
          <p:nvPr/>
        </p:nvSpPr>
        <p:spPr>
          <a:xfrm>
            <a:off x="12272963" y="5796339"/>
            <a:ext cx="601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Benchmark Accuracy</a:t>
            </a:r>
            <a:endParaRPr sz="2100"/>
          </a:p>
        </p:txBody>
      </p:sp>
      <p:sp>
        <p:nvSpPr>
          <p:cNvPr id="267" name="Google Shape;267;p21"/>
          <p:cNvSpPr txBox="1"/>
          <p:nvPr/>
        </p:nvSpPr>
        <p:spPr>
          <a:xfrm>
            <a:off x="12272963" y="6067801"/>
            <a:ext cx="4771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Compare pipeline outputs against LLM ground truth to score baseline performance.</a:t>
            </a:r>
            <a:endParaRPr sz="2100"/>
          </a:p>
        </p:txBody>
      </p:sp>
      <p:sp>
        <p:nvSpPr>
          <p:cNvPr id="268" name="Google Shape;268;p21"/>
          <p:cNvSpPr txBox="1"/>
          <p:nvPr/>
        </p:nvSpPr>
        <p:spPr>
          <a:xfrm>
            <a:off x="1657350" y="7399218"/>
            <a:ext cx="783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Stream 2 · Continuous Observability (Post-Deployment)</a:t>
            </a:r>
            <a:endParaRPr sz="2100"/>
          </a:p>
        </p:txBody>
      </p:sp>
      <p:sp>
        <p:nvSpPr>
          <p:cNvPr id="269" name="Google Shape;269;p21"/>
          <p:cNvSpPr txBox="1"/>
          <p:nvPr/>
        </p:nvSpPr>
        <p:spPr>
          <a:xfrm>
            <a:off x="1385888" y="8006436"/>
            <a:ext cx="578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692A4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sz="2100"/>
          </a:p>
        </p:txBody>
      </p:sp>
      <p:sp>
        <p:nvSpPr>
          <p:cNvPr id="270" name="Google Shape;270;p21"/>
          <p:cNvSpPr txBox="1"/>
          <p:nvPr/>
        </p:nvSpPr>
        <p:spPr>
          <a:xfrm>
            <a:off x="1385888" y="8206461"/>
            <a:ext cx="607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Production Sampling</a:t>
            </a:r>
            <a:endParaRPr sz="2100"/>
          </a:p>
        </p:txBody>
      </p:sp>
      <p:sp>
        <p:nvSpPr>
          <p:cNvPr id="271" name="Google Shape;271;p21"/>
          <p:cNvSpPr txBox="1"/>
          <p:nvPr/>
        </p:nvSpPr>
        <p:spPr>
          <a:xfrm>
            <a:off x="1385888" y="8477923"/>
            <a:ext cx="4771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Continuously sample subsets of live pipeline extractions across active filing streams.</a:t>
            </a:r>
            <a:endParaRPr sz="2100"/>
          </a:p>
        </p:txBody>
      </p:sp>
      <p:sp>
        <p:nvSpPr>
          <p:cNvPr id="272" name="Google Shape;272;p21"/>
          <p:cNvSpPr txBox="1"/>
          <p:nvPr/>
        </p:nvSpPr>
        <p:spPr>
          <a:xfrm>
            <a:off x="6829425" y="8006436"/>
            <a:ext cx="578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692A4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sz="2100"/>
          </a:p>
        </p:txBody>
      </p:sp>
      <p:sp>
        <p:nvSpPr>
          <p:cNvPr id="273" name="Google Shape;273;p21"/>
          <p:cNvSpPr txBox="1"/>
          <p:nvPr/>
        </p:nvSpPr>
        <p:spPr>
          <a:xfrm>
            <a:off x="6829425" y="8206461"/>
            <a:ext cx="607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Backward LLM Search</a:t>
            </a:r>
            <a:endParaRPr sz="2100"/>
          </a:p>
        </p:txBody>
      </p:sp>
      <p:sp>
        <p:nvSpPr>
          <p:cNvPr id="274" name="Google Shape;274;p21"/>
          <p:cNvSpPr txBox="1"/>
          <p:nvPr/>
        </p:nvSpPr>
        <p:spPr>
          <a:xfrm>
            <a:off x="6829425" y="8477923"/>
            <a:ext cx="4771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Inspect raw filing text retrospectively to verify extracted facts against the source.</a:t>
            </a:r>
            <a:endParaRPr sz="2100"/>
          </a:p>
        </p:txBody>
      </p:sp>
      <p:sp>
        <p:nvSpPr>
          <p:cNvPr id="275" name="Google Shape;275;p21"/>
          <p:cNvSpPr txBox="1"/>
          <p:nvPr/>
        </p:nvSpPr>
        <p:spPr>
          <a:xfrm>
            <a:off x="12272963" y="8006436"/>
            <a:ext cx="578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692A4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sz="2100"/>
          </a:p>
        </p:txBody>
      </p:sp>
      <p:sp>
        <p:nvSpPr>
          <p:cNvPr id="276" name="Google Shape;276;p21"/>
          <p:cNvSpPr txBox="1"/>
          <p:nvPr/>
        </p:nvSpPr>
        <p:spPr>
          <a:xfrm>
            <a:off x="12272963" y="8206461"/>
            <a:ext cx="601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7203B"/>
                </a:solidFill>
                <a:latin typeface="Arial"/>
                <a:ea typeface="Arial"/>
                <a:cs typeface="Arial"/>
                <a:sym typeface="Arial"/>
              </a:rPr>
              <a:t>Grounding &amp; Drift Audit</a:t>
            </a:r>
            <a:endParaRPr sz="2100"/>
          </a:p>
        </p:txBody>
      </p:sp>
      <p:sp>
        <p:nvSpPr>
          <p:cNvPr id="277" name="Google Shape;277;p21"/>
          <p:cNvSpPr txBox="1"/>
          <p:nvPr/>
        </p:nvSpPr>
        <p:spPr>
          <a:xfrm>
            <a:off x="12272963" y="8477923"/>
            <a:ext cx="4771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Detect hallucinations, verify grounding scores, and flag live production drift.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/>
        </p:nvSpPr>
        <p:spPr>
          <a:xfrm>
            <a:off x="1028700" y="857250"/>
            <a:ext cx="1623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B9CAE"/>
                </a:solidFill>
              </a:rPr>
              <a:t>EVALUATION METHODOLOGY</a:t>
            </a:r>
            <a:endParaRPr b="1" sz="1400">
              <a:solidFill>
                <a:srgbClr val="2B9CAE"/>
              </a:solidFill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04243C"/>
                </a:solidFill>
              </a:rPr>
              <a:t>LLM Backward Validation</a:t>
            </a:r>
            <a:endParaRPr b="1" sz="4200">
              <a:solidFill>
                <a:srgbClr val="04243C"/>
              </a:solidFill>
            </a:endParaRPr>
          </a:p>
        </p:txBody>
      </p:sp>
      <p:grpSp>
        <p:nvGrpSpPr>
          <p:cNvPr id="283" name="Google Shape;283;p22"/>
          <p:cNvGrpSpPr/>
          <p:nvPr/>
        </p:nvGrpSpPr>
        <p:grpSpPr>
          <a:xfrm>
            <a:off x="1028700" y="2286000"/>
            <a:ext cx="7886700" cy="5524500"/>
            <a:chOff x="0" y="0"/>
            <a:chExt cx="7886700" cy="5524500"/>
          </a:xfrm>
        </p:grpSpPr>
        <p:sp>
          <p:nvSpPr>
            <p:cNvPr id="284" name="Google Shape;284;p22"/>
            <p:cNvSpPr/>
            <p:nvPr/>
          </p:nvSpPr>
          <p:spPr>
            <a:xfrm>
              <a:off x="0" y="0"/>
              <a:ext cx="7886700" cy="5524500"/>
            </a:xfrm>
            <a:prstGeom prst="roundRect">
              <a:avLst>
                <a:gd fmla="val 275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0" y="0"/>
              <a:ext cx="7886700" cy="76200"/>
            </a:xfrm>
            <a:prstGeom prst="roundRect">
              <a:avLst>
                <a:gd fmla="val 50000" name="adj"/>
              </a:avLst>
            </a:prstGeom>
            <a:solidFill>
              <a:srgbClr val="0424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381000" y="381000"/>
              <a:ext cx="71247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4243C"/>
                  </a:solidFill>
                </a:rPr>
                <a:t>Human-Like Verification Approach</a:t>
              </a:r>
              <a:endParaRPr sz="1800"/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75569"/>
                  </a:solidFill>
                </a:rPr>
                <a:t>Evaluates extracted corporate action fields by leveraging LLMs to inspect the source document retrospectively.</a:t>
              </a:r>
              <a:endParaRPr sz="2000">
                <a:solidFill>
                  <a:srgbClr val="475569"/>
                </a:solidFill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04243C"/>
                  </a:solidFill>
                </a:rPr>
                <a:t>• Mimics Expert Verification</a:t>
              </a:r>
              <a:endParaRPr sz="1900">
                <a:solidFill>
                  <a:srgbClr val="04243C"/>
                </a:solidFill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6A7A"/>
                  </a:solidFill>
                </a:rPr>
                <a:t>Replicates how human domain experts verify structured facts directly against raw source text.</a:t>
              </a:r>
              <a:endParaRPr sz="1800">
                <a:solidFill>
                  <a:srgbClr val="596A7A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04243C"/>
                  </a:solidFill>
                </a:rPr>
                <a:t>• Contextual Grounding Check</a:t>
              </a:r>
              <a:endParaRPr sz="1900">
                <a:solidFill>
                  <a:srgbClr val="04243C"/>
                </a:solidFill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6A7A"/>
                  </a:solidFill>
                </a:rPr>
                <a:t>Checks whether extracted values are explicitly supported by the underlying filing context.</a:t>
              </a:r>
              <a:endParaRPr sz="1800">
                <a:solidFill>
                  <a:srgbClr val="596A7A"/>
                </a:solidFill>
              </a:endParaRPr>
            </a:p>
          </p:txBody>
        </p:sp>
      </p:grpSp>
      <p:grpSp>
        <p:nvGrpSpPr>
          <p:cNvPr id="287" name="Google Shape;287;p22"/>
          <p:cNvGrpSpPr/>
          <p:nvPr/>
        </p:nvGrpSpPr>
        <p:grpSpPr>
          <a:xfrm>
            <a:off x="9372600" y="2286000"/>
            <a:ext cx="7886700" cy="5524500"/>
            <a:chOff x="0" y="0"/>
            <a:chExt cx="7886700" cy="5524500"/>
          </a:xfrm>
        </p:grpSpPr>
        <p:sp>
          <p:nvSpPr>
            <p:cNvPr id="288" name="Google Shape;288;p22"/>
            <p:cNvSpPr/>
            <p:nvPr/>
          </p:nvSpPr>
          <p:spPr>
            <a:xfrm>
              <a:off x="0" y="0"/>
              <a:ext cx="7886700" cy="5524500"/>
            </a:xfrm>
            <a:prstGeom prst="roundRect">
              <a:avLst>
                <a:gd fmla="val 275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0" y="0"/>
              <a:ext cx="7886700" cy="76200"/>
            </a:xfrm>
            <a:prstGeom prst="roundRect">
              <a:avLst>
                <a:gd fmla="val 50000" name="adj"/>
              </a:avLst>
            </a:prstGeom>
            <a:solidFill>
              <a:srgbClr val="2B9CA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0" name="Google Shape;290;p22"/>
          <p:cNvSpPr txBox="1"/>
          <p:nvPr/>
        </p:nvSpPr>
        <p:spPr>
          <a:xfrm>
            <a:off x="9753600" y="2667000"/>
            <a:ext cx="71247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Validation Workflow Mechanism</a:t>
            </a:r>
            <a:endParaRPr b="1" i="0" sz="3200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2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Validates accuracy across key corporate action fields (e.g., offer price, expiration date, tender terms) directly against normalized filing text.</a:t>
            </a:r>
            <a:endParaRPr b="0" i="0" sz="20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i="0" lang="en" sz="17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Extracted Field </a:t>
            </a:r>
            <a:r>
              <a:rPr b="1" i="0" lang="en" sz="17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rPr>
              <a:t>➔</a:t>
            </a:r>
            <a:r>
              <a:rPr b="1" i="0" lang="en" sz="17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 LLM Backward Search </a:t>
            </a:r>
            <a:r>
              <a:rPr b="1" i="0" lang="en" sz="17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rPr>
              <a:t>➔</a:t>
            </a:r>
            <a:r>
              <a:rPr b="1" i="0" lang="en" sz="17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7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rPr>
              <a:t>Ground Verification</a:t>
            </a:r>
            <a:endParaRPr b="1" i="0" sz="1700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296" name="Google Shape;296;p23"/>
          <p:cNvSpPr txBox="1"/>
          <p:nvPr/>
        </p:nvSpPr>
        <p:spPr>
          <a:xfrm>
            <a:off x="952500" y="857250"/>
            <a:ext cx="16383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2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Questions &amp; Discussion Points</a:t>
            </a:r>
            <a:endParaRPr b="1" i="0" sz="4200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p23"/>
          <p:cNvGrpSpPr/>
          <p:nvPr/>
        </p:nvGrpSpPr>
        <p:grpSpPr>
          <a:xfrm>
            <a:off x="952500" y="2095500"/>
            <a:ext cx="16383000" cy="1047900"/>
            <a:chOff x="0" y="0"/>
            <a:chExt cx="16383000" cy="1047900"/>
          </a:xfrm>
        </p:grpSpPr>
        <p:sp>
          <p:nvSpPr>
            <p:cNvPr id="298" name="Google Shape;298;p23"/>
            <p:cNvSpPr/>
            <p:nvPr/>
          </p:nvSpPr>
          <p:spPr>
            <a:xfrm>
              <a:off x="0" y="0"/>
              <a:ext cx="16383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299" name="Google Shape;299;p23"/>
            <p:cNvSpPr/>
            <p:nvPr/>
          </p:nvSpPr>
          <p:spPr>
            <a:xfrm>
              <a:off x="295275" y="295275"/>
              <a:ext cx="457200" cy="457200"/>
            </a:xfrm>
            <a:prstGeom prst="ellipse">
              <a:avLst/>
            </a:prstGeom>
            <a:solidFill>
              <a:srgbClr val="E6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300" name="Google Shape;300;p23"/>
            <p:cNvSpPr txBox="1"/>
            <p:nvPr/>
          </p:nvSpPr>
          <p:spPr>
            <a:xfrm>
              <a:off x="295275" y="295275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2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i="0" sz="32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3"/>
            <p:cNvSpPr txBox="1"/>
            <p:nvPr/>
          </p:nvSpPr>
          <p:spPr>
            <a:xfrm>
              <a:off x="952500" y="209550"/>
              <a:ext cx="1504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What downstream tasks are of interest to the BNY team or prioritized?</a:t>
              </a:r>
              <a:endParaRPr b="1" i="0" sz="21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2" name="Google Shape;302;p23"/>
          <p:cNvGrpSpPr/>
          <p:nvPr/>
        </p:nvGrpSpPr>
        <p:grpSpPr>
          <a:xfrm>
            <a:off x="952500" y="3333750"/>
            <a:ext cx="16383000" cy="1047900"/>
            <a:chOff x="0" y="0"/>
            <a:chExt cx="16383000" cy="1047900"/>
          </a:xfrm>
        </p:grpSpPr>
        <p:sp>
          <p:nvSpPr>
            <p:cNvPr id="303" name="Google Shape;303;p23"/>
            <p:cNvSpPr/>
            <p:nvPr/>
          </p:nvSpPr>
          <p:spPr>
            <a:xfrm>
              <a:off x="0" y="0"/>
              <a:ext cx="16383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304" name="Google Shape;304;p23"/>
            <p:cNvSpPr/>
            <p:nvPr/>
          </p:nvSpPr>
          <p:spPr>
            <a:xfrm>
              <a:off x="295275" y="295275"/>
              <a:ext cx="457200" cy="457200"/>
            </a:xfrm>
            <a:prstGeom prst="ellipse">
              <a:avLst/>
            </a:prstGeom>
            <a:solidFill>
              <a:srgbClr val="E6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295275" y="295275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2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i="0" sz="32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3"/>
            <p:cNvSpPr txBox="1"/>
            <p:nvPr/>
          </p:nvSpPr>
          <p:spPr>
            <a:xfrm>
              <a:off x="952500" y="209550"/>
              <a:ext cx="1504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Which steps take the most time or require the most manual work?</a:t>
              </a:r>
              <a:endParaRPr b="1" i="0" sz="21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" name="Google Shape;307;p23"/>
          <p:cNvGrpSpPr/>
          <p:nvPr/>
        </p:nvGrpSpPr>
        <p:grpSpPr>
          <a:xfrm>
            <a:off x="952500" y="4572000"/>
            <a:ext cx="16383000" cy="1047900"/>
            <a:chOff x="0" y="0"/>
            <a:chExt cx="16383000" cy="1047900"/>
          </a:xfrm>
        </p:grpSpPr>
        <p:sp>
          <p:nvSpPr>
            <p:cNvPr id="308" name="Google Shape;308;p23"/>
            <p:cNvSpPr/>
            <p:nvPr/>
          </p:nvSpPr>
          <p:spPr>
            <a:xfrm>
              <a:off x="0" y="0"/>
              <a:ext cx="16383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309" name="Google Shape;309;p23"/>
            <p:cNvSpPr/>
            <p:nvPr/>
          </p:nvSpPr>
          <p:spPr>
            <a:xfrm>
              <a:off x="295275" y="295275"/>
              <a:ext cx="457200" cy="457200"/>
            </a:xfrm>
            <a:prstGeom prst="ellipse">
              <a:avLst/>
            </a:prstGeom>
            <a:solidFill>
              <a:srgbClr val="E6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295275" y="295275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2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i="0" sz="32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3"/>
            <p:cNvSpPr txBox="1"/>
            <p:nvPr/>
          </p:nvSpPr>
          <p:spPr>
            <a:xfrm>
              <a:off x="952500" y="209550"/>
              <a:ext cx="1504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What evidence would your team need to trust and use an extracted result?</a:t>
              </a:r>
              <a:endParaRPr b="1" i="0" sz="21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23"/>
          <p:cNvGrpSpPr/>
          <p:nvPr/>
        </p:nvGrpSpPr>
        <p:grpSpPr>
          <a:xfrm>
            <a:off x="952500" y="5810250"/>
            <a:ext cx="16383000" cy="1047900"/>
            <a:chOff x="0" y="0"/>
            <a:chExt cx="16383000" cy="1047900"/>
          </a:xfrm>
        </p:grpSpPr>
        <p:sp>
          <p:nvSpPr>
            <p:cNvPr id="313" name="Google Shape;313;p23"/>
            <p:cNvSpPr/>
            <p:nvPr/>
          </p:nvSpPr>
          <p:spPr>
            <a:xfrm>
              <a:off x="0" y="0"/>
              <a:ext cx="16383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295275" y="295275"/>
              <a:ext cx="457200" cy="457200"/>
            </a:xfrm>
            <a:prstGeom prst="ellipse">
              <a:avLst/>
            </a:prstGeom>
            <a:solidFill>
              <a:srgbClr val="E6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315" name="Google Shape;315;p23"/>
            <p:cNvSpPr txBox="1"/>
            <p:nvPr/>
          </p:nvSpPr>
          <p:spPr>
            <a:xfrm>
              <a:off x="295275" y="295275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2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32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952500" y="209550"/>
              <a:ext cx="1504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Which extraction errors would have the greatest business impact?</a:t>
              </a:r>
              <a:endParaRPr b="1" i="0" sz="21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23"/>
          <p:cNvGrpSpPr/>
          <p:nvPr/>
        </p:nvGrpSpPr>
        <p:grpSpPr>
          <a:xfrm>
            <a:off x="952500" y="7048500"/>
            <a:ext cx="16383000" cy="1047900"/>
            <a:chOff x="0" y="0"/>
            <a:chExt cx="16383000" cy="1047900"/>
          </a:xfrm>
        </p:grpSpPr>
        <p:sp>
          <p:nvSpPr>
            <p:cNvPr id="318" name="Google Shape;318;p23"/>
            <p:cNvSpPr/>
            <p:nvPr/>
          </p:nvSpPr>
          <p:spPr>
            <a:xfrm>
              <a:off x="0" y="0"/>
              <a:ext cx="16383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295275" y="295275"/>
              <a:ext cx="457200" cy="457200"/>
            </a:xfrm>
            <a:prstGeom prst="ellipse">
              <a:avLst/>
            </a:prstGeom>
            <a:solidFill>
              <a:srgbClr val="E6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320" name="Google Shape;320;p23"/>
            <p:cNvSpPr txBox="1"/>
            <p:nvPr/>
          </p:nvSpPr>
          <p:spPr>
            <a:xfrm>
              <a:off x="295275" y="295275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2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i="0" sz="32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952500" y="209550"/>
              <a:ext cx="1504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04243C"/>
                  </a:solidFill>
                  <a:latin typeface="Arial"/>
                  <a:ea typeface="Arial"/>
                  <a:cs typeface="Arial"/>
                  <a:sym typeface="Arial"/>
                </a:rPr>
                <a:t>Are there any gaps in our presented workflow and demo; what tasks or information can we address?</a:t>
              </a:r>
              <a:endParaRPr b="1" i="0" sz="21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24"/>
          <p:cNvGrpSpPr/>
          <p:nvPr/>
        </p:nvGrpSpPr>
        <p:grpSpPr>
          <a:xfrm>
            <a:off x="1143000" y="2095500"/>
            <a:ext cx="15668700" cy="3524250"/>
            <a:chOff x="0" y="0"/>
            <a:chExt cx="15668700" cy="3524250"/>
          </a:xfrm>
        </p:grpSpPr>
        <p:sp>
          <p:nvSpPr>
            <p:cNvPr id="328" name="Google Shape;328;p24"/>
            <p:cNvSpPr txBox="1"/>
            <p:nvPr/>
          </p:nvSpPr>
          <p:spPr>
            <a:xfrm>
              <a:off x="0" y="0"/>
              <a:ext cx="156687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0">
                  <a:solidFill>
                    <a:srgbClr val="04243C"/>
                  </a:solidFill>
                </a:rPr>
                <a:t>Questions?</a:t>
              </a:r>
              <a:endParaRPr b="1" i="0" sz="10000">
                <a:solidFill>
                  <a:srgbClr val="04243C"/>
                </a:solidFill>
              </a:endParaRPr>
            </a:p>
          </p:txBody>
        </p:sp>
        <p:sp>
          <p:nvSpPr>
            <p:cNvPr id="329" name="Google Shape;329;p24"/>
            <p:cNvSpPr txBox="1"/>
            <p:nvPr/>
          </p:nvSpPr>
          <p:spPr>
            <a:xfrm>
              <a:off x="0" y="1619250"/>
              <a:ext cx="156687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200">
                  <a:solidFill>
                    <a:srgbClr val="2B9CAE"/>
                  </a:solidFill>
                  <a:latin typeface="Arial"/>
                  <a:ea typeface="Arial"/>
                  <a:cs typeface="Arial"/>
                  <a:sym typeface="Arial"/>
                </a:rPr>
                <a:t>We'd love to hear your feedback and answer any questions.</a:t>
              </a:r>
              <a:endParaRPr b="1" i="0" sz="3200">
                <a:solidFill>
                  <a:srgbClr val="2B9CA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4"/>
            <p:cNvSpPr txBox="1"/>
            <p:nvPr/>
          </p:nvSpPr>
          <p:spPr>
            <a:xfrm>
              <a:off x="0" y="2381250"/>
              <a:ext cx="11430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Thank you for your time and continued support with the BNY Corporate Actions Intelligence initiative.</a:t>
              </a:r>
              <a:endParaRPr b="0" i="0" sz="2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24"/>
          <p:cNvSpPr txBox="1"/>
          <p:nvPr/>
        </p:nvSpPr>
        <p:spPr>
          <a:xfrm>
            <a:off x="1143000" y="7696200"/>
            <a:ext cx="14363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>
                <a:solidFill>
                  <a:srgbClr val="04243C"/>
                </a:solidFill>
                <a:latin typeface="Arial"/>
                <a:ea typeface="Arial"/>
                <a:cs typeface="Arial"/>
                <a:sym typeface="Arial"/>
              </a:rPr>
              <a:t>Corporate Action Intelligence Team</a:t>
            </a:r>
            <a:endParaRPr b="1" i="0" sz="1800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Aesha Gandhi, Pranshul Bhatnagar, Alex Li, Kedar Vaidya, Aaron Jiang</a:t>
            </a:r>
            <a:endParaRPr b="1" i="0" sz="1800">
              <a:solidFill>
                <a:srgbClr val="04243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5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/>
              <a:t>Appendix</a:t>
            </a:r>
            <a:endParaRPr b="1" sz="10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/>
          <p:nvPr/>
        </p:nvSpPr>
        <p:spPr>
          <a:xfrm>
            <a:off x="1095375" y="571500"/>
            <a:ext cx="16097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Structure-First Extraction Pipeline</a:t>
            </a:r>
            <a:endParaRPr b="1" sz="3800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50">
                <a:solidFill>
                  <a:srgbClr val="5980A6"/>
                </a:solidFill>
                <a:latin typeface="Barlow Medium"/>
                <a:ea typeface="Barlow Medium"/>
                <a:cs typeface="Barlow Medium"/>
                <a:sym typeface="Barlow Medium"/>
              </a:rPr>
              <a:t>Deterministic section routing and targeted local extraction using GLiNER and Regex</a:t>
            </a:r>
            <a:endParaRPr b="0" sz="1450">
              <a:solidFill>
                <a:srgbClr val="5980A6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grpSp>
        <p:nvGrpSpPr>
          <p:cNvPr id="342" name="Google Shape;342;p26"/>
          <p:cNvGrpSpPr/>
          <p:nvPr/>
        </p:nvGrpSpPr>
        <p:grpSpPr>
          <a:xfrm>
            <a:off x="1095375" y="1996389"/>
            <a:ext cx="2991000" cy="5524500"/>
            <a:chOff x="0" y="0"/>
            <a:chExt cx="2991000" cy="5524500"/>
          </a:xfrm>
        </p:grpSpPr>
        <p:sp>
          <p:nvSpPr>
            <p:cNvPr id="343" name="Google Shape;343;p26"/>
            <p:cNvSpPr/>
            <p:nvPr/>
          </p:nvSpPr>
          <p:spPr>
            <a:xfrm>
              <a:off x="0" y="0"/>
              <a:ext cx="2991000" cy="5524500"/>
            </a:xfrm>
            <a:prstGeom prst="roundRect">
              <a:avLst>
                <a:gd fmla="val 382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0" y="0"/>
              <a:ext cx="2991000" cy="1333500"/>
            </a:xfrm>
            <a:custGeom>
              <a:rect b="b" l="l" r="r" t="t"/>
              <a:pathLst>
                <a:path extrusionOk="0" h="120000" w="120000">
                  <a:moveTo>
                    <a:pt x="800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8000" y="120000"/>
                  </a:lnTo>
                  <a:cubicBezTo>
                    <a:pt x="5878" y="120000"/>
                    <a:pt x="3843" y="118964"/>
                    <a:pt x="2343" y="117119"/>
                  </a:cubicBezTo>
                  <a:cubicBezTo>
                    <a:pt x="843" y="115274"/>
                    <a:pt x="0" y="112773"/>
                    <a:pt x="0" y="110164"/>
                  </a:cubicBezTo>
                  <a:lnTo>
                    <a:pt x="0" y="9836"/>
                  </a:lnTo>
                  <a:cubicBezTo>
                    <a:pt x="0" y="4404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 txBox="1"/>
            <p:nvPr/>
          </p:nvSpPr>
          <p:spPr>
            <a:xfrm>
              <a:off x="0" y="0"/>
              <a:ext cx="29910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563EB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STEP 1</a:t>
              </a:r>
              <a:endParaRPr b="1" sz="1300">
                <a:solidFill>
                  <a:srgbClr val="2563EB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1E40A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CLASSIFY</a:t>
              </a:r>
              <a:endParaRPr b="1" sz="2200">
                <a:solidFill>
                  <a:srgbClr val="1E40AF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346" name="Google Shape;346;p26"/>
            <p:cNvSpPr txBox="1"/>
            <p:nvPr/>
          </p:nvSpPr>
          <p:spPr>
            <a:xfrm>
              <a:off x="190500" y="1524000"/>
              <a:ext cx="26100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F172A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1. Document Role</a:t>
              </a:r>
              <a:endParaRPr b="1" sz="2200">
                <a:solidFill>
                  <a:srgbClr val="0F172A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563EB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Tag file as cover, otp, sc_14d9, or amendment.</a:t>
              </a:r>
              <a:endParaRPr b="0" sz="1400">
                <a:solidFill>
                  <a:srgbClr val="2563EB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347" name="Google Shape;347;p26"/>
          <p:cNvGrpSpPr/>
          <p:nvPr/>
        </p:nvGrpSpPr>
        <p:grpSpPr>
          <a:xfrm>
            <a:off x="4371975" y="1996389"/>
            <a:ext cx="2991000" cy="5524500"/>
            <a:chOff x="3276600" y="-1304925"/>
            <a:chExt cx="2991000" cy="5524500"/>
          </a:xfrm>
        </p:grpSpPr>
        <p:sp>
          <p:nvSpPr>
            <p:cNvPr id="348" name="Google Shape;348;p26"/>
            <p:cNvSpPr/>
            <p:nvPr/>
          </p:nvSpPr>
          <p:spPr>
            <a:xfrm>
              <a:off x="3276600" y="-1304925"/>
              <a:ext cx="2991000" cy="5524500"/>
            </a:xfrm>
            <a:prstGeom prst="roundRect">
              <a:avLst>
                <a:gd fmla="val 382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3276600" y="-1304925"/>
              <a:ext cx="2991000" cy="1333500"/>
            </a:xfrm>
            <a:custGeom>
              <a:rect b="b" l="l" r="r" t="t"/>
              <a:pathLst>
                <a:path extrusionOk="0" h="120000" w="120000">
                  <a:moveTo>
                    <a:pt x="800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8000" y="120000"/>
                  </a:lnTo>
                  <a:cubicBezTo>
                    <a:pt x="5878" y="120000"/>
                    <a:pt x="3843" y="118964"/>
                    <a:pt x="2343" y="117119"/>
                  </a:cubicBezTo>
                  <a:cubicBezTo>
                    <a:pt x="843" y="115274"/>
                    <a:pt x="0" y="112773"/>
                    <a:pt x="0" y="110164"/>
                  </a:cubicBezTo>
                  <a:lnTo>
                    <a:pt x="0" y="9836"/>
                  </a:lnTo>
                  <a:cubicBezTo>
                    <a:pt x="0" y="4404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6"/>
            <p:cNvSpPr txBox="1"/>
            <p:nvPr/>
          </p:nvSpPr>
          <p:spPr>
            <a:xfrm>
              <a:off x="3276600" y="-1304925"/>
              <a:ext cx="29910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D9488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STEP 2</a:t>
              </a:r>
              <a:endParaRPr b="1" sz="1300">
                <a:solidFill>
                  <a:srgbClr val="0D9488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F766E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ROUTE</a:t>
              </a:r>
              <a:endParaRPr b="1" sz="2200">
                <a:solidFill>
                  <a:srgbClr val="0F766E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351" name="Google Shape;351;p26"/>
            <p:cNvSpPr txBox="1"/>
            <p:nvPr/>
          </p:nvSpPr>
          <p:spPr>
            <a:xfrm>
              <a:off x="3467100" y="219075"/>
              <a:ext cx="26100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F172A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2. Structure Routing</a:t>
              </a:r>
              <a:endParaRPr b="1" sz="2200">
                <a:solidFill>
                  <a:srgbClr val="0F172A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D9488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Deterministically find candidate sections instead of full-doc search</a:t>
              </a:r>
              <a:endParaRPr b="0" sz="1400">
                <a:solidFill>
                  <a:srgbClr val="0D9488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352" name="Google Shape;352;p26"/>
          <p:cNvGrpSpPr/>
          <p:nvPr/>
        </p:nvGrpSpPr>
        <p:grpSpPr>
          <a:xfrm>
            <a:off x="7648575" y="1996389"/>
            <a:ext cx="2991000" cy="5524500"/>
            <a:chOff x="6553200" y="-2609850"/>
            <a:chExt cx="2991000" cy="5524500"/>
          </a:xfrm>
        </p:grpSpPr>
        <p:sp>
          <p:nvSpPr>
            <p:cNvPr id="353" name="Google Shape;353;p26"/>
            <p:cNvSpPr/>
            <p:nvPr/>
          </p:nvSpPr>
          <p:spPr>
            <a:xfrm>
              <a:off x="6553200" y="-2609850"/>
              <a:ext cx="2991000" cy="5524500"/>
            </a:xfrm>
            <a:prstGeom prst="roundRect">
              <a:avLst>
                <a:gd fmla="val 382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6553200" y="-2609850"/>
              <a:ext cx="2991000" cy="1333500"/>
            </a:xfrm>
            <a:custGeom>
              <a:rect b="b" l="l" r="r" t="t"/>
              <a:pathLst>
                <a:path extrusionOk="0" h="120000" w="120000">
                  <a:moveTo>
                    <a:pt x="800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8000" y="120000"/>
                  </a:lnTo>
                  <a:cubicBezTo>
                    <a:pt x="5878" y="120000"/>
                    <a:pt x="3843" y="118964"/>
                    <a:pt x="2343" y="117119"/>
                  </a:cubicBezTo>
                  <a:cubicBezTo>
                    <a:pt x="843" y="115274"/>
                    <a:pt x="0" y="112773"/>
                    <a:pt x="0" y="110164"/>
                  </a:cubicBezTo>
                  <a:lnTo>
                    <a:pt x="0" y="9836"/>
                  </a:lnTo>
                  <a:cubicBezTo>
                    <a:pt x="0" y="4404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6"/>
            <p:cNvSpPr txBox="1"/>
            <p:nvPr/>
          </p:nvSpPr>
          <p:spPr>
            <a:xfrm>
              <a:off x="6553200" y="-2609850"/>
              <a:ext cx="29910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9770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STEP 3</a:t>
              </a:r>
              <a:endParaRPr b="1" sz="1300">
                <a:solidFill>
                  <a:srgbClr val="D97706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B4530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BOUND</a:t>
              </a:r>
              <a:endParaRPr b="1" sz="2200">
                <a:solidFill>
                  <a:srgbClr val="B4530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356" name="Google Shape;356;p26"/>
            <p:cNvSpPr txBox="1"/>
            <p:nvPr/>
          </p:nvSpPr>
          <p:spPr>
            <a:xfrm>
              <a:off x="6743700" y="-1085850"/>
              <a:ext cx="26100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F172A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3. Local Window</a:t>
              </a:r>
              <a:endParaRPr b="1" sz="2200">
                <a:solidFill>
                  <a:srgbClr val="0F172A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D97706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Isolate bounding spans around identified target headings</a:t>
              </a:r>
              <a:endParaRPr b="0" sz="1400">
                <a:solidFill>
                  <a:srgbClr val="D97706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357" name="Google Shape;357;p26"/>
          <p:cNvGrpSpPr/>
          <p:nvPr/>
        </p:nvGrpSpPr>
        <p:grpSpPr>
          <a:xfrm>
            <a:off x="10925175" y="1996389"/>
            <a:ext cx="2991000" cy="5524500"/>
            <a:chOff x="9829800" y="-3914775"/>
            <a:chExt cx="2991000" cy="5524500"/>
          </a:xfrm>
        </p:grpSpPr>
        <p:sp>
          <p:nvSpPr>
            <p:cNvPr id="358" name="Google Shape;358;p26"/>
            <p:cNvSpPr/>
            <p:nvPr/>
          </p:nvSpPr>
          <p:spPr>
            <a:xfrm>
              <a:off x="9829800" y="-3914775"/>
              <a:ext cx="2991000" cy="5524500"/>
            </a:xfrm>
            <a:prstGeom prst="roundRect">
              <a:avLst>
                <a:gd fmla="val 382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9829800" y="-3914775"/>
              <a:ext cx="2991000" cy="1333500"/>
            </a:xfrm>
            <a:custGeom>
              <a:rect b="b" l="l" r="r" t="t"/>
              <a:pathLst>
                <a:path extrusionOk="0" h="120000" w="120000">
                  <a:moveTo>
                    <a:pt x="800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8000" y="120000"/>
                  </a:lnTo>
                  <a:cubicBezTo>
                    <a:pt x="5878" y="120000"/>
                    <a:pt x="3843" y="118964"/>
                    <a:pt x="2343" y="117119"/>
                  </a:cubicBezTo>
                  <a:cubicBezTo>
                    <a:pt x="843" y="115274"/>
                    <a:pt x="0" y="112773"/>
                    <a:pt x="0" y="110164"/>
                  </a:cubicBezTo>
                  <a:lnTo>
                    <a:pt x="0" y="9836"/>
                  </a:lnTo>
                  <a:cubicBezTo>
                    <a:pt x="0" y="4404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6"/>
            <p:cNvSpPr txBox="1"/>
            <p:nvPr/>
          </p:nvSpPr>
          <p:spPr>
            <a:xfrm>
              <a:off x="9829800" y="-3914775"/>
              <a:ext cx="29910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9333EA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STEP 4</a:t>
              </a:r>
              <a:endParaRPr b="1" sz="1300">
                <a:solidFill>
                  <a:srgbClr val="9333EA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7E22CE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EXTRACT</a:t>
              </a:r>
              <a:endParaRPr b="1" sz="2200">
                <a:solidFill>
                  <a:srgbClr val="7E22CE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361" name="Google Shape;361;p26"/>
            <p:cNvSpPr txBox="1"/>
            <p:nvPr/>
          </p:nvSpPr>
          <p:spPr>
            <a:xfrm>
              <a:off x="10020300" y="-2390775"/>
              <a:ext cx="26100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F172A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4. GLiNER / Regex Extraction</a:t>
              </a:r>
              <a:endParaRPr b="1" sz="2200">
                <a:solidFill>
                  <a:srgbClr val="0F172A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9333EA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Targeted entity extraction on bounded spans</a:t>
              </a:r>
              <a:endParaRPr b="0" sz="1400">
                <a:solidFill>
                  <a:srgbClr val="9333EA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362" name="Google Shape;362;p26"/>
          <p:cNvGrpSpPr/>
          <p:nvPr/>
        </p:nvGrpSpPr>
        <p:grpSpPr>
          <a:xfrm>
            <a:off x="14201775" y="1996389"/>
            <a:ext cx="2991000" cy="5524500"/>
            <a:chOff x="13106400" y="-5219700"/>
            <a:chExt cx="2991000" cy="5524500"/>
          </a:xfrm>
        </p:grpSpPr>
        <p:sp>
          <p:nvSpPr>
            <p:cNvPr id="363" name="Google Shape;363;p26"/>
            <p:cNvSpPr/>
            <p:nvPr/>
          </p:nvSpPr>
          <p:spPr>
            <a:xfrm>
              <a:off x="13106400" y="-5219700"/>
              <a:ext cx="2991000" cy="5524500"/>
            </a:xfrm>
            <a:prstGeom prst="roundRect">
              <a:avLst>
                <a:gd fmla="val 382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13106400" y="-5219700"/>
              <a:ext cx="2991000" cy="1333500"/>
            </a:xfrm>
            <a:custGeom>
              <a:rect b="b" l="l" r="r" t="t"/>
              <a:pathLst>
                <a:path extrusionOk="0" h="120000" w="120000">
                  <a:moveTo>
                    <a:pt x="800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8000" y="120000"/>
                  </a:lnTo>
                  <a:cubicBezTo>
                    <a:pt x="5878" y="120000"/>
                    <a:pt x="3843" y="118964"/>
                    <a:pt x="2343" y="117119"/>
                  </a:cubicBezTo>
                  <a:cubicBezTo>
                    <a:pt x="843" y="115274"/>
                    <a:pt x="0" y="112773"/>
                    <a:pt x="0" y="110164"/>
                  </a:cubicBezTo>
                  <a:lnTo>
                    <a:pt x="0" y="9836"/>
                  </a:lnTo>
                  <a:cubicBezTo>
                    <a:pt x="0" y="4404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D1FA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6"/>
            <p:cNvSpPr txBox="1"/>
            <p:nvPr/>
          </p:nvSpPr>
          <p:spPr>
            <a:xfrm>
              <a:off x="13106400" y="-5219700"/>
              <a:ext cx="29910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9669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STEP 5</a:t>
              </a:r>
              <a:endParaRPr b="1" sz="1300">
                <a:solidFill>
                  <a:srgbClr val="059669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47857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RECONCILE</a:t>
              </a:r>
              <a:endParaRPr b="1" sz="2000">
                <a:solidFill>
                  <a:srgbClr val="047857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366" name="Google Shape;366;p26"/>
            <p:cNvSpPr txBox="1"/>
            <p:nvPr/>
          </p:nvSpPr>
          <p:spPr>
            <a:xfrm>
              <a:off x="13296900" y="-3695700"/>
              <a:ext cx="2610000" cy="381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F172A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5. Source-Aware Reconciliation</a:t>
              </a:r>
              <a:endParaRPr b="1" sz="2200">
                <a:solidFill>
                  <a:srgbClr val="0F172A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596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Resolve field conflicts across the package</a:t>
              </a:r>
              <a:endParaRPr b="0" sz="1400">
                <a:solidFill>
                  <a:srgbClr val="0596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367" name="Google Shape;367;p26"/>
          <p:cNvGrpSpPr/>
          <p:nvPr/>
        </p:nvGrpSpPr>
        <p:grpSpPr>
          <a:xfrm>
            <a:off x="1095375" y="7810496"/>
            <a:ext cx="16097400" cy="762000"/>
            <a:chOff x="0" y="-729567"/>
            <a:chExt cx="16097400" cy="762000"/>
          </a:xfrm>
        </p:grpSpPr>
        <p:sp>
          <p:nvSpPr>
            <p:cNvPr id="368" name="Google Shape;368;p26"/>
            <p:cNvSpPr/>
            <p:nvPr/>
          </p:nvSpPr>
          <p:spPr>
            <a:xfrm>
              <a:off x="0" y="-729567"/>
              <a:ext cx="160974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6"/>
            <p:cNvSpPr txBox="1"/>
            <p:nvPr/>
          </p:nvSpPr>
          <p:spPr>
            <a:xfrm>
              <a:off x="238125" y="-729567"/>
              <a:ext cx="1562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8BDF8"/>
                  </a:solidFill>
                  <a:latin typeface="Barlow"/>
                  <a:ea typeface="Barlow"/>
                  <a:cs typeface="Barlow"/>
                  <a:sym typeface="Barlow"/>
                </a:rPr>
                <a:t>“Structure finds where to look. GLiNER finds the value.”</a:t>
              </a:r>
              <a:endParaRPr b="1" sz="1600">
                <a:solidFill>
                  <a:srgbClr val="38BDF8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