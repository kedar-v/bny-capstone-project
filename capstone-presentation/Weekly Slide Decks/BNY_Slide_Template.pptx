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10287000" cy="18288000"/>
  <p:embeddedFontLst>
    <p:embeddedFont>
      <p:font typeface="Barlow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53580E-B7D7-497E-9481-794453B16652}">
  <a:tblStyle styleId="{8B53580E-B7D7-497E-9481-794453B1665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Barlow-boldItalic.fntdata"/><Relationship Id="rId10" Type="http://schemas.openxmlformats.org/officeDocument/2006/relationships/slide" Target="slides/slide5.xml"/><Relationship Id="rId21" Type="http://schemas.openxmlformats.org/officeDocument/2006/relationships/font" Target="fonts/Barlow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SLIDE: replace the title, team name, and presenter names.</a:t>
            </a:r>
            <a:endParaRPr/>
          </a:p>
        </p:txBody>
      </p:sp>
      <p:sp>
        <p:nvSpPr>
          <p:cNvPr id="27" name="Google Shape;2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DIVIDER: use between topics or before the Appendix.</a:t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+ BULLETS: simple text slide with a visual card on the right.</a:t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CARDS: problem statement style. Bottom row = 4 numbered steps.</a:t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PIPELINE: 8 numbered steps in two rows. Delete steps you do not need.</a:t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delete the placeholder box and paste a screenshot in its place.</a:t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APPROACH + WHY: five horizontal steps on top, two rationale cards below.</a:t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COLUMNS: methodology, before/after, pros/cons, etc.</a:t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SWIMLANES: two labeled streams, three stages each.</a:t>
            </a:r>
            <a:endParaRPr/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COLUMNS: five tinted headers, then a navy takeaway banner.</a:t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STATS: big numbers with short labels. Keep to 3 or 4.</a:t>
            </a:r>
            <a:endParaRPr/>
          </a:p>
        </p:txBody>
      </p:sp>
      <p:sp>
        <p:nvSpPr>
          <p:cNvPr id="277" name="Google Shape;2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TABLE: edit cells directly; add rows by copying a row in PowerPoint.</a:t>
            </a:r>
            <a:endParaRPr/>
          </a:p>
        </p:txBody>
      </p:sp>
      <p:sp>
        <p:nvSpPr>
          <p:cNvPr id="303" name="Google Shape;303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CHART: right-click the chart and choose Edit Data to change the numbers.</a:t>
            </a:r>
            <a:endParaRPr/>
          </a:p>
        </p:txBody>
      </p:sp>
      <p:sp>
        <p:nvSpPr>
          <p:cNvPr id="312" name="Google Shape;3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DISCUSSION LIST: numbered rows, up to five.</a:t>
            </a:r>
            <a:endParaRPr/>
          </a:p>
        </p:txBody>
      </p:sp>
      <p:sp>
        <p:nvSpPr>
          <p:cNvPr id="325" name="Google Shape;32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SLIDE: replace the team and presenter names.</a:t>
            </a:r>
            <a:endParaRPr/>
          </a:p>
        </p:txBody>
      </p:sp>
      <p:sp>
        <p:nvSpPr>
          <p:cNvPr id="348" name="Google Shape;34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NY_TITLE">
  <p:cSld name="BNY_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NY_SECTION">
  <p:cSld name="BNY_SECTION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22960" y="3931920"/>
            <a:ext cx="12801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822960" y="9646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BNY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NY_CONTENT">
  <p:cSld name="BNY_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>
            <a:off x="822960" y="9646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BNY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NY_CLOSING">
  <p:cSld name="BNY_CLOSING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822960" y="9646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BNY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/>
        </p:nvSpPr>
        <p:spPr>
          <a:xfrm>
            <a:off x="1097280" y="2377440"/>
            <a:ext cx="7315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rPr b="1" i="0" lang="en-US" sz="1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BNY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7"/>
          <p:cNvSpPr txBox="1"/>
          <p:nvPr/>
        </p:nvSpPr>
        <p:spPr>
          <a:xfrm>
            <a:off x="1097280" y="4114800"/>
            <a:ext cx="12801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b="1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Presentation Title Goes Here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 txBox="1"/>
          <p:nvPr/>
        </p:nvSpPr>
        <p:spPr>
          <a:xfrm>
            <a:off x="1097280" y="7589520"/>
            <a:ext cx="1280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Corporate Action Intelligence Team</a:t>
            </a:r>
            <a:endParaRPr b="1"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Aesha Gandhi, Pranshul Bhatnagar, Alex Li, Kedar Vaidya, Aaron Jiang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22960" y="3931920"/>
            <a:ext cx="12801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</a:rPr>
              <a:t>Section Title</a:t>
            </a:r>
            <a:endParaRPr sz="6000"/>
          </a:p>
        </p:txBody>
      </p:sp>
      <p:sp>
        <p:nvSpPr>
          <p:cNvPr id="38" name="Google Shape;38;p8"/>
          <p:cNvSpPr txBox="1"/>
          <p:nvPr/>
        </p:nvSpPr>
        <p:spPr>
          <a:xfrm>
            <a:off x="822960" y="5394960"/>
            <a:ext cx="1280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Optional one-line description of this section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Title and Bullet Points</a:t>
            </a:r>
            <a:endParaRPr sz="3600"/>
          </a:p>
        </p:txBody>
      </p:sp>
      <p:sp>
        <p:nvSpPr>
          <p:cNvPr id="47" name="Google Shape;47;p9"/>
          <p:cNvSpPr/>
          <p:nvPr/>
        </p:nvSpPr>
        <p:spPr>
          <a:xfrm>
            <a:off x="822960" y="2194560"/>
            <a:ext cx="10241280" cy="6949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/>
        </p:nvSpPr>
        <p:spPr>
          <a:xfrm>
            <a:off x="1280160" y="2651760"/>
            <a:ext cx="932688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First key point goes here, kept to one or two lines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Second key point with a supporting detail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Third key point with a supporting detail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Fourth key point with a supporting detail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11430000" y="2194560"/>
            <a:ext cx="6035040" cy="6949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/>
        </p:nvSpPr>
        <p:spPr>
          <a:xfrm>
            <a:off x="11430000" y="539496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Image, chart, or diagram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58" name="Google Shape;58;p10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Three Key Points with Goal and Steps</a:t>
            </a:r>
            <a:endParaRPr sz="3600"/>
          </a:p>
        </p:txBody>
      </p:sp>
      <p:sp>
        <p:nvSpPr>
          <p:cNvPr id="59" name="Google Shape;59;p10"/>
          <p:cNvSpPr/>
          <p:nvPr/>
        </p:nvSpPr>
        <p:spPr>
          <a:xfrm>
            <a:off x="822960" y="2103120"/>
            <a:ext cx="5303520" cy="24688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/>
        </p:nvSpPr>
        <p:spPr>
          <a:xfrm>
            <a:off x="1143000" y="237744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 One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0"/>
          <p:cNvSpPr txBox="1"/>
          <p:nvPr/>
        </p:nvSpPr>
        <p:spPr>
          <a:xfrm>
            <a:off x="1143000" y="301752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 or two sentences explaining this point in plain language.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0"/>
          <p:cNvSpPr/>
          <p:nvPr/>
        </p:nvSpPr>
        <p:spPr>
          <a:xfrm>
            <a:off x="6492240" y="2103120"/>
            <a:ext cx="5303520" cy="24688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6812280" y="237744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 Two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/>
        </p:nvSpPr>
        <p:spPr>
          <a:xfrm>
            <a:off x="6812280" y="301752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 or two sentences explaining this point in plain language.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0"/>
          <p:cNvSpPr/>
          <p:nvPr/>
        </p:nvSpPr>
        <p:spPr>
          <a:xfrm>
            <a:off x="12161520" y="2103120"/>
            <a:ext cx="5303520" cy="24688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/>
        </p:nvSpPr>
        <p:spPr>
          <a:xfrm>
            <a:off x="12481560" y="237744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 Three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0"/>
          <p:cNvSpPr txBox="1"/>
          <p:nvPr/>
        </p:nvSpPr>
        <p:spPr>
          <a:xfrm>
            <a:off x="12481560" y="301752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 or two sentences explaining this point in plain language.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0"/>
          <p:cNvSpPr txBox="1"/>
          <p:nvPr/>
        </p:nvSpPr>
        <p:spPr>
          <a:xfrm>
            <a:off x="822960" y="4846320"/>
            <a:ext cx="1664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Optional category line:  Item  •  Item  •  Item  •  Item  •  Item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822960" y="5669280"/>
            <a:ext cx="16642080" cy="73152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"/>
          <p:cNvSpPr txBox="1"/>
          <p:nvPr/>
        </p:nvSpPr>
        <p:spPr>
          <a:xfrm>
            <a:off x="1188720" y="5669280"/>
            <a:ext cx="1591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 the single goal of this project in one sentence.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822960" y="6858000"/>
            <a:ext cx="3934206" cy="228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0"/>
          <p:cNvSpPr txBox="1"/>
          <p:nvPr/>
        </p:nvSpPr>
        <p:spPr>
          <a:xfrm>
            <a:off x="1143000" y="71323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 txBox="1"/>
          <p:nvPr/>
        </p:nvSpPr>
        <p:spPr>
          <a:xfrm>
            <a:off x="1143000" y="7863840"/>
            <a:ext cx="329412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One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5058918" y="6858000"/>
            <a:ext cx="3934206" cy="228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 txBox="1"/>
          <p:nvPr/>
        </p:nvSpPr>
        <p:spPr>
          <a:xfrm>
            <a:off x="5378958" y="71323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5378958" y="7863840"/>
            <a:ext cx="329412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Two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/>
          <p:nvPr/>
        </p:nvSpPr>
        <p:spPr>
          <a:xfrm>
            <a:off x="9294876" y="6858000"/>
            <a:ext cx="3934206" cy="228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0"/>
          <p:cNvSpPr txBox="1"/>
          <p:nvPr/>
        </p:nvSpPr>
        <p:spPr>
          <a:xfrm>
            <a:off x="9614916" y="71323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 txBox="1"/>
          <p:nvPr/>
        </p:nvSpPr>
        <p:spPr>
          <a:xfrm>
            <a:off x="9614916" y="7863840"/>
            <a:ext cx="329412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Three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13530834" y="6858000"/>
            <a:ext cx="3934206" cy="228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 txBox="1"/>
          <p:nvPr/>
        </p:nvSpPr>
        <p:spPr>
          <a:xfrm>
            <a:off x="13850874" y="71323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 txBox="1"/>
          <p:nvPr/>
        </p:nvSpPr>
        <p:spPr>
          <a:xfrm>
            <a:off x="13850874" y="7863840"/>
            <a:ext cx="329412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Four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Process Flow: Eight Steps</a:t>
            </a:r>
            <a:endParaRPr sz="3600"/>
          </a:p>
        </p:txBody>
      </p:sp>
      <p:sp>
        <p:nvSpPr>
          <p:cNvPr id="91" name="Google Shape;91;p11"/>
          <p:cNvSpPr/>
          <p:nvPr/>
        </p:nvSpPr>
        <p:spPr>
          <a:xfrm>
            <a:off x="822960" y="2286000"/>
            <a:ext cx="3749040" cy="30175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 txBox="1"/>
          <p:nvPr/>
        </p:nvSpPr>
        <p:spPr>
          <a:xfrm>
            <a:off x="1097280" y="25603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1097280" y="31546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1"/>
          <p:cNvSpPr txBox="1"/>
          <p:nvPr/>
        </p:nvSpPr>
        <p:spPr>
          <a:xfrm>
            <a:off x="1097280" y="370332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what happens in this step.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1"/>
          <p:cNvCxnSpPr/>
          <p:nvPr/>
        </p:nvCxnSpPr>
        <p:spPr>
          <a:xfrm>
            <a:off x="4617720" y="379476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11"/>
          <p:cNvSpPr/>
          <p:nvPr/>
        </p:nvSpPr>
        <p:spPr>
          <a:xfrm>
            <a:off x="5120640" y="2286000"/>
            <a:ext cx="3749040" cy="30175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 txBox="1"/>
          <p:nvPr/>
        </p:nvSpPr>
        <p:spPr>
          <a:xfrm>
            <a:off x="5394960" y="25603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1"/>
          <p:cNvSpPr txBox="1"/>
          <p:nvPr/>
        </p:nvSpPr>
        <p:spPr>
          <a:xfrm>
            <a:off x="5394960" y="31546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1"/>
          <p:cNvSpPr txBox="1"/>
          <p:nvPr/>
        </p:nvSpPr>
        <p:spPr>
          <a:xfrm>
            <a:off x="5394960" y="370332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what happens in this step.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11"/>
          <p:cNvCxnSpPr/>
          <p:nvPr/>
        </p:nvCxnSpPr>
        <p:spPr>
          <a:xfrm>
            <a:off x="8915400" y="379476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" name="Google Shape;101;p11"/>
          <p:cNvSpPr/>
          <p:nvPr/>
        </p:nvSpPr>
        <p:spPr>
          <a:xfrm>
            <a:off x="9418320" y="2286000"/>
            <a:ext cx="3749040" cy="30175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 txBox="1"/>
          <p:nvPr/>
        </p:nvSpPr>
        <p:spPr>
          <a:xfrm>
            <a:off x="9692640" y="25603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9692640" y="31546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1"/>
          <p:cNvSpPr txBox="1"/>
          <p:nvPr/>
        </p:nvSpPr>
        <p:spPr>
          <a:xfrm>
            <a:off x="9692640" y="370332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what happens in this step.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11"/>
          <p:cNvCxnSpPr/>
          <p:nvPr/>
        </p:nvCxnSpPr>
        <p:spPr>
          <a:xfrm>
            <a:off x="13213080" y="379476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" name="Google Shape;106;p11"/>
          <p:cNvSpPr/>
          <p:nvPr/>
        </p:nvSpPr>
        <p:spPr>
          <a:xfrm>
            <a:off x="13716000" y="2286000"/>
            <a:ext cx="3749040" cy="30175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 txBox="1"/>
          <p:nvPr/>
        </p:nvSpPr>
        <p:spPr>
          <a:xfrm>
            <a:off x="13990320" y="25603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>
            <a:off x="13990320" y="31546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13990320" y="370332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what happens in this step.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822960" y="6126480"/>
            <a:ext cx="3749040" cy="30175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"/>
          <p:cNvSpPr txBox="1"/>
          <p:nvPr/>
        </p:nvSpPr>
        <p:spPr>
          <a:xfrm>
            <a:off x="1097280" y="64008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1"/>
          <p:cNvSpPr txBox="1"/>
          <p:nvPr/>
        </p:nvSpPr>
        <p:spPr>
          <a:xfrm>
            <a:off x="1097280" y="6995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1"/>
          <p:cNvSpPr txBox="1"/>
          <p:nvPr/>
        </p:nvSpPr>
        <p:spPr>
          <a:xfrm>
            <a:off x="1097280" y="754380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what happens in this step.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11"/>
          <p:cNvCxnSpPr/>
          <p:nvPr/>
        </p:nvCxnSpPr>
        <p:spPr>
          <a:xfrm>
            <a:off x="4617720" y="763524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11"/>
          <p:cNvSpPr/>
          <p:nvPr/>
        </p:nvSpPr>
        <p:spPr>
          <a:xfrm>
            <a:off x="5120640" y="6126480"/>
            <a:ext cx="3749040" cy="30175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5394960" y="64008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5394960" y="6995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5394960" y="754380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what happens in this step.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11"/>
          <p:cNvCxnSpPr/>
          <p:nvPr/>
        </p:nvCxnSpPr>
        <p:spPr>
          <a:xfrm>
            <a:off x="8915400" y="763524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11"/>
          <p:cNvSpPr/>
          <p:nvPr/>
        </p:nvSpPr>
        <p:spPr>
          <a:xfrm>
            <a:off x="9418320" y="6126480"/>
            <a:ext cx="3749040" cy="30175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/>
          <p:cNvSpPr txBox="1"/>
          <p:nvPr/>
        </p:nvSpPr>
        <p:spPr>
          <a:xfrm>
            <a:off x="9692640" y="64008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9692640" y="6995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9692640" y="754380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what happens in this step.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11"/>
          <p:cNvCxnSpPr/>
          <p:nvPr/>
        </p:nvCxnSpPr>
        <p:spPr>
          <a:xfrm>
            <a:off x="13213080" y="763524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" name="Google Shape;125;p11"/>
          <p:cNvSpPr/>
          <p:nvPr/>
        </p:nvSpPr>
        <p:spPr>
          <a:xfrm>
            <a:off x="13716000" y="6126480"/>
            <a:ext cx="3749040" cy="30175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"/>
          <p:cNvSpPr txBox="1"/>
          <p:nvPr/>
        </p:nvSpPr>
        <p:spPr>
          <a:xfrm>
            <a:off x="13990320" y="64008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"/>
          <p:cNvSpPr txBox="1"/>
          <p:nvPr/>
        </p:nvSpPr>
        <p:spPr>
          <a:xfrm>
            <a:off x="13990320" y="6995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13990320" y="754380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what happens in this step.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1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136" name="Google Shape;136;p12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Screenshot or Demo Slide</a:t>
            </a:r>
            <a:endParaRPr sz="3600"/>
          </a:p>
        </p:txBody>
      </p:sp>
      <p:sp>
        <p:nvSpPr>
          <p:cNvPr id="137" name="Google Shape;137;p12"/>
          <p:cNvSpPr/>
          <p:nvPr/>
        </p:nvSpPr>
        <p:spPr>
          <a:xfrm>
            <a:off x="822960" y="2103120"/>
            <a:ext cx="16642080" cy="722376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822960" y="539496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Paste screenshot, demo, or full-width image here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2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146" name="Google Shape;146;p13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Approach and Rationale</a:t>
            </a:r>
            <a:endParaRPr sz="3600"/>
          </a:p>
        </p:txBody>
      </p:sp>
      <p:sp>
        <p:nvSpPr>
          <p:cNvPr id="147" name="Google Shape;147;p13"/>
          <p:cNvSpPr/>
          <p:nvPr/>
        </p:nvSpPr>
        <p:spPr>
          <a:xfrm>
            <a:off x="822960" y="2103120"/>
            <a:ext cx="16642080" cy="73152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1188720" y="2103120"/>
            <a:ext cx="1591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Describe what this approach is meant to achieve.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822960" y="31089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822960" y="3749040"/>
            <a:ext cx="3035808" cy="24688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1097280" y="39776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1097280" y="457200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1097280" y="5120640"/>
            <a:ext cx="2487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4224528" y="3749040"/>
            <a:ext cx="3035808" cy="24688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>
            <a:off x="4498848" y="39776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4498848" y="457200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4498848" y="5120640"/>
            <a:ext cx="2487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7626096" y="3749040"/>
            <a:ext cx="3035808" cy="24688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 txBox="1"/>
          <p:nvPr/>
        </p:nvSpPr>
        <p:spPr>
          <a:xfrm>
            <a:off x="7900416" y="39776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7900416" y="457200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7900416" y="5120640"/>
            <a:ext cx="2487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11027664" y="3749040"/>
            <a:ext cx="3035808" cy="24688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 txBox="1"/>
          <p:nvPr/>
        </p:nvSpPr>
        <p:spPr>
          <a:xfrm>
            <a:off x="11301984" y="39776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11301984" y="457200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11301984" y="5120640"/>
            <a:ext cx="2487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14429232" y="3749040"/>
            <a:ext cx="3035808" cy="24688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14703552" y="39776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14703552" y="457200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14703552" y="5120640"/>
            <a:ext cx="2487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822960" y="65836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822960" y="7223760"/>
            <a:ext cx="8138160" cy="21031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 txBox="1"/>
          <p:nvPr/>
        </p:nvSpPr>
        <p:spPr>
          <a:xfrm>
            <a:off x="1188720" y="745236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Reason One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1188720" y="8046720"/>
            <a:ext cx="7406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sentences explaining the benefit or rationale behind the approach.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9326880" y="7223760"/>
            <a:ext cx="8138160" cy="21031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9692640" y="745236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Reason Two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9692640" y="8046720"/>
            <a:ext cx="7406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sentences explaining the benefit or rationale behind the approach.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184" name="Google Shape;184;p14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Two-Column Comparison</a:t>
            </a:r>
            <a:endParaRPr sz="3600"/>
          </a:p>
        </p:txBody>
      </p:sp>
      <p:sp>
        <p:nvSpPr>
          <p:cNvPr id="185" name="Google Shape;185;p14"/>
          <p:cNvSpPr/>
          <p:nvPr/>
        </p:nvSpPr>
        <p:spPr>
          <a:xfrm>
            <a:off x="822960" y="2194560"/>
            <a:ext cx="8138160" cy="6949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1280160" y="25603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Column Heading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1280160" y="3383280"/>
            <a:ext cx="7223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Opening sentence that frames this column in plain language.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1280160" y="4754880"/>
            <a:ext cx="72237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point one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point two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point three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9326880" y="2194560"/>
            <a:ext cx="8138160" cy="6949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9784080" y="25603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Column Heading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9784080" y="3383280"/>
            <a:ext cx="7223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Opening sentence that frames this column in plain language.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9784080" y="4754880"/>
            <a:ext cx="72237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point one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point two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point three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4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200" name="Google Shape;200;p15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Two-Stream Workflow</a:t>
            </a:r>
            <a:endParaRPr sz="3600"/>
          </a:p>
        </p:txBody>
      </p:sp>
      <p:sp>
        <p:nvSpPr>
          <p:cNvPr id="201" name="Google Shape;201;p15"/>
          <p:cNvSpPr/>
          <p:nvPr/>
        </p:nvSpPr>
        <p:spPr>
          <a:xfrm>
            <a:off x="822960" y="2194560"/>
            <a:ext cx="16642080" cy="33832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1280160" y="2468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 1 · Name (Phase)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1280160" y="3154680"/>
            <a:ext cx="4754880" cy="210312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1554480" y="3337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STAGE 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1554480" y="37490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1554480" y="42976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One-sentence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5"/>
          <p:cNvCxnSpPr/>
          <p:nvPr/>
        </p:nvCxnSpPr>
        <p:spPr>
          <a:xfrm>
            <a:off x="6080760" y="4206240"/>
            <a:ext cx="50292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15"/>
          <p:cNvSpPr/>
          <p:nvPr/>
        </p:nvSpPr>
        <p:spPr>
          <a:xfrm>
            <a:off x="6675120" y="3154680"/>
            <a:ext cx="4754880" cy="210312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6949440" y="3337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STAGE 02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6949440" y="37490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6949440" y="42976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One-sentence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15"/>
          <p:cNvCxnSpPr/>
          <p:nvPr/>
        </p:nvCxnSpPr>
        <p:spPr>
          <a:xfrm>
            <a:off x="11475720" y="4206240"/>
            <a:ext cx="50292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p15"/>
          <p:cNvSpPr/>
          <p:nvPr/>
        </p:nvSpPr>
        <p:spPr>
          <a:xfrm>
            <a:off x="12070080" y="3154680"/>
            <a:ext cx="4754880" cy="210312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12344400" y="3337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STAGE 03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12344400" y="37490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12344400" y="42976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One-sentence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822960" y="5852160"/>
            <a:ext cx="16642080" cy="33832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1280160" y="6126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 2 · Name (Phase)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1280160" y="6812280"/>
            <a:ext cx="4754880" cy="210312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"/>
          <p:cNvSpPr txBox="1"/>
          <p:nvPr/>
        </p:nvSpPr>
        <p:spPr>
          <a:xfrm>
            <a:off x="1554480" y="6995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STAGE 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1554480" y="74066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5"/>
          <p:cNvSpPr txBox="1"/>
          <p:nvPr/>
        </p:nvSpPr>
        <p:spPr>
          <a:xfrm>
            <a:off x="1554480" y="79552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One-sentence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15"/>
          <p:cNvCxnSpPr/>
          <p:nvPr/>
        </p:nvCxnSpPr>
        <p:spPr>
          <a:xfrm>
            <a:off x="6080760" y="7863840"/>
            <a:ext cx="50292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15"/>
          <p:cNvSpPr/>
          <p:nvPr/>
        </p:nvSpPr>
        <p:spPr>
          <a:xfrm>
            <a:off x="6675120" y="6812280"/>
            <a:ext cx="4754880" cy="210312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6949440" y="6995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STAGE 02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6949440" y="74066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"/>
          <p:cNvSpPr txBox="1"/>
          <p:nvPr/>
        </p:nvSpPr>
        <p:spPr>
          <a:xfrm>
            <a:off x="6949440" y="79552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One-sentence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15"/>
          <p:cNvCxnSpPr/>
          <p:nvPr/>
        </p:nvCxnSpPr>
        <p:spPr>
          <a:xfrm>
            <a:off x="11475720" y="7863840"/>
            <a:ext cx="50292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" name="Google Shape;229;p15"/>
          <p:cNvSpPr/>
          <p:nvPr/>
        </p:nvSpPr>
        <p:spPr>
          <a:xfrm>
            <a:off x="12070080" y="6812280"/>
            <a:ext cx="4754880" cy="210312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12344400" y="6995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STAGE 03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12344400" y="74066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Name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12344400" y="79552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One-sentence description.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240" name="Google Shape;240;p16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Five Columns with Takeaway Banner</a:t>
            </a:r>
            <a:endParaRPr sz="3600"/>
          </a:p>
        </p:txBody>
      </p:sp>
      <p:sp>
        <p:nvSpPr>
          <p:cNvPr id="241" name="Google Shape;241;p16"/>
          <p:cNvSpPr/>
          <p:nvPr/>
        </p:nvSpPr>
        <p:spPr>
          <a:xfrm>
            <a:off x="822960" y="2194560"/>
            <a:ext cx="3035808" cy="51206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822960" y="2194560"/>
            <a:ext cx="3035808" cy="1280160"/>
          </a:xfrm>
          <a:prstGeom prst="rect">
            <a:avLst/>
          </a:prstGeom>
          <a:solidFill>
            <a:srgbClr val="CFE6E9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"/>
          <p:cNvSpPr txBox="1"/>
          <p:nvPr/>
        </p:nvSpPr>
        <p:spPr>
          <a:xfrm>
            <a:off x="822960" y="2423160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822960" y="2880360"/>
            <a:ext cx="3035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1097280" y="3749040"/>
            <a:ext cx="24871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 Title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6"/>
          <p:cNvSpPr txBox="1"/>
          <p:nvPr/>
        </p:nvSpPr>
        <p:spPr>
          <a:xfrm>
            <a:off x="1097280" y="4663440"/>
            <a:ext cx="2487168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this step in plain language.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4224528" y="2194560"/>
            <a:ext cx="3035808" cy="51206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4224528" y="2194560"/>
            <a:ext cx="3035808" cy="1280160"/>
          </a:xfrm>
          <a:prstGeom prst="rect">
            <a:avLst/>
          </a:prstGeom>
          <a:solidFill>
            <a:srgbClr val="E6D9BC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 txBox="1"/>
          <p:nvPr/>
        </p:nvSpPr>
        <p:spPr>
          <a:xfrm>
            <a:off x="4224528" y="2423160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4224528" y="2880360"/>
            <a:ext cx="3035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4498848" y="3749040"/>
            <a:ext cx="24871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 Title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4498848" y="4663440"/>
            <a:ext cx="2487168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this step in plain language.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7626096" y="2194560"/>
            <a:ext cx="3035808" cy="51206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7626096" y="2194560"/>
            <a:ext cx="3035808" cy="1280160"/>
          </a:xfrm>
          <a:prstGeom prst="rect">
            <a:avLst/>
          </a:prstGeom>
          <a:solidFill>
            <a:srgbClr val="D5E3EA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 txBox="1"/>
          <p:nvPr/>
        </p:nvSpPr>
        <p:spPr>
          <a:xfrm>
            <a:off x="7626096" y="2423160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7626096" y="2880360"/>
            <a:ext cx="3035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7900416" y="3749040"/>
            <a:ext cx="24871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 Title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7900416" y="4663440"/>
            <a:ext cx="2487168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this step in plain language.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11027664" y="2194560"/>
            <a:ext cx="3035808" cy="51206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"/>
          <p:cNvSpPr/>
          <p:nvPr/>
        </p:nvSpPr>
        <p:spPr>
          <a:xfrm>
            <a:off x="11027664" y="2194560"/>
            <a:ext cx="3035808" cy="1280160"/>
          </a:xfrm>
          <a:prstGeom prst="rect">
            <a:avLst/>
          </a:prstGeom>
          <a:solidFill>
            <a:srgbClr val="EBD3C6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11027664" y="2423160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11027664" y="2880360"/>
            <a:ext cx="3035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11301984" y="3749040"/>
            <a:ext cx="24871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 Title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11301984" y="4663440"/>
            <a:ext cx="2487168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this step in plain language.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14429232" y="2194560"/>
            <a:ext cx="3035808" cy="51206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14429232" y="2194560"/>
            <a:ext cx="3035808" cy="1280160"/>
          </a:xfrm>
          <a:prstGeom prst="rect">
            <a:avLst/>
          </a:prstGeom>
          <a:solidFill>
            <a:srgbClr val="D9E6D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14429232" y="2423160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14429232" y="2880360"/>
            <a:ext cx="3035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14703552" y="3749040"/>
            <a:ext cx="24871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 Title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14703552" y="4663440"/>
            <a:ext cx="2487168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description of this step in plain language.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822960" y="7863840"/>
            <a:ext cx="16642080" cy="118872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822960" y="7863840"/>
            <a:ext cx="16642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“One-sentence takeaway or memorable quote goes here.”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280" name="Google Shape;280;p17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Key Numbers</a:t>
            </a:r>
            <a:endParaRPr sz="3600"/>
          </a:p>
        </p:txBody>
      </p:sp>
      <p:sp>
        <p:nvSpPr>
          <p:cNvPr id="281" name="Google Shape;281;p17"/>
          <p:cNvSpPr/>
          <p:nvPr/>
        </p:nvSpPr>
        <p:spPr>
          <a:xfrm>
            <a:off x="822960" y="2377440"/>
            <a:ext cx="3749040" cy="32918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22960" y="2743200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00%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1097280" y="43891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 label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1097280" y="49377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context line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5120640" y="2377440"/>
            <a:ext cx="3749040" cy="32918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5120640" y="2743200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00%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5394960" y="43891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 label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5394960" y="49377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context line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9418320" y="2377440"/>
            <a:ext cx="3749040" cy="32918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9418320" y="2743200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00%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 txBox="1"/>
          <p:nvPr/>
        </p:nvSpPr>
        <p:spPr>
          <a:xfrm>
            <a:off x="9692640" y="43891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 label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9692640" y="49377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context line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13716000" y="2377440"/>
            <a:ext cx="3749040" cy="32918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13716000" y="2743200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00%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"/>
          <p:cNvSpPr txBox="1"/>
          <p:nvPr/>
        </p:nvSpPr>
        <p:spPr>
          <a:xfrm>
            <a:off x="13990320" y="43891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 label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13990320" y="49377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Short context line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822960" y="6583680"/>
            <a:ext cx="16642080" cy="73152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1188720" y="6583680"/>
            <a:ext cx="1591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TAKEAWAY: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One sentence explaining what these numbers mean.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>
            <p:ph idx="1" type="body"/>
          </p:nvPr>
        </p:nvSpPr>
        <p:spPr>
          <a:xfrm>
            <a:off x="822960" y="548640"/>
            <a:ext cx="1463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306" name="Google Shape;306;p18"/>
          <p:cNvSpPr txBox="1"/>
          <p:nvPr>
            <p:ph type="title"/>
          </p:nvPr>
        </p:nvSpPr>
        <p:spPr>
          <a:xfrm>
            <a:off x="822960" y="960120"/>
            <a:ext cx="16642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Table Slide</a:t>
            </a:r>
            <a:endParaRPr sz="3600"/>
          </a:p>
        </p:txBody>
      </p:sp>
      <p:sp>
        <p:nvSpPr>
          <p:cNvPr id="307" name="Google Shape;307;p18"/>
          <p:cNvSpPr txBox="1"/>
          <p:nvPr>
            <p:ph idx="4294967295" type="sldNum"/>
          </p:nvPr>
        </p:nvSpPr>
        <p:spPr>
          <a:xfrm>
            <a:off x="16550640" y="964692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8" name="Google Shape;308;p18"/>
          <p:cNvGraphicFramePr/>
          <p:nvPr/>
        </p:nvGraphicFramePr>
        <p:xfrm>
          <a:off x="82296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{8B53580E-B7D7-497E-9481-794453B16652}</a:tableStyleId>
              </a:tblPr>
              <a:tblGrid>
                <a:gridCol w="5486400"/>
                <a:gridCol w="3840475"/>
                <a:gridCol w="3840475"/>
                <a:gridCol w="3474725"/>
              </a:tblGrid>
              <a:tr h="86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rgbClr val="FFFFFF"/>
                          </a:solidFill>
                          <a:highlight>
                            <a:srgbClr val="04243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Column A</a:t>
                      </a:r>
                      <a:endParaRPr b="1" i="0" sz="1800">
                        <a:solidFill>
                          <a:srgbClr val="FFFFFF"/>
                        </a:solidFill>
                        <a:highlight>
                          <a:srgbClr val="04243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24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rgbClr val="FFFFFF"/>
                          </a:solidFill>
                          <a:highlight>
                            <a:srgbClr val="04243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Column B</a:t>
                      </a:r>
                      <a:endParaRPr b="1" i="0" sz="1800">
                        <a:solidFill>
                          <a:srgbClr val="FFFFFF"/>
                        </a:solidFill>
                        <a:highlight>
                          <a:srgbClr val="04243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24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rgbClr val="FFFFFF"/>
                          </a:solidFill>
                          <a:highlight>
                            <a:srgbClr val="04243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Column C</a:t>
                      </a:r>
                      <a:endParaRPr b="1" i="0" sz="1800">
                        <a:solidFill>
                          <a:srgbClr val="FFFFFF"/>
                        </a:solidFill>
                        <a:highlight>
                          <a:srgbClr val="04243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24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rgbClr val="FFFFFF"/>
                          </a:solidFill>
                          <a:highlight>
                            <a:srgbClr val="04243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1" i="0" sz="1800">
                        <a:solidFill>
                          <a:srgbClr val="FFFFFF"/>
                        </a:solidFill>
                        <a:highlight>
                          <a:srgbClr val="04243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243C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Row label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Row label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Row label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Row label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Row label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Row label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i="0" sz="16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SECTION LABEL</a:t>
            </a:r>
            <a:endParaRPr sz="1400"/>
          </a:p>
        </p:txBody>
      </p:sp>
      <p:sp>
        <p:nvSpPr>
          <p:cNvPr id="315" name="Google Shape;315;p19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Chart with Commentary</a:t>
            </a:r>
            <a:endParaRPr sz="3600"/>
          </a:p>
        </p:txBody>
      </p:sp>
      <p:sp>
        <p:nvSpPr>
          <p:cNvPr id="316" name="Google Shape;316;p19"/>
          <p:cNvSpPr/>
          <p:nvPr/>
        </p:nvSpPr>
        <p:spPr>
          <a:xfrm>
            <a:off x="822960" y="2194560"/>
            <a:ext cx="10789920" cy="6949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468880"/>
            <a:ext cx="10241280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9"/>
          <p:cNvSpPr/>
          <p:nvPr/>
        </p:nvSpPr>
        <p:spPr>
          <a:xfrm>
            <a:off x="11887200" y="2194560"/>
            <a:ext cx="5577840" cy="6949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12252960" y="256032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12252960" y="3383280"/>
            <a:ext cx="484632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First takeaway from the chart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Second takeaway from the chart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Third takeaway from the chart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328" name="Google Shape;328;p20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Questions and Discussion Points</a:t>
            </a:r>
            <a:endParaRPr sz="3600"/>
          </a:p>
        </p:txBody>
      </p:sp>
      <p:sp>
        <p:nvSpPr>
          <p:cNvPr id="329" name="Google Shape;329;p20"/>
          <p:cNvSpPr/>
          <p:nvPr/>
        </p:nvSpPr>
        <p:spPr>
          <a:xfrm>
            <a:off x="822960" y="2194560"/>
            <a:ext cx="16642080" cy="10972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1188720" y="21945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2468880" y="2194560"/>
            <a:ext cx="1463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 or discussion point goes here, written as one clear sentence?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822960" y="3566160"/>
            <a:ext cx="16642080" cy="10972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1188720" y="35661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2468880" y="3566160"/>
            <a:ext cx="1463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 or discussion point goes here, written as one clear sentence?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822960" y="4937760"/>
            <a:ext cx="16642080" cy="10972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1188720" y="49377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2468880" y="4937760"/>
            <a:ext cx="1463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 or discussion point goes here, written as one clear sentence?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822960" y="6309360"/>
            <a:ext cx="16642080" cy="10972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1188720" y="63093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2468880" y="6309360"/>
            <a:ext cx="1463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 or discussion point goes here, written as one clear sentence?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822960" y="7680960"/>
            <a:ext cx="16642080" cy="10972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1188720" y="76809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2468880" y="7680960"/>
            <a:ext cx="1463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 or discussion point goes here, written as one clear sentence?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 txBox="1"/>
          <p:nvPr>
            <p:ph idx="4294967295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"/>
          <p:cNvSpPr txBox="1"/>
          <p:nvPr/>
        </p:nvSpPr>
        <p:spPr>
          <a:xfrm>
            <a:off x="1097280" y="292608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1097280" y="4480560"/>
            <a:ext cx="1280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We'd love to hear your feedback and answer any questions.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1097280" y="5303520"/>
            <a:ext cx="1280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Thank you for your time and continued support.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1097280" y="7589520"/>
            <a:ext cx="1280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Corporate Action Intelligence Team</a:t>
            </a:r>
            <a:endParaRPr b="1"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Aesha Gandhi, Pranshul Bhatnagar, Alex Li, Kedar Vaidya, Aaron Jiang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NY Client Template">
  <a:themeElements>
    <a:clrScheme name="BNY Client Template">
      <a:dk1>
        <a:srgbClr val="04243C"/>
      </a:dk1>
      <a:lt1>
        <a:srgbClr val="FFFFFF"/>
      </a:lt1>
      <a:dk2>
        <a:srgbClr val="475569"/>
      </a:dk2>
      <a:lt2>
        <a:srgbClr val="F3EBDD"/>
      </a:lt2>
      <a:accent1>
        <a:srgbClr val="2B9CAE"/>
      </a:accent1>
      <a:accent2>
        <a:srgbClr val="CFE6E9"/>
      </a:accent2>
      <a:accent3>
        <a:srgbClr val="D8CDB8"/>
      </a:accent3>
      <a:accent4>
        <a:srgbClr val="1E5A7A"/>
      </a:accent4>
      <a:accent5>
        <a:srgbClr val="C9A66B"/>
      </a:accent5>
      <a:accent6>
        <a:srgbClr val="B4552D"/>
      </a:accent6>
      <a:hlink>
        <a:srgbClr val="2B9CAE"/>
      </a:hlink>
      <a:folHlink>
        <a:srgbClr val="4755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NY Client Template">
  <a:themeElements>
    <a:clrScheme name="BNY Client Template">
      <a:dk1>
        <a:srgbClr val="04243C"/>
      </a:dk1>
      <a:lt1>
        <a:srgbClr val="FFFFFF"/>
      </a:lt1>
      <a:dk2>
        <a:srgbClr val="475569"/>
      </a:dk2>
      <a:lt2>
        <a:srgbClr val="EEEEEE"/>
      </a:lt2>
      <a:accent1>
        <a:srgbClr val="2B9CAE"/>
      </a:accent1>
      <a:accent2>
        <a:srgbClr val="CFE6E9"/>
      </a:accent2>
      <a:accent3>
        <a:srgbClr val="D8CDB8"/>
      </a:accent3>
      <a:accent4>
        <a:srgbClr val="1E5A7A"/>
      </a:accent4>
      <a:accent5>
        <a:srgbClr val="C9A66B"/>
      </a:accent5>
      <a:accent6>
        <a:srgbClr val="B4552D"/>
      </a:accent6>
      <a:hlink>
        <a:srgbClr val="2B9CAE"/>
      </a:hlink>
      <a:folHlink>
        <a:srgbClr val="4755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