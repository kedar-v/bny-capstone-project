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10287000" cx="18288000"/>
  <p:notesSz cx="10287000" cy="18288000"/>
  <p:embeddedFontLst>
    <p:embeddedFont>
      <p:font typeface="Barlow Condensed"/>
      <p:regular r:id="rId31"/>
      <p:bold r:id="rId32"/>
      <p:italic r:id="rId33"/>
      <p:boldItalic r:id="rId34"/>
    </p:embeddedFont>
    <p:embeddedFont>
      <p:font typeface="Barlow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Condensed-regular.fntdata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BarlowCondensed-italic.fntdata"/><Relationship Id="rId10" Type="http://schemas.openxmlformats.org/officeDocument/2006/relationships/slide" Target="slides/slide6.xml"/><Relationship Id="rId32" Type="http://schemas.openxmlformats.org/officeDocument/2006/relationships/font" Target="fonts/BarlowCondensed-bold.fntdata"/><Relationship Id="rId13" Type="http://schemas.openxmlformats.org/officeDocument/2006/relationships/slide" Target="slides/slide9.xml"/><Relationship Id="rId35" Type="http://schemas.openxmlformats.org/officeDocument/2006/relationships/font" Target="fonts/Barlow-regular.fntdata"/><Relationship Id="rId12" Type="http://schemas.openxmlformats.org/officeDocument/2006/relationships/slide" Target="slides/slide8.xml"/><Relationship Id="rId34" Type="http://schemas.openxmlformats.org/officeDocument/2006/relationships/font" Target="fonts/BarlowCondensed-boldItalic.fntdata"/><Relationship Id="rId15" Type="http://schemas.openxmlformats.org/officeDocument/2006/relationships/slide" Target="slides/slide11.xml"/><Relationship Id="rId37" Type="http://schemas.openxmlformats.org/officeDocument/2006/relationships/font" Target="fonts/Barlow-italic.fntdata"/><Relationship Id="rId14" Type="http://schemas.openxmlformats.org/officeDocument/2006/relationships/slide" Target="slides/slide10.xml"/><Relationship Id="rId36" Type="http://schemas.openxmlformats.org/officeDocument/2006/relationships/font" Target="fonts/Barlow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Barlow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50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45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47.png"/><Relationship Id="rId5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54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3305160" y="754335"/>
            <a:ext cx="4223824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273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Arial"/>
                <a:ea typeface="Arial"/>
                <a:cs typeface="Arial"/>
                <a:sym typeface="Arial"/>
              </a:rPr>
              <a:t>CORPORATE ACTION INTELLIGENCE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00423" y="3794745"/>
            <a:ext cx="17759035" cy="1958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00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600"/>
              <a:buFont typeface="Arial"/>
              <a:buNone/>
            </a:pPr>
            <a:r>
              <a:rPr b="1" i="0" lang="en-US" sz="21600" u="none" cap="none" strike="noStrike">
                <a:solidFill>
                  <a:srgbClr val="1D1F2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6442695"/>
            <a:ext cx="3531870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Week 2 · Literature and landscape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257800" y="6442695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What the research says about grounded, auditable corporate-action intelligence — and what it means for the capstone.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143000" y="8755410"/>
            <a:ext cx="14680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649066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2868588" y="8755410"/>
            <a:ext cx="213421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Pranshul Bhatnagar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980236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199757" y="8755410"/>
            <a:ext cx="72910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Alex 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024116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243638" y="8755410"/>
            <a:ext cx="139915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Kedar Vaidya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687047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906569" y="8755410"/>
            <a:ext cx="1259904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Aaron Jiang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Contents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143000" y="41834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257800" y="4076700"/>
            <a:ext cx="173427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43000" y="53264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257800" y="5219700"/>
            <a:ext cx="31537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Research themes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43000" y="64694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257800" y="6362700"/>
            <a:ext cx="34169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Recommendations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43000" y="76124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257800" y="7505700"/>
            <a:ext cx="298232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Investment case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F4F4F4">
                <a:alpha val="90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978471" y="2514600"/>
            <a:ext cx="3641177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95524" y="7132290"/>
            <a:ext cx="3379649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Summary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1143000" y="754335"/>
            <a:ext cx="147462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the project sits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16305" y="3202335"/>
            <a:ext cx="13637895" cy="6208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Grounded extraction, confidence calibration and version-aware retrieval are well researched — almost none of it has been applied to corporate-action notices.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Vendors such as SmartStream and Broadridge are only now moving LLM interpretation beyond proof of concept.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T+1 settlement, the ISO 20022 migration and DTCC modernisation raise the value of clean, structured, auditable event data.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Voluntary events are ~10–15% of volume but carry disproportionate risk — concentrating there is the right call.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1143000" y="754335"/>
            <a:ext cx="147462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 · SUMMARY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101923" y="2834580"/>
            <a:ext cx="7513677" cy="29184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17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32400"/>
              <a:buFont typeface="Barlow Condensed"/>
              <a:buNone/>
            </a:pPr>
            <a:r>
              <a:rPr b="1" i="0" lang="en-US" sz="324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46%</a:t>
            </a:r>
            <a:endParaRPr b="0" i="0" sz="3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9372600" y="6442695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of global corporate-action event data is still processed manually. Inefficiencies cost each participant $3–5M a year, and over 45% of brokers report a $1M+ loss from errors.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9372600" y="7585695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The ValueExchange / ISSA survey, 2021 — indicative, not authoritative.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F4F4F4">
                <a:alpha val="90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978471" y="2514600"/>
            <a:ext cx="440055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1095524" y="7132290"/>
            <a:ext cx="6177878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Research themes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1143000" y="8500095"/>
            <a:ext cx="117729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F2F2F4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4"/>
                </a:solidFill>
                <a:latin typeface="Barlow"/>
                <a:ea typeface="Barlow"/>
                <a:cs typeface="Barlow"/>
                <a:sym typeface="Barlow"/>
              </a:rPr>
              <a:t>Ten themes, one slide each — extraction, standards, grounding, amendments, escalation, benchmarks, corpus, vendors, architecture, regulation.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9"/>
          <p:cNvSpPr/>
          <p:nvPr/>
        </p:nvSpPr>
        <p:spPr>
          <a:xfrm>
            <a:off x="1143000" y="754335"/>
            <a:ext cx="299967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1 — EXTRACTION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Grounded extraction from filings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11430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anchor paper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1143000" y="4156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“Grounded Event Extraction from SEC 8-K Filings” (Dolphin et al., 2026) tags 292,984 filings against a 119-type taxonomy.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1143000" y="5299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Stage 1: schema-constrained output with self-correcting retries, every tag anchored to a verbatim quote by fuzzy n-gram match.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1143000" y="6442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Stage 2: a separate re-grading pass produces a calibrated 1–5 quality score.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93726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it proves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9372600" y="3985320"/>
            <a:ext cx="8549640" cy="6248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995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12% → 96%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9372600" y="5299770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Precision rises monotonically with the second-pass score. Inline self-rating saturates and behaves like a binary flag — confidence must be assigned in its own pass.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9372600" y="68999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Material disclosures hide in the “Other Events” catch-all (Item 8.01): classification alone is not enough, narrative reading is required.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1143000" y="754335"/>
            <a:ext cx="290513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2 — STANDARDS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Standards and target schema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1430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ISO 20022 MESSAGE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52578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LEGACY SWIFT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93726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ROLE IN THE LIFECYCLE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13487400" y="25146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WHAT IT CARRIES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1143000" y="3429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seev.031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5257800" y="3429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MT564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9372600" y="3429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Announcement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13487400" y="3429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Event type, key dates, options, entitlements, conditions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1143000" y="4572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seev.033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5257800" y="4572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MT565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9372600" y="4572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Instruction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13487400" y="4572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Client election on a voluntary option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1143000" y="5715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seev.034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5257800" y="5715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MT567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9372600" y="5715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Instruction status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13487400" y="5715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Acceptance, rejection, pending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1143000" y="6858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seev.036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257800" y="6858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MT566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9372600" y="6858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Movement confirmation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13487400" y="6858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Cash and securities actually moved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1143000" y="8291587"/>
            <a:ext cx="12194762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rPr b="0" i="0" lang="en-US" sz="1875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DTCC anchors events on CAID and COAF identifiers; the XBRL US taxonomy covers 90+ event types. Our v1 schema: a seev.031 subset plus grounding citations and per-field confidence.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1"/>
          <p:cNvSpPr/>
          <p:nvPr/>
        </p:nvSpPr>
        <p:spPr>
          <a:xfrm>
            <a:off x="1143000" y="754335"/>
            <a:ext cx="289612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3 — GROUNDING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Grounding, citation and confidence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11430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Grounding techniques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1143000" y="4156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Verbatim-quote anchoring with fuzzy n-gram validation.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1143000" y="5299770"/>
            <a:ext cx="3767328" cy="1596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Post-hoc claim-to-span citation, which sidesteps “context rot” on long generations.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143000" y="73571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Citation-aware chunking with spatial anchors.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52578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Benchmarks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5257800" y="4156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General: ALCE, LongCite, RAGAS, ARES.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5257800" y="5299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Finance: FinRAGBench-V, FinDER, FinQA and ConvFinQA.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3726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Calibration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9372600" y="4156770"/>
            <a:ext cx="3767328" cy="1596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Internal-state probes beat token-logprob baselines for hallucination detection (0.68–0.77 vs 0.55–0.63 AUROC).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9372600" y="6214170"/>
            <a:ext cx="3767328" cy="15964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5–19% of unanimously “confident” FinQA answers are wrong — confidence needs its own check.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1" name="Google Shape;1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042967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1143000" y="754335"/>
            <a:ext cx="310305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4 — AMENDMENTS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Amendment and version detection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200474"/>
            <a:ext cx="160020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2"/>
          <p:cNvSpPr/>
          <p:nvPr/>
        </p:nvSpPr>
        <p:spPr>
          <a:xfrm>
            <a:off x="1143000" y="8062987"/>
            <a:ext cx="12194762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rPr b="0" i="0" lang="en-US" sz="1875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VersionRAG (Huwiler et al., 2025) models document evolution as a version graph — a direct fit for “new filing supersedes prior filing”, e.g. SC TO-T/A amendments and extended tender deadlines.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1143000" y="754335"/>
            <a:ext cx="29743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5 — ESCALATION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Escalation and abstention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916305" y="3202335"/>
            <a:ext cx="13637895" cy="6208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Conformal prediction gives distribution-free coverage guarantees around a black-box LLM — no retraining needed.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Selective prediction routes low-confidence extractions to people: ExtractConf reaches 99.1% accuracy in its top confidence band on DocILE.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Caution: abstention can be a prompt artifact rather than genuine uncertainty — triggers must reflect real doubt, not a convenient “Unknown” slot.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Design implication: per-field confidence, risk-controlled thresholds, and escalate the whole event when any material field falls short or sources conflict.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1143000" y="754335"/>
            <a:ext cx="35328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6 — COMPLEX EVENTS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Complex-narrative benchmarks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11430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DATASET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52578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SIZE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93726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SOURCE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13487400" y="25146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WHAT IT TESTS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1143000" y="3429074"/>
            <a:ext cx="4009644" cy="108763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MAUD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5257800" y="3429074"/>
            <a:ext cx="4009644" cy="108763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152 merger agreements, 47,457 annotations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9372600" y="3429074"/>
            <a:ext cx="4009644" cy="108763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Atticus Project, EMNLP 2023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13487400" y="3429074"/>
            <a:ext cx="3767328" cy="108763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Deal points: closing conditions, MAE definitions, remedies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143000" y="4707210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CUAD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5257800" y="4707210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510 contracts, 13,000+ clause annotations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9372600" y="4707210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EDGAR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13487400" y="4707210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Clause extraction across 41 categories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1143000" y="5850210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ContractNLI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5257800" y="5850210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~607 NDAs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9372600" y="5850210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Document-level NLI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13487400" y="5850210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Entailment with multi-span evidence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1143000" y="7283723"/>
            <a:ext cx="12194762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rPr b="0" i="0" lang="en-US" sz="1875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Fine-tuned baselines struggle on MAUD’s hardest categories, and open models over-emit “no related clause” on CUAD — evidence that voluntary, narrative-heavy events are genuinely harder than dividends and splits.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1143000" y="754335"/>
            <a:ext cx="251460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7 — CORPUS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starting corpus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11430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Gold set from EDGAR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1143000" y="41567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SC TO-T / TO-I — tender offers, with their /A amendments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5"/>
          <p:cNvSpPr/>
          <p:nvPr/>
        </p:nvSpPr>
        <p:spPr>
          <a:xfrm>
            <a:off x="1143000" y="48425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SC 14D9 — target recommendation statements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1143000" y="55283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S-4 and 424B — exchange offers, rights and prospectuses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1143000" y="62141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DEFM14A — merger proxies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1143000" y="68999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8-K Items 1.01 and 8.01 — agreements and “Other Events”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93726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Benchmarks and tooling to borrow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9372600" y="4156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EDGAR-CORPUS and the Stanford EDGAR Filings Dataset for layout-faithful text.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9372600" y="5299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FinQA, FinanceBench, FinDER and FinAgentBench for retrieval over 10-K, 10-Q, 8-K and DEF-14A.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9372600" y="6442770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 open-source corp-actions-scanner already parses SC TO filings — a starting harness whose regex price extraction the LLM would replace.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1143000" y="754335"/>
            <a:ext cx="265973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8 — VENDORS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1143000" y="3002235"/>
            <a:ext cx="12753975" cy="13791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4800"/>
              <a:buFont typeface="Barlow Condensed"/>
              <a:buNone/>
            </a:pPr>
            <a:r>
              <a:rPr b="1" i="0" lang="en-US" sz="48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“The ability to move from deterministic classification to learned, probabilistic classification.”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1143000" y="5299695"/>
            <a:ext cx="10464321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— Adam Cottingham, SmartStream, on applying AI to narrative issuer announcements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1143000" y="6442695"/>
            <a:ext cx="11772900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Broadridge, FIS, SimCorp, S&amp;P Global, TCS BaNCS and Vermeg automate the corporate-action lifecycle and STP. None publicly centres a source-grounded, versioned, neutral, confidence-scored event summary — that is the capstone’s differentiation.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1143000" y="754335"/>
            <a:ext cx="326169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9 — ARCHITECTURE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Agentic architecture with audit trails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7" name="Google Shape;2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657674"/>
            <a:ext cx="16002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7"/>
          <p:cNvSpPr/>
          <p:nvPr/>
        </p:nvSpPr>
        <p:spPr>
          <a:xfrm>
            <a:off x="1143000" y="6691387"/>
            <a:ext cx="12194762" cy="1119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rPr b="0" i="0" lang="en-US" sz="1875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 LangGraph supervisor orchestrates the steps with checkpointing and human-in-the-loop interrupt nodes. Every decision is logged append-only — timestamp, agent, prompt, rationale, source spans — aligned to NIST and ISO/IEC 42001.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1143000" y="754335"/>
            <a:ext cx="312949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 · THEME 10 — REGULATION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Regulatory and industry timeline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657674"/>
            <a:ext cx="16002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8"/>
          <p:cNvSpPr/>
          <p:nvPr/>
        </p:nvSpPr>
        <p:spPr>
          <a:xfrm>
            <a:off x="1143000" y="6691387"/>
            <a:ext cx="12194762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rPr b="0" i="0" lang="en-US" sz="1875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Compressed windows and mixed MT564 / seev.031 feeds raise the premium on normalising early. No corporate-actions-specific DTCC legacy sunset date was found publicly — verify with BNY’s DTCC liaison.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F4F4F4">
                <a:alpha val="90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978471" y="2514600"/>
            <a:ext cx="4405625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1095524" y="7132290"/>
            <a:ext cx="6611466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Recommendations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"/>
          <p:cNvSpPr/>
          <p:nvPr/>
        </p:nvSpPr>
        <p:spPr>
          <a:xfrm>
            <a:off x="1143000" y="754335"/>
            <a:ext cx="249855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·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Plan by stage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3657674"/>
            <a:ext cx="16002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0"/>
          <p:cNvSpPr/>
          <p:nvPr/>
        </p:nvSpPr>
        <p:spPr>
          <a:xfrm>
            <a:off x="1143000" y="6691387"/>
            <a:ext cx="12194762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rPr b="0" i="0" lang="en-US" sz="1875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Gates: ≥90% precision in the top confidence band and ≥95% grounding coverage before adding features; the large majority of injected amendments flagged; auto-processed events hold a ≥95% precision floor.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1143000" y="754335"/>
            <a:ext cx="249855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·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Evaluation framework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1143000" y="32690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/>
          <p:nvPr/>
        </p:nvSpPr>
        <p:spPr>
          <a:xfrm>
            <a:off x="5257800" y="3162300"/>
            <a:ext cx="363569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Extraction accuracy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13487400" y="3242370"/>
            <a:ext cx="3735556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field-level precision, recall, F1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1143000" y="41834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1"/>
          <p:cNvSpPr/>
          <p:nvPr/>
        </p:nvSpPr>
        <p:spPr>
          <a:xfrm>
            <a:off x="5257800" y="4076700"/>
            <a:ext cx="682756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Completeness of material information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13487400" y="4156770"/>
            <a:ext cx="376732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recall against a custodian checklist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1"/>
          <p:cNvSpPr/>
          <p:nvPr/>
        </p:nvSpPr>
        <p:spPr>
          <a:xfrm>
            <a:off x="1143000" y="50978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1"/>
          <p:cNvSpPr/>
          <p:nvPr/>
        </p:nvSpPr>
        <p:spPr>
          <a:xfrm>
            <a:off x="5257800" y="4991100"/>
            <a:ext cx="320865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Source grounding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/>
          <p:nvPr/>
        </p:nvSpPr>
        <p:spPr>
          <a:xfrm>
            <a:off x="13487400" y="5071170"/>
            <a:ext cx="376732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% fields with a verified verbatim span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1"/>
          <p:cNvSpPr/>
          <p:nvPr/>
        </p:nvSpPr>
        <p:spPr>
          <a:xfrm>
            <a:off x="1143000" y="60122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5257800" y="5905500"/>
            <a:ext cx="40531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Amendment detection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13487400" y="5985570"/>
            <a:ext cx="3767328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precision and recall on supersessions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1143000" y="6926610"/>
            <a:ext cx="317153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5980A6"/>
                </a:solidFill>
                <a:latin typeface="Barlow"/>
                <a:ea typeface="Barlow"/>
                <a:cs typeface="Barlow"/>
                <a:sym typeface="Barlow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5257800" y="6819900"/>
            <a:ext cx="496175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"/>
              <a:buNone/>
            </a:pPr>
            <a:r>
              <a:rPr b="0" i="0" lang="en-US" sz="30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Escalation appropriateness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/>
          <p:nvPr/>
        </p:nvSpPr>
        <p:spPr>
          <a:xfrm>
            <a:off x="13487400" y="6899970"/>
            <a:ext cx="3924151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coverage–risk trade-off (AURC)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1143000" y="754335"/>
            <a:ext cx="249855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 ·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Caveats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916305" y="3202335"/>
            <a:ext cx="13637895" cy="57509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The two anchor papers are recent preprints; VersionRAG was validated on technical documentation, not filings — re-benchmark on corporate actions.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Manual-processing and loss figures are survey-based and from 2021; volume shares come from trade press. Cite as indicative.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Vendor LLM claims come from vendor marketing and are unverified.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550"/>
              <a:buFont typeface="Barlow"/>
              <a:buNone/>
            </a:pPr>
            <a:r>
              <a:rPr b="0" i="0" lang="en-US" sz="255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Scarce prior work means no ready benchmark — building the gold set is effort, and also a contribution.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4" name="Google Shape;30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3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F4F4F4">
                <a:alpha val="902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978471" y="2514600"/>
            <a:ext cx="4571546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1095524" y="7132290"/>
            <a:ext cx="5890238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Investment case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1143000" y="8378355"/>
            <a:ext cx="11980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F2F2F4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F2F2F4"/>
                </a:solidFill>
                <a:latin typeface="Barlow"/>
                <a:ea typeface="Barlow"/>
                <a:cs typeface="Barlow"/>
                <a:sym typeface="Barlow"/>
              </a:rPr>
              <a:t>A five-year return model for the system — what it saves, what it costs, and the tests that decide.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1143000" y="754335"/>
            <a:ext cx="240352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question the model answers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11430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question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1143000" y="4156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Spend once to build the system in year 0. Does what it saves over the next five years justify that spend?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1143000" y="5356920"/>
            <a:ext cx="8549640" cy="6248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995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Net = Benefits − Costs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1143000" y="6671370"/>
            <a:ext cx="8549640" cy="2248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Computed for each of the five years.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93726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decision test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9372600" y="4156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Five years of Net, valued in today’s dollars, must exceed the build cost — NPV ≥ 0.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9372600" y="5299770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Everything in the model exists to define that yearly Net: the baseline of manual work today, what the AI changes, and the cost of running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5"/>
          <p:cNvSpPr/>
          <p:nvPr/>
        </p:nvSpPr>
        <p:spPr>
          <a:xfrm>
            <a:off x="1143000" y="754335"/>
            <a:ext cx="240352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Benefits: released hours and avoided errors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11430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Released hours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1143000" y="4156770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Baseline: events in scope × share not straight-through × minutes per manual event → hours → FTE → labour cost, split mandatory vs voluntary.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1143000" y="5756970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61950" lvl="0" marL="45720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Char char="-"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Lever 1 fully automates a share of today’s manual events. </a:t>
            </a:r>
            <a:endParaRPr b="0" i="0" sz="2100" u="none" cap="none" strike="noStrike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Char char="-"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Lever 2 shortens handling time where a person is still needed — data pre-filled, source cited.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5"/>
          <p:cNvSpPr/>
          <p:nvPr/>
        </p:nvSpPr>
        <p:spPr>
          <a:xfrm>
            <a:off x="1143000" y="73571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/>
          <p:nvPr/>
        </p:nvSpPr>
        <p:spPr>
          <a:xfrm>
            <a:off x="1143000" y="8257236"/>
            <a:ext cx="8549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Labour benefit = hours released × cost per FTE × realisation rate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9372600" y="3162374"/>
            <a:ext cx="854964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Avoided errors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9372600" y="4156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Start from today’s annual error cost — make-goods, claims, remediation.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9372600" y="5299770"/>
            <a:ext cx="8005572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Count only the share rooted in data sourcing and validation, then the share of that the AI eliminates.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9372600" y="6402735"/>
            <a:ext cx="8005572" cy="7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Error benefit = annual error cost × share rooted in sourcing × share eliminated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9372600" y="7585695"/>
            <a:ext cx="8005572" cy="1139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9" name="Google Shape;3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6"/>
          <p:cNvSpPr/>
          <p:nvPr/>
        </p:nvSpPr>
        <p:spPr>
          <a:xfrm>
            <a:off x="1143000" y="754335"/>
            <a:ext cx="240352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Costs: four lines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11430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Build and integration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1143000" y="4156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One-time, in year 0. Year-0 Net equals minus the build.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52578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Run and maintenance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5257800" y="4156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Annual, expressed as a share of the build cost.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93726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AI 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9372600" y="4156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Per event, scaling with volume as adoption ramps.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13487400" y="3162374"/>
            <a:ext cx="40233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Governance and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13487400" y="4156770"/>
            <a:ext cx="3767328" cy="682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Annual model-risk, oversight and platform cost.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1143000" y="6402735"/>
            <a:ext cx="14106890" cy="2647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Yearly Net = labour benefit + error benefit − costs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7" name="Google Shape;3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7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1143000" y="754335"/>
            <a:ext cx="2403522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1095524" y="1645965"/>
            <a:ext cx="17654424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Outputs and the question each answers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1143000" y="25146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5257800" y="2514674"/>
            <a:ext cx="82478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QUESTION IT ANSWERS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13487400" y="25146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1143000" y="3429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Payback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5257800" y="3429074"/>
            <a:ext cx="82478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How many years until cumulative savings cover the build?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13487400" y="3429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1143000" y="4572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ROI on upfront investment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5257800" y="4572074"/>
            <a:ext cx="82478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Net operating benefit earned on the build — five-year and per-year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13487400" y="4572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1143000" y="5715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Break-even build cost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5257800" y="5715074"/>
            <a:ext cx="82478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The most the build could cost before the case stops working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7"/>
          <p:cNvSpPr/>
          <p:nvPr/>
        </p:nvSpPr>
        <p:spPr>
          <a:xfrm>
            <a:off x="13487400" y="5715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7"/>
          <p:cNvSpPr/>
          <p:nvPr/>
        </p:nvSpPr>
        <p:spPr>
          <a:xfrm>
            <a:off x="1143000" y="6858074"/>
            <a:ext cx="4009644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NPV and IRR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7"/>
          <p:cNvSpPr/>
          <p:nvPr/>
        </p:nvSpPr>
        <p:spPr>
          <a:xfrm>
            <a:off x="5257800" y="6858074"/>
            <a:ext cx="824788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Value in today’s dollars and the equivalent annual return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13487400" y="6858074"/>
            <a:ext cx="3767328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1143000" y="8291587"/>
            <a:ext cx="13023533" cy="20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2" name="Google Shape;39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3000" y="8755410"/>
            <a:ext cx="5163443" cy="159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8"/>
          <p:cNvSpPr/>
          <p:nvPr/>
        </p:nvSpPr>
        <p:spPr>
          <a:xfrm>
            <a:off x="1143000" y="1143000"/>
            <a:ext cx="16011525" cy="8010525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9525">
            <a:solidFill>
              <a:srgbClr val="1A1A26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8"/>
          <p:cNvSpPr/>
          <p:nvPr/>
        </p:nvSpPr>
        <p:spPr>
          <a:xfrm>
            <a:off x="13305160" y="754335"/>
            <a:ext cx="4223824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CORPORATE ACTION INTELLIGENCE 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1000423" y="3794745"/>
            <a:ext cx="17759035" cy="19583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5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600"/>
              <a:buFont typeface="Barlow Condensed"/>
              <a:buNone/>
            </a:pPr>
            <a:r>
              <a:rPr b="1" i="0" lang="en-US" sz="216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8"/>
          <p:cNvSpPr/>
          <p:nvPr/>
        </p:nvSpPr>
        <p:spPr>
          <a:xfrm>
            <a:off x="1143000" y="6726760"/>
            <a:ext cx="126135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Questions, and what we should verify with BNY before Stage 1 closes.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8"/>
          <p:cNvSpPr/>
          <p:nvPr/>
        </p:nvSpPr>
        <p:spPr>
          <a:xfrm>
            <a:off x="1143000" y="8755410"/>
            <a:ext cx="146807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8"/>
          <p:cNvSpPr/>
          <p:nvPr/>
        </p:nvSpPr>
        <p:spPr>
          <a:xfrm>
            <a:off x="2649066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8"/>
          <p:cNvSpPr/>
          <p:nvPr/>
        </p:nvSpPr>
        <p:spPr>
          <a:xfrm>
            <a:off x="2868588" y="8755410"/>
            <a:ext cx="2134218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Pranshul Bhatnagar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4980236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8"/>
          <p:cNvSpPr/>
          <p:nvPr/>
        </p:nvSpPr>
        <p:spPr>
          <a:xfrm>
            <a:off x="5199757" y="8755410"/>
            <a:ext cx="729109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Alex Li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8"/>
          <p:cNvSpPr/>
          <p:nvPr/>
        </p:nvSpPr>
        <p:spPr>
          <a:xfrm>
            <a:off x="6024116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6243638" y="8755410"/>
            <a:ext cx="1399156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Kedar Vaidya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7687047" y="8755410"/>
            <a:ext cx="124271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7906569" y="8755410"/>
            <a:ext cx="1259904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Aaron Jiang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