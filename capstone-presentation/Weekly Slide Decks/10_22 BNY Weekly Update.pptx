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10287000" cx="18288000"/>
  <p:notesSz cx="10287000" cy="18288000"/>
  <p:embeddedFontLst>
    <p:embeddedFont>
      <p:font typeface="Barlow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arlow-bold.fntdata"/><Relationship Id="rId10" Type="http://schemas.openxmlformats.org/officeDocument/2006/relationships/font" Target="fonts/Barlow-regular.fntdata"/><Relationship Id="rId13" Type="http://schemas.openxmlformats.org/officeDocument/2006/relationships/font" Target="fonts/Barlow-boldItalic.fntdata"/><Relationship Id="rId12" Type="http://schemas.openxmlformats.org/officeDocument/2006/relationships/font" Target="fonts/Barlow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/>
          <p:nvPr>
            <p:ph idx="2" type="sldImg"/>
          </p:nvPr>
        </p:nvSpPr>
        <p:spPr>
          <a:xfrm>
            <a:off x="571950" y="1371600"/>
            <a:ext cx="91440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short update: what we changed after last week's demo, one extraction issue we found while reviewing our output, and what comes next.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workstreams this week, all prompted by the demo discussion. Dates: capture the effective date and the deadlines a holder acts on. Event type: every event gets mandatory, voluntary, or mandatory with options. Standardization: free-text answers become consistent formats. Validation: check each step of the pipeline on different filing and event types.</a:t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reviewing tender-offer output we found filings with many CUSIPs in one field. Example: Ares Core Infrastructure Fund, SC TO-I filed Feb 20, 2026. The six CUSIPs are all correct, but the filing pairs each share class with its own CUSIP and our output lost that pairing, so a holder cannot tell which CUSIP is theirs. 168 of 613 tender-offer rows have more than one CUSIP. Cause: the schema had a single text field for CUSIP. Fix: return a list of securities per record, check every CUSIP appears in the filing, and re-run the affected filings. Mergers need the same fix.</a:t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we update the schema and prompt and re-run the affected filings, comparing before and after. CUSIP accuracy per share class becomes part of our field-level evaluation, and we extend the fix to mergers. To be clear on status: extraction outputs are not yet verified against the filings, and catching issues like this one is exactly what the evaluation is for.</a:t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571950" y="1371600"/>
            <a:ext cx="91440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 and feedback.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f4af6847654f19e_7_0)">
  <p:cSld name="Generated (h5f4af6847654f19e_7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NY_CONTENT">
  <p:cSld name="BNY_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822960" y="9646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NY_TITLE">
  <p:cSld name="BNY_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NY_SECTION">
  <p:cSld name="BNY_SECTION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22960" y="3931920"/>
            <a:ext cx="12801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5"/>
          <p:cNvSpPr/>
          <p:nvPr/>
        </p:nvSpPr>
        <p:spPr>
          <a:xfrm>
            <a:off x="822960" y="9646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NY_CLOSING">
  <p:cSld name="BNY_CLOSING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822960" y="9646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BNY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88ad8e03_36_0)">
  <p:cSld name="Generated (g3fb88ad8e03_36_0)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6550640" y="9646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10"/>
          <p:cNvGrpSpPr/>
          <p:nvPr/>
        </p:nvGrpSpPr>
        <p:grpSpPr>
          <a:xfrm>
            <a:off x="1143000" y="1660427"/>
            <a:ext cx="15674100" cy="5111700"/>
            <a:chOff x="0" y="0"/>
            <a:chExt cx="15674100" cy="5111700"/>
          </a:xfrm>
        </p:grpSpPr>
        <p:sp>
          <p:nvSpPr>
            <p:cNvPr id="33" name="Google Shape;33;p10"/>
            <p:cNvSpPr/>
            <p:nvPr/>
          </p:nvSpPr>
          <p:spPr>
            <a:xfrm>
              <a:off x="0" y="0"/>
              <a:ext cx="15674100" cy="5111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0"/>
            <p:cNvSpPr txBox="1"/>
            <p:nvPr/>
          </p:nvSpPr>
          <p:spPr>
            <a:xfrm>
              <a:off x="0" y="0"/>
              <a:ext cx="15674100" cy="5111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1" i="0" lang="en-US" sz="15000" u="none" cap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BNY</a:t>
              </a:r>
              <a:endParaRPr b="1" i="0" sz="15000" u="none" cap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Corporate Action Intelligence</a:t>
              </a:r>
              <a:endParaRPr b="1" i="0" sz="8000" u="none" cap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10"/>
          <p:cNvSpPr/>
          <p:nvPr/>
        </p:nvSpPr>
        <p:spPr>
          <a:xfrm>
            <a:off x="1285999" y="7703334"/>
            <a:ext cx="14372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0"/>
          <p:cNvSpPr/>
          <p:nvPr/>
        </p:nvSpPr>
        <p:spPr>
          <a:xfrm>
            <a:off x="1285875" y="7048500"/>
            <a:ext cx="1333500" cy="57300"/>
          </a:xfrm>
          <a:prstGeom prst="roundRect">
            <a:avLst>
              <a:gd fmla="val 50000" name="adj"/>
            </a:avLst>
          </a:pr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/>
          <p:nvPr/>
        </p:nvSpPr>
        <p:spPr>
          <a:xfrm>
            <a:off x="1285999" y="7334250"/>
            <a:ext cx="14372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4243C"/>
                </a:solidFill>
                <a:latin typeface="Barlow"/>
                <a:ea typeface="Barlow"/>
                <a:cs typeface="Barlow"/>
                <a:sym typeface="Barlow"/>
              </a:rPr>
              <a:t>Corporate Action Intelligence Team</a:t>
            </a:r>
            <a:endParaRPr b="1" i="0" sz="2000" u="none" cap="none" strike="noStrike">
              <a:solidFill>
                <a:srgbClr val="04243C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Barlow"/>
                <a:ea typeface="Barlow"/>
                <a:cs typeface="Barlow"/>
                <a:sym typeface="Barlow"/>
              </a:rPr>
              <a:t>Aesha Gandhi, Pranshul Bhatnagar, Alex Li, Kedar Vaidya, Aaron Jiang</a:t>
            </a:r>
            <a:endParaRPr b="1" i="0" sz="1600" u="none" cap="none" strike="noStrike">
              <a:solidFill>
                <a:srgbClr val="04243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" name="Google Shape;38;p10"/>
          <p:cNvSpPr txBox="1"/>
          <p:nvPr/>
        </p:nvSpPr>
        <p:spPr>
          <a:xfrm>
            <a:off x="1289304" y="6172200"/>
            <a:ext cx="143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Weekly update: </a:t>
            </a:r>
            <a:r>
              <a:rPr lang="en-US" sz="2600">
                <a:solidFill>
                  <a:srgbClr val="475569"/>
                </a:solidFill>
              </a:rPr>
              <a:t>incorporating </a:t>
            </a:r>
            <a:r>
              <a:rPr b="0" i="0" lang="en-US" sz="2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demo feedback</a:t>
            </a:r>
            <a:r>
              <a:rPr lang="en-US" sz="2600">
                <a:solidFill>
                  <a:srgbClr val="475569"/>
                </a:solidFill>
              </a:rPr>
              <a:t>, </a:t>
            </a:r>
            <a:r>
              <a:rPr b="0" i="0" lang="en-US" sz="2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validating the pipeline, p</a:t>
            </a:r>
            <a:r>
              <a:rPr lang="en-US" sz="2600">
                <a:solidFill>
                  <a:srgbClr val="475569"/>
                </a:solidFill>
              </a:rPr>
              <a:t>reparing for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THIS WEEK</a:t>
            </a:r>
            <a:endParaRPr/>
          </a:p>
        </p:txBody>
      </p:sp>
      <p:sp>
        <p:nvSpPr>
          <p:cNvPr id="45" name="Google Shape;45;p11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We're building on last week's demo feedback</a:t>
            </a:r>
            <a:endParaRPr/>
          </a:p>
        </p:txBody>
      </p:sp>
      <p:sp>
        <p:nvSpPr>
          <p:cNvPr id="46" name="Google Shape;46;p11"/>
          <p:cNvSpPr/>
          <p:nvPr/>
        </p:nvSpPr>
        <p:spPr>
          <a:xfrm>
            <a:off x="822960" y="2194560"/>
            <a:ext cx="3886200" cy="57607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1"/>
          <p:cNvSpPr/>
          <p:nvPr/>
        </p:nvSpPr>
        <p:spPr>
          <a:xfrm>
            <a:off x="822960" y="2194560"/>
            <a:ext cx="3886200" cy="1417320"/>
          </a:xfrm>
          <a:prstGeom prst="rect">
            <a:avLst/>
          </a:prstGeom>
          <a:solidFill>
            <a:srgbClr val="CFE6E9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1097280" y="2450592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lendar-days_FFFFFF.png" id="49" name="Google Shape;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736" y="26700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/>
        </p:nvSpPr>
        <p:spPr>
          <a:xfrm>
            <a:off x="2194560" y="2194560"/>
            <a:ext cx="2377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dates</a:t>
            </a:r>
            <a:endParaRPr/>
          </a:p>
        </p:txBody>
      </p:sp>
      <p:sp>
        <p:nvSpPr>
          <p:cNvPr id="51" name="Google Shape;51;p11"/>
          <p:cNvSpPr txBox="1"/>
          <p:nvPr/>
        </p:nvSpPr>
        <p:spPr>
          <a:xfrm>
            <a:off x="1143000" y="3886200"/>
            <a:ext cx="324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475569"/>
                </a:solidFill>
              </a:rPr>
              <a:t>Ensure each event tracks important dates</a:t>
            </a:r>
            <a:endParaRPr/>
          </a:p>
        </p:txBody>
      </p:sp>
      <p:sp>
        <p:nvSpPr>
          <p:cNvPr id="52" name="Google Shape;52;p11"/>
          <p:cNvSpPr/>
          <p:nvPr/>
        </p:nvSpPr>
        <p:spPr>
          <a:xfrm>
            <a:off x="1143000" y="49834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date</a:t>
            </a:r>
            <a:endParaRPr/>
          </a:p>
        </p:txBody>
      </p:sp>
      <p:sp>
        <p:nvSpPr>
          <p:cNvPr id="53" name="Google Shape;53;p11"/>
          <p:cNvSpPr/>
          <p:nvPr/>
        </p:nvSpPr>
        <p:spPr>
          <a:xfrm>
            <a:off x="1143000" y="58978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Deadlines</a:t>
            </a:r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1143000" y="68122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Pay dates</a:t>
            </a:r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5074920" y="2194560"/>
            <a:ext cx="3886200" cy="57607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1"/>
          <p:cNvSpPr/>
          <p:nvPr/>
        </p:nvSpPr>
        <p:spPr>
          <a:xfrm>
            <a:off x="5074920" y="2194560"/>
            <a:ext cx="3886200" cy="1417320"/>
          </a:xfrm>
          <a:prstGeom prst="rect">
            <a:avLst/>
          </a:prstGeom>
          <a:solidFill>
            <a:srgbClr val="E6D9BC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/>
          <p:nvPr/>
        </p:nvSpPr>
        <p:spPr>
          <a:xfrm>
            <a:off x="5349240" y="2450592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-checks_FFFFFF.png" id="58" name="Google Shape;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8696" y="26700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/>
          <p:nvPr/>
        </p:nvSpPr>
        <p:spPr>
          <a:xfrm>
            <a:off x="6446520" y="2194560"/>
            <a:ext cx="2377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Mandatory or voluntary</a:t>
            </a:r>
            <a:endParaRPr/>
          </a:p>
        </p:txBody>
      </p:sp>
      <p:sp>
        <p:nvSpPr>
          <p:cNvPr id="60" name="Google Shape;60;p11"/>
          <p:cNvSpPr txBox="1"/>
          <p:nvPr/>
        </p:nvSpPr>
        <p:spPr>
          <a:xfrm>
            <a:off x="5394960" y="388620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Classify every corporate action</a:t>
            </a:r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5394960" y="49834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Mandatory</a:t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5394960" y="58978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Voluntary</a:t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5394960" y="68122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Mandatory with options</a:t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9326880" y="2194560"/>
            <a:ext cx="3886200" cy="57607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9326880" y="2194560"/>
            <a:ext cx="3886200" cy="1417320"/>
          </a:xfrm>
          <a:prstGeom prst="rect">
            <a:avLst/>
          </a:prstGeom>
          <a:solidFill>
            <a:srgbClr val="D5E3EA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1"/>
          <p:cNvSpPr/>
          <p:nvPr/>
        </p:nvSpPr>
        <p:spPr>
          <a:xfrm>
            <a:off x="9601200" y="2450592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lign-left_FFFFFF.png" id="67" name="Google Shape;6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0656" y="26700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/>
          <p:nvPr/>
        </p:nvSpPr>
        <p:spPr>
          <a:xfrm>
            <a:off x="10698480" y="2194560"/>
            <a:ext cx="2377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Free-text standardization</a:t>
            </a:r>
            <a:endParaRPr/>
          </a:p>
        </p:txBody>
      </p:sp>
      <p:sp>
        <p:nvSpPr>
          <p:cNvPr id="69" name="Google Shape;69;p11"/>
          <p:cNvSpPr txBox="1"/>
          <p:nvPr/>
        </p:nvSpPr>
        <p:spPr>
          <a:xfrm>
            <a:off x="9646920" y="3886200"/>
            <a:ext cx="324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Consisten</a:t>
            </a:r>
            <a:r>
              <a:rPr lang="en-US" sz="1900">
                <a:solidFill>
                  <a:srgbClr val="475569"/>
                </a:solidFill>
              </a:rPr>
              <a:t>t client-ready text built from extracted key facts</a:t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9646920" y="49834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Same key facts every time</a:t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9646920" y="58978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Right detail for clients</a:t>
            </a: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9646920" y="68122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Tender offers + mergers</a:t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13578840" y="2194560"/>
            <a:ext cx="3886200" cy="57607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13578840" y="2194560"/>
            <a:ext cx="3886200" cy="1417320"/>
          </a:xfrm>
          <a:prstGeom prst="rect">
            <a:avLst/>
          </a:prstGeom>
          <a:solidFill>
            <a:srgbClr val="EBD3C6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13853160" y="2450592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-search_FFFFFF.png" id="76" name="Google Shape;7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72616" y="26700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/>
        </p:nvSpPr>
        <p:spPr>
          <a:xfrm>
            <a:off x="14950440" y="2194560"/>
            <a:ext cx="2377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 validation</a:t>
            </a:r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13898880" y="388620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Check every step on varied filings</a:t>
            </a:r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13898880" y="49834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pipeline step</a:t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13898880" y="58978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filing type</a:t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13898880" y="6812280"/>
            <a:ext cx="3246120" cy="7315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event type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822960" y="548640"/>
            <a:ext cx="146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ISSUE FOUND IN REVIEW</a:t>
            </a:r>
            <a:endParaRPr/>
          </a:p>
        </p:txBody>
      </p:sp>
      <p:sp>
        <p:nvSpPr>
          <p:cNvPr id="88" name="Google Shape;88;p12"/>
          <p:cNvSpPr txBox="1"/>
          <p:nvPr>
            <p:ph type="title"/>
          </p:nvPr>
        </p:nvSpPr>
        <p:spPr>
          <a:xfrm>
            <a:off x="822960" y="960120"/>
            <a:ext cx="1664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classes and CUSIPs: an issue we found, and how we're fixing it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>
            <a:off x="822960" y="2148840"/>
            <a:ext cx="1664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Ares Core Infrastructure Fund, tender offer (SC TO-I)</a:t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822960" y="2743200"/>
            <a:ext cx="6949440" cy="44805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1188720" y="30175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BEFORE: one flat field</a:t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1188720" y="3657600"/>
            <a:ext cx="6217920" cy="2011680"/>
          </a:xfrm>
          <a:prstGeom prst="roundRect">
            <a:avLst>
              <a:gd fmla="val 18000" name="adj"/>
            </a:avLst>
          </a:prstGeom>
          <a:solidFill>
            <a:srgbClr val="F3E1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2"/>
          <p:cNvSpPr txBox="1"/>
          <p:nvPr/>
        </p:nvSpPr>
        <p:spPr>
          <a:xfrm>
            <a:off x="1463040" y="3657600"/>
            <a:ext cx="56692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04021D108; 04021D207; U22185109; 04021D306; 04021D405; 04021D504</a:t>
            </a:r>
            <a:endParaRPr/>
          </a:p>
        </p:txBody>
      </p:sp>
      <p:sp>
        <p:nvSpPr>
          <p:cNvPr id="94" name="Google Shape;94;p12"/>
          <p:cNvSpPr txBox="1"/>
          <p:nvPr/>
        </p:nvSpPr>
        <p:spPr>
          <a:xfrm>
            <a:off x="1188720" y="598932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Six correct CUSIPs, but which one is Class D?</a:t>
            </a:r>
            <a:endParaRPr/>
          </a:p>
        </p:txBody>
      </p:sp>
      <p:cxnSp>
        <p:nvCxnSpPr>
          <p:cNvPr id="95" name="Google Shape;95;p12"/>
          <p:cNvCxnSpPr/>
          <p:nvPr/>
        </p:nvCxnSpPr>
        <p:spPr>
          <a:xfrm>
            <a:off x="7909560" y="4983480"/>
            <a:ext cx="73152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12"/>
          <p:cNvSpPr/>
          <p:nvPr/>
        </p:nvSpPr>
        <p:spPr>
          <a:xfrm>
            <a:off x="8778240" y="2743200"/>
            <a:ext cx="8686800" cy="44805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9144000" y="301752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AFTER: one row per share class</a:t>
            </a: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9144000" y="3611880"/>
            <a:ext cx="7955279" cy="5486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9372600" y="3611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Share class</a:t>
            </a: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11521440" y="36118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CUSIP</a:t>
            </a:r>
            <a:endParaRPr/>
          </a:p>
        </p:txBody>
      </p:sp>
      <p:sp>
        <p:nvSpPr>
          <p:cNvPr id="101" name="Google Shape;101;p12"/>
          <p:cNvSpPr/>
          <p:nvPr/>
        </p:nvSpPr>
        <p:spPr>
          <a:xfrm>
            <a:off x="9144000" y="4160520"/>
            <a:ext cx="7955279" cy="7132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2"/>
          <p:cNvSpPr txBox="1"/>
          <p:nvPr/>
        </p:nvSpPr>
        <p:spPr>
          <a:xfrm>
            <a:off x="9372600" y="4160520"/>
            <a:ext cx="2011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I</a:t>
            </a:r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11521440" y="4160520"/>
            <a:ext cx="5486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04021D108  ·  04021D207  ·  U22185109</a:t>
            </a:r>
            <a:endParaRPr/>
          </a:p>
        </p:txBody>
      </p:sp>
      <p:sp>
        <p:nvSpPr>
          <p:cNvPr id="104" name="Google Shape;104;p12"/>
          <p:cNvSpPr/>
          <p:nvPr/>
        </p:nvSpPr>
        <p:spPr>
          <a:xfrm>
            <a:off x="9144000" y="4873752"/>
            <a:ext cx="7955279" cy="7132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9372600" y="4873752"/>
            <a:ext cx="2011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</a:t>
            </a:r>
            <a:endParaRPr/>
          </a:p>
        </p:txBody>
      </p:sp>
      <p:sp>
        <p:nvSpPr>
          <p:cNvPr id="106" name="Google Shape;106;p12"/>
          <p:cNvSpPr txBox="1"/>
          <p:nvPr/>
        </p:nvSpPr>
        <p:spPr>
          <a:xfrm>
            <a:off x="11521440" y="4873752"/>
            <a:ext cx="5486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04021D306</a:t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9144000" y="5586983"/>
            <a:ext cx="7955279" cy="7132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9372600" y="5586983"/>
            <a:ext cx="2011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N</a:t>
            </a:r>
            <a:endParaRPr/>
          </a:p>
        </p:txBody>
      </p:sp>
      <p:sp>
        <p:nvSpPr>
          <p:cNvPr id="109" name="Google Shape;109;p12"/>
          <p:cNvSpPr txBox="1"/>
          <p:nvPr/>
        </p:nvSpPr>
        <p:spPr>
          <a:xfrm>
            <a:off x="11521440" y="5586983"/>
            <a:ext cx="5486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04021D405</a:t>
            </a:r>
            <a:endParaRPr/>
          </a:p>
        </p:txBody>
      </p:sp>
      <p:sp>
        <p:nvSpPr>
          <p:cNvPr id="110" name="Google Shape;110;p12"/>
          <p:cNvSpPr/>
          <p:nvPr/>
        </p:nvSpPr>
        <p:spPr>
          <a:xfrm>
            <a:off x="9144000" y="6300216"/>
            <a:ext cx="7955279" cy="7132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9372600" y="6300216"/>
            <a:ext cx="2011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S</a:t>
            </a:r>
            <a:endParaRPr/>
          </a:p>
        </p:txBody>
      </p:sp>
      <p:sp>
        <p:nvSpPr>
          <p:cNvPr id="112" name="Google Shape;112;p12"/>
          <p:cNvSpPr txBox="1"/>
          <p:nvPr/>
        </p:nvSpPr>
        <p:spPr>
          <a:xfrm>
            <a:off x="11521440" y="6300216"/>
            <a:ext cx="5486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04021D504</a:t>
            </a:r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822960" y="7543800"/>
            <a:ext cx="5303520" cy="1600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1143000" y="768096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168 of 613</a:t>
            </a:r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1143000" y="822960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tender-offer rows list more than one CUSIP</a:t>
            </a: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6492240" y="7543800"/>
            <a:ext cx="5303520" cy="1600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6812280" y="768096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6812280" y="822960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single text field for CUSIP, not a list of securities</a:t>
            </a:r>
            <a:endParaRPr/>
          </a:p>
        </p:txBody>
      </p:sp>
      <p:sp>
        <p:nvSpPr>
          <p:cNvPr id="119" name="Google Shape;119;p12"/>
          <p:cNvSpPr/>
          <p:nvPr/>
        </p:nvSpPr>
        <p:spPr>
          <a:xfrm>
            <a:off x="12161520" y="7543800"/>
            <a:ext cx="5303520" cy="1600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2481560" y="768096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Fix</a:t>
            </a:r>
            <a:endParaRPr/>
          </a:p>
        </p:txBody>
      </p:sp>
      <p:sp>
        <p:nvSpPr>
          <p:cNvPr id="121" name="Google Shape;121;p12"/>
          <p:cNvSpPr txBox="1"/>
          <p:nvPr/>
        </p:nvSpPr>
        <p:spPr>
          <a:xfrm>
            <a:off x="12481560" y="822960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securities list per record + check each CUSIP appears in the filing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822960" y="548640"/>
            <a:ext cx="1463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/>
          </a:p>
        </p:txBody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822960" y="960120"/>
            <a:ext cx="16642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Next: re-run affected filings, then measure accuracy field by field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822944" y="2194550"/>
            <a:ext cx="16642200" cy="1234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1253347" y="2468870"/>
            <a:ext cx="685800" cy="685800"/>
          </a:xfrm>
          <a:prstGeom prst="ellipse">
            <a:avLst/>
          </a:pr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2286000" y="2349998"/>
            <a:ext cx="147447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Re-run with the new schema</a:t>
            </a:r>
            <a:endParaRPr b="1" sz="22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2286000" y="2880350"/>
            <a:ext cx="147447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Securities list per record; compare before and after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822944" y="3611870"/>
            <a:ext cx="16642200" cy="1234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253347" y="3886190"/>
            <a:ext cx="685800" cy="685800"/>
          </a:xfrm>
          <a:prstGeom prst="ellipse">
            <a:avLst/>
          </a:pr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2286000" y="3767318"/>
            <a:ext cx="147447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Measure accuracy per field</a:t>
            </a:r>
            <a:endParaRPr b="1" sz="22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2286000" y="4297670"/>
            <a:ext cx="147447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Including CUSIP for each share class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822944" y="5029190"/>
            <a:ext cx="16642200" cy="1234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253347" y="5303510"/>
            <a:ext cx="685800" cy="685800"/>
          </a:xfrm>
          <a:prstGeom prst="ellipse">
            <a:avLst/>
          </a:pr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2286000" y="5184638"/>
            <a:ext cx="147447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Extend to mergers</a:t>
            </a:r>
            <a:endParaRPr b="1" sz="22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2286000" y="5714990"/>
            <a:ext cx="147447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Dates, mandatory/voluntary and securities for every class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822944" y="6446510"/>
            <a:ext cx="16642200" cy="1234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1253347" y="6720830"/>
            <a:ext cx="685800" cy="685800"/>
          </a:xfrm>
          <a:prstGeom prst="ellipse">
            <a:avLst/>
          </a:pr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2286000" y="6601958"/>
            <a:ext cx="147447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Fill CUSIP gaps</a:t>
            </a:r>
            <a:endParaRPr b="1" sz="22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2286000" y="7132310"/>
            <a:ext cx="147447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From a reference data source when the filing has none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822960" y="8092440"/>
            <a:ext cx="16642200" cy="10515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188720" y="8399959"/>
            <a:ext cx="1591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STATUS: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outputs are not yet verified against the filings; our evaluation is built to catch issues like this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4"/>
          <p:cNvGrpSpPr/>
          <p:nvPr/>
        </p:nvGrpSpPr>
        <p:grpSpPr>
          <a:xfrm>
            <a:off x="1143000" y="2095500"/>
            <a:ext cx="15668700" cy="3524250"/>
            <a:chOff x="0" y="0"/>
            <a:chExt cx="15668700" cy="3524250"/>
          </a:xfrm>
        </p:grpSpPr>
        <p:sp>
          <p:nvSpPr>
            <p:cNvPr id="153" name="Google Shape;153;p14"/>
            <p:cNvSpPr txBox="1"/>
            <p:nvPr/>
          </p:nvSpPr>
          <p:spPr>
            <a:xfrm>
              <a:off x="0" y="0"/>
              <a:ext cx="156687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0"/>
                <a:buFont typeface="Arial"/>
                <a:buNone/>
              </a:pPr>
              <a:r>
                <a:rPr b="1" i="0" lang="en-US" sz="10000" u="none" cap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Questions?</a:t>
              </a:r>
              <a:endParaRPr b="1" i="0" sz="10000" u="none" cap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4"/>
            <p:cNvSpPr txBox="1"/>
            <p:nvPr/>
          </p:nvSpPr>
          <p:spPr>
            <a:xfrm>
              <a:off x="0" y="1619250"/>
              <a:ext cx="1566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rgbClr val="2B9CAE"/>
                  </a:solidFill>
                </a:rPr>
                <a:t>Thank you!</a:t>
              </a:r>
              <a:endParaRPr b="1" i="0" sz="3200" u="none" cap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 txBox="1"/>
            <p:nvPr/>
          </p:nvSpPr>
          <p:spPr>
            <a:xfrm>
              <a:off x="0" y="2381250"/>
              <a:ext cx="11430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14"/>
          <p:cNvSpPr txBox="1"/>
          <p:nvPr/>
        </p:nvSpPr>
        <p:spPr>
          <a:xfrm>
            <a:off x="1143000" y="7696200"/>
            <a:ext cx="14363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Corporate Action Intelligence Team</a:t>
            </a:r>
            <a:endParaRPr b="1" i="0" sz="1800" u="none" cap="none" strike="noStrike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Aesha Gandhi, Pranshul Bhatnagar, Alex Li, Kedar Vaidya, Aaron Jiang</a:t>
            </a:r>
            <a:endParaRPr b="1" i="0" sz="1800" u="none" cap="none" strike="noStrike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NY Client Template">
  <a:themeElements>
    <a:clrScheme name="BNY Client Template">
      <a:dk1>
        <a:srgbClr val="04243C"/>
      </a:dk1>
      <a:lt1>
        <a:srgbClr val="FFFFFF"/>
      </a:lt1>
      <a:dk2>
        <a:srgbClr val="475569"/>
      </a:dk2>
      <a:lt2>
        <a:srgbClr val="EEEEEE"/>
      </a:lt2>
      <a:accent1>
        <a:srgbClr val="2B9CAE"/>
      </a:accent1>
      <a:accent2>
        <a:srgbClr val="CFE6E9"/>
      </a:accent2>
      <a:accent3>
        <a:srgbClr val="D8CDB8"/>
      </a:accent3>
      <a:accent4>
        <a:srgbClr val="1E5A7A"/>
      </a:accent4>
      <a:accent5>
        <a:srgbClr val="C9A66B"/>
      </a:accent5>
      <a:accent6>
        <a:srgbClr val="B4552D"/>
      </a:accent6>
      <a:hlink>
        <a:srgbClr val="2B9CAE"/>
      </a:hlink>
      <a:folHlink>
        <a:srgbClr val="4755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NY Client Template">
  <a:themeElements>
    <a:clrScheme name="BNY Client Template">
      <a:dk1>
        <a:srgbClr val="04243C"/>
      </a:dk1>
      <a:lt1>
        <a:srgbClr val="FFFFFF"/>
      </a:lt1>
      <a:dk2>
        <a:srgbClr val="475569"/>
      </a:dk2>
      <a:lt2>
        <a:srgbClr val="F3EBDD"/>
      </a:lt2>
      <a:accent1>
        <a:srgbClr val="2B9CAE"/>
      </a:accent1>
      <a:accent2>
        <a:srgbClr val="CFE6E9"/>
      </a:accent2>
      <a:accent3>
        <a:srgbClr val="D8CDB8"/>
      </a:accent3>
      <a:accent4>
        <a:srgbClr val="1E5A7A"/>
      </a:accent4>
      <a:accent5>
        <a:srgbClr val="C9A66B"/>
      </a:accent5>
      <a:accent6>
        <a:srgbClr val="B4552D"/>
      </a:accent6>
      <a:hlink>
        <a:srgbClr val="2B9CAE"/>
      </a:hlink>
      <a:folHlink>
        <a:srgbClr val="4755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