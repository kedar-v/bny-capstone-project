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10287000" cx="18288000"/>
  <p:notesSz cx="10287000" cy="18288000"/>
  <p:embeddedFontLst>
    <p:embeddedFont>
      <p:font typeface="Arial Narrow"/>
      <p:bold r:id="rId30"/>
      <p:boldItalic r:id="rId31"/>
    </p:embeddedFont>
    <p:embeddedFont>
      <p:font typeface="Barlow Condensed"/>
      <p:regular r:id="rId32"/>
      <p:bold r:id="rId33"/>
      <p:italic r:id="rId34"/>
      <p:boldItalic r:id="rId35"/>
    </p:embeddedFont>
    <p:embeddedFont>
      <p:font typeface="Barlow Medium"/>
      <p:regular r:id="rId36"/>
      <p:bold r:id="rId37"/>
      <p:italic r:id="rId38"/>
      <p:boldItalic r:id="rId39"/>
    </p:embeddedFont>
    <p:embeddedFont>
      <p:font typeface="Barlow SemiBold"/>
      <p:regular r:id="rId40"/>
      <p:bold r:id="rId41"/>
      <p:italic r:id="rId42"/>
      <p:boldItalic r:id="rId43"/>
    </p:embeddedFont>
    <p:embeddedFont>
      <p:font typeface="Barlow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Aesha Gandh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984AAB-7150-4B76-A38B-9C0384E45536}">
  <a:tblStyle styleId="{D2984AAB-7150-4B76-A38B-9C0384E4553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BarlowSemiBold-italic.fntdata"/><Relationship Id="rId41" Type="http://schemas.openxmlformats.org/officeDocument/2006/relationships/font" Target="fonts/BarlowSemiBold-bold.fntdata"/><Relationship Id="rId22" Type="http://schemas.openxmlformats.org/officeDocument/2006/relationships/slide" Target="slides/slide16.xml"/><Relationship Id="rId44" Type="http://schemas.openxmlformats.org/officeDocument/2006/relationships/font" Target="fonts/Barlow-regular.fntdata"/><Relationship Id="rId21" Type="http://schemas.openxmlformats.org/officeDocument/2006/relationships/slide" Target="slides/slide15.xml"/><Relationship Id="rId43" Type="http://schemas.openxmlformats.org/officeDocument/2006/relationships/font" Target="fonts/BarlowSemiBold-boldItalic.fntdata"/><Relationship Id="rId24" Type="http://schemas.openxmlformats.org/officeDocument/2006/relationships/slide" Target="slides/slide18.xml"/><Relationship Id="rId46" Type="http://schemas.openxmlformats.org/officeDocument/2006/relationships/font" Target="fonts/Barlow-italic.fntdata"/><Relationship Id="rId23" Type="http://schemas.openxmlformats.org/officeDocument/2006/relationships/slide" Target="slides/slide17.xml"/><Relationship Id="rId45" Type="http://schemas.openxmlformats.org/officeDocument/2006/relationships/font" Target="fonts/Barlow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Barlow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rialNarrow-boldItalic.fntdata"/><Relationship Id="rId30" Type="http://schemas.openxmlformats.org/officeDocument/2006/relationships/font" Target="fonts/ArialNarrow-bold.fntdata"/><Relationship Id="rId11" Type="http://schemas.openxmlformats.org/officeDocument/2006/relationships/slide" Target="slides/slide5.xml"/><Relationship Id="rId33" Type="http://schemas.openxmlformats.org/officeDocument/2006/relationships/font" Target="fonts/BarlowCondensed-bold.fntdata"/><Relationship Id="rId10" Type="http://schemas.openxmlformats.org/officeDocument/2006/relationships/slide" Target="slides/slide4.xml"/><Relationship Id="rId32" Type="http://schemas.openxmlformats.org/officeDocument/2006/relationships/font" Target="fonts/BarlowCondensed-regular.fntdata"/><Relationship Id="rId13" Type="http://schemas.openxmlformats.org/officeDocument/2006/relationships/slide" Target="slides/slide7.xml"/><Relationship Id="rId35" Type="http://schemas.openxmlformats.org/officeDocument/2006/relationships/font" Target="fonts/BarlowCondensed-boldItalic.fntdata"/><Relationship Id="rId12" Type="http://schemas.openxmlformats.org/officeDocument/2006/relationships/slide" Target="slides/slide6.xml"/><Relationship Id="rId34" Type="http://schemas.openxmlformats.org/officeDocument/2006/relationships/font" Target="fonts/BarlowCondensed-italic.fntdata"/><Relationship Id="rId15" Type="http://schemas.openxmlformats.org/officeDocument/2006/relationships/slide" Target="slides/slide9.xml"/><Relationship Id="rId37" Type="http://schemas.openxmlformats.org/officeDocument/2006/relationships/font" Target="fonts/BarlowMedium-bold.fntdata"/><Relationship Id="rId14" Type="http://schemas.openxmlformats.org/officeDocument/2006/relationships/slide" Target="slides/slide8.xml"/><Relationship Id="rId36" Type="http://schemas.openxmlformats.org/officeDocument/2006/relationships/font" Target="fonts/BarlowMedium-regular.fntdata"/><Relationship Id="rId17" Type="http://schemas.openxmlformats.org/officeDocument/2006/relationships/slide" Target="slides/slide11.xml"/><Relationship Id="rId39" Type="http://schemas.openxmlformats.org/officeDocument/2006/relationships/font" Target="fonts/Barlow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BarlowMedium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16T18:28:58.545">
    <p:pos x="6000" y="0"/>
    <p:text>Kedar - present data and workflow?
Aaron - present research
Alex - present ROI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9-16T18:31:44.043">
    <p:pos x="6000" y="0"/>
    <p:text>only need to briefly just say corporate actions to focus
everything else is just on slide lol don't talk about it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notes for the BNY capstone: which public data sources support corporate-action extraction and validation, and which event types to prioritize.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a7b93dec4_6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fa7b93dec4_6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g3fa7b93dec4_6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b7996a6c8_1_2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g3fb7996a6c8_1_2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b7996a6c8_1_2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7996a6c8_1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b7996a6c8_1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b7996a6c8_1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b7ad4041d_5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fb7ad4041d_5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b7ad4041d_5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b88ad8e03_12_1833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b88ad8e03_12_183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b88ad8e03_12_1833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fb88ad8e03_12_18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fb88ad8e03_12_183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b88ad8e03_12_18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88ad8e03_12_416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fb88ad8e03_12_41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fb88ad8e03_12_416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b88ad8e03_12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b88ad8e03_12_41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b88ad8e03_12_4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b88ad8e03_12_1315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fb88ad8e03_12_131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b88ad8e03_12_1315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b88ad8e03_12_1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b88ad8e03_12_13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fb88ad8e03_12_13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b88ad8e03_12_594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fb88ad8e03_12_59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fb88ad8e03_12_594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fb88ad8e03_12_5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g3fb88ad8e03_12_59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fb88ad8e03_12_5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b88ad8e03_12_1701:notes"/>
          <p:cNvSpPr txBox="1"/>
          <p:nvPr>
            <p:ph idx="2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b88ad8e03_12_1701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fb88ad8e03_12_1701:notes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g3fb88ad8e03_12_17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fb88ad8e03_12_1701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3fb88ad8e03_12_17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b88ad8e03_1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b88ad8e03_1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fb88ad8e03_1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b88ad8e03_12_5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fb88ad8e03_12_5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fb88ad8e03_12_5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2675813497e81b94_26_9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h2675813497e81b94_26_9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h2675813497e81b94_26_126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h2675813497e81b94_26_126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h2675813497e81b94_26_234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h2675813497e81b94_26_234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2675813497e81b94_26_468:notes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h2675813497e81b94_26_468:notes"/>
          <p:cNvSpPr/>
          <p:nvPr>
            <p:ph idx="2" type="sldImg"/>
          </p:nvPr>
        </p:nvSpPr>
        <p:spPr>
          <a:xfrm>
            <a:off x="1714838" y="1371600"/>
            <a:ext cx="6858600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b7ad4041d_18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fb7ad4041d_18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g3fb7ad4041d_18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fb7ad4041d_18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g3fb7ad4041d_18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fb7ad4041d_18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b7ad4041d_18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g3fb7ad4041d_18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g3fb7ad4041d_18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fb7ad4041d_18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3fb7ad4041d_18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fb7ad4041d_18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b7ad4041d_18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5" name="Google Shape;715;g3fb7ad4041d_18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fb7ad4041d_18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fb7996a6c8_1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8" name="Google Shape;738;g3fb7996a6c8_1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g3fb7996a6c8_1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571500" y="7945438"/>
            <a:ext cx="2667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905250" y="7945438"/>
            <a:ext cx="36195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191500" y="7945438"/>
            <a:ext cx="2667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noAutofit/>
          </a:bodyPr>
          <a:lstStyle>
            <a:lvl1pPr indent="0" lvl="0" marL="0" algn="r">
              <a:spcBef>
                <a:spcPts val="0"/>
              </a:spcBef>
              <a:buNone/>
              <a:defRPr sz="1800"/>
            </a:lvl1pPr>
            <a:lvl2pPr indent="0" lvl="1" marL="0" algn="r">
              <a:spcBef>
                <a:spcPts val="0"/>
              </a:spcBef>
              <a:buNone/>
              <a:defRPr sz="1800"/>
            </a:lvl2pPr>
            <a:lvl3pPr indent="0" lvl="2" marL="0" algn="r">
              <a:spcBef>
                <a:spcPts val="0"/>
              </a:spcBef>
              <a:buNone/>
              <a:defRPr sz="1800"/>
            </a:lvl3pPr>
            <a:lvl4pPr indent="0" lvl="3" marL="0" algn="r">
              <a:spcBef>
                <a:spcPts val="0"/>
              </a:spcBef>
              <a:buNone/>
              <a:defRPr sz="1800"/>
            </a:lvl4pPr>
            <a:lvl5pPr indent="0" lvl="4" marL="0" algn="r">
              <a:spcBef>
                <a:spcPts val="0"/>
              </a:spcBef>
              <a:buNone/>
              <a:defRPr sz="1800"/>
            </a:lvl5pPr>
            <a:lvl6pPr indent="0" lvl="5" marL="0" algn="r">
              <a:spcBef>
                <a:spcPts val="0"/>
              </a:spcBef>
              <a:buNone/>
              <a:defRPr sz="1800"/>
            </a:lvl6pPr>
            <a:lvl7pPr indent="0" lvl="6" marL="0" algn="r">
              <a:spcBef>
                <a:spcPts val="0"/>
              </a:spcBef>
              <a:buNone/>
              <a:defRPr sz="1800"/>
            </a:lvl7pPr>
            <a:lvl8pPr indent="0" lvl="7" marL="0" algn="r">
              <a:spcBef>
                <a:spcPts val="0"/>
              </a:spcBef>
              <a:buNone/>
              <a:defRPr sz="1800"/>
            </a:lvl8pPr>
            <a:lvl9pPr indent="0" lvl="8" marL="0" algn="r">
              <a:spcBef>
                <a:spcPts val="0"/>
              </a:spcBef>
              <a:buNone/>
              <a:defRPr sz="18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88ad8e03_36_0)">
  <p:cSld name="Generated (g3fb88ad8e03_36_0)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1143000" y="1660424"/>
            <a:ext cx="156741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lang="en-US" sz="15000">
                <a:solidFill>
                  <a:srgbClr val="1D1F20"/>
                </a:solidFill>
              </a:rPr>
              <a:t>Research</a:t>
            </a:r>
            <a:endParaRPr b="1" sz="15000">
              <a:solidFill>
                <a:srgbClr val="1D1F20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t/>
            </a:r>
            <a:endParaRPr b="1" sz="8000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15000"/>
              <a:buFont typeface="Arial"/>
              <a:buNone/>
            </a:pPr>
            <a:r>
              <a:rPr b="1" i="0" lang="en-US" sz="8000" u="none" cap="none" strike="noStrike">
                <a:solidFill>
                  <a:schemeClr val="accent1"/>
                </a:solidFill>
              </a:rPr>
              <a:t>Corporate Actions </a:t>
            </a:r>
            <a:endParaRPr b="1" i="0" sz="8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1286000" y="7703335"/>
            <a:ext cx="14372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Week 2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b="1"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Corporate Action Intelligence Team</a:t>
            </a:r>
            <a:endParaRPr b="1" sz="1800">
              <a:solidFill>
                <a:srgbClr val="1D1F2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00"/>
              <a:buFont typeface="Barlow"/>
              <a:buNone/>
            </a:pPr>
            <a:r>
              <a:rPr lang="en-US" sz="1800">
                <a:solidFill>
                  <a:srgbClr val="1D1F21"/>
                </a:solidFill>
                <a:latin typeface="Barlow"/>
                <a:ea typeface="Barlow"/>
                <a:cs typeface="Barlow"/>
                <a:sym typeface="Barlow"/>
              </a:rPr>
              <a:t>Aesha Gandhi,  Pranshul Bhatnagar,  Alex Li,  Kedar Vaidya,  Aaron Jiang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978471" y="2514600"/>
            <a:ext cx="3641177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6"/>
          <p:cNvSpPr/>
          <p:nvPr/>
        </p:nvSpPr>
        <p:spPr>
          <a:xfrm>
            <a:off x="1095524" y="7132290"/>
            <a:ext cx="5463771" cy="67821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Scope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/>
          <p:nvPr/>
        </p:nvSpPr>
        <p:spPr>
          <a:xfrm>
            <a:off x="1095375" y="1143000"/>
            <a:ext cx="16097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Recap</a:t>
            </a:r>
            <a:endParaRPr b="1" sz="450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36" name="Google Shape;36;p7"/>
          <p:cNvGrpSpPr/>
          <p:nvPr/>
        </p:nvGrpSpPr>
        <p:grpSpPr>
          <a:xfrm>
            <a:off x="1095375" y="2381250"/>
            <a:ext cx="16097250" cy="6953400"/>
            <a:chOff x="1095375" y="2381250"/>
            <a:chExt cx="16097250" cy="6953400"/>
          </a:xfrm>
        </p:grpSpPr>
        <p:grpSp>
          <p:nvGrpSpPr>
            <p:cNvPr id="37" name="Google Shape;37;p7"/>
            <p:cNvGrpSpPr/>
            <p:nvPr/>
          </p:nvGrpSpPr>
          <p:grpSpPr>
            <a:xfrm>
              <a:off x="1095375" y="2381250"/>
              <a:ext cx="5143500" cy="6953400"/>
              <a:chOff x="0" y="0"/>
              <a:chExt cx="5143500" cy="6953400"/>
            </a:xfrm>
          </p:grpSpPr>
          <p:sp>
            <p:nvSpPr>
              <p:cNvPr id="38" name="Google Shape;38;p7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7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32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01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Phase 1 Focus</a:t>
                </a:r>
                <a:endParaRPr b="1" sz="3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Prioritize complex, decision-based events:</a:t>
                </a:r>
                <a:endParaRPr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Tender offers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Exchange offers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Rights issues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Mergers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Conversions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00">
                    <a:solidFill>
                      <a:srgbClr val="64748B"/>
                    </a:solidFill>
                    <a:highlight>
                      <a:srgbClr val="F8FAFC"/>
                    </a:highlight>
                    <a:latin typeface="Barlow"/>
                    <a:ea typeface="Barlow"/>
                    <a:cs typeface="Barlow"/>
                    <a:sym typeface="Barlow"/>
                  </a:rPr>
                  <a:t>Simple mandatory events like ordinary cash dividends are lower priority because they require less reasoning.</a:t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00">
                  <a:solidFill>
                    <a:srgbClr val="64748B"/>
                  </a:solidFill>
                  <a:highlight>
                    <a:srgbClr val="F8FAFC"/>
                  </a:highlight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40" name="Google Shape;40;p7"/>
            <p:cNvGrpSpPr/>
            <p:nvPr/>
          </p:nvGrpSpPr>
          <p:grpSpPr>
            <a:xfrm>
              <a:off x="6572250" y="2381250"/>
              <a:ext cx="5143500" cy="6953400"/>
              <a:chOff x="0" y="0"/>
              <a:chExt cx="5143500" cy="6953400"/>
            </a:xfrm>
          </p:grpSpPr>
          <p:sp>
            <p:nvSpPr>
              <p:cNvPr id="41" name="Google Shape;41;p7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7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5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02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Core Product Output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A structured, source-grounded event summary containing:</a:t>
                </a:r>
                <a:endParaRPr b="0"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1750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Event classification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Parties &amp; securities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Client options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Key dates &amp; deadlines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Financial terms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Conditions / restrictions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Source passages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Confidence &amp; exception flags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17500" lvl="0" marL="457200" rtl="0" algn="l">
                  <a:spcBef>
                    <a:spcPts val="750"/>
                  </a:spcBef>
                  <a:spcAft>
                    <a:spcPts val="750"/>
                  </a:spcAft>
                  <a:buClr>
                    <a:srgbClr val="1D1F20"/>
                  </a:buClr>
                  <a:buSzPts val="1400"/>
                  <a:buFont typeface="Barlow"/>
                  <a:buChar char="●"/>
                </a:pPr>
                <a:r>
                  <a:rPr b="0" lang="en-US" sz="14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Amendment / change history</a:t>
                </a:r>
                <a:endParaRPr b="0" sz="14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  <p:grpSp>
          <p:nvGrpSpPr>
            <p:cNvPr id="43" name="Google Shape;43;p7"/>
            <p:cNvGrpSpPr/>
            <p:nvPr/>
          </p:nvGrpSpPr>
          <p:grpSpPr>
            <a:xfrm>
              <a:off x="12049125" y="2381250"/>
              <a:ext cx="5143500" cy="6953400"/>
              <a:chOff x="0" y="0"/>
              <a:chExt cx="5143500" cy="6953400"/>
            </a:xfrm>
          </p:grpSpPr>
          <p:sp>
            <p:nvSpPr>
              <p:cNvPr id="44" name="Google Shape;44;p7"/>
              <p:cNvSpPr/>
              <p:nvPr/>
            </p:nvSpPr>
            <p:spPr>
              <a:xfrm>
                <a:off x="0" y="0"/>
                <a:ext cx="5143500" cy="6953400"/>
              </a:xfrm>
              <a:prstGeom prst="roundRect">
                <a:avLst>
                  <a:gd fmla="val 2962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7"/>
              <p:cNvSpPr txBox="1"/>
              <p:nvPr/>
            </p:nvSpPr>
            <p:spPr>
              <a:xfrm>
                <a:off x="0" y="0"/>
                <a:ext cx="5143500" cy="695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900" lIns="342900" spcFirstLastPara="1" rIns="342900" wrap="square" tIns="342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7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3200">
                    <a:solidFill>
                      <a:srgbClr val="5980A6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03 </a:t>
                </a:r>
                <a:r>
                  <a:rPr b="1" lang="en-US" sz="3000">
                    <a:solidFill>
                      <a:srgbClr val="1D1F20"/>
                    </a:solidFill>
                    <a:latin typeface="Barlow Condensed"/>
                    <a:ea typeface="Barlow Condensed"/>
                    <a:cs typeface="Barlow Condensed"/>
                    <a:sym typeface="Barlow Condensed"/>
                  </a:rPr>
                  <a:t>Evaluation Priorities</a:t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5A5C5E"/>
                    </a:solidFill>
                    <a:latin typeface="Barlow Medium"/>
                    <a:ea typeface="Barlow Medium"/>
                    <a:cs typeface="Barlow Medium"/>
                    <a:sym typeface="Barlow Medium"/>
                  </a:rPr>
                  <a:t>Accuracy and auditability first</a:t>
                </a:r>
                <a:endParaRPr b="0" sz="1500">
                  <a:solidFill>
                    <a:srgbClr val="5A5C5E"/>
                  </a:solidFill>
                  <a:latin typeface="Barlow Medium"/>
                  <a:ea typeface="Barlow Medium"/>
                  <a:cs typeface="Barlow Medium"/>
                  <a:sym typeface="Barlow Medium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Extraction accuracy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Completeness of material information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Source grounding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Amendment detection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  <a:p>
                <a:pPr indent="-323850" lvl="0" marL="457200" rtl="0" algn="l">
                  <a:spcBef>
                    <a:spcPts val="1050"/>
                  </a:spcBef>
                  <a:spcAft>
                    <a:spcPts val="1050"/>
                  </a:spcAft>
                  <a:buClr>
                    <a:srgbClr val="1D1F20"/>
                  </a:buClr>
                  <a:buSzPts val="1500"/>
                  <a:buFont typeface="Barlow"/>
                  <a:buChar char="●"/>
                </a:pPr>
                <a:r>
                  <a:rPr b="0" lang="en-US" sz="1500">
                    <a:solidFill>
                      <a:srgbClr val="1D1F20"/>
                    </a:solidFill>
                    <a:latin typeface="Barlow SemiBold"/>
                    <a:ea typeface="Barlow SemiBold"/>
                    <a:cs typeface="Barlow SemiBold"/>
                    <a:sym typeface="Barlow SemiBold"/>
                  </a:rPr>
                  <a:t>Appropriate escalation when uncertain</a:t>
                </a:r>
                <a:endParaRPr b="0" sz="1500">
                  <a:solidFill>
                    <a:srgbClr val="1D1F20"/>
                  </a:solidFill>
                  <a:latin typeface="Barlow SemiBold"/>
                  <a:ea typeface="Barlow SemiBold"/>
                  <a:cs typeface="Barlow SemiBold"/>
                  <a:sym typeface="Barlow SemiBold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/>
          <p:nvPr/>
        </p:nvSpPr>
        <p:spPr>
          <a:xfrm>
            <a:off x="1095375" y="762000"/>
            <a:ext cx="16097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88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Schema</a:t>
            </a:r>
            <a:endParaRPr b="1" sz="3488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52" name="Google Shape;52;p8"/>
          <p:cNvGrpSpPr/>
          <p:nvPr/>
        </p:nvGrpSpPr>
        <p:grpSpPr>
          <a:xfrm>
            <a:off x="927300" y="1524000"/>
            <a:ext cx="6801822" cy="8191500"/>
            <a:chOff x="0" y="0"/>
            <a:chExt cx="9715500" cy="8191500"/>
          </a:xfrm>
        </p:grpSpPr>
        <p:sp>
          <p:nvSpPr>
            <p:cNvPr id="53" name="Google Shape;53;p8"/>
            <p:cNvSpPr/>
            <p:nvPr/>
          </p:nvSpPr>
          <p:spPr>
            <a:xfrm>
              <a:off x="0" y="0"/>
              <a:ext cx="9715500" cy="8191500"/>
            </a:xfrm>
            <a:prstGeom prst="roundRect">
              <a:avLst>
                <a:gd fmla="val 186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 txBox="1"/>
            <p:nvPr/>
          </p:nvSpPr>
          <p:spPr>
            <a:xfrm>
              <a:off x="0" y="0"/>
              <a:ext cx="9715500" cy="819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 </a:t>
              </a: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Core Event Fields 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Classification &amp; Evidence</a:t>
              </a:r>
              <a:endParaRPr b="1" sz="13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event_id: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Internal identifier linking docs/amendments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corporate_action_type: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Event classification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event_status: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Announced, amended, completed, etc.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mandatory_voluntary_indicator: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Mandatory, voluntary, or options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source_document / passages: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Supporting text &amp; filing link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confidence &amp; exception_flags: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Extraction flags &amp; audit tracking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Entities &amp; Affected Securities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parties: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Issuer, target, acquirer, offeror, etc.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security_description: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Security affected by the event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ISIN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 / cusip / ticker: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Universal security identifiers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currency: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Currency of cash terms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Terms, Options &amp; Restrictions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available_options: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Choices available to holder 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</a:t>
              </a: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default_option: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Action taken if no election made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financial_terms: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Cash price, ratios, conversion price  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➔"/>
              </a:pPr>
              <a:r>
                <a:rPr b="0"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conditions_restrictions:</a:t>
              </a:r>
              <a:r>
                <a:rPr lang="en-US" sz="1200">
                  <a:solidFill>
                    <a:srgbClr val="475569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 Eligibility rules, proration &amp; minimums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Critical Dates &amp; Milestones</a:t>
              </a:r>
              <a:endParaRPr b="1" sz="1600">
                <a:solidFill>
                  <a:srgbClr val="1E293B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45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effective_date: Event execution date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election_deadline: Client decision cutoff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expiration_date: Offer/right expiration  </a:t>
              </a:r>
              <a:endParaRPr sz="12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048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200"/>
                <a:buFont typeface="Barlow SemiBold"/>
                <a:buChar char="➔"/>
              </a:pPr>
              <a:r>
                <a:rPr lang="en-US" sz="12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settlement_date: Expected consideration settlement</a:t>
              </a:r>
              <a:endParaRPr sz="1200">
                <a:solidFill>
                  <a:srgbClr val="475569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55" name="Google Shape;55;p8"/>
          <p:cNvGrpSpPr/>
          <p:nvPr/>
        </p:nvGrpSpPr>
        <p:grpSpPr>
          <a:xfrm>
            <a:off x="8659600" y="1524000"/>
            <a:ext cx="8533331" cy="8191500"/>
            <a:chOff x="0" y="0"/>
            <a:chExt cx="6096107" cy="8191500"/>
          </a:xfrm>
        </p:grpSpPr>
        <p:sp>
          <p:nvSpPr>
            <p:cNvPr id="56" name="Google Shape;56;p8"/>
            <p:cNvSpPr/>
            <p:nvPr/>
          </p:nvSpPr>
          <p:spPr>
            <a:xfrm>
              <a:off x="0" y="0"/>
              <a:ext cx="6096000" cy="8191500"/>
            </a:xfrm>
            <a:prstGeom prst="roundRect">
              <a:avLst>
                <a:gd fmla="val 25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 txBox="1"/>
            <p:nvPr/>
          </p:nvSpPr>
          <p:spPr>
            <a:xfrm>
              <a:off x="107" y="0"/>
              <a:ext cx="6096000" cy="819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304800" lIns="304800" spcFirstLastPara="1" rIns="304800" wrap="square" tIns="304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5980A6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 </a:t>
              </a:r>
              <a:r>
                <a:rPr b="1" lang="en-US" sz="28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Event-Specific Fields</a:t>
              </a:r>
              <a:endParaRPr b="1" sz="28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Tender Offer</a:t>
              </a:r>
              <a:endParaRPr b="1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offer_price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Barlow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withdrawal_deadline</a:t>
              </a:r>
              <a:endParaRPr sz="1500">
                <a:solidFill>
                  <a:srgbClr val="5980A6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Font typeface="Barlow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minimum_tender_condition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proration_terms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tendering_conditions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00">
                <a:solidFill>
                  <a:srgbClr val="1E40AF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Exchange Offer</a:t>
              </a:r>
              <a:endParaRPr b="1" sz="1700">
                <a:solidFill>
                  <a:srgbClr val="1E40AF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old_security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new_security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exchange_rati</a:t>
              </a:r>
              <a:r>
                <a:rPr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</a:t>
              </a:r>
              <a:endParaRPr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withdrawal_deadline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proration_terms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700">
                <a:solidFill>
                  <a:srgbClr val="166534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40AF"/>
                  </a:solidFill>
                  <a:highlight>
                    <a:schemeClr val="lt1"/>
                  </a:highlight>
                  <a:latin typeface="Barlow"/>
                  <a:ea typeface="Barlow"/>
                  <a:cs typeface="Barlow"/>
                  <a:sym typeface="Barlow"/>
                </a:rPr>
                <a:t>Rights Issue</a:t>
              </a:r>
              <a:endParaRPr b="1" sz="1700">
                <a:solidFill>
                  <a:srgbClr val="166534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record_date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subscription_ratio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subscription_price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500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expiration_date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oversubscription_rights</a:t>
              </a:r>
              <a:endParaRPr b="0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endParaRPr>
            </a:p>
            <a:p>
              <a:pPr indent="-3238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F172A"/>
                </a:buClr>
                <a:buSzPts val="1500"/>
                <a:buFont typeface="Barlow SemiBold"/>
                <a:buChar char="➔"/>
              </a:pPr>
              <a:r>
                <a:rPr b="0" lang="en-US" sz="1500">
                  <a:solidFill>
                    <a:srgbClr val="0F172A"/>
                  </a:solidFill>
                  <a:highlight>
                    <a:schemeClr val="lt1"/>
                  </a:highlight>
                  <a:latin typeface="Barlow SemiBold"/>
                  <a:ea typeface="Barlow SemiBold"/>
                  <a:cs typeface="Barlow SemiBold"/>
                  <a:sym typeface="Barlow SemiBold"/>
                </a:rPr>
                <a:t>rights_transferable</a:t>
              </a:r>
              <a:endParaRPr b="1" sz="1500">
                <a:solidFill>
                  <a:srgbClr val="5980A6"/>
                </a:solidFill>
                <a:highlight>
                  <a:schemeClr val="lt1"/>
                </a:highlight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sp>
        <p:nvSpPr>
          <p:cNvPr id="58" name="Google Shape;58;p8"/>
          <p:cNvSpPr txBox="1"/>
          <p:nvPr/>
        </p:nvSpPr>
        <p:spPr>
          <a:xfrm>
            <a:off x="13131104" y="2684240"/>
            <a:ext cx="3784500" cy="4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rPr>
              <a:t>Merger</a:t>
            </a:r>
            <a:endParaRPr b="1" sz="1700">
              <a:solidFill>
                <a:srgbClr val="1E40AF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acquirer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target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consideration_type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cash_consideration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stock_exchange_ratio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shareholder_vote_date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closing_conditions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475569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40AF"/>
                </a:solidFill>
                <a:highlight>
                  <a:schemeClr val="lt1"/>
                </a:highlight>
                <a:latin typeface="Barlow"/>
                <a:ea typeface="Barlow"/>
                <a:cs typeface="Barlow"/>
                <a:sym typeface="Barlow"/>
              </a:rPr>
              <a:t>Conversion</a:t>
            </a:r>
            <a:endParaRPr b="1" sz="1700">
              <a:solidFill>
                <a:srgbClr val="475569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old_security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new_security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conversion_ratio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conversion_price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conversion_deadline</a:t>
            </a:r>
            <a:endParaRPr sz="1500">
              <a:solidFill>
                <a:srgbClr val="0F172A"/>
              </a:solidFill>
              <a:highlight>
                <a:schemeClr val="lt1"/>
              </a:highlight>
              <a:latin typeface="Barlow SemiBold"/>
              <a:ea typeface="Barlow SemiBold"/>
              <a:cs typeface="Barlow SemiBold"/>
              <a:sym typeface="Barlow SemiBol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Barlow SemiBold"/>
              <a:buChar char="➔"/>
            </a:pPr>
            <a:r>
              <a:rPr lang="en-US" sz="1500">
                <a:solidFill>
                  <a:srgbClr val="0F172A"/>
                </a:solidFill>
                <a:highlight>
                  <a:schemeClr val="lt1"/>
                </a:highlight>
                <a:latin typeface="Barlow SemiBold"/>
                <a:ea typeface="Barlow SemiBold"/>
                <a:cs typeface="Barlow SemiBold"/>
                <a:sym typeface="Barlow SemiBold"/>
              </a:rPr>
              <a:t>conversion_conditions</a:t>
            </a:r>
            <a:endParaRPr b="1" sz="1500">
              <a:solidFill>
                <a:srgbClr val="5980A6"/>
              </a:solidFill>
              <a:highlight>
                <a:schemeClr val="lt1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1095375" y="952500"/>
            <a:ext cx="16097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Corporate Action Events</a:t>
            </a:r>
            <a:endParaRPr b="1" sz="4760">
              <a:solidFill>
                <a:srgbClr val="1D1F20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pSp>
        <p:nvGrpSpPr>
          <p:cNvPr id="65" name="Google Shape;65;p9"/>
          <p:cNvGrpSpPr/>
          <p:nvPr/>
        </p:nvGrpSpPr>
        <p:grpSpPr>
          <a:xfrm>
            <a:off x="1381050" y="2824075"/>
            <a:ext cx="15240150" cy="285900"/>
            <a:chOff x="285750" y="0"/>
            <a:chExt cx="15240150" cy="285900"/>
          </a:xfrm>
        </p:grpSpPr>
        <p:sp>
          <p:nvSpPr>
            <p:cNvPr id="66" name="Google Shape;66;p9"/>
            <p:cNvSpPr txBox="1"/>
            <p:nvPr/>
          </p:nvSpPr>
          <p:spPr>
            <a:xfrm>
              <a:off x="285750" y="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64748B"/>
                  </a:solidFill>
                  <a:latin typeface="Barlow"/>
                  <a:ea typeface="Barlow"/>
                  <a:cs typeface="Barlow"/>
                  <a:sym typeface="Barlow"/>
                </a:rPr>
                <a:t>Corporate Action</a:t>
              </a:r>
              <a:endParaRPr b="1" sz="1600">
                <a:solidFill>
                  <a:srgbClr val="64748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7" name="Google Shape;67;p9"/>
            <p:cNvSpPr txBox="1"/>
            <p:nvPr/>
          </p:nvSpPr>
          <p:spPr>
            <a:xfrm>
              <a:off x="4095750" y="0"/>
              <a:ext cx="876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64748B"/>
                  </a:solidFill>
                  <a:latin typeface="Barlow"/>
                  <a:ea typeface="Barlow"/>
                  <a:cs typeface="Barlow"/>
                  <a:sym typeface="Barlow"/>
                </a:rPr>
                <a:t>Main Filings / Documents</a:t>
              </a:r>
              <a:endParaRPr b="1" sz="1600">
                <a:solidFill>
                  <a:srgbClr val="64748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68" name="Google Shape;68;p9"/>
            <p:cNvSpPr txBox="1"/>
            <p:nvPr/>
          </p:nvSpPr>
          <p:spPr>
            <a:xfrm>
              <a:off x="13144500" y="0"/>
              <a:ext cx="2381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64748B"/>
                  </a:solidFill>
                  <a:latin typeface="Barlow"/>
                  <a:ea typeface="Barlow"/>
                  <a:cs typeface="Barlow"/>
                  <a:sym typeface="Barlow"/>
                </a:rPr>
                <a:t>EDGAR Availability</a:t>
              </a:r>
              <a:endParaRPr b="1" sz="1600">
                <a:solidFill>
                  <a:srgbClr val="64748B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69" name="Google Shape;69;p9"/>
          <p:cNvGrpSpPr/>
          <p:nvPr/>
        </p:nvGrpSpPr>
        <p:grpSpPr>
          <a:xfrm>
            <a:off x="1095300" y="3252700"/>
            <a:ext cx="16097400" cy="1047900"/>
            <a:chOff x="0" y="0"/>
            <a:chExt cx="16097400" cy="1047900"/>
          </a:xfrm>
        </p:grpSpPr>
        <p:sp>
          <p:nvSpPr>
            <p:cNvPr id="70" name="Google Shape;70;p9"/>
            <p:cNvSpPr/>
            <p:nvPr/>
          </p:nvSpPr>
          <p:spPr>
            <a:xfrm>
              <a:off x="0" y="0"/>
              <a:ext cx="16097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 txBox="1"/>
            <p:nvPr/>
          </p:nvSpPr>
          <p:spPr>
            <a:xfrm>
              <a:off x="28575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Offers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2" name="Google Shape;72;p9"/>
            <p:cNvSpPr txBox="1"/>
            <p:nvPr/>
          </p:nvSpPr>
          <p:spPr>
            <a:xfrm>
              <a:off x="4095750" y="0"/>
              <a:ext cx="876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Schedule TO, TO-T, TO-I, 14D-9, amendments, Offer to Purchase</a:t>
              </a:r>
              <a:endParaRPr b="0" sz="1500">
                <a:solidFill>
                  <a:srgbClr val="334155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13477875" y="3429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 txBox="1"/>
            <p:nvPr/>
          </p:nvSpPr>
          <p:spPr>
            <a:xfrm>
              <a:off x="13477875" y="3429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Barlow"/>
                  <a:ea typeface="Barlow"/>
                  <a:cs typeface="Barlow"/>
                  <a:sym typeface="Barlow"/>
                </a:rPr>
                <a:t>Very strong</a:t>
              </a:r>
              <a:endParaRPr b="1" sz="1300">
                <a:solidFill>
                  <a:srgbClr val="1E40A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75" name="Google Shape;75;p9"/>
          <p:cNvGrpSpPr/>
          <p:nvPr/>
        </p:nvGrpSpPr>
        <p:grpSpPr>
          <a:xfrm>
            <a:off x="1095300" y="4490950"/>
            <a:ext cx="16097400" cy="1047900"/>
            <a:chOff x="0" y="0"/>
            <a:chExt cx="16097400" cy="1047900"/>
          </a:xfrm>
        </p:grpSpPr>
        <p:sp>
          <p:nvSpPr>
            <p:cNvPr id="76" name="Google Shape;76;p9"/>
            <p:cNvSpPr/>
            <p:nvPr/>
          </p:nvSpPr>
          <p:spPr>
            <a:xfrm>
              <a:off x="0" y="0"/>
              <a:ext cx="16097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9"/>
            <p:cNvSpPr txBox="1"/>
            <p:nvPr/>
          </p:nvSpPr>
          <p:spPr>
            <a:xfrm>
              <a:off x="28575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Exchange Offers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78" name="Google Shape;78;p9"/>
            <p:cNvSpPr txBox="1"/>
            <p:nvPr/>
          </p:nvSpPr>
          <p:spPr>
            <a:xfrm>
              <a:off x="4095750" y="0"/>
              <a:ext cx="876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Schedule TO, Offer to Exchange, S-4, amendments</a:t>
              </a:r>
              <a:endParaRPr b="0" sz="1500">
                <a:solidFill>
                  <a:srgbClr val="334155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13477875" y="3429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 txBox="1"/>
            <p:nvPr/>
          </p:nvSpPr>
          <p:spPr>
            <a:xfrm>
              <a:off x="13477875" y="3429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Barlow"/>
                  <a:ea typeface="Barlow"/>
                  <a:cs typeface="Barlow"/>
                  <a:sym typeface="Barlow"/>
                </a:rPr>
                <a:t>Very strong</a:t>
              </a:r>
              <a:endParaRPr b="1" sz="1300">
                <a:solidFill>
                  <a:srgbClr val="1E40A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81" name="Google Shape;81;p9"/>
          <p:cNvGrpSpPr/>
          <p:nvPr/>
        </p:nvGrpSpPr>
        <p:grpSpPr>
          <a:xfrm>
            <a:off x="1095300" y="5729200"/>
            <a:ext cx="16097400" cy="1047900"/>
            <a:chOff x="0" y="0"/>
            <a:chExt cx="16097400" cy="1047900"/>
          </a:xfrm>
        </p:grpSpPr>
        <p:sp>
          <p:nvSpPr>
            <p:cNvPr id="82" name="Google Shape;82;p9"/>
            <p:cNvSpPr/>
            <p:nvPr/>
          </p:nvSpPr>
          <p:spPr>
            <a:xfrm>
              <a:off x="0" y="0"/>
              <a:ext cx="16097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9"/>
            <p:cNvSpPr txBox="1"/>
            <p:nvPr/>
          </p:nvSpPr>
          <p:spPr>
            <a:xfrm>
              <a:off x="28575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Rights Issues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84" name="Google Shape;84;p9"/>
            <p:cNvSpPr txBox="1"/>
            <p:nvPr/>
          </p:nvSpPr>
          <p:spPr>
            <a:xfrm>
              <a:off x="4095750" y="0"/>
              <a:ext cx="876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S-1/S-3, prospectus supplements, 8-K, sometimes Form CB</a:t>
              </a:r>
              <a:endParaRPr b="0" sz="1500">
                <a:solidFill>
                  <a:srgbClr val="334155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13477875" y="3429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 txBox="1"/>
            <p:nvPr/>
          </p:nvSpPr>
          <p:spPr>
            <a:xfrm>
              <a:off x="13477875" y="3429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66534"/>
                  </a:solidFill>
                  <a:latin typeface="Barlow"/>
                  <a:ea typeface="Barlow"/>
                  <a:cs typeface="Barlow"/>
                  <a:sym typeface="Barlow"/>
                </a:rPr>
                <a:t>Good</a:t>
              </a:r>
              <a:endParaRPr b="1" sz="1300">
                <a:solidFill>
                  <a:srgbClr val="166534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87" name="Google Shape;87;p9"/>
          <p:cNvGrpSpPr/>
          <p:nvPr/>
        </p:nvGrpSpPr>
        <p:grpSpPr>
          <a:xfrm>
            <a:off x="1095300" y="6967450"/>
            <a:ext cx="16097400" cy="1047900"/>
            <a:chOff x="0" y="0"/>
            <a:chExt cx="16097400" cy="1047900"/>
          </a:xfrm>
        </p:grpSpPr>
        <p:sp>
          <p:nvSpPr>
            <p:cNvPr id="88" name="Google Shape;88;p9"/>
            <p:cNvSpPr/>
            <p:nvPr/>
          </p:nvSpPr>
          <p:spPr>
            <a:xfrm>
              <a:off x="0" y="0"/>
              <a:ext cx="16097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 txBox="1"/>
            <p:nvPr/>
          </p:nvSpPr>
          <p:spPr>
            <a:xfrm>
              <a:off x="28575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Mergers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0" name="Google Shape;90;p9"/>
            <p:cNvSpPr txBox="1"/>
            <p:nvPr/>
          </p:nvSpPr>
          <p:spPr>
            <a:xfrm>
              <a:off x="4095750" y="0"/>
              <a:ext cx="876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S-4, 8-K, proxy statements, merger agreement exhibits, sometimes Schedule TO</a:t>
              </a:r>
              <a:endParaRPr b="0" sz="1500">
                <a:solidFill>
                  <a:srgbClr val="334155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  <p:sp>
          <p:nvSpPr>
            <p:cNvPr id="91" name="Google Shape;91;p9"/>
            <p:cNvSpPr/>
            <p:nvPr/>
          </p:nvSpPr>
          <p:spPr>
            <a:xfrm>
              <a:off x="13477875" y="3429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9"/>
            <p:cNvSpPr txBox="1"/>
            <p:nvPr/>
          </p:nvSpPr>
          <p:spPr>
            <a:xfrm>
              <a:off x="13477875" y="3429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40AF"/>
                  </a:solidFill>
                  <a:latin typeface="Barlow"/>
                  <a:ea typeface="Barlow"/>
                  <a:cs typeface="Barlow"/>
                  <a:sym typeface="Barlow"/>
                </a:rPr>
                <a:t>Very strong</a:t>
              </a:r>
              <a:endParaRPr b="1" sz="1300">
                <a:solidFill>
                  <a:srgbClr val="1E40AF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grpSp>
        <p:nvGrpSpPr>
          <p:cNvPr id="93" name="Google Shape;93;p9"/>
          <p:cNvGrpSpPr/>
          <p:nvPr/>
        </p:nvGrpSpPr>
        <p:grpSpPr>
          <a:xfrm>
            <a:off x="1095300" y="8205700"/>
            <a:ext cx="16097400" cy="1047900"/>
            <a:chOff x="0" y="0"/>
            <a:chExt cx="16097400" cy="1047900"/>
          </a:xfrm>
        </p:grpSpPr>
        <p:sp>
          <p:nvSpPr>
            <p:cNvPr id="94" name="Google Shape;94;p9"/>
            <p:cNvSpPr/>
            <p:nvPr/>
          </p:nvSpPr>
          <p:spPr>
            <a:xfrm>
              <a:off x="0" y="0"/>
              <a:ext cx="16097400" cy="1047900"/>
            </a:xfrm>
            <a:prstGeom prst="roundRect">
              <a:avLst>
                <a:gd fmla="val 1090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 txBox="1"/>
            <p:nvPr/>
          </p:nvSpPr>
          <p:spPr>
            <a:xfrm>
              <a:off x="285750" y="0"/>
              <a:ext cx="3619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Conversions </a:t>
              </a:r>
              <a:r>
                <a:rPr b="0" lang="en-US" sz="1200">
                  <a:solidFill>
                    <a:srgbClr val="64748B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(less standardized)</a:t>
              </a:r>
              <a:endParaRPr b="1" sz="24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96" name="Google Shape;96;p9"/>
            <p:cNvSpPr txBox="1"/>
            <p:nvPr/>
          </p:nvSpPr>
          <p:spPr>
            <a:xfrm>
              <a:off x="4095750" y="0"/>
              <a:ext cx="876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334155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8-K, S-3/S-4, prospectuses, security agreements/exhibits</a:t>
              </a:r>
              <a:endParaRPr b="0" sz="1500">
                <a:solidFill>
                  <a:srgbClr val="334155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13477875" y="342900"/>
              <a:ext cx="1714500" cy="362100"/>
            </a:xfrm>
            <a:prstGeom prst="roundRect">
              <a:avLst>
                <a:gd fmla="val 50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 txBox="1"/>
            <p:nvPr/>
          </p:nvSpPr>
          <p:spPr>
            <a:xfrm>
              <a:off x="13477875" y="342900"/>
              <a:ext cx="1714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75569"/>
                  </a:solidFill>
                  <a:latin typeface="Barlow"/>
                  <a:ea typeface="Barlow"/>
                  <a:cs typeface="Barlow"/>
                  <a:sym typeface="Barlow"/>
                </a:rPr>
                <a:t>Available</a:t>
              </a:r>
              <a:endParaRPr b="1" sz="1300">
                <a:solidFill>
                  <a:srgbClr val="475569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978477" y="2514600"/>
            <a:ext cx="53388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2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1095524" y="7132290"/>
            <a:ext cx="54639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Pipeline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11"/>
          <p:cNvGrpSpPr/>
          <p:nvPr/>
        </p:nvGrpSpPr>
        <p:grpSpPr>
          <a:xfrm>
            <a:off x="1028700" y="942750"/>
            <a:ext cx="16230600" cy="781200"/>
            <a:chOff x="0" y="0"/>
            <a:chExt cx="16230600" cy="781200"/>
          </a:xfrm>
        </p:grpSpPr>
        <p:sp>
          <p:nvSpPr>
            <p:cNvPr id="115" name="Google Shape;115;p11"/>
            <p:cNvSpPr txBox="1"/>
            <p:nvPr/>
          </p:nvSpPr>
          <p:spPr>
            <a:xfrm>
              <a:off x="0" y="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Barlow"/>
                  <a:ea typeface="Barlow"/>
                  <a:cs typeface="Barlow"/>
                  <a:sym typeface="Barlow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16" name="Google Shape;116;p11"/>
            <p:cNvSpPr txBox="1"/>
            <p:nvPr/>
          </p:nvSpPr>
          <p:spPr>
            <a:xfrm>
              <a:off x="0" y="304800"/>
              <a:ext cx="16230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End-to-End Event Representation Pipeline Flow</a:t>
              </a:r>
              <a:endParaRPr b="1" sz="296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</p:grpSp>
      <p:grpSp>
        <p:nvGrpSpPr>
          <p:cNvPr id="117" name="Google Shape;117;p11"/>
          <p:cNvGrpSpPr/>
          <p:nvPr/>
        </p:nvGrpSpPr>
        <p:grpSpPr>
          <a:xfrm>
            <a:off x="1047750" y="2428950"/>
            <a:ext cx="3619500" cy="2000100"/>
            <a:chOff x="0" y="0"/>
            <a:chExt cx="3619500" cy="2000100"/>
          </a:xfrm>
        </p:grpSpPr>
        <p:sp>
          <p:nvSpPr>
            <p:cNvPr id="118" name="Google Shape;118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01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20" name="Google Shape;120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SEC Metadata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21" name="Google Shape;121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Initial discovery and indexing via SEC EFTS payload.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22" name="Google Shape;122;p11"/>
          <p:cNvGrpSpPr/>
          <p:nvPr/>
        </p:nvGrpSpPr>
        <p:grpSpPr>
          <a:xfrm>
            <a:off x="5238750" y="2428950"/>
            <a:ext cx="3619500" cy="2000100"/>
            <a:chOff x="0" y="0"/>
            <a:chExt cx="3619500" cy="2000100"/>
          </a:xfrm>
        </p:grpSpPr>
        <p:sp>
          <p:nvSpPr>
            <p:cNvPr id="123" name="Google Shape;123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02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25" name="Google Shape;125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Retrieve Filing Bundle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26" name="Google Shape;126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Fetch complete source documents and exhibits from SEC EDGAR.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27" name="Google Shape;127;p11"/>
          <p:cNvGrpSpPr/>
          <p:nvPr/>
        </p:nvGrpSpPr>
        <p:grpSpPr>
          <a:xfrm>
            <a:off x="9429750" y="2428950"/>
            <a:ext cx="3619500" cy="2000100"/>
            <a:chOff x="0" y="0"/>
            <a:chExt cx="3619500" cy="2000100"/>
          </a:xfrm>
        </p:grpSpPr>
        <p:sp>
          <p:nvSpPr>
            <p:cNvPr id="128" name="Google Shape;128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03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30" name="Google Shape;130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Normalize Documents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31" name="Google Shape;131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Convert raw HTML into clean, searchable plain 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32" name="Google Shape;132;p11"/>
          <p:cNvGrpSpPr/>
          <p:nvPr/>
        </p:nvGrpSpPr>
        <p:grpSpPr>
          <a:xfrm>
            <a:off x="13620750" y="2428950"/>
            <a:ext cx="3619500" cy="2000100"/>
            <a:chOff x="0" y="0"/>
            <a:chExt cx="3619500" cy="2000100"/>
          </a:xfrm>
        </p:grpSpPr>
        <p:sp>
          <p:nvSpPr>
            <p:cNvPr id="133" name="Google Shape;133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04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35" name="Google Shape;135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Extract Candidate Facts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36" name="Google Shape;136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AI layer (GliNER) extracts structured candidate fact payloads.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37" name="Google Shape;137;p11"/>
          <p:cNvGrpSpPr/>
          <p:nvPr/>
        </p:nvGrpSpPr>
        <p:grpSpPr>
          <a:xfrm>
            <a:off x="1047750" y="5857950"/>
            <a:ext cx="3619500" cy="2000100"/>
            <a:chOff x="0" y="0"/>
            <a:chExt cx="3619500" cy="2000100"/>
          </a:xfrm>
        </p:grpSpPr>
        <p:sp>
          <p:nvSpPr>
            <p:cNvPr id="138" name="Google Shape;138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0FDF4"/>
            </a:solidFill>
            <a:ln cap="flat" cmpd="sng" w="1905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0F766E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05</a:t>
              </a:r>
              <a:endParaRPr b="1" sz="2380">
                <a:solidFill>
                  <a:srgbClr val="0F766E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40" name="Google Shape;140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Tender Concise Rep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41" name="Google Shape;141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Compact event representation preserving evidence &amp; context.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42" name="Google Shape;142;p11"/>
          <p:cNvGrpSpPr/>
          <p:nvPr/>
        </p:nvGrpSpPr>
        <p:grpSpPr>
          <a:xfrm>
            <a:off x="5238750" y="5857950"/>
            <a:ext cx="3619500" cy="2000100"/>
            <a:chOff x="0" y="0"/>
            <a:chExt cx="3619500" cy="2000100"/>
          </a:xfrm>
        </p:grpSpPr>
        <p:sp>
          <p:nvSpPr>
            <p:cNvPr id="143" name="Google Shape;143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06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45" name="Google Shape;145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Reason / Verify / Resolve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46" name="Google Shape;146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Process amendments and resolve canonical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47" name="Google Shape;147;p11"/>
          <p:cNvGrpSpPr/>
          <p:nvPr/>
        </p:nvGrpSpPr>
        <p:grpSpPr>
          <a:xfrm>
            <a:off x="9429750" y="5857950"/>
            <a:ext cx="3619500" cy="2000100"/>
            <a:chOff x="0" y="0"/>
            <a:chExt cx="3619500" cy="2000100"/>
          </a:xfrm>
        </p:grpSpPr>
        <p:sp>
          <p:nvSpPr>
            <p:cNvPr id="148" name="Google Shape;148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07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0" name="Google Shape;150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Canonical Event State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1" name="Google Shape;151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Single source of truth for verified corporate action facts.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grpSp>
        <p:nvGrpSpPr>
          <p:cNvPr id="152" name="Google Shape;152;p11"/>
          <p:cNvGrpSpPr/>
          <p:nvPr/>
        </p:nvGrpSpPr>
        <p:grpSpPr>
          <a:xfrm>
            <a:off x="13620750" y="5857950"/>
            <a:ext cx="3619500" cy="2000100"/>
            <a:chOff x="0" y="0"/>
            <a:chExt cx="3619500" cy="2000100"/>
          </a:xfrm>
        </p:grpSpPr>
        <p:sp>
          <p:nvSpPr>
            <p:cNvPr id="153" name="Google Shape;153;p11"/>
            <p:cNvSpPr/>
            <p:nvPr/>
          </p:nvSpPr>
          <p:spPr>
            <a:xfrm>
              <a:off x="0" y="0"/>
              <a:ext cx="3619500" cy="2000100"/>
            </a:xfrm>
            <a:prstGeom prst="roundRect">
              <a:avLst>
                <a:gd fmla="val 5714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1"/>
            <p:cNvSpPr txBox="1"/>
            <p:nvPr/>
          </p:nvSpPr>
          <p:spPr>
            <a:xfrm>
              <a:off x="190500" y="142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380">
                  <a:solidFill>
                    <a:srgbClr val="41618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08</a:t>
              </a:r>
              <a:endParaRPr b="1" sz="238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5" name="Google Shape;155;p11"/>
            <p:cNvSpPr txBox="1"/>
            <p:nvPr/>
          </p:nvSpPr>
          <p:spPr>
            <a:xfrm>
              <a:off x="190500" y="523875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D1F20"/>
                  </a:solidFill>
                  <a:latin typeface="Barlow Condensed"/>
                  <a:ea typeface="Barlow Condensed"/>
                  <a:cs typeface="Barlow Condensed"/>
                  <a:sym typeface="Barlow Condensed"/>
                </a:rPr>
                <a:t>BNY Client Notification</a:t>
              </a:r>
              <a:endParaRPr b="1" sz="20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endParaRPr>
            </a:p>
          </p:txBody>
        </p:sp>
        <p:sp>
          <p:nvSpPr>
            <p:cNvPr id="156" name="Google Shape;156;p11"/>
            <p:cNvSpPr txBox="1"/>
            <p:nvPr/>
          </p:nvSpPr>
          <p:spPr>
            <a:xfrm>
              <a:off x="190500" y="952500"/>
              <a:ext cx="3238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475569"/>
                  </a:solidFill>
                  <a:latin typeface="Barlow Medium"/>
                  <a:ea typeface="Barlow Medium"/>
                  <a:cs typeface="Barlow Medium"/>
                  <a:sym typeface="Barlow Medium"/>
                </a:rPr>
                <a:t>Enriched internal context integrated for downstream alerts.</a:t>
              </a:r>
              <a:endParaRPr b="0" sz="1600">
                <a:solidFill>
                  <a:srgbClr val="475569"/>
                </a:solidFill>
                <a:latin typeface="Barlow Medium"/>
                <a:ea typeface="Barlow Medium"/>
                <a:cs typeface="Barlow Medium"/>
                <a:sym typeface="Barlow Medium"/>
              </a:endParaRPr>
            </a:p>
          </p:txBody>
        </p:sp>
      </p:grpSp>
      <p:pic>
        <p:nvPicPr>
          <p:cNvPr id="157" name="Google Shape;15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1"/>
          <p:cNvSpPr/>
          <p:nvPr/>
        </p:nvSpPr>
        <p:spPr>
          <a:xfrm>
            <a:off x="5143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1"/>
          <p:cNvSpPr/>
          <p:nvPr/>
        </p:nvSpPr>
        <p:spPr>
          <a:xfrm>
            <a:off x="9334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3419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1"/>
          <p:cNvSpPr/>
          <p:nvPr/>
        </p:nvSpPr>
        <p:spPr>
          <a:xfrm>
            <a:off x="13525500" y="3381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7975" y="5134050"/>
            <a:ext cx="6315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2809875" y="576270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60000" y="120000"/>
                </a:lnTo>
                <a:lnTo>
                  <a:pt x="120000" y="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1"/>
          <p:cNvSpPr/>
          <p:nvPr/>
        </p:nvSpPr>
        <p:spPr>
          <a:xfrm>
            <a:off x="5143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8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1"/>
          <p:cNvSpPr/>
          <p:nvPr/>
        </p:nvSpPr>
        <p:spPr>
          <a:xfrm>
            <a:off x="9334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49250" y="6848550"/>
            <a:ext cx="476400" cy="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13525500" y="6810450"/>
            <a:ext cx="95400" cy="95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94A3B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11"/>
          <p:cNvGrpSpPr/>
          <p:nvPr/>
        </p:nvGrpSpPr>
        <p:grpSpPr>
          <a:xfrm>
            <a:off x="1028700" y="8477250"/>
            <a:ext cx="16230600" cy="666900"/>
            <a:chOff x="0" y="0"/>
            <a:chExt cx="16230600" cy="666900"/>
          </a:xfrm>
        </p:grpSpPr>
        <p:sp>
          <p:nvSpPr>
            <p:cNvPr id="172" name="Google Shape;172;p11"/>
            <p:cNvSpPr/>
            <p:nvPr/>
          </p:nvSpPr>
          <p:spPr>
            <a:xfrm>
              <a:off x="0" y="0"/>
              <a:ext cx="16230600" cy="666900"/>
            </a:xfrm>
            <a:prstGeom prst="roundRect">
              <a:avLst>
                <a:gd fmla="val 17142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 txBox="1"/>
            <p:nvPr/>
          </p:nvSpPr>
          <p:spPr>
            <a:xfrm>
              <a:off x="190500" y="95250"/>
              <a:ext cx="1584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F3445"/>
                  </a:solidFill>
                  <a:latin typeface="Barlow"/>
                  <a:ea typeface="Barlow"/>
                  <a:cs typeface="Barlow"/>
                  <a:sym typeface="Barlow"/>
                </a:rPr>
                <a:t>Takeaway: We separate raw public data, candidate extraction, verified event state, and BNY-specific enrichment before producing the client notification.</a:t>
              </a:r>
              <a:endParaRPr b="1" sz="1800">
                <a:solidFill>
                  <a:srgbClr val="1F3445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pic>
        <p:nvPicPr>
          <p:cNvPr id="174" name="Google Shape;17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9222150" y="4432127"/>
            <a:ext cx="7579200" cy="7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12"/>
          <p:cNvGrpSpPr/>
          <p:nvPr/>
        </p:nvGrpSpPr>
        <p:grpSpPr>
          <a:xfrm>
            <a:off x="1028700" y="381000"/>
            <a:ext cx="16230600" cy="1257450"/>
            <a:chOff x="0" y="0"/>
            <a:chExt cx="16230600" cy="1257450"/>
          </a:xfrm>
        </p:grpSpPr>
        <p:sp>
          <p:nvSpPr>
            <p:cNvPr id="184" name="Google Shape;184;p12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4B7091"/>
                  </a:solidFill>
                  <a:latin typeface="Arial"/>
                  <a:ea typeface="Arial"/>
                  <a:cs typeface="Arial"/>
                  <a:sym typeface="Arial"/>
                </a:rPr>
                <a:t>DATA PREPROCESSING PIPELINE</a:t>
              </a:r>
              <a:endParaRPr b="1" sz="1500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2"/>
            <p:cNvSpPr txBox="1"/>
            <p:nvPr/>
          </p:nvSpPr>
          <p:spPr>
            <a:xfrm>
              <a:off x="0" y="304800"/>
              <a:ext cx="16230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330">
                  <a:solidFill>
                    <a:srgbClr val="1D2023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From SEC Filing to Structured Corporate Action</a:t>
              </a:r>
              <a:endParaRPr b="1" sz="3330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186" name="Google Shape;186;p12"/>
            <p:cNvCxnSpPr/>
            <p:nvPr/>
          </p:nvCxnSpPr>
          <p:spPr>
            <a:xfrm>
              <a:off x="0" y="876300"/>
              <a:ext cx="16230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7" name="Google Shape;187;p12"/>
            <p:cNvSpPr txBox="1"/>
            <p:nvPr/>
          </p:nvSpPr>
          <p:spPr>
            <a:xfrm>
              <a:off x="0" y="971550"/>
              <a:ext cx="16230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Running Example: Wright Medical Group N.V. / Stryker Corp (SEC Event Key: 005-86024 | Form SC TO-T/A | Key Term: $30.75 per share)</a:t>
              </a:r>
              <a:endParaRPr b="0" i="0" sz="15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12"/>
          <p:cNvGrpSpPr/>
          <p:nvPr/>
        </p:nvGrpSpPr>
        <p:grpSpPr>
          <a:xfrm>
            <a:off x="1028700" y="1905000"/>
            <a:ext cx="3619500" cy="6762900"/>
            <a:chOff x="0" y="0"/>
            <a:chExt cx="3619500" cy="6762900"/>
          </a:xfrm>
        </p:grpSpPr>
        <p:sp>
          <p:nvSpPr>
            <p:cNvPr id="189" name="Google Shape;189;p12"/>
            <p:cNvSpPr/>
            <p:nvPr/>
          </p:nvSpPr>
          <p:spPr>
            <a:xfrm>
              <a:off x="0" y="0"/>
              <a:ext cx="3619500" cy="67629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2"/>
            <p:cNvSpPr/>
            <p:nvPr/>
          </p:nvSpPr>
          <p:spPr>
            <a:xfrm>
              <a:off x="0" y="0"/>
              <a:ext cx="3619500" cy="419100"/>
            </a:xfrm>
            <a:prstGeom prst="roundRect">
              <a:avLst>
                <a:gd fmla="val 36363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0" y="209550"/>
              <a:ext cx="3619500" cy="209700"/>
            </a:xfrm>
            <a:prstGeom prst="rect">
              <a:avLst/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2"/>
            <p:cNvSpPr txBox="1"/>
            <p:nvPr/>
          </p:nvSpPr>
          <p:spPr>
            <a:xfrm>
              <a:off x="190500" y="952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DISCOVER — SEC EFTS Metadata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2"/>
            <p:cNvSpPr/>
            <p:nvPr/>
          </p:nvSpPr>
          <p:spPr>
            <a:xfrm>
              <a:off x="190500" y="609600"/>
              <a:ext cx="3238500" cy="3048000"/>
            </a:xfrm>
            <a:prstGeom prst="roundRect">
              <a:avLst>
                <a:gd fmla="val 2500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2"/>
            <p:cNvSpPr txBox="1"/>
            <p:nvPr/>
          </p:nvSpPr>
          <p:spPr>
            <a:xfrm>
              <a:off x="342900" y="762000"/>
              <a:ext cx="2933700" cy="2743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i="0" sz="10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b="1" i="0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sec_event_key</a:t>
              </a: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":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b="1" i="0" lang="en-US" sz="1500">
                  <a:solidFill>
                    <a:srgbClr val="166534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005-86024</a:t>
              </a: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",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b="1" i="0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form</a:t>
              </a: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": "SC TO-T/A",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</a:t>
              </a:r>
              <a:r>
                <a:rPr b="1" i="0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entities</a:t>
              </a: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": [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"Wright Medical",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286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"Stryker"</a:t>
              </a:r>
              <a:endParaRPr b="0" i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14300" marR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0" i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]</a:t>
              </a:r>
              <a:endParaRPr b="0" i="0" sz="145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190500" y="3810000"/>
              <a:ext cx="3238500" cy="1428900"/>
            </a:xfrm>
            <a:prstGeom prst="roundRect">
              <a:avLst>
                <a:gd fmla="val 5333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2"/>
            <p:cNvSpPr txBox="1"/>
            <p:nvPr/>
          </p:nvSpPr>
          <p:spPr>
            <a:xfrm>
              <a:off x="342900" y="3962400"/>
              <a:ext cx="2933700" cy="112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Metadata Scope:</a:t>
              </a:r>
              <a:endParaRPr b="1" sz="135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• Sufficient to locate event &amp; accession</a:t>
              </a:r>
              <a:endParaRPr sz="13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2"/>
            <p:cNvSpPr txBox="1"/>
            <p:nvPr/>
          </p:nvSpPr>
          <p:spPr>
            <a:xfrm>
              <a:off x="190500" y="5429250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Locate the event and accession. Visually communicates that metadata enables discovery, but requires full text retrieval for operational facts.</a:t>
              </a:r>
              <a:endParaRPr i="1"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12"/>
          <p:cNvGrpSpPr/>
          <p:nvPr/>
        </p:nvGrpSpPr>
        <p:grpSpPr>
          <a:xfrm>
            <a:off x="5048250" y="1905000"/>
            <a:ext cx="3619500" cy="6762900"/>
            <a:chOff x="0" y="0"/>
            <a:chExt cx="3619500" cy="6762900"/>
          </a:xfrm>
        </p:grpSpPr>
        <p:sp>
          <p:nvSpPr>
            <p:cNvPr id="199" name="Google Shape;199;p12"/>
            <p:cNvSpPr/>
            <p:nvPr/>
          </p:nvSpPr>
          <p:spPr>
            <a:xfrm>
              <a:off x="0" y="0"/>
              <a:ext cx="3619500" cy="67629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0" y="0"/>
              <a:ext cx="3619500" cy="419100"/>
            </a:xfrm>
            <a:prstGeom prst="roundRect">
              <a:avLst>
                <a:gd fmla="val 36363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0" y="209550"/>
              <a:ext cx="3619500" cy="209700"/>
            </a:xfrm>
            <a:prstGeom prst="rect">
              <a:avLst/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2"/>
            <p:cNvSpPr txBox="1"/>
            <p:nvPr/>
          </p:nvSpPr>
          <p:spPr>
            <a:xfrm>
              <a:off x="190500" y="952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RETRIEVE — SEC Filing + Exhibits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3" name="Google Shape;203;p12"/>
            <p:cNvGrpSpPr/>
            <p:nvPr/>
          </p:nvGrpSpPr>
          <p:grpSpPr>
            <a:xfrm>
              <a:off x="266700" y="638175"/>
              <a:ext cx="2781300" cy="3124200"/>
              <a:chOff x="-114300" y="-76200"/>
              <a:chExt cx="2781300" cy="3124200"/>
            </a:xfrm>
          </p:grpSpPr>
          <p:sp>
            <p:nvSpPr>
              <p:cNvPr id="204" name="Google Shape;204;p12"/>
              <p:cNvSpPr/>
              <p:nvPr/>
            </p:nvSpPr>
            <p:spPr>
              <a:xfrm>
                <a:off x="190500" y="381000"/>
                <a:ext cx="2476500" cy="2667000"/>
              </a:xfrm>
              <a:prstGeom prst="roundRect">
                <a:avLst>
                  <a:gd fmla="val 3076" name="adj"/>
                </a:avLst>
              </a:prstGeom>
              <a:solidFill>
                <a:srgbClr val="E2E8F0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2"/>
              <p:cNvSpPr txBox="1"/>
              <p:nvPr/>
            </p:nvSpPr>
            <p:spPr>
              <a:xfrm>
                <a:off x="333375" y="2762250"/>
                <a:ext cx="2190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0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Exhibit 99.A — Offer Document</a:t>
                </a:r>
                <a:endParaRPr b="1" sz="9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12"/>
              <p:cNvSpPr/>
              <p:nvPr/>
            </p:nvSpPr>
            <p:spPr>
              <a:xfrm>
                <a:off x="95250" y="190500"/>
                <a:ext cx="2476500" cy="2667000"/>
              </a:xfrm>
              <a:prstGeom prst="roundRect">
                <a:avLst>
                  <a:gd fmla="val 3076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CBD5E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2"/>
              <p:cNvSpPr txBox="1"/>
              <p:nvPr/>
            </p:nvSpPr>
            <p:spPr>
              <a:xfrm>
                <a:off x="238125" y="2571750"/>
                <a:ext cx="21909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950">
                    <a:solidFill>
                      <a:srgbClr val="475569"/>
                    </a:solidFill>
                    <a:latin typeface="Arial"/>
                    <a:ea typeface="Arial"/>
                    <a:cs typeface="Arial"/>
                    <a:sym typeface="Arial"/>
                  </a:rPr>
                  <a:t>Amendment No. 1 (SC TO-T/A)</a:t>
                </a:r>
                <a:endParaRPr b="1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08" name="Google Shape;208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-114300" y="-76200"/>
                <a:ext cx="2705100" cy="2876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12"/>
              <p:cNvSpPr/>
              <p:nvPr/>
            </p:nvSpPr>
            <p:spPr>
              <a:xfrm>
                <a:off x="0" y="0"/>
                <a:ext cx="2476500" cy="342900"/>
              </a:xfrm>
              <a:prstGeom prst="roundRect">
                <a:avLst>
                  <a:gd fmla="val 22222" name="adj"/>
                </a:avLst>
              </a:prstGeom>
              <a:solidFill>
                <a:srgbClr val="4B709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2"/>
              <p:cNvSpPr/>
              <p:nvPr/>
            </p:nvSpPr>
            <p:spPr>
              <a:xfrm>
                <a:off x="0" y="171450"/>
                <a:ext cx="2476500" cy="171600"/>
              </a:xfrm>
              <a:prstGeom prst="rect">
                <a:avLst/>
              </a:prstGeom>
              <a:solidFill>
                <a:srgbClr val="4B709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2"/>
              <p:cNvSpPr txBox="1"/>
              <p:nvPr/>
            </p:nvSpPr>
            <p:spPr>
              <a:xfrm>
                <a:off x="114300" y="76200"/>
                <a:ext cx="2247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SEC EDGAR Repository</a:t>
                </a:r>
                <a:endParaRPr b="1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12" name="Google Shape;212;p12"/>
              <p:cNvGrpSpPr/>
              <p:nvPr/>
            </p:nvGrpSpPr>
            <p:grpSpPr>
              <a:xfrm>
                <a:off x="152400" y="495300"/>
                <a:ext cx="1238400" cy="895500"/>
                <a:chOff x="0" y="0"/>
                <a:chExt cx="1238400" cy="895500"/>
              </a:xfrm>
            </p:grpSpPr>
            <p:sp>
              <p:nvSpPr>
                <p:cNvPr id="213" name="Google Shape;213;p12"/>
                <p:cNvSpPr/>
                <p:nvPr/>
              </p:nvSpPr>
              <p:spPr>
                <a:xfrm>
                  <a:off x="0" y="0"/>
                  <a:ext cx="1238400" cy="247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EF3F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12"/>
                <p:cNvSpPr txBox="1"/>
                <p:nvPr/>
              </p:nvSpPr>
              <p:spPr>
                <a:xfrm>
                  <a:off x="114300" y="38100"/>
                  <a:ext cx="10479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1F344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• Schedule TO</a:t>
                  </a:r>
                  <a:endParaRPr b="1" sz="900">
                    <a:solidFill>
                      <a:srgbClr val="1F344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12"/>
                <p:cNvSpPr/>
                <p:nvPr/>
              </p:nvSpPr>
              <p:spPr>
                <a:xfrm>
                  <a:off x="0" y="323850"/>
                  <a:ext cx="1238400" cy="247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EF3F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" name="Google Shape;216;p12"/>
                <p:cNvSpPr txBox="1"/>
                <p:nvPr/>
              </p:nvSpPr>
              <p:spPr>
                <a:xfrm>
                  <a:off x="114300" y="361950"/>
                  <a:ext cx="10479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1F344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• Amendment</a:t>
                  </a:r>
                  <a:endParaRPr b="1" sz="900">
                    <a:solidFill>
                      <a:srgbClr val="1F344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7" name="Google Shape;217;p12"/>
                <p:cNvSpPr/>
                <p:nvPr/>
              </p:nvSpPr>
              <p:spPr>
                <a:xfrm>
                  <a:off x="0" y="647700"/>
                  <a:ext cx="1238400" cy="2478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EEF3F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" name="Google Shape;218;p12"/>
                <p:cNvSpPr txBox="1"/>
                <p:nvPr/>
              </p:nvSpPr>
              <p:spPr>
                <a:xfrm>
                  <a:off x="114300" y="685800"/>
                  <a:ext cx="1047900" cy="190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900">
                      <a:solidFill>
                        <a:srgbClr val="1F3445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• Exhibits (EX-99)</a:t>
                  </a:r>
                  <a:endParaRPr b="1" sz="900">
                    <a:solidFill>
                      <a:srgbClr val="1F344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9" name="Google Shape;219;p12"/>
              <p:cNvSpPr txBox="1"/>
              <p:nvPr/>
            </p:nvSpPr>
            <p:spPr>
              <a:xfrm>
                <a:off x="152400" y="1524000"/>
                <a:ext cx="2171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Accession No:</a:t>
                </a:r>
                <a:endParaRPr sz="105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0001193125-20-000096</a:t>
                </a:r>
                <a:endParaRPr sz="105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Fetched Payload:</a:t>
                </a:r>
                <a:endParaRPr sz="105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>
                    <a:solidFill>
                      <a:srgbClr val="475569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Raw HTML + Tables + TOC</a:t>
                </a:r>
                <a:endParaRPr sz="105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20" name="Google Shape;220;p12"/>
            <p:cNvSpPr txBox="1"/>
            <p:nvPr/>
          </p:nvSpPr>
          <p:spPr>
            <a:xfrm>
              <a:off x="190500" y="5429250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Resolve metadata to the underlying source documents. Pulls complete filing bundle and exhibits from SEC servers.</a:t>
              </a:r>
              <a:endParaRPr i="1"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p12"/>
          <p:cNvGrpSpPr/>
          <p:nvPr/>
        </p:nvGrpSpPr>
        <p:grpSpPr>
          <a:xfrm>
            <a:off x="9067800" y="1905000"/>
            <a:ext cx="3619500" cy="6762900"/>
            <a:chOff x="0" y="0"/>
            <a:chExt cx="3619500" cy="6762900"/>
          </a:xfrm>
        </p:grpSpPr>
        <p:sp>
          <p:nvSpPr>
            <p:cNvPr id="222" name="Google Shape;222;p12"/>
            <p:cNvSpPr/>
            <p:nvPr/>
          </p:nvSpPr>
          <p:spPr>
            <a:xfrm>
              <a:off x="0" y="0"/>
              <a:ext cx="3619500" cy="67629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2"/>
            <p:cNvSpPr/>
            <p:nvPr/>
          </p:nvSpPr>
          <p:spPr>
            <a:xfrm>
              <a:off x="0" y="0"/>
              <a:ext cx="3619500" cy="419100"/>
            </a:xfrm>
            <a:prstGeom prst="roundRect">
              <a:avLst>
                <a:gd fmla="val 36363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2"/>
            <p:cNvSpPr/>
            <p:nvPr/>
          </p:nvSpPr>
          <p:spPr>
            <a:xfrm>
              <a:off x="0" y="209550"/>
              <a:ext cx="3619500" cy="209700"/>
            </a:xfrm>
            <a:prstGeom prst="rect">
              <a:avLst/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2"/>
            <p:cNvSpPr txBox="1"/>
            <p:nvPr/>
          </p:nvSpPr>
          <p:spPr>
            <a:xfrm>
              <a:off x="190500" y="95250"/>
              <a:ext cx="3238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NORMALIZE — HTML → Clean Text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2"/>
            <p:cNvSpPr/>
            <p:nvPr/>
          </p:nvSpPr>
          <p:spPr>
            <a:xfrm>
              <a:off x="190500" y="609600"/>
              <a:ext cx="3238500" cy="1714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2"/>
            <p:cNvSpPr txBox="1"/>
            <p:nvPr/>
          </p:nvSpPr>
          <p:spPr>
            <a:xfrm>
              <a:off x="304800" y="704850"/>
              <a:ext cx="3009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5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BEFORE (Raw SEC HTML):</a:t>
              </a:r>
              <a:endParaRPr b="1" sz="115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&lt;DOCUMENT&gt;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&lt;TYPE&gt;SC TO-T/A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&lt;TEXT&gt;&lt;TABLE&gt;&lt;TR&gt;&lt;TD&gt;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Offer consideration of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 $30.75 per share...</a:t>
              </a:r>
              <a:endParaRPr sz="115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&lt;/TD&gt;&lt;/TR&gt;&lt;/TABLE&gt;&lt;/TEXT&gt;</a:t>
              </a:r>
              <a:endParaRPr sz="115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8" name="Google Shape;228;p12"/>
            <p:cNvSpPr/>
            <p:nvPr/>
          </p:nvSpPr>
          <p:spPr>
            <a:xfrm>
              <a:off x="1752600" y="2400300"/>
              <a:ext cx="114300" cy="2097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60000" y="120000"/>
                  </a:lnTo>
                  <a:moveTo>
                    <a:pt x="0" y="87273"/>
                  </a:moveTo>
                  <a:lnTo>
                    <a:pt x="60000" y="120000"/>
                  </a:lnTo>
                  <a:lnTo>
                    <a:pt x="120000" y="87273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B70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2"/>
            <p:cNvSpPr/>
            <p:nvPr/>
          </p:nvSpPr>
          <p:spPr>
            <a:xfrm>
              <a:off x="190500" y="2705100"/>
              <a:ext cx="3238500" cy="1809600"/>
            </a:xfrm>
            <a:prstGeom prst="roundRect">
              <a:avLst>
                <a:gd fmla="val 4210" name="adj"/>
              </a:avLst>
            </a:prstGeom>
            <a:solidFill>
              <a:srgbClr val="FFFFFF"/>
            </a:solidFill>
            <a:ln cap="flat" cmpd="sng" w="1430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2"/>
            <p:cNvSpPr txBox="1"/>
            <p:nvPr/>
          </p:nvSpPr>
          <p:spPr>
            <a:xfrm>
              <a:off x="304800" y="2800350"/>
              <a:ext cx="3009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AFTER (Normalized Plain Text):</a:t>
              </a:r>
              <a:endParaRPr b="1" sz="11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"...is offering to purchase all outstanding shares for an offer consideration of </a:t>
              </a:r>
              <a:r>
                <a:rPr b="1" i="0" lang="en-US" sz="110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 per share</a:t>
              </a:r>
              <a:r>
                <a:rPr i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, net to the seller in cash..."</a:t>
              </a:r>
              <a:endParaRPr i="1"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[Stripped wrappers, TOC anchors &amp; tables]</a:t>
              </a:r>
              <a:endParaRPr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2"/>
            <p:cNvSpPr/>
            <p:nvPr/>
          </p:nvSpPr>
          <p:spPr>
            <a:xfrm>
              <a:off x="190500" y="4648200"/>
              <a:ext cx="3238500" cy="609600"/>
            </a:xfrm>
            <a:prstGeom prst="roundRect">
              <a:avLst>
                <a:gd fmla="val 9375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2"/>
            <p:cNvSpPr txBox="1"/>
            <p:nvPr/>
          </p:nvSpPr>
          <p:spPr>
            <a:xfrm>
              <a:off x="285750" y="4724400"/>
              <a:ext cx="304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Scope: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Technical preprocessing only. Standardizes layout/text without semantic extraction.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2"/>
            <p:cNvSpPr txBox="1"/>
            <p:nvPr/>
          </p:nvSpPr>
          <p:spPr>
            <a:xfrm>
              <a:off x="190500" y="5429250"/>
              <a:ext cx="3238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Convert heterogeneous SEC filings into clean searchable text. Establishes grounded text spans for downstream NLP.</a:t>
              </a:r>
              <a:endParaRPr i="1"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" name="Google Shape;234;p12"/>
          <p:cNvGrpSpPr/>
          <p:nvPr/>
        </p:nvGrpSpPr>
        <p:grpSpPr>
          <a:xfrm>
            <a:off x="13087350" y="1905000"/>
            <a:ext cx="4172100" cy="6762900"/>
            <a:chOff x="0" y="0"/>
            <a:chExt cx="4172100" cy="6762900"/>
          </a:xfrm>
        </p:grpSpPr>
        <p:sp>
          <p:nvSpPr>
            <p:cNvPr id="235" name="Google Shape;235;p12"/>
            <p:cNvSpPr/>
            <p:nvPr/>
          </p:nvSpPr>
          <p:spPr>
            <a:xfrm>
              <a:off x="0" y="0"/>
              <a:ext cx="4172100" cy="6762900"/>
            </a:xfrm>
            <a:prstGeom prst="roundRect">
              <a:avLst>
                <a:gd fmla="val 3652" name="adj"/>
              </a:avLst>
            </a:prstGeom>
            <a:solidFill>
              <a:srgbClr val="F0FDF4"/>
            </a:solidFill>
            <a:ln cap="flat" cmpd="sng" w="23825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0" y="0"/>
              <a:ext cx="4172100" cy="457200"/>
            </a:xfrm>
            <a:prstGeom prst="roundRect">
              <a:avLst>
                <a:gd fmla="val 33333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0" y="228600"/>
              <a:ext cx="4172100" cy="228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2"/>
            <p:cNvSpPr txBox="1"/>
            <p:nvPr/>
          </p:nvSpPr>
          <p:spPr>
            <a:xfrm>
              <a:off x="190500" y="114300"/>
              <a:ext cx="3791100" cy="2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 EXTRACT — AI Layer </a:t>
              </a:r>
              <a:r>
                <a:rPr b="1" lang="en-US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(GliNER)</a:t>
              </a:r>
              <a:endParaRPr b="1" i="0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39" name="Google Shape;239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" y="571500"/>
              <a:ext cx="4019700" cy="4800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2"/>
            <p:cNvSpPr/>
            <p:nvPr/>
          </p:nvSpPr>
          <p:spPr>
            <a:xfrm>
              <a:off x="190500" y="647700"/>
              <a:ext cx="3791100" cy="342900"/>
            </a:xfrm>
            <a:prstGeom prst="roundRect">
              <a:avLst>
                <a:gd fmla="val 33333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2"/>
            <p:cNvSpPr/>
            <p:nvPr/>
          </p:nvSpPr>
          <p:spPr>
            <a:xfrm>
              <a:off x="190500" y="819150"/>
              <a:ext cx="3791100" cy="171600"/>
            </a:xfrm>
            <a:prstGeom prst="rect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2"/>
            <p:cNvSpPr txBox="1"/>
            <p:nvPr/>
          </p:nvSpPr>
          <p:spPr>
            <a:xfrm>
              <a:off x="342900" y="723900"/>
              <a:ext cx="34863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STRUCTURED CANDIDATE FACT PAYLOAD</a:t>
              </a:r>
              <a:endParaRPr b="1" sz="11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12"/>
            <p:cNvGrpSpPr/>
            <p:nvPr/>
          </p:nvGrpSpPr>
          <p:grpSpPr>
            <a:xfrm>
              <a:off x="266700" y="1143000"/>
              <a:ext cx="3638700" cy="2571750"/>
              <a:chOff x="-76200" y="0"/>
              <a:chExt cx="3638700" cy="2571750"/>
            </a:xfrm>
          </p:grpSpPr>
          <p:sp>
            <p:nvSpPr>
              <p:cNvPr id="244" name="Google Shape;244;p12"/>
              <p:cNvSpPr txBox="1"/>
              <p:nvPr/>
            </p:nvSpPr>
            <p:spPr>
              <a:xfrm>
                <a:off x="0" y="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Target:</a:t>
                </a:r>
                <a:endParaRPr b="1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2"/>
              <p:cNvSpPr txBox="1"/>
              <p:nvPr/>
            </p:nvSpPr>
            <p:spPr>
              <a:xfrm>
                <a:off x="1238250" y="0"/>
                <a:ext cx="21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Wright Medical Group N.V.</a:t>
                </a:r>
                <a:endParaRPr b="1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6" name="Google Shape;246;p12"/>
              <p:cNvCxnSpPr/>
              <p:nvPr/>
            </p:nvCxnSpPr>
            <p:spPr>
              <a:xfrm>
                <a:off x="0" y="285750"/>
                <a:ext cx="3486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47" name="Google Shape;247;p12"/>
              <p:cNvSpPr txBox="1"/>
              <p:nvPr/>
            </p:nvSpPr>
            <p:spPr>
              <a:xfrm>
                <a:off x="0" y="38100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Offeror:</a:t>
                </a:r>
                <a:endParaRPr b="1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2"/>
              <p:cNvSpPr txBox="1"/>
              <p:nvPr/>
            </p:nvSpPr>
            <p:spPr>
              <a:xfrm>
                <a:off x="1238250" y="381000"/>
                <a:ext cx="21909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Stryker Corp</a:t>
                </a:r>
                <a:endParaRPr b="1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9" name="Google Shape;249;p12"/>
              <p:cNvCxnSpPr/>
              <p:nvPr/>
            </p:nvCxnSpPr>
            <p:spPr>
              <a:xfrm>
                <a:off x="0" y="666750"/>
                <a:ext cx="3486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0" name="Google Shape;250;p12"/>
              <p:cNvSpPr/>
              <p:nvPr/>
            </p:nvSpPr>
            <p:spPr>
              <a:xfrm>
                <a:off x="-76200" y="742950"/>
                <a:ext cx="36387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DCFCE7"/>
              </a:solidFill>
              <a:ln cap="flat" cmpd="sng" w="1430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2"/>
              <p:cNvSpPr txBox="1"/>
              <p:nvPr/>
            </p:nvSpPr>
            <p:spPr>
              <a:xfrm>
                <a:off x="0" y="857250"/>
                <a:ext cx="1143000" cy="2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Offer Price:</a:t>
                </a:r>
                <a:endParaRPr b="1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12"/>
              <p:cNvSpPr txBox="1"/>
              <p:nvPr/>
            </p:nvSpPr>
            <p:spPr>
              <a:xfrm>
                <a:off x="1238250" y="819150"/>
                <a:ext cx="21909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$30.75 / share</a:t>
                </a:r>
                <a:endParaRPr b="1" sz="16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2"/>
              <p:cNvSpPr txBox="1"/>
              <p:nvPr/>
            </p:nvSpPr>
            <p:spPr>
              <a:xfrm>
                <a:off x="0" y="1333500"/>
                <a:ext cx="1143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Event Type:</a:t>
                </a:r>
                <a:endParaRPr b="1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2"/>
              <p:cNvSpPr txBox="1"/>
              <p:nvPr/>
            </p:nvSpPr>
            <p:spPr>
              <a:xfrm>
                <a:off x="1238250" y="1333500"/>
                <a:ext cx="21909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Tender Offer</a:t>
                </a:r>
                <a:endParaRPr b="1" i="0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5" name="Google Shape;255;p12"/>
              <p:cNvCxnSpPr/>
              <p:nvPr/>
            </p:nvCxnSpPr>
            <p:spPr>
              <a:xfrm>
                <a:off x="0" y="1619250"/>
                <a:ext cx="34863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6" name="Google Shape;256;p12"/>
              <p:cNvSpPr txBox="1"/>
              <p:nvPr/>
            </p:nvSpPr>
            <p:spPr>
              <a:xfrm>
                <a:off x="0" y="1714500"/>
                <a:ext cx="11430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050">
                    <a:solidFill>
                      <a:srgbClr val="64748B"/>
                    </a:solidFill>
                    <a:latin typeface="Arial"/>
                    <a:ea typeface="Arial"/>
                    <a:cs typeface="Arial"/>
                    <a:sym typeface="Arial"/>
                  </a:rPr>
                  <a:t>Source Form:</a:t>
                </a:r>
                <a:endParaRPr b="1" i="0" sz="10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2"/>
              <p:cNvSpPr txBox="1"/>
              <p:nvPr/>
            </p:nvSpPr>
            <p:spPr>
              <a:xfrm>
                <a:off x="1238250" y="1714500"/>
                <a:ext cx="2190900" cy="2286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050">
                    <a:solidFill>
                      <a:srgbClr val="1E293B"/>
                    </a:solidFill>
                    <a:latin typeface="Arial"/>
                    <a:ea typeface="Arial"/>
                    <a:cs typeface="Arial"/>
                    <a:sym typeface="Arial"/>
                  </a:rPr>
                  <a:t>SC TO-T/A</a:t>
                </a:r>
                <a:endParaRPr b="1" i="0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2"/>
              <p:cNvSpPr txBox="1"/>
              <p:nvPr/>
            </p:nvSpPr>
            <p:spPr>
              <a:xfrm>
                <a:off x="0" y="2190750"/>
                <a:ext cx="34863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n-US" sz="950">
                    <a:solidFill>
                      <a:srgbClr val="0F766E"/>
                    </a:solidFill>
                    <a:latin typeface="Arial"/>
                    <a:ea typeface="Arial"/>
                    <a:cs typeface="Arial"/>
                    <a:sym typeface="Arial"/>
                  </a:rPr>
                  <a:t>Candidate structured facts for downstream verification</a:t>
                </a:r>
                <a:endParaRPr b="1" i="1" sz="9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9" name="Google Shape;259;p12"/>
            <p:cNvSpPr txBox="1"/>
            <p:nvPr/>
          </p:nvSpPr>
          <p:spPr>
            <a:xfrm>
              <a:off x="190500" y="5429250"/>
              <a:ext cx="37911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0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Transform narrative text into candidate structured material facts.</a:t>
              </a:r>
              <a:endParaRPr b="0" i="1" sz="10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2"/>
          <p:cNvGrpSpPr/>
          <p:nvPr/>
        </p:nvGrpSpPr>
        <p:grpSpPr>
          <a:xfrm>
            <a:off x="1028700" y="8858250"/>
            <a:ext cx="16230600" cy="571500"/>
            <a:chOff x="0" y="0"/>
            <a:chExt cx="16230600" cy="571500"/>
          </a:xfrm>
        </p:grpSpPr>
        <p:sp>
          <p:nvSpPr>
            <p:cNvPr id="261" name="Google Shape;261;p12"/>
            <p:cNvSpPr/>
            <p:nvPr/>
          </p:nvSpPr>
          <p:spPr>
            <a:xfrm>
              <a:off x="0" y="0"/>
              <a:ext cx="16230600" cy="571500"/>
            </a:xfrm>
            <a:prstGeom prst="roundRect">
              <a:avLst>
                <a:gd fmla="val 20000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2"/>
            <p:cNvSpPr txBox="1"/>
            <p:nvPr/>
          </p:nvSpPr>
          <p:spPr>
            <a:xfrm>
              <a:off x="228600" y="171450"/>
              <a:ext cx="157734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Key Takeaway: SEC provides the source documents. Our pipeline converts them into structured corporate-action facts for downstream verification.</a:t>
              </a:r>
              <a:endParaRPr b="1" i="0" sz="13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3"/>
          <p:cNvGrpSpPr/>
          <p:nvPr/>
        </p:nvGrpSpPr>
        <p:grpSpPr>
          <a:xfrm>
            <a:off x="1028700" y="381000"/>
            <a:ext cx="16230600" cy="990600"/>
            <a:chOff x="0" y="0"/>
            <a:chExt cx="16230600" cy="990600"/>
          </a:xfrm>
        </p:grpSpPr>
        <p:sp>
          <p:nvSpPr>
            <p:cNvPr id="272" name="Google Shape;272;p13"/>
            <p:cNvSpPr txBox="1"/>
            <p:nvPr/>
          </p:nvSpPr>
          <p:spPr>
            <a:xfrm>
              <a:off x="0" y="0"/>
              <a:ext cx="76200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3"/>
            <p:cNvSpPr txBox="1"/>
            <p:nvPr/>
          </p:nvSpPr>
          <p:spPr>
            <a:xfrm>
              <a:off x="0" y="247650"/>
              <a:ext cx="16230600" cy="400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90">
                  <a:solidFill>
                    <a:srgbClr val="0F172A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Tender Concise Representation</a:t>
              </a:r>
              <a:endParaRPr b="1" sz="2590">
                <a:solidFill>
                  <a:srgbClr val="0F172A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274" name="Google Shape;274;p13"/>
            <p:cNvCxnSpPr/>
            <p:nvPr/>
          </p:nvCxnSpPr>
          <p:spPr>
            <a:xfrm>
              <a:off x="0" y="685800"/>
              <a:ext cx="16230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5" name="Google Shape;275;p13"/>
            <p:cNvSpPr txBox="1"/>
            <p:nvPr/>
          </p:nvSpPr>
          <p:spPr>
            <a:xfrm>
              <a:off x="0" y="723900"/>
              <a:ext cx="162306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Compact event representation preserving source context, relevant text, detected entities, and candidate facts</a:t>
              </a:r>
              <a:endParaRPr b="0" sz="13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6" name="Google Shape;276;p13"/>
          <p:cNvGrpSpPr/>
          <p:nvPr/>
        </p:nvGrpSpPr>
        <p:grpSpPr>
          <a:xfrm>
            <a:off x="1028700" y="1447800"/>
            <a:ext cx="16230600" cy="362100"/>
            <a:chOff x="0" y="0"/>
            <a:chExt cx="16230600" cy="362100"/>
          </a:xfrm>
        </p:grpSpPr>
        <p:sp>
          <p:nvSpPr>
            <p:cNvPr id="277" name="Google Shape;277;p13"/>
            <p:cNvSpPr/>
            <p:nvPr/>
          </p:nvSpPr>
          <p:spPr>
            <a:xfrm>
              <a:off x="0" y="0"/>
              <a:ext cx="162306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3"/>
            <p:cNvSpPr txBox="1"/>
            <p:nvPr/>
          </p:nvSpPr>
          <p:spPr>
            <a:xfrm>
              <a:off x="152400" y="0"/>
              <a:ext cx="159258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Tender Offer  |  </a:t>
              </a:r>
              <a:r>
                <a:rPr b="0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Wright Medical Group N.V. / Stryker Corp</a:t>
              </a:r>
              <a:r>
                <a:rPr b="1" lang="en-US" sz="11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  |  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SEC Event Key: 005-86024</a:t>
              </a:r>
              <a:endParaRPr b="1" sz="11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13"/>
          <p:cNvGrpSpPr/>
          <p:nvPr/>
        </p:nvGrpSpPr>
        <p:grpSpPr>
          <a:xfrm>
            <a:off x="1028700" y="1962150"/>
            <a:ext cx="7982100" cy="3143400"/>
            <a:chOff x="0" y="0"/>
            <a:chExt cx="7982100" cy="3143400"/>
          </a:xfrm>
        </p:grpSpPr>
        <p:sp>
          <p:nvSpPr>
            <p:cNvPr id="280" name="Google Shape;280;p13"/>
            <p:cNvSpPr/>
            <p:nvPr/>
          </p:nvSpPr>
          <p:spPr>
            <a:xfrm>
              <a:off x="0" y="0"/>
              <a:ext cx="79821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0" y="0"/>
              <a:ext cx="7982100" cy="400200"/>
            </a:xfrm>
            <a:prstGeom prst="roundRect">
              <a:avLst>
                <a:gd fmla="val 28571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0" y="20955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3"/>
            <p:cNvSpPr txBox="1"/>
            <p:nvPr/>
          </p:nvSpPr>
          <p:spPr>
            <a:xfrm>
              <a:off x="190500" y="0"/>
              <a:ext cx="760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Source Documents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 txBox="1"/>
            <p:nvPr/>
          </p:nvSpPr>
          <p:spPr>
            <a:xfrm>
              <a:off x="190500" y="495300"/>
              <a:ext cx="76011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Which SEC documents contribute evidence to this event?</a:t>
              </a:r>
              <a:endParaRPr b="1" i="1" sz="18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0" lang="en-US" sz="18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doc_role, source_accession, filename, download_status</a:t>
              </a:r>
              <a:endParaRPr b="0" sz="18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Document Examples:</a:t>
              </a:r>
              <a:endParaRPr b="1" sz="18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766E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• SC TO-T</a:t>
              </a:r>
              <a:r>
                <a:rPr lang="en-US" sz="1700">
                  <a:solidFill>
                    <a:srgbClr val="1E293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 |  </a:t>
              </a:r>
              <a:r>
                <a:rPr b="1" lang="en-US" sz="1700">
                  <a:solidFill>
                    <a:srgbClr val="0F766E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SC TO-T/A</a:t>
              </a:r>
              <a:r>
                <a:rPr lang="en-US" sz="1700">
                  <a:solidFill>
                    <a:srgbClr val="1E293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 |  </a:t>
              </a:r>
              <a:r>
                <a:rPr b="1" lang="en-US" sz="1700">
                  <a:solidFill>
                    <a:srgbClr val="0F766E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SC 14D9</a:t>
              </a:r>
              <a:endParaRPr sz="1700">
                <a:solidFill>
                  <a:srgbClr val="1E293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766E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• Offer to Purchase</a:t>
              </a:r>
              <a:r>
                <a:rPr lang="en-US" sz="1700">
                  <a:solidFill>
                    <a:srgbClr val="1E293B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 |  </a:t>
              </a:r>
              <a:r>
                <a:rPr b="1" lang="en-US" sz="1700">
                  <a:solidFill>
                    <a:srgbClr val="0F766E"/>
                  </a:solidFill>
                  <a:highlight>
                    <a:srgbClr val="F8FAF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EX-99 Exhibit</a:t>
              </a:r>
              <a:endParaRPr sz="1700">
                <a:solidFill>
                  <a:srgbClr val="1E293B"/>
                </a:solidFill>
                <a:highlight>
                  <a:srgbClr val="F8FAF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85" name="Google Shape;285;p13"/>
          <p:cNvGrpSpPr/>
          <p:nvPr/>
        </p:nvGrpSpPr>
        <p:grpSpPr>
          <a:xfrm>
            <a:off x="9277350" y="1962150"/>
            <a:ext cx="7982100" cy="3143400"/>
            <a:chOff x="0" y="0"/>
            <a:chExt cx="7982100" cy="3143400"/>
          </a:xfrm>
        </p:grpSpPr>
        <p:sp>
          <p:nvSpPr>
            <p:cNvPr id="286" name="Google Shape;286;p13"/>
            <p:cNvSpPr/>
            <p:nvPr/>
          </p:nvSpPr>
          <p:spPr>
            <a:xfrm>
              <a:off x="0" y="0"/>
              <a:ext cx="79821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0" y="0"/>
              <a:ext cx="7982100" cy="400200"/>
            </a:xfrm>
            <a:prstGeom prst="roundRect">
              <a:avLst>
                <a:gd fmla="val 28571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0" y="20955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3"/>
            <p:cNvSpPr txBox="1"/>
            <p:nvPr/>
          </p:nvSpPr>
          <p:spPr>
            <a:xfrm>
              <a:off x="190500" y="0"/>
              <a:ext cx="760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Relevant Segments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 txBox="1"/>
            <p:nvPr/>
          </p:nvSpPr>
          <p:spPr>
            <a:xfrm>
              <a:off x="190500" y="495300"/>
              <a:ext cx="7601100" cy="249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Which parts of those documents contain potentially useful information?</a:t>
              </a:r>
              <a:endParaRPr b="1" i="1" sz="20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0" lang="en-US" sz="20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kind, heading, question, text_preview, doc_role</a:t>
              </a:r>
              <a:endParaRPr b="0" sz="20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E293B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Heading: </a:t>
              </a:r>
              <a:r>
                <a:rPr b="0" lang="en-US" sz="2000">
                  <a:solidFill>
                    <a:srgbClr val="1E293B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Terms of the Offer</a:t>
              </a:r>
              <a:endParaRPr b="1" sz="2000">
                <a:solidFill>
                  <a:srgbClr val="1E293B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rgbClr val="334155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Text preview: "...offer consideration of </a:t>
              </a:r>
              <a:r>
                <a:rPr b="1" i="0" lang="en-US" sz="200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 per share</a:t>
              </a:r>
              <a:r>
                <a:rPr i="1" lang="en-US" sz="2000">
                  <a:solidFill>
                    <a:srgbClr val="334155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..."</a:t>
              </a:r>
              <a:endParaRPr i="1" sz="2000">
                <a:solidFill>
                  <a:srgbClr val="334155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13"/>
          <p:cNvGrpSpPr/>
          <p:nvPr/>
        </p:nvGrpSpPr>
        <p:grpSpPr>
          <a:xfrm>
            <a:off x="1028700" y="5257800"/>
            <a:ext cx="7982100" cy="3219600"/>
            <a:chOff x="0" y="0"/>
            <a:chExt cx="7982100" cy="3219600"/>
          </a:xfrm>
        </p:grpSpPr>
        <p:sp>
          <p:nvSpPr>
            <p:cNvPr id="292" name="Google Shape;292;p13"/>
            <p:cNvSpPr/>
            <p:nvPr/>
          </p:nvSpPr>
          <p:spPr>
            <a:xfrm>
              <a:off x="0" y="0"/>
              <a:ext cx="7982100" cy="3219600"/>
            </a:xfrm>
            <a:prstGeom prst="roundRect">
              <a:avLst>
                <a:gd fmla="val 3550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0" y="0"/>
              <a:ext cx="7982100" cy="400200"/>
            </a:xfrm>
            <a:prstGeom prst="roundRect">
              <a:avLst>
                <a:gd fmla="val 28571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0" y="20955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3"/>
            <p:cNvSpPr txBox="1"/>
            <p:nvPr/>
          </p:nvSpPr>
          <p:spPr>
            <a:xfrm>
              <a:off x="190500" y="0"/>
              <a:ext cx="7601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Detected Entities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3"/>
            <p:cNvSpPr txBox="1"/>
            <p:nvPr/>
          </p:nvSpPr>
          <p:spPr>
            <a:xfrm>
              <a:off x="190500" y="495300"/>
              <a:ext cx="76011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7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What entities and values were identified in the relevant passages?</a:t>
              </a:r>
              <a:endParaRPr b="1" i="1" sz="17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0" lang="en-US" sz="17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label, text, confidence, section, doc_role</a:t>
              </a:r>
              <a:endParaRPr b="0" sz="17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17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766E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OFFEROR: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7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Stryker Corp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     </a:t>
              </a:r>
              <a:r>
                <a:rPr b="1" lang="en-US" sz="1700">
                  <a:solidFill>
                    <a:srgbClr val="0F766E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TARGET: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7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Wright Medical</a:t>
              </a:r>
              <a:endParaRPr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MONEY: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90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     </a:t>
              </a:r>
              <a:r>
                <a:rPr b="1" lang="en-US" sz="1700">
                  <a:solidFill>
                    <a:srgbClr val="0F766E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SECURITY:</a:t>
              </a:r>
              <a:r>
                <a:rPr lang="en-US" sz="17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7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Ordinary Shares</a:t>
              </a:r>
              <a:endParaRPr sz="17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13"/>
          <p:cNvGrpSpPr/>
          <p:nvPr/>
        </p:nvGrpSpPr>
        <p:grpSpPr>
          <a:xfrm>
            <a:off x="9277350" y="5257800"/>
            <a:ext cx="7982100" cy="3219600"/>
            <a:chOff x="0" y="0"/>
            <a:chExt cx="7982100" cy="3219600"/>
          </a:xfrm>
        </p:grpSpPr>
        <p:sp>
          <p:nvSpPr>
            <p:cNvPr id="298" name="Google Shape;298;p13"/>
            <p:cNvSpPr/>
            <p:nvPr/>
          </p:nvSpPr>
          <p:spPr>
            <a:xfrm>
              <a:off x="0" y="0"/>
              <a:ext cx="7982100" cy="3219600"/>
            </a:xfrm>
            <a:prstGeom prst="roundRect">
              <a:avLst>
                <a:gd fmla="val 3550" name="adj"/>
              </a:avLst>
            </a:prstGeom>
            <a:solidFill>
              <a:srgbClr val="FFFFFF"/>
            </a:solidFill>
            <a:ln cap="flat" cmpd="sng" w="23825">
              <a:solidFill>
                <a:srgbClr val="1665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0" y="0"/>
              <a:ext cx="7982100" cy="400200"/>
            </a:xfrm>
            <a:prstGeom prst="roundRect">
              <a:avLst>
                <a:gd fmla="val 28571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0" y="209550"/>
              <a:ext cx="7982100" cy="1905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3"/>
            <p:cNvSpPr txBox="1"/>
            <p:nvPr/>
          </p:nvSpPr>
          <p:spPr>
            <a:xfrm>
              <a:off x="190500" y="0"/>
              <a:ext cx="5238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★ 4. Candidate Facts (PRIMARY EVIDENCE LAYER)</a:t>
              </a:r>
              <a:endPara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5791200" y="85725"/>
              <a:ext cx="2000100" cy="228600"/>
            </a:xfrm>
            <a:prstGeom prst="roundRect">
              <a:avLst>
                <a:gd fmla="val 50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 txBox="1"/>
            <p:nvPr/>
          </p:nvSpPr>
          <p:spPr>
            <a:xfrm>
              <a:off x="5791200" y="85725"/>
              <a:ext cx="20001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Candidate, not yet canonical</a:t>
              </a:r>
              <a:endParaRPr b="1" sz="95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3"/>
            <p:cNvSpPr txBox="1"/>
            <p:nvPr/>
          </p:nvSpPr>
          <p:spPr>
            <a:xfrm>
              <a:off x="190500" y="495300"/>
              <a:ext cx="76011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Which BNY-relevant fields might be supported by the source evidence?</a:t>
              </a:r>
              <a:endParaRPr b="1" i="1" sz="14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0" lang="en-US" sz="1300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field_hint, raw_text, passage, confidence, doc_role, section, char_start / char_end</a:t>
              </a:r>
              <a:endParaRPr b="0" sz="1300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166534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Field: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450">
                  <a:solidFill>
                    <a:srgbClr val="0F766E"/>
                  </a:solidFill>
                  <a:highlight>
                    <a:srgbClr val="F0FDF4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offer_price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   </a:t>
              </a: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Value: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80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 per share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   </a:t>
              </a: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Confidence: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450">
                  <a:solidFill>
                    <a:srgbClr val="166534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0.94</a:t>
              </a:r>
              <a:endParaRPr sz="1450">
                <a:solidFill>
                  <a:srgbClr val="334155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Source: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-US" sz="1450">
                  <a:solidFill>
                    <a:srgbClr val="1E293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SC TO-T/A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   </a:t>
              </a: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Section: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50">
                  <a:solidFill>
                    <a:srgbClr val="1E293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Terms of the Offer</a:t>
              </a:r>
              <a:endParaRPr sz="1450">
                <a:solidFill>
                  <a:srgbClr val="334155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450">
                  <a:solidFill>
                    <a:srgbClr val="64748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Evidence:</a:t>
              </a:r>
              <a:r>
                <a:rPr lang="en-US" sz="1450">
                  <a:solidFill>
                    <a:srgbClr val="334155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i="1" lang="en-US" sz="1450">
                  <a:solidFill>
                    <a:srgbClr val="1E293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"...offer consideration of </a:t>
              </a:r>
              <a:r>
                <a:rPr b="1" i="0" lang="en-US" sz="145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 per share</a:t>
              </a:r>
              <a:r>
                <a:rPr i="1" lang="en-US" sz="1450">
                  <a:solidFill>
                    <a:srgbClr val="1E293B"/>
                  </a:solidFill>
                  <a:highlight>
                    <a:srgbClr val="F0FDF4"/>
                  </a:highlight>
                  <a:latin typeface="Arial"/>
                  <a:ea typeface="Arial"/>
                  <a:cs typeface="Arial"/>
                  <a:sym typeface="Arial"/>
                </a:rPr>
                <a:t>..."</a:t>
              </a:r>
              <a:endParaRPr sz="1450">
                <a:solidFill>
                  <a:srgbClr val="334155"/>
                </a:solidFill>
                <a:highlight>
                  <a:srgbClr val="F0FDF4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Candidate facts retain the exact evidence and source location that produced them.</a:t>
              </a:r>
              <a:endParaRPr b="1" sz="12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5" name="Google Shape;305;p13"/>
          <p:cNvGrpSpPr/>
          <p:nvPr/>
        </p:nvGrpSpPr>
        <p:grpSpPr>
          <a:xfrm>
            <a:off x="1028700" y="8667750"/>
            <a:ext cx="16230600" cy="523800"/>
            <a:chOff x="0" y="0"/>
            <a:chExt cx="16230600" cy="523800"/>
          </a:xfrm>
        </p:grpSpPr>
        <p:sp>
          <p:nvSpPr>
            <p:cNvPr id="306" name="Google Shape;306;p13"/>
            <p:cNvSpPr/>
            <p:nvPr/>
          </p:nvSpPr>
          <p:spPr>
            <a:xfrm>
              <a:off x="0" y="0"/>
              <a:ext cx="16230600" cy="523800"/>
            </a:xfrm>
            <a:prstGeom prst="roundRect">
              <a:avLst>
                <a:gd fmla="val 14545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3"/>
            <p:cNvSpPr txBox="1"/>
            <p:nvPr/>
          </p:nvSpPr>
          <p:spPr>
            <a:xfrm>
              <a:off x="190500" y="114300"/>
              <a:ext cx="15849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Takeaway: The concise representation removes document noise while preserving the source context and evidence needed to represent a tender offer compactly.</a:t>
              </a:r>
              <a:endParaRPr b="1" sz="13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14"/>
          <p:cNvGrpSpPr/>
          <p:nvPr/>
        </p:nvGrpSpPr>
        <p:grpSpPr>
          <a:xfrm>
            <a:off x="1028700" y="381000"/>
            <a:ext cx="16230600" cy="1257450"/>
            <a:chOff x="0" y="0"/>
            <a:chExt cx="16230600" cy="1257450"/>
          </a:xfrm>
        </p:grpSpPr>
        <p:sp>
          <p:nvSpPr>
            <p:cNvPr id="317" name="Google Shape;317;p14"/>
            <p:cNvSpPr txBox="1"/>
            <p:nvPr/>
          </p:nvSpPr>
          <p:spPr>
            <a:xfrm>
              <a:off x="0" y="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4B7091"/>
                  </a:solidFill>
                  <a:latin typeface="Arial"/>
                  <a:ea typeface="Arial"/>
                  <a:cs typeface="Arial"/>
                  <a:sym typeface="Arial"/>
                </a:rPr>
                <a:t>DOWNSTREAM INTEGRATION PIPELINE</a:t>
              </a:r>
              <a:endParaRPr b="1" sz="1500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4"/>
            <p:cNvSpPr txBox="1"/>
            <p:nvPr/>
          </p:nvSpPr>
          <p:spPr>
            <a:xfrm>
              <a:off x="0" y="304800"/>
              <a:ext cx="162306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30">
                  <a:solidFill>
                    <a:srgbClr val="1D2023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From Structured Event to BNY Client Notification</a:t>
              </a:r>
              <a:endParaRPr b="1" sz="3230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319" name="Google Shape;319;p14"/>
            <p:cNvCxnSpPr/>
            <p:nvPr/>
          </p:nvCxnSpPr>
          <p:spPr>
            <a:xfrm>
              <a:off x="0" y="876300"/>
              <a:ext cx="16230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0" name="Google Shape;320;p14"/>
            <p:cNvSpPr txBox="1"/>
            <p:nvPr/>
          </p:nvSpPr>
          <p:spPr>
            <a:xfrm>
              <a:off x="0" y="971550"/>
              <a:ext cx="16230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Running Example: Wright Medical Group N.V. / Stryker Corp (Event ID: 005-86024 | Form SC TO-T/A | Key Term: $30.75 per share)</a:t>
              </a:r>
              <a:endParaRPr b="0" sz="15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>
            <a:off x="1028700" y="1905000"/>
            <a:ext cx="4572000" cy="6000900"/>
            <a:chOff x="0" y="0"/>
            <a:chExt cx="4572000" cy="6000900"/>
          </a:xfrm>
        </p:grpSpPr>
        <p:sp>
          <p:nvSpPr>
            <p:cNvPr id="322" name="Google Shape;322;p14"/>
            <p:cNvSpPr/>
            <p:nvPr/>
          </p:nvSpPr>
          <p:spPr>
            <a:xfrm>
              <a:off x="0" y="0"/>
              <a:ext cx="4572000" cy="60009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0" y="0"/>
              <a:ext cx="4572000" cy="419100"/>
            </a:xfrm>
            <a:prstGeom prst="roundRect">
              <a:avLst>
                <a:gd fmla="val 36363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0" y="209550"/>
              <a:ext cx="4572000" cy="209700"/>
            </a:xfrm>
            <a:prstGeom prst="rect">
              <a:avLst/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4"/>
            <p:cNvSpPr txBox="1"/>
            <p:nvPr/>
          </p:nvSpPr>
          <p:spPr>
            <a:xfrm>
              <a:off x="190500" y="95250"/>
              <a:ext cx="4191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 STRUCTURED PUBLIC EVENT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190500" y="609600"/>
              <a:ext cx="4191000" cy="4000500"/>
            </a:xfrm>
            <a:prstGeom prst="roundRect">
              <a:avLst>
                <a:gd fmla="val 1904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4"/>
            <p:cNvSpPr txBox="1"/>
            <p:nvPr/>
          </p:nvSpPr>
          <p:spPr>
            <a:xfrm>
              <a:off x="342900" y="762000"/>
              <a:ext cx="38862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"event_id"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"005-86024"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"tender_offer"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"target"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"Wright Medical"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"offeror"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"Stryker"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"offer_price"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66534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30.75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"currency"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"USD"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190500" y="4800600"/>
              <a:ext cx="4191000" cy="952500"/>
            </a:xfrm>
            <a:prstGeom prst="roundRect">
              <a:avLst>
                <a:gd fmla="val 8000" name="adj"/>
              </a:avLst>
            </a:prstGeom>
            <a:solidFill>
              <a:srgbClr val="EFF6FF"/>
            </a:solidFill>
            <a:ln cap="flat" cmpd="sng" w="9525">
              <a:solidFill>
                <a:srgbClr val="BFDB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4"/>
            <p:cNvSpPr txBox="1"/>
            <p:nvPr/>
          </p:nvSpPr>
          <p:spPr>
            <a:xfrm>
              <a:off x="342900" y="4953000"/>
              <a:ext cx="3886200" cy="64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Structured Public Facts</a:t>
              </a:r>
              <a:endParaRPr b="1" sz="11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Standardized JSON representation extracted directly from SEC filings without internal enrichment.</a:t>
              </a:r>
              <a:endParaRPr b="0" sz="10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0" name="Google Shape;330;p14"/>
          <p:cNvSpPr/>
          <p:nvPr/>
        </p:nvSpPr>
        <p:spPr>
          <a:xfrm>
            <a:off x="5753100" y="4905375"/>
            <a:ext cx="304800" cy="0"/>
          </a:xfrm>
          <a:custGeom>
            <a:rect b="b" l="l" r="r" t="t"/>
            <a:pathLst>
              <a:path extrusionOk="0" fill="none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6038850" y="4848225"/>
            <a:ext cx="114300" cy="11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4B7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14"/>
          <p:cNvGrpSpPr/>
          <p:nvPr/>
        </p:nvGrpSpPr>
        <p:grpSpPr>
          <a:xfrm>
            <a:off x="6305550" y="1809750"/>
            <a:ext cx="5105400" cy="6191400"/>
            <a:chOff x="0" y="0"/>
            <a:chExt cx="5105400" cy="6191400"/>
          </a:xfrm>
        </p:grpSpPr>
        <p:sp>
          <p:nvSpPr>
            <p:cNvPr id="333" name="Google Shape;333;p14"/>
            <p:cNvSpPr/>
            <p:nvPr/>
          </p:nvSpPr>
          <p:spPr>
            <a:xfrm>
              <a:off x="0" y="0"/>
              <a:ext cx="5105400" cy="6191400"/>
            </a:xfrm>
            <a:prstGeom prst="roundRect">
              <a:avLst>
                <a:gd fmla="val 2985" name="adj"/>
              </a:avLst>
            </a:prstGeom>
            <a:solidFill>
              <a:srgbClr val="F0FDF4"/>
            </a:solidFill>
            <a:ln cap="flat" cmpd="sng" w="23825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0" y="0"/>
              <a:ext cx="5105400" cy="457200"/>
            </a:xfrm>
            <a:prstGeom prst="roundRect">
              <a:avLst>
                <a:gd fmla="val 33333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0" y="228600"/>
              <a:ext cx="5105400" cy="2286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4"/>
            <p:cNvSpPr txBox="1"/>
            <p:nvPr/>
          </p:nvSpPr>
          <p:spPr>
            <a:xfrm>
              <a:off x="228600" y="114300"/>
              <a:ext cx="46482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5. GROUND + VERIFY (PROVENANCE &amp; AUDIT)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228600" y="647700"/>
              <a:ext cx="4648200" cy="609600"/>
            </a:xfrm>
            <a:prstGeom prst="roundRect">
              <a:avLst>
                <a:gd fmla="val 12500" name="adj"/>
              </a:avLst>
            </a:prstGeom>
            <a:solidFill>
              <a:srgbClr val="DCFCE7"/>
            </a:solidFill>
            <a:ln cap="flat" cmpd="sng" w="14300">
              <a:solidFill>
                <a:srgbClr val="1665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4"/>
            <p:cNvSpPr txBox="1"/>
            <p:nvPr/>
          </p:nvSpPr>
          <p:spPr>
            <a:xfrm>
              <a:off x="419100" y="742950"/>
              <a:ext cx="1905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Offer Price:</a:t>
              </a:r>
              <a:endParaRPr b="1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2286000" y="704850"/>
              <a:ext cx="23814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$30.75 / share</a:t>
              </a:r>
              <a:endParaRPr b="1" sz="22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228600" y="1409700"/>
              <a:ext cx="4648200" cy="20955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4"/>
            <p:cNvSpPr txBox="1"/>
            <p:nvPr/>
          </p:nvSpPr>
          <p:spPr>
            <a:xfrm>
              <a:off x="381000" y="1524000"/>
              <a:ext cx="4343400" cy="18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SOURCE DOCUMENT</a:t>
              </a:r>
              <a:endParaRPr b="1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Form SC TO-T/A (Schedule TO Amendment)</a:t>
              </a:r>
              <a:endParaRPr b="1" sz="16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GROUNDED EVIDENCE PASSAGE</a:t>
              </a:r>
              <a:endParaRPr b="1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-US" sz="1450">
                  <a:solidFill>
                    <a:srgbClr val="334155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"... offer consideration of </a:t>
              </a:r>
              <a:r>
                <a:rPr b="1" i="0" lang="en-US" sz="1450">
                  <a:solidFill>
                    <a:srgbClr val="166534"/>
                  </a:solidFill>
                  <a:highlight>
                    <a:srgbClr val="DCFCE7"/>
                  </a:highlight>
                  <a:latin typeface="Arial"/>
                  <a:ea typeface="Arial"/>
                  <a:cs typeface="Arial"/>
                  <a:sym typeface="Arial"/>
                </a:rPr>
                <a:t>$30.75 per share</a:t>
              </a:r>
              <a:r>
                <a:rPr b="0" i="1" lang="en-US" sz="1450">
                  <a:solidFill>
                    <a:srgbClr val="334155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, net to the seller in cash without interest ..."</a:t>
              </a:r>
              <a:endParaRPr b="0" i="1" sz="1450">
                <a:solidFill>
                  <a:srgbClr val="334155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" name="Google Shape;342;p14"/>
            <p:cNvGrpSpPr/>
            <p:nvPr/>
          </p:nvGrpSpPr>
          <p:grpSpPr>
            <a:xfrm>
              <a:off x="228600" y="3657600"/>
              <a:ext cx="4648200" cy="1581300"/>
              <a:chOff x="0" y="0"/>
              <a:chExt cx="4648200" cy="1581300"/>
            </a:xfrm>
          </p:grpSpPr>
          <p:sp>
            <p:nvSpPr>
              <p:cNvPr id="343" name="Google Shape;343;p14"/>
              <p:cNvSpPr/>
              <p:nvPr/>
            </p:nvSpPr>
            <p:spPr>
              <a:xfrm>
                <a:off x="0" y="0"/>
                <a:ext cx="46482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4"/>
              <p:cNvSpPr/>
              <p:nvPr/>
            </p:nvSpPr>
            <p:spPr>
              <a:xfrm>
                <a:off x="171450" y="123825"/>
                <a:ext cx="228600" cy="228600"/>
              </a:xfrm>
              <a:prstGeom prst="ellipse">
                <a:avLst/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4"/>
              <p:cNvSpPr/>
              <p:nvPr/>
            </p:nvSpPr>
            <p:spPr>
              <a:xfrm>
                <a:off x="228600" y="20002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4"/>
              <p:cNvSpPr txBox="1"/>
              <p:nvPr/>
            </p:nvSpPr>
            <p:spPr>
              <a:xfrm>
                <a:off x="495300" y="133350"/>
                <a:ext cx="4000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Source linked </a:t>
                </a:r>
                <a:r>
                  <a:rPr b="0" lang="en-US" sz="1000">
                    <a:solidFill>
                      <a:srgbClr val="526070"/>
                    </a:solidFill>
                    <a:latin typeface="Arial"/>
                    <a:ea typeface="Arial"/>
                    <a:cs typeface="Arial"/>
                    <a:sym typeface="Arial"/>
                  </a:rPr>
                  <a:t>(Direct anchor to SEC EDGAR accession)</a:t>
                </a:r>
                <a:endParaRPr b="1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4"/>
              <p:cNvSpPr/>
              <p:nvPr/>
            </p:nvSpPr>
            <p:spPr>
              <a:xfrm>
                <a:off x="0" y="552450"/>
                <a:ext cx="46482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4"/>
              <p:cNvSpPr/>
              <p:nvPr/>
            </p:nvSpPr>
            <p:spPr>
              <a:xfrm>
                <a:off x="171450" y="676275"/>
                <a:ext cx="228600" cy="228600"/>
              </a:xfrm>
              <a:prstGeom prst="ellipse">
                <a:avLst/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4"/>
              <p:cNvSpPr/>
              <p:nvPr/>
            </p:nvSpPr>
            <p:spPr>
              <a:xfrm>
                <a:off x="228600" y="75247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4"/>
              <p:cNvSpPr txBox="1"/>
              <p:nvPr/>
            </p:nvSpPr>
            <p:spPr>
              <a:xfrm>
                <a:off x="495300" y="685800"/>
                <a:ext cx="4000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Evidence retained </a:t>
                </a:r>
                <a:r>
                  <a:rPr b="0" lang="en-US" sz="1000">
                    <a:solidFill>
                      <a:srgbClr val="526070"/>
                    </a:solidFill>
                    <a:latin typeface="Arial"/>
                    <a:ea typeface="Arial"/>
                    <a:cs typeface="Arial"/>
                    <a:sym typeface="Arial"/>
                  </a:rPr>
                  <a:t>(Exact verbatim quote preserved)</a:t>
                </a:r>
                <a:endParaRPr b="1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4"/>
              <p:cNvSpPr/>
              <p:nvPr/>
            </p:nvSpPr>
            <p:spPr>
              <a:xfrm>
                <a:off x="0" y="1104900"/>
                <a:ext cx="46482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71450" y="1228725"/>
                <a:ext cx="228600" cy="228600"/>
              </a:xfrm>
              <a:prstGeom prst="ellipse">
                <a:avLst/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228600" y="1304925"/>
                <a:ext cx="114300" cy="76200"/>
              </a:xfrm>
              <a:custGeom>
                <a:rect b="b" l="l" r="r" t="t"/>
                <a:pathLst>
                  <a:path extrusionOk="0" h="120000" w="120000">
                    <a:moveTo>
                      <a:pt x="0" y="60000"/>
                    </a:moveTo>
                    <a:lnTo>
                      <a:pt x="40000" y="120000"/>
                    </a:ln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9050">
                <a:solidFill>
                  <a:srgbClr val="16653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4"/>
              <p:cNvSpPr txBox="1"/>
              <p:nvPr/>
            </p:nvSpPr>
            <p:spPr>
              <a:xfrm>
                <a:off x="495300" y="1238250"/>
                <a:ext cx="4000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Confidence / Exception State </a:t>
                </a:r>
                <a:r>
                  <a:rPr b="0" lang="en-US" sz="1000">
                    <a:solidFill>
                      <a:srgbClr val="526070"/>
                    </a:solidFill>
                    <a:latin typeface="Arial"/>
                    <a:ea typeface="Arial"/>
                    <a:cs typeface="Arial"/>
                    <a:sym typeface="Arial"/>
                  </a:rPr>
                  <a:t>(High confidence illustrative)</a:t>
                </a:r>
                <a:endParaRPr b="1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5" name="Google Shape;355;p14"/>
            <p:cNvSpPr txBox="1"/>
            <p:nvPr/>
          </p:nvSpPr>
          <p:spPr>
            <a:xfrm>
              <a:off x="228600" y="5619750"/>
              <a:ext cx="4648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We do not just output a value. We preserve why the value was extracted.</a:t>
              </a:r>
              <a:endParaRPr b="1" i="1" sz="105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6" name="Google Shape;356;p14"/>
          <p:cNvSpPr/>
          <p:nvPr/>
        </p:nvSpPr>
        <p:spPr>
          <a:xfrm>
            <a:off x="11563350" y="4905375"/>
            <a:ext cx="304800" cy="0"/>
          </a:xfrm>
          <a:custGeom>
            <a:rect b="b" l="l" r="r" t="t"/>
            <a:pathLst>
              <a:path extrusionOk="0" fill="none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11849100" y="4848225"/>
            <a:ext cx="114300" cy="114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4B70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14"/>
          <p:cNvGrpSpPr/>
          <p:nvPr/>
        </p:nvGrpSpPr>
        <p:grpSpPr>
          <a:xfrm>
            <a:off x="12115800" y="1905000"/>
            <a:ext cx="5143500" cy="4000500"/>
            <a:chOff x="0" y="0"/>
            <a:chExt cx="5143500" cy="4000500"/>
          </a:xfrm>
        </p:grpSpPr>
        <p:sp>
          <p:nvSpPr>
            <p:cNvPr id="359" name="Google Shape;359;p14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3809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0" y="0"/>
              <a:ext cx="5143500" cy="419100"/>
            </a:xfrm>
            <a:prstGeom prst="roundRect">
              <a:avLst>
                <a:gd fmla="val 36363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0" y="209550"/>
              <a:ext cx="5143500" cy="209700"/>
            </a:xfrm>
            <a:prstGeom prst="rect">
              <a:avLst/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4"/>
            <p:cNvSpPr txBox="1"/>
            <p:nvPr/>
          </p:nvSpPr>
          <p:spPr>
            <a:xfrm>
              <a:off x="190500" y="95250"/>
              <a:ext cx="4762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6. BNY CLIENT NOTIFICATION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190500" y="609600"/>
              <a:ext cx="47625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4"/>
            <p:cNvSpPr txBox="1"/>
            <p:nvPr/>
          </p:nvSpPr>
          <p:spPr>
            <a:xfrm>
              <a:off x="342900" y="762000"/>
              <a:ext cx="44577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{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"family"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"Corporate Action Notification"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"type"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"ANNOUNCEMENT"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"event_id"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"005-86024"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"terms"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{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3048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"offer_price"</a:t>
              </a: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</a:t>
              </a:r>
              <a:r>
                <a:rPr b="1" lang="en-US" sz="1500">
                  <a:solidFill>
                    <a:srgbClr val="166534"/>
                  </a:solidFill>
                  <a:highlight>
                    <a:srgbClr val="DCFCE7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"$30.75/share"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1524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1E293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b="0" sz="1500">
                <a:solidFill>
                  <a:srgbClr val="1E293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65" name="Google Shape;365;p14"/>
          <p:cNvGrpSpPr/>
          <p:nvPr/>
        </p:nvGrpSpPr>
        <p:grpSpPr>
          <a:xfrm>
            <a:off x="12115800" y="6581700"/>
            <a:ext cx="5162700" cy="1733700"/>
            <a:chOff x="-9525" y="-9525"/>
            <a:chExt cx="5162700" cy="1733700"/>
          </a:xfrm>
        </p:grpSpPr>
        <p:pic>
          <p:nvPicPr>
            <p:cNvPr id="366" name="Google Shape;366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9525" y="-9525"/>
              <a:ext cx="5162700" cy="1733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14"/>
            <p:cNvSpPr/>
            <p:nvPr/>
          </p:nvSpPr>
          <p:spPr>
            <a:xfrm>
              <a:off x="0" y="0"/>
              <a:ext cx="5143500" cy="342900"/>
            </a:xfrm>
            <a:prstGeom prst="roundRect">
              <a:avLst>
                <a:gd fmla="val 44444" name="adj"/>
              </a:avLst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0" y="171450"/>
              <a:ext cx="5143500" cy="171600"/>
            </a:xfrm>
            <a:prstGeom prst="rect">
              <a:avLst/>
            </a:pr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 txBox="1"/>
            <p:nvPr/>
          </p:nvSpPr>
          <p:spPr>
            <a:xfrm>
              <a:off x="190500" y="7620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BNY INTERNAL CONTEXT (ENRICHMENT)</a:t>
              </a:r>
              <a:endPara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4"/>
            <p:cNvSpPr txBox="1"/>
            <p:nvPr/>
          </p:nvSpPr>
          <p:spPr>
            <a:xfrm>
              <a:off x="228600" y="457200"/>
              <a:ext cx="46863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• Account Position:</a:t>
              </a:r>
              <a:r>
                <a:rPr b="0" lang="en-US" sz="105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 Holdings &amp; Custody Balances</a:t>
              </a:r>
              <a:endParaRPr b="0" sz="105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• Recipient:</a:t>
              </a:r>
              <a:r>
                <a:rPr b="0" lang="en-US" sz="105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 Institutional Client Eligibility Roster</a:t>
              </a:r>
              <a:endParaRPr b="0" sz="105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1" lang="en-US" sz="105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• Processing State:</a:t>
              </a:r>
              <a:r>
                <a:rPr b="0" lang="en-US" sz="105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 Auto-STP vs. Exception Queue</a:t>
              </a:r>
              <a:endParaRPr b="0" sz="105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1" name="Google Shape;371;p14"/>
          <p:cNvGrpSpPr/>
          <p:nvPr/>
        </p:nvGrpSpPr>
        <p:grpSpPr>
          <a:xfrm>
            <a:off x="14630900" y="6246918"/>
            <a:ext cx="114300" cy="266877"/>
            <a:chOff x="11868150" y="6024450"/>
            <a:chExt cx="114300" cy="266850"/>
          </a:xfrm>
        </p:grpSpPr>
        <p:pic>
          <p:nvPicPr>
            <p:cNvPr id="372" name="Google Shape;372;p1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1013" y="6119700"/>
              <a:ext cx="28500" cy="171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3" name="Google Shape;373;p14"/>
            <p:cNvSpPr/>
            <p:nvPr/>
          </p:nvSpPr>
          <p:spPr>
            <a:xfrm>
              <a:off x="11868150" y="6024450"/>
              <a:ext cx="114300" cy="1143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1E40A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12115800" y="5987943"/>
            <a:ext cx="514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Public Extracted Facts + BNY Internal Context → Client-Ready Notification</a:t>
            </a:r>
            <a:endParaRPr b="1" sz="900">
              <a:solidFill>
                <a:srgbClr val="1E40A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1028700" y="8858250"/>
            <a:ext cx="16230600" cy="571500"/>
            <a:chOff x="0" y="0"/>
            <a:chExt cx="16230600" cy="571500"/>
          </a:xfrm>
        </p:grpSpPr>
        <p:sp>
          <p:nvSpPr>
            <p:cNvPr id="376" name="Google Shape;376;p14"/>
            <p:cNvSpPr/>
            <p:nvPr/>
          </p:nvSpPr>
          <p:spPr>
            <a:xfrm>
              <a:off x="0" y="0"/>
              <a:ext cx="16230600" cy="571500"/>
            </a:xfrm>
            <a:prstGeom prst="roundRect">
              <a:avLst>
                <a:gd fmla="val 20000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 txBox="1"/>
            <p:nvPr/>
          </p:nvSpPr>
          <p:spPr>
            <a:xfrm>
              <a:off x="228600" y="171450"/>
              <a:ext cx="15773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Takeaway: Every material client-facing fact remains traceable to the original public source.</a:t>
              </a:r>
              <a:endParaRPr b="1" sz="13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15"/>
          <p:cNvGrpSpPr/>
          <p:nvPr/>
        </p:nvGrpSpPr>
        <p:grpSpPr>
          <a:xfrm>
            <a:off x="1028700" y="381000"/>
            <a:ext cx="16230600" cy="1028700"/>
            <a:chOff x="0" y="0"/>
            <a:chExt cx="16230600" cy="1028700"/>
          </a:xfrm>
        </p:grpSpPr>
        <p:sp>
          <p:nvSpPr>
            <p:cNvPr id="388" name="Google Shape;388;p15"/>
            <p:cNvSpPr txBox="1"/>
            <p:nvPr/>
          </p:nvSpPr>
          <p:spPr>
            <a:xfrm>
              <a:off x="0" y="0"/>
              <a:ext cx="7620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DATA PREPROCESSING &amp; REASONING ARCHITECTURE</a:t>
              </a:r>
              <a:endParaRPr b="1" sz="13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5"/>
            <p:cNvSpPr txBox="1"/>
            <p:nvPr/>
          </p:nvSpPr>
          <p:spPr>
            <a:xfrm>
              <a:off x="0" y="228600"/>
              <a:ext cx="16230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0">
                  <a:solidFill>
                    <a:srgbClr val="0F172A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Tender Concise Representation</a:t>
              </a:r>
              <a:endParaRPr b="1" sz="2960">
                <a:solidFill>
                  <a:srgbClr val="0F172A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390" name="Google Shape;390;p15"/>
            <p:cNvCxnSpPr/>
            <p:nvPr/>
          </p:nvCxnSpPr>
          <p:spPr>
            <a:xfrm>
              <a:off x="0" y="704850"/>
              <a:ext cx="16230600" cy="0"/>
            </a:xfrm>
            <a:prstGeom prst="straightConnector1">
              <a:avLst/>
            </a:prstGeom>
            <a:solidFill>
              <a:srgbClr val="FFFFFF"/>
            </a:solidFill>
            <a:ln cap="flat" cmpd="sng" w="1905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91" name="Google Shape;391;p15"/>
            <p:cNvSpPr txBox="1"/>
            <p:nvPr/>
          </p:nvSpPr>
          <p:spPr>
            <a:xfrm>
              <a:off x="0" y="762000"/>
              <a:ext cx="162306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Compact event representation preserving source context, relevant text, detected entities, and candidate facts</a:t>
              </a:r>
              <a:endParaRPr b="0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2" name="Google Shape;392;p15"/>
          <p:cNvGrpSpPr/>
          <p:nvPr/>
        </p:nvGrpSpPr>
        <p:grpSpPr>
          <a:xfrm>
            <a:off x="1028700" y="1485900"/>
            <a:ext cx="16230600" cy="362100"/>
            <a:chOff x="0" y="0"/>
            <a:chExt cx="16230600" cy="362100"/>
          </a:xfrm>
        </p:grpSpPr>
        <p:sp>
          <p:nvSpPr>
            <p:cNvPr id="393" name="Google Shape;393;p15"/>
            <p:cNvSpPr/>
            <p:nvPr/>
          </p:nvSpPr>
          <p:spPr>
            <a:xfrm>
              <a:off x="0" y="0"/>
              <a:ext cx="16230600" cy="362100"/>
            </a:xfrm>
            <a:prstGeom prst="roundRect">
              <a:avLst>
                <a:gd fmla="val 21052" name="adj"/>
              </a:avLst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 txBox="1"/>
            <p:nvPr/>
          </p:nvSpPr>
          <p:spPr>
            <a:xfrm>
              <a:off x="152400" y="0"/>
              <a:ext cx="159258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Scope: One concise representation per tender-offer event / version</a:t>
              </a:r>
              <a:endParaRPr b="1" sz="11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1028700" y="1981200"/>
            <a:ext cx="7982100" cy="3143400"/>
            <a:chOff x="0" y="0"/>
            <a:chExt cx="7982100" cy="3143400"/>
          </a:xfrm>
        </p:grpSpPr>
        <p:sp>
          <p:nvSpPr>
            <p:cNvPr id="396" name="Google Shape;396;p15"/>
            <p:cNvSpPr/>
            <p:nvPr/>
          </p:nvSpPr>
          <p:spPr>
            <a:xfrm>
              <a:off x="0" y="0"/>
              <a:ext cx="79821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0" y="0"/>
              <a:ext cx="7982100" cy="419100"/>
            </a:xfrm>
            <a:prstGeom prst="roundRect">
              <a:avLst>
                <a:gd fmla="val 27272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0" y="22860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 txBox="1"/>
            <p:nvPr/>
          </p:nvSpPr>
          <p:spPr>
            <a:xfrm>
              <a:off x="190500" y="0"/>
              <a:ext cx="7601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Source Documents</a:t>
              </a:r>
              <a:endParaRPr b="1" sz="16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5"/>
            <p:cNvSpPr txBox="1"/>
            <p:nvPr/>
          </p:nvSpPr>
          <p:spPr>
            <a:xfrm>
              <a:off x="190500" y="533400"/>
              <a:ext cx="7601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Which source documents contribute information to the event?</a:t>
              </a:r>
              <a:endParaRPr b="1" i="1" sz="135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1" lang="en-US" sz="115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doc_role, source_accession, filename, download_status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Illustrative Document Roles: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 TO-T</a:t>
              </a:r>
              <a:r>
                <a:rPr lang="en-US"/>
                <a:t> </a:t>
              </a:r>
              <a:r>
                <a:rPr b="1" lang="en-US" sz="11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 TO-T/A</a:t>
              </a:r>
              <a:r>
                <a:rPr lang="en-US"/>
                <a:t> </a:t>
              </a:r>
              <a:r>
                <a:rPr b="1" lang="en-US" sz="11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 14D9</a:t>
              </a:r>
              <a:r>
                <a:rPr lang="en-US"/>
                <a:t> </a:t>
              </a:r>
              <a:r>
                <a:rPr b="1" lang="en-US" sz="11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Offer to Purchase</a:t>
              </a:r>
              <a:r>
                <a:rPr lang="en-US"/>
                <a:t> </a:t>
              </a:r>
              <a:r>
                <a:rPr b="1" lang="en-US" sz="110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Exhibit</a:t>
              </a:r>
              <a:endParaRPr/>
            </a:p>
          </p:txBody>
        </p:sp>
      </p:grpSp>
      <p:grpSp>
        <p:nvGrpSpPr>
          <p:cNvPr id="401" name="Google Shape;401;p15"/>
          <p:cNvGrpSpPr/>
          <p:nvPr/>
        </p:nvGrpSpPr>
        <p:grpSpPr>
          <a:xfrm>
            <a:off x="9277350" y="1981200"/>
            <a:ext cx="7982100" cy="3143400"/>
            <a:chOff x="0" y="0"/>
            <a:chExt cx="7982100" cy="3143400"/>
          </a:xfrm>
        </p:grpSpPr>
        <p:sp>
          <p:nvSpPr>
            <p:cNvPr id="402" name="Google Shape;402;p15"/>
            <p:cNvSpPr/>
            <p:nvPr/>
          </p:nvSpPr>
          <p:spPr>
            <a:xfrm>
              <a:off x="0" y="0"/>
              <a:ext cx="7982100" cy="31434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0" y="0"/>
              <a:ext cx="7982100" cy="419100"/>
            </a:xfrm>
            <a:prstGeom prst="roundRect">
              <a:avLst>
                <a:gd fmla="val 27272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0" y="22860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 txBox="1"/>
            <p:nvPr/>
          </p:nvSpPr>
          <p:spPr>
            <a:xfrm>
              <a:off x="190500" y="0"/>
              <a:ext cx="7601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Relevant Segments</a:t>
              </a:r>
              <a:endParaRPr b="1" sz="16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5"/>
            <p:cNvSpPr txBox="1"/>
            <p:nvPr/>
          </p:nvSpPr>
          <p:spPr>
            <a:xfrm>
              <a:off x="190500" y="533400"/>
              <a:ext cx="76011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Which parts of those documents contain relevant information?</a:t>
              </a:r>
              <a:endParaRPr b="1" i="1" sz="135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1" lang="en-US" sz="115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kind, heading, question, text_preview, doc_role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Illustrative Segment Categories: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Terms of the Offer</a:t>
              </a:r>
              <a:r>
                <a:rPr lang="en-US"/>
                <a:t> </a:t>
              </a: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Expiration / Deadlines</a:t>
              </a:r>
              <a:r>
                <a:rPr lang="en-US"/>
                <a:t> </a:t>
              </a: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Conditions</a:t>
              </a:r>
              <a:r>
                <a:rPr lang="en-US"/>
                <a:t> </a:t>
              </a: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Consideration</a:t>
              </a:r>
              <a:r>
                <a:rPr lang="en-US"/>
                <a:t> </a:t>
              </a: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Withdrawal Rights</a:t>
              </a:r>
              <a:r>
                <a:rPr lang="en-US"/>
                <a:t> </a:t>
              </a:r>
              <a:r>
                <a:rPr b="1"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Procedures for Tendering</a:t>
              </a:r>
              <a:endParaRPr/>
            </a:p>
          </p:txBody>
        </p:sp>
      </p:grpSp>
      <p:grpSp>
        <p:nvGrpSpPr>
          <p:cNvPr id="407" name="Google Shape;407;p15"/>
          <p:cNvGrpSpPr/>
          <p:nvPr/>
        </p:nvGrpSpPr>
        <p:grpSpPr>
          <a:xfrm>
            <a:off x="1028700" y="5257800"/>
            <a:ext cx="7982100" cy="3238500"/>
            <a:chOff x="0" y="0"/>
            <a:chExt cx="7982100" cy="3238500"/>
          </a:xfrm>
        </p:grpSpPr>
        <p:sp>
          <p:nvSpPr>
            <p:cNvPr id="408" name="Google Shape;408;p15"/>
            <p:cNvSpPr/>
            <p:nvPr/>
          </p:nvSpPr>
          <p:spPr>
            <a:xfrm>
              <a:off x="0" y="0"/>
              <a:ext cx="79821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14300">
              <a:solidFill>
                <a:srgbClr val="0F766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0" y="0"/>
              <a:ext cx="7982100" cy="419100"/>
            </a:xfrm>
            <a:prstGeom prst="roundRect">
              <a:avLst>
                <a:gd fmla="val 27272" name="adj"/>
              </a:avLst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0" y="228600"/>
              <a:ext cx="7982100" cy="1905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 txBox="1"/>
            <p:nvPr/>
          </p:nvSpPr>
          <p:spPr>
            <a:xfrm>
              <a:off x="190500" y="0"/>
              <a:ext cx="7601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Detected Entities</a:t>
              </a:r>
              <a:endParaRPr b="1" sz="16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5"/>
            <p:cNvSpPr txBox="1"/>
            <p:nvPr/>
          </p:nvSpPr>
          <p:spPr>
            <a:xfrm>
              <a:off x="190500" y="533400"/>
              <a:ext cx="76011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What key entities and values were identified in relevant passages?</a:t>
              </a:r>
              <a:endParaRPr b="1" i="1" sz="135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1" lang="en-US" sz="1150">
                  <a:solidFill>
                    <a:srgbClr val="0F766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label, text, confidence, section, doc_role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Illustrative Entity Labels: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OFFEROR: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Example Corp</a:t>
              </a:r>
              <a:r>
                <a:rPr lang="en-US"/>
                <a:t> </a:t>
              </a: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TARGET: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Target Inc</a:t>
              </a:r>
              <a:r>
                <a:rPr lang="en-US"/>
                <a:t> </a:t>
              </a: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SECURITY: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Common Stock</a:t>
              </a:r>
              <a:r>
                <a:rPr lang="en-US"/>
                <a:t> </a:t>
              </a:r>
              <a:r>
                <a:rPr b="1" lang="en-US" sz="10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MONEY: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$XX.XX / share</a:t>
              </a:r>
              <a:r>
                <a:rPr lang="en-US"/>
                <a:t> </a:t>
              </a: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DATE: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YYYY-MM-DD</a:t>
              </a:r>
              <a:r>
                <a:rPr lang="en-US"/>
                <a:t> </a:t>
              </a: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PERCENTAGE: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100%</a:t>
              </a:r>
              <a:r>
                <a:rPr lang="en-US"/>
                <a:t> </a:t>
              </a:r>
              <a:r>
                <a:rPr b="1" lang="en-US" sz="1050">
                  <a:solidFill>
                    <a:srgbClr val="0F766E"/>
                  </a:solidFill>
                  <a:latin typeface="Arial"/>
                  <a:ea typeface="Arial"/>
                  <a:cs typeface="Arial"/>
                  <a:sym typeface="Arial"/>
                </a:rPr>
                <a:t>QUANTITY:</a:t>
              </a: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Shares Count</a:t>
              </a:r>
              <a:endParaRPr/>
            </a:p>
          </p:txBody>
        </p:sp>
      </p:grpSp>
      <p:grpSp>
        <p:nvGrpSpPr>
          <p:cNvPr id="413" name="Google Shape;413;p15"/>
          <p:cNvGrpSpPr/>
          <p:nvPr/>
        </p:nvGrpSpPr>
        <p:grpSpPr>
          <a:xfrm>
            <a:off x="9277350" y="5257800"/>
            <a:ext cx="7982100" cy="3238500"/>
            <a:chOff x="0" y="0"/>
            <a:chExt cx="7982100" cy="3238500"/>
          </a:xfrm>
        </p:grpSpPr>
        <p:sp>
          <p:nvSpPr>
            <p:cNvPr id="414" name="Google Shape;414;p15"/>
            <p:cNvSpPr/>
            <p:nvPr/>
          </p:nvSpPr>
          <p:spPr>
            <a:xfrm>
              <a:off x="0" y="0"/>
              <a:ext cx="79821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23825">
              <a:solidFill>
                <a:srgbClr val="1665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0" y="0"/>
              <a:ext cx="7982100" cy="419100"/>
            </a:xfrm>
            <a:prstGeom prst="roundRect">
              <a:avLst>
                <a:gd fmla="val 27272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0" y="228600"/>
              <a:ext cx="7982100" cy="190500"/>
            </a:xfrm>
            <a:prstGeom prst="rect">
              <a:avLst/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5"/>
            <p:cNvSpPr txBox="1"/>
            <p:nvPr/>
          </p:nvSpPr>
          <p:spPr>
            <a:xfrm>
              <a:off x="190500" y="0"/>
              <a:ext cx="52389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65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★ 4. Candidate Facts (PRIMARY EVIDENCE LAYER)</a:t>
              </a:r>
              <a:endParaRPr b="1" sz="166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6076950" y="95250"/>
              <a:ext cx="1714500" cy="228600"/>
            </a:xfrm>
            <a:prstGeom prst="roundRect">
              <a:avLst>
                <a:gd fmla="val 50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 txBox="1"/>
            <p:nvPr/>
          </p:nvSpPr>
          <p:spPr>
            <a:xfrm>
              <a:off x="6076950" y="95250"/>
              <a:ext cx="1714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25">
                  <a:solidFill>
                    <a:srgbClr val="92400E"/>
                  </a:solidFill>
                  <a:latin typeface="Arial"/>
                  <a:ea typeface="Arial"/>
                  <a:cs typeface="Arial"/>
                  <a:sym typeface="Arial"/>
                </a:rPr>
                <a:t>Candidate, not yet canonical</a:t>
              </a:r>
              <a:endParaRPr b="1" sz="925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5"/>
            <p:cNvSpPr txBox="1"/>
            <p:nvPr/>
          </p:nvSpPr>
          <p:spPr>
            <a:xfrm>
              <a:off x="190500" y="533400"/>
              <a:ext cx="76011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3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Which structured corporate-action fields may be supported by source evidence?</a:t>
              </a:r>
              <a:endParaRPr b="1" i="1" sz="13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Fields Preserved: </a:t>
              </a:r>
              <a:r>
                <a:rPr b="1" lang="en-US" sz="1150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field_hint, raw_text, passage, confidence, doc_role, section, char_start / char_end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Generic Candidate Fields: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offer_price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expiration_date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target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offeror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minimum_condition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withdrawal_deadline</a:t>
              </a:r>
              <a:r>
                <a:rPr lang="en-US"/>
                <a:t> </a:t>
              </a:r>
              <a:r>
                <a:rPr b="1" lang="en-US" sz="925">
                  <a:solidFill>
                    <a:srgbClr val="166534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security_description</a:t>
              </a:r>
              <a:endParaRPr/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field_hint  ↓  candidate value  ↓  supporting passage  ↓  source document / section</a:t>
              </a:r>
              <a:endParaRPr b="1" sz="11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1" lang="en-US" sz="11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Candidate facts preserve value + evidence + provenance together.</a:t>
              </a:r>
              <a:endParaRPr b="1" i="1" sz="11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1" name="Google Shape;421;p15"/>
          <p:cNvGrpSpPr/>
          <p:nvPr/>
        </p:nvGrpSpPr>
        <p:grpSpPr>
          <a:xfrm>
            <a:off x="1028700" y="8667750"/>
            <a:ext cx="16230600" cy="514500"/>
            <a:chOff x="0" y="0"/>
            <a:chExt cx="16230600" cy="514500"/>
          </a:xfrm>
        </p:grpSpPr>
        <p:sp>
          <p:nvSpPr>
            <p:cNvPr id="422" name="Google Shape;422;p15"/>
            <p:cNvSpPr/>
            <p:nvPr/>
          </p:nvSpPr>
          <p:spPr>
            <a:xfrm>
              <a:off x="0" y="0"/>
              <a:ext cx="16230600" cy="514500"/>
            </a:xfrm>
            <a:prstGeom prst="roundRect">
              <a:avLst>
                <a:gd fmla="val 14814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5"/>
            <p:cNvSpPr txBox="1"/>
            <p:nvPr/>
          </p:nvSpPr>
          <p:spPr>
            <a:xfrm>
              <a:off x="190500" y="0"/>
              <a:ext cx="15849600" cy="5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Takeaway: The concise representation removes document noise while preserving the source context and evidence needed to represent a tender offer compactly.</a:t>
              </a:r>
              <a:endParaRPr b="1" sz="14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16"/>
          <p:cNvGrpSpPr/>
          <p:nvPr/>
        </p:nvGrpSpPr>
        <p:grpSpPr>
          <a:xfrm>
            <a:off x="1028700" y="480060"/>
            <a:ext cx="6286500" cy="346200"/>
            <a:chOff x="0" y="0"/>
            <a:chExt cx="6286500" cy="346200"/>
          </a:xfrm>
        </p:grpSpPr>
        <p:sp>
          <p:nvSpPr>
            <p:cNvPr id="430" name="Google Shape;430;p16"/>
            <p:cNvSpPr/>
            <p:nvPr/>
          </p:nvSpPr>
          <p:spPr>
            <a:xfrm>
              <a:off x="0" y="0"/>
              <a:ext cx="6286500" cy="346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6"/>
            <p:cNvSpPr txBox="1"/>
            <p:nvPr/>
          </p:nvSpPr>
          <p:spPr>
            <a:xfrm>
              <a:off x="0" y="0"/>
              <a:ext cx="6286500" cy="34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114300" spcFirstLastPara="1" rIns="11430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4B7091"/>
                  </a:solidFill>
                  <a:latin typeface="Arial"/>
                  <a:ea typeface="Arial"/>
                  <a:cs typeface="Arial"/>
                  <a:sym typeface="Arial"/>
                </a:rPr>
                <a:t>DATA PREPROCESSING PIPELINE</a:t>
              </a:r>
              <a:endParaRPr b="1" sz="1500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2" name="Google Shape;432;p16"/>
          <p:cNvGrpSpPr/>
          <p:nvPr/>
        </p:nvGrpSpPr>
        <p:grpSpPr>
          <a:xfrm>
            <a:off x="1028700" y="876300"/>
            <a:ext cx="16344900" cy="731100"/>
            <a:chOff x="0" y="0"/>
            <a:chExt cx="16344900" cy="731100"/>
          </a:xfrm>
        </p:grpSpPr>
        <p:sp>
          <p:nvSpPr>
            <p:cNvPr id="433" name="Google Shape;433;p16"/>
            <p:cNvSpPr/>
            <p:nvPr/>
          </p:nvSpPr>
          <p:spPr>
            <a:xfrm>
              <a:off x="0" y="0"/>
              <a:ext cx="16344900" cy="731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6"/>
            <p:cNvSpPr txBox="1"/>
            <p:nvPr/>
          </p:nvSpPr>
          <p:spPr>
            <a:xfrm>
              <a:off x="0" y="0"/>
              <a:ext cx="16344900" cy="7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7150" lIns="114300" spcFirstLastPara="1" rIns="114300" wrap="square" tIns="57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800">
                  <a:solidFill>
                    <a:srgbClr val="1D2023"/>
                  </a:solidFill>
                  <a:latin typeface="Arial Narrow"/>
                  <a:ea typeface="Arial Narrow"/>
                  <a:cs typeface="Arial Narrow"/>
                  <a:sym typeface="Arial Narrow"/>
                </a:rPr>
                <a:t>Pipeline: From Raw SEC HTML to Structured Concise Rep</a:t>
              </a:r>
              <a:endParaRPr b="1" sz="3800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435" name="Google Shape;435;p16"/>
          <p:cNvSpPr/>
          <p:nvPr/>
        </p:nvSpPr>
        <p:spPr>
          <a:xfrm>
            <a:off x="1028700" y="169545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16"/>
          <p:cNvGrpSpPr/>
          <p:nvPr/>
        </p:nvGrpSpPr>
        <p:grpSpPr>
          <a:xfrm>
            <a:off x="1028700" y="1828800"/>
            <a:ext cx="16230600" cy="362100"/>
            <a:chOff x="0" y="0"/>
            <a:chExt cx="16230600" cy="362100"/>
          </a:xfrm>
        </p:grpSpPr>
        <p:sp>
          <p:nvSpPr>
            <p:cNvPr id="437" name="Google Shape;437;p16"/>
            <p:cNvSpPr/>
            <p:nvPr/>
          </p:nvSpPr>
          <p:spPr>
            <a:xfrm>
              <a:off x="0" y="0"/>
              <a:ext cx="16230600" cy="362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0" y="0"/>
              <a:ext cx="16230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8100" lIns="114300" spcFirstLastPara="1" rIns="114300" wrap="square" tIns="38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Turns messy SEC filings into grounded candidate facts with exact quotes and confidence scores for downstream agents.</a:t>
              </a:r>
              <a:endParaRPr b="0" sz="15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16"/>
          <p:cNvGrpSpPr/>
          <p:nvPr/>
        </p:nvGrpSpPr>
        <p:grpSpPr>
          <a:xfrm>
            <a:off x="1028700" y="2381250"/>
            <a:ext cx="2362200" cy="1524000"/>
            <a:chOff x="0" y="0"/>
            <a:chExt cx="2362200" cy="1524000"/>
          </a:xfrm>
        </p:grpSpPr>
        <p:sp>
          <p:nvSpPr>
            <p:cNvPr id="440" name="Google Shape;440;p16"/>
            <p:cNvSpPr/>
            <p:nvPr/>
          </p:nvSpPr>
          <p:spPr>
            <a:xfrm>
              <a:off x="0" y="0"/>
              <a:ext cx="23622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>
              <a:off x="0" y="0"/>
              <a:ext cx="2362200" cy="304800"/>
            </a:xfrm>
            <a:prstGeom prst="roundRect">
              <a:avLst>
                <a:gd fmla="val 50000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6"/>
            <p:cNvSpPr txBox="1"/>
            <p:nvPr/>
          </p:nvSpPr>
          <p:spPr>
            <a:xfrm>
              <a:off x="0" y="0"/>
              <a:ext cx="236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INVENTORY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 txBox="1"/>
            <p:nvPr/>
          </p:nvSpPr>
          <p:spPr>
            <a:xfrm>
              <a:off x="114300" y="381000"/>
              <a:ext cx="2133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Filter &amp; Cohort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Identifies gold docs (SC TO-T, Offer to Purchase, 14D-9).</a:t>
              </a:r>
              <a:endParaRPr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4" name="Google Shape;444;p16"/>
          <p:cNvCxnSpPr/>
          <p:nvPr/>
        </p:nvCxnSpPr>
        <p:spPr>
          <a:xfrm>
            <a:off x="3448050" y="3143250"/>
            <a:ext cx="3048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45" name="Google Shape;445;p16"/>
          <p:cNvGrpSpPr/>
          <p:nvPr/>
        </p:nvGrpSpPr>
        <p:grpSpPr>
          <a:xfrm>
            <a:off x="3810000" y="2381250"/>
            <a:ext cx="2362200" cy="1524000"/>
            <a:chOff x="0" y="0"/>
            <a:chExt cx="2362200" cy="1524000"/>
          </a:xfrm>
        </p:grpSpPr>
        <p:sp>
          <p:nvSpPr>
            <p:cNvPr id="446" name="Google Shape;446;p16"/>
            <p:cNvSpPr/>
            <p:nvPr/>
          </p:nvSpPr>
          <p:spPr>
            <a:xfrm>
              <a:off x="0" y="0"/>
              <a:ext cx="23622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0" y="0"/>
              <a:ext cx="2362200" cy="304800"/>
            </a:xfrm>
            <a:prstGeom prst="roundRect">
              <a:avLst>
                <a:gd fmla="val 50000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16"/>
            <p:cNvSpPr txBox="1"/>
            <p:nvPr/>
          </p:nvSpPr>
          <p:spPr>
            <a:xfrm>
              <a:off x="0" y="0"/>
              <a:ext cx="236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2. DOWNLOAD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6"/>
            <p:cNvSpPr txBox="1"/>
            <p:nvPr/>
          </p:nvSpPr>
          <p:spPr>
            <a:xfrm>
              <a:off x="114300" y="381000"/>
              <a:ext cx="2133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Raw SEC HTML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Fetches original filing web pages with tags &amp; TOC anchors.</a:t>
              </a:r>
              <a:endParaRPr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0" name="Google Shape;450;p16"/>
          <p:cNvCxnSpPr/>
          <p:nvPr/>
        </p:nvCxnSpPr>
        <p:spPr>
          <a:xfrm>
            <a:off x="6229350" y="3143250"/>
            <a:ext cx="3048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1" name="Google Shape;451;p16"/>
          <p:cNvGrpSpPr/>
          <p:nvPr/>
        </p:nvGrpSpPr>
        <p:grpSpPr>
          <a:xfrm>
            <a:off x="6591300" y="2381250"/>
            <a:ext cx="2362200" cy="1524000"/>
            <a:chOff x="0" y="0"/>
            <a:chExt cx="2362200" cy="1524000"/>
          </a:xfrm>
        </p:grpSpPr>
        <p:sp>
          <p:nvSpPr>
            <p:cNvPr id="452" name="Google Shape;452;p16"/>
            <p:cNvSpPr/>
            <p:nvPr/>
          </p:nvSpPr>
          <p:spPr>
            <a:xfrm>
              <a:off x="0" y="0"/>
              <a:ext cx="23622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6"/>
            <p:cNvSpPr/>
            <p:nvPr/>
          </p:nvSpPr>
          <p:spPr>
            <a:xfrm>
              <a:off x="0" y="0"/>
              <a:ext cx="2362200" cy="304800"/>
            </a:xfrm>
            <a:prstGeom prst="roundRect">
              <a:avLst>
                <a:gd fmla="val 50000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6"/>
            <p:cNvSpPr txBox="1"/>
            <p:nvPr/>
          </p:nvSpPr>
          <p:spPr>
            <a:xfrm>
              <a:off x="0" y="0"/>
              <a:ext cx="236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3. CLEANUP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6"/>
            <p:cNvSpPr txBox="1"/>
            <p:nvPr/>
          </p:nvSpPr>
          <p:spPr>
            <a:xfrm>
              <a:off x="114300" y="381000"/>
              <a:ext cx="2133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Strip HTML Wrappers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Converts filings to clean plain text + metadata role &amp; accession.</a:t>
              </a:r>
              <a:endParaRPr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56" name="Google Shape;456;p16"/>
          <p:cNvCxnSpPr/>
          <p:nvPr/>
        </p:nvCxnSpPr>
        <p:spPr>
          <a:xfrm>
            <a:off x="9010650" y="3143250"/>
            <a:ext cx="3048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7" name="Google Shape;457;p16"/>
          <p:cNvGrpSpPr/>
          <p:nvPr/>
        </p:nvGrpSpPr>
        <p:grpSpPr>
          <a:xfrm>
            <a:off x="9372600" y="2381250"/>
            <a:ext cx="2362200" cy="1524000"/>
            <a:chOff x="0" y="0"/>
            <a:chExt cx="2362200" cy="1524000"/>
          </a:xfrm>
        </p:grpSpPr>
        <p:sp>
          <p:nvSpPr>
            <p:cNvPr id="458" name="Google Shape;458;p16"/>
            <p:cNvSpPr/>
            <p:nvPr/>
          </p:nvSpPr>
          <p:spPr>
            <a:xfrm>
              <a:off x="0" y="0"/>
              <a:ext cx="23622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0" y="0"/>
              <a:ext cx="2362200" cy="304800"/>
            </a:xfrm>
            <a:prstGeom prst="roundRect">
              <a:avLst>
                <a:gd fmla="val 50000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 txBox="1"/>
            <p:nvPr/>
          </p:nvSpPr>
          <p:spPr>
            <a:xfrm>
              <a:off x="0" y="0"/>
              <a:ext cx="236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4. SEGMENT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6"/>
            <p:cNvSpPr txBox="1"/>
            <p:nvPr/>
          </p:nvSpPr>
          <p:spPr>
            <a:xfrm>
              <a:off x="114300" y="381000"/>
              <a:ext cx="2133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FAQ &amp; TOC Windows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Carves documents into focused sections like Term Sheet FAQ.</a:t>
              </a:r>
              <a:endParaRPr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2" name="Google Shape;462;p16"/>
          <p:cNvCxnSpPr/>
          <p:nvPr/>
        </p:nvCxnSpPr>
        <p:spPr>
          <a:xfrm>
            <a:off x="11791950" y="3143250"/>
            <a:ext cx="3048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3" name="Google Shape;463;p16"/>
          <p:cNvGrpSpPr/>
          <p:nvPr/>
        </p:nvGrpSpPr>
        <p:grpSpPr>
          <a:xfrm>
            <a:off x="12153900" y="2381250"/>
            <a:ext cx="2362200" cy="1524000"/>
            <a:chOff x="0" y="0"/>
            <a:chExt cx="2362200" cy="1524000"/>
          </a:xfrm>
        </p:grpSpPr>
        <p:sp>
          <p:nvSpPr>
            <p:cNvPr id="464" name="Google Shape;464;p16"/>
            <p:cNvSpPr/>
            <p:nvPr/>
          </p:nvSpPr>
          <p:spPr>
            <a:xfrm>
              <a:off x="0" y="0"/>
              <a:ext cx="23622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0" y="0"/>
              <a:ext cx="2362200" cy="304800"/>
            </a:xfrm>
            <a:prstGeom prst="roundRect">
              <a:avLst>
                <a:gd fmla="val 50000" name="adj"/>
              </a:avLst>
            </a:prstGeom>
            <a:solidFill>
              <a:srgbClr val="1F344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 txBox="1"/>
            <p:nvPr/>
          </p:nvSpPr>
          <p:spPr>
            <a:xfrm>
              <a:off x="0" y="0"/>
              <a:ext cx="2362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5. GLINER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 txBox="1"/>
            <p:nvPr/>
          </p:nvSpPr>
          <p:spPr>
            <a:xfrm>
              <a:off x="114300" y="381000"/>
              <a:ext cx="2133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Span Extraction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Extracts candidate facts, scores, and exact grounded quotes.</a:t>
              </a:r>
              <a:endParaRPr sz="10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68" name="Google Shape;468;p16"/>
          <p:cNvCxnSpPr/>
          <p:nvPr/>
        </p:nvCxnSpPr>
        <p:spPr>
          <a:xfrm>
            <a:off x="14573250" y="3143250"/>
            <a:ext cx="304800" cy="0"/>
          </a:xfrm>
          <a:prstGeom prst="straightConnector1">
            <a:avLst/>
          </a:prstGeom>
          <a:solidFill>
            <a:srgbClr val="FFFFFF"/>
          </a:solidFill>
          <a:ln cap="flat" cmpd="sng" w="28575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9" name="Google Shape;469;p16"/>
          <p:cNvGrpSpPr/>
          <p:nvPr/>
        </p:nvGrpSpPr>
        <p:grpSpPr>
          <a:xfrm>
            <a:off x="14935200" y="2381250"/>
            <a:ext cx="2324100" cy="1524000"/>
            <a:chOff x="0" y="0"/>
            <a:chExt cx="2324100" cy="1524000"/>
          </a:xfrm>
        </p:grpSpPr>
        <p:sp>
          <p:nvSpPr>
            <p:cNvPr id="470" name="Google Shape;470;p16"/>
            <p:cNvSpPr/>
            <p:nvPr/>
          </p:nvSpPr>
          <p:spPr>
            <a:xfrm>
              <a:off x="0" y="0"/>
              <a:ext cx="2324100" cy="1524000"/>
            </a:xfrm>
            <a:prstGeom prst="roundRect">
              <a:avLst>
                <a:gd fmla="val 10000" name="adj"/>
              </a:avLst>
            </a:prstGeom>
            <a:solidFill>
              <a:srgbClr val="EEF3F7"/>
            </a:solidFill>
            <a:ln cap="flat" cmpd="sng" w="19050">
              <a:solidFill>
                <a:srgbClr val="4B70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0" y="0"/>
              <a:ext cx="2324100" cy="304800"/>
            </a:xfrm>
            <a:prstGeom prst="roundRect">
              <a:avLst>
                <a:gd fmla="val 50000" name="adj"/>
              </a:avLst>
            </a:prstGeom>
            <a:solidFill>
              <a:srgbClr val="4B709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 txBox="1"/>
            <p:nvPr/>
          </p:nvSpPr>
          <p:spPr>
            <a:xfrm>
              <a:off x="0" y="0"/>
              <a:ext cx="23241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6. CONCISE REP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 txBox="1"/>
            <p:nvPr/>
          </p:nvSpPr>
          <p:spPr>
            <a:xfrm>
              <a:off x="114300" y="381000"/>
              <a:ext cx="2095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Event Handoff</a:t>
              </a:r>
              <a:endParaRPr b="1" sz="12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Structured JSON with evidence ready for multi-agent verification.</a:t>
              </a:r>
              <a:endParaRPr sz="10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1028700" y="4191000"/>
            <a:ext cx="7429500" cy="5238900"/>
            <a:chOff x="0" y="0"/>
            <a:chExt cx="7429500" cy="5238900"/>
          </a:xfrm>
        </p:grpSpPr>
        <p:sp>
          <p:nvSpPr>
            <p:cNvPr id="475" name="Google Shape;475;p16"/>
            <p:cNvSpPr/>
            <p:nvPr/>
          </p:nvSpPr>
          <p:spPr>
            <a:xfrm>
              <a:off x="0" y="0"/>
              <a:ext cx="7429500" cy="5238900"/>
            </a:xfrm>
            <a:prstGeom prst="roundRect">
              <a:avLst>
                <a:gd fmla="val 4363" name="adj"/>
              </a:avLst>
            </a:prstGeom>
            <a:solidFill>
              <a:srgbClr val="EEF3F7"/>
            </a:solidFill>
            <a:ln cap="flat" cmpd="sng" w="14300">
              <a:solidFill>
                <a:srgbClr val="D2DCE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 txBox="1"/>
            <p:nvPr/>
          </p:nvSpPr>
          <p:spPr>
            <a:xfrm>
              <a:off x="304800" y="228600"/>
              <a:ext cx="681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4B7091"/>
                  </a:solidFill>
                  <a:latin typeface="Arial"/>
                  <a:ea typeface="Arial"/>
                  <a:cs typeface="Arial"/>
                  <a:sym typeface="Arial"/>
                </a:rPr>
                <a:t>EXAMPLE OUTPUT: GROUNDED CANDIDATE FACT (CONCISE REP)</a:t>
              </a:r>
              <a:endParaRPr b="1" sz="1300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304800" y="628650"/>
              <a:ext cx="6819900" cy="4343400"/>
            </a:xfrm>
            <a:prstGeom prst="roundRect">
              <a:avLst>
                <a:gd fmla="val 3508" name="adj"/>
              </a:avLst>
            </a:prstGeom>
            <a:solidFill>
              <a:srgbClr val="FFFFFF"/>
            </a:solidFill>
            <a:ln cap="flat" cmpd="sng" w="9525">
              <a:solidFill>
                <a:srgbClr val="E0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 txBox="1"/>
            <p:nvPr/>
          </p:nvSpPr>
          <p:spPr>
            <a:xfrm>
              <a:off x="457200" y="762000"/>
              <a:ext cx="6515100" cy="407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Event ID: </a:t>
              </a:r>
              <a:r>
                <a:rPr b="0" lang="en-US" sz="14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005-88347</a:t>
              </a:r>
              <a:r>
                <a:rPr b="1" lang="en-US" sz="14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 (Preferred Tender Offer)</a:t>
              </a:r>
              <a:endParaRPr b="1" sz="1400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EXTRACTED FIELD</a:t>
              </a:r>
              <a:endParaRPr b="1" sz="11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D2023"/>
                  </a:solidFill>
                  <a:latin typeface="Arial"/>
                  <a:ea typeface="Arial"/>
                  <a:cs typeface="Arial"/>
                  <a:sym typeface="Arial"/>
                </a:rPr>
                <a:t>Offer Price: </a:t>
              </a:r>
              <a:r>
                <a:rPr b="1" lang="en-US" sz="1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$18.75 per Share</a:t>
              </a:r>
              <a:endParaRPr b="1" sz="1800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GLINER CONFIDENCE SCORE</a:t>
              </a:r>
              <a:endParaRPr b="1" sz="11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0.91 </a:t>
              </a:r>
              <a:r>
                <a:rPr b="0" lang="en-US" sz="12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(High Confidence)</a:t>
              </a:r>
              <a:endParaRPr b="1" sz="18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GROUNDED SOURCE PASSAGE (EX-99 OFFER TO PURCHASE)</a:t>
              </a:r>
              <a:endParaRPr b="1" sz="11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334155"/>
                  </a:solidFill>
                  <a:highlight>
                    <a:srgbClr val="F8FAFC"/>
                  </a:highlight>
                  <a:latin typeface="Arial"/>
                  <a:ea typeface="Arial"/>
                  <a:cs typeface="Arial"/>
                  <a:sym typeface="Arial"/>
                </a:rPr>
                <a:t>"We are offering to pay $18.75 per Share, net to you in cash, without interest and less any applicable withholding taxes..."</a:t>
              </a:r>
              <a:endParaRPr i="1" sz="1200">
                <a:solidFill>
                  <a:srgbClr val="334155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Methods used: </a:t>
              </a:r>
              <a:r>
                <a:rPr b="1" lang="en-US" sz="11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GLiNER span extraction</a:t>
              </a:r>
              <a:r>
                <a:rPr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 on </a:t>
              </a:r>
              <a:r>
                <a:rPr b="1" lang="en-US" sz="1100">
                  <a:solidFill>
                    <a:srgbClr val="1F3445"/>
                  </a:solidFill>
                  <a:latin typeface="Arial"/>
                  <a:ea typeface="Arial"/>
                  <a:cs typeface="Arial"/>
                  <a:sym typeface="Arial"/>
                </a:rPr>
                <a:t>otp:faq:1</a:t>
              </a:r>
              <a:r>
                <a:rPr lang="en-US" sz="1100">
                  <a:solidFill>
                    <a:srgbClr val="526070"/>
                  </a:solidFill>
                  <a:latin typeface="Arial"/>
                  <a:ea typeface="Arial"/>
                  <a:cs typeface="Arial"/>
                  <a:sym typeface="Arial"/>
                </a:rPr>
                <a:t> segment</a:t>
              </a:r>
              <a:endParaRPr sz="1100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9" name="Google Shape;479;p16"/>
          <p:cNvSpPr/>
          <p:nvPr/>
        </p:nvSpPr>
        <p:spPr>
          <a:xfrm>
            <a:off x="8724900" y="4191000"/>
            <a:ext cx="8534400" cy="5238900"/>
          </a:xfrm>
          <a:prstGeom prst="roundRect">
            <a:avLst>
              <a:gd fmla="val 4363" name="adj"/>
            </a:avLst>
          </a:prstGeom>
          <a:solidFill>
            <a:srgbClr val="FFFFFF"/>
          </a:solidFill>
          <a:ln cap="flat" cmpd="sng" w="143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"/>
          <p:cNvSpPr txBox="1"/>
          <p:nvPr/>
        </p:nvSpPr>
        <p:spPr>
          <a:xfrm>
            <a:off x="9029700" y="4419600"/>
            <a:ext cx="792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STAGE TRANSFORMATION SUMMARY</a:t>
            </a:r>
            <a:endParaRPr b="1" sz="1300">
              <a:solidFill>
                <a:srgbClr val="4B709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1" name="Google Shape;481;p16"/>
          <p:cNvGraphicFramePr/>
          <p:nvPr/>
        </p:nvGraphicFramePr>
        <p:xfrm>
          <a:off x="9029700" y="481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{D2984AAB-7150-4B76-A38B-9C0384E45536}</a:tableStyleId>
              </a:tblPr>
              <a:tblGrid>
                <a:gridCol w="2641600"/>
                <a:gridCol w="2641600"/>
                <a:gridCol w="2641600"/>
              </a:tblGrid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B7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STAGE</a:t>
                      </a:r>
                      <a:endParaRPr b="1" sz="1100">
                        <a:solidFill>
                          <a:srgbClr val="4B709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B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B7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DATA</a:t>
                      </a:r>
                      <a:endParaRPr b="1" sz="1100">
                        <a:solidFill>
                          <a:srgbClr val="4B709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B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solidFill>
                            <a:srgbClr val="4B709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OUTPUT DATA / HANDOFF</a:t>
                      </a:r>
                      <a:endParaRPr b="1" sz="1100">
                        <a:solidFill>
                          <a:srgbClr val="4B709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B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Event row from EDA / Parquet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2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inventory.json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(Gold cohort docs)</a:t>
                      </a:r>
                      <a:endParaRPr b="1" sz="1200">
                        <a:solidFill>
                          <a:srgbClr val="1D20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19050">
                      <a:solidFill>
                        <a:srgbClr val="E0E4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Download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EDGAR URLs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2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HTML files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(Webpages &amp; tags)</a:t>
                      </a:r>
                      <a:endParaRPr b="1" sz="1200">
                        <a:solidFill>
                          <a:srgbClr val="1D20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Cleanup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Raw SEC HTML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2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Plain .txt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(+ role &amp; accession metadata)</a:t>
                      </a:r>
                      <a:endParaRPr b="1" sz="1200">
                        <a:solidFill>
                          <a:srgbClr val="1D20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Clean text + TOC/FAQ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2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segments.json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(Small windows)</a:t>
                      </a:r>
                      <a:endParaRPr b="1" sz="1200">
                        <a:solidFill>
                          <a:srgbClr val="1D20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GLiNER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FAQ / TOC segment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D2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spans.json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(Labeled span + score + quote)</a:t>
                      </a:r>
                      <a:endParaRPr b="1" sz="1200">
                        <a:solidFill>
                          <a:srgbClr val="1D202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F344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Assemble</a:t>
                      </a:r>
                      <a:endParaRPr b="1" sz="1200">
                        <a:solidFill>
                          <a:srgbClr val="1F344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Inventory + Segments + Spans</a:t>
                      </a:r>
                      <a:endParaRPr sz="1200">
                        <a:solidFill>
                          <a:srgbClr val="52607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1E40A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Concise Rep JSON </a:t>
                      </a:r>
                      <a:r>
                        <a:rPr b="0" lang="en-US" sz="1200">
                          <a:solidFill>
                            <a:srgbClr val="5260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(Event handoff)</a:t>
                      </a:r>
                      <a:endParaRPr b="1" sz="1200">
                        <a:solidFill>
                          <a:srgbClr val="1E40A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0" marB="95250" marR="76200" marL="76200">
                    <a:lnT cap="flat" cmpd="sng" w="9525">
                      <a:solidFill>
                        <a:srgbClr val="F0F4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482" name="Google Shape;482;p16"/>
          <p:cNvSpPr txBox="1"/>
          <p:nvPr/>
        </p:nvSpPr>
        <p:spPr>
          <a:xfrm>
            <a:off x="9029700" y="8858250"/>
            <a:ext cx="79248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114300" spcFirstLastPara="1" rIns="1143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F3445"/>
                </a:solidFill>
                <a:highlight>
                  <a:srgbClr val="F8FAFC"/>
                </a:highlight>
                <a:latin typeface="Arial"/>
                <a:ea typeface="Arial"/>
                <a:cs typeface="Arial"/>
                <a:sym typeface="Arial"/>
              </a:rPr>
              <a:t>Takeaway: Don't just extract an answer — extract it, show the evidence, and independently verify it.</a:t>
            </a:r>
            <a:endParaRPr b="1" sz="1200">
              <a:solidFill>
                <a:srgbClr val="1F3445"/>
              </a:solidFill>
              <a:highlight>
                <a:srgbClr val="F8FAF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1028700" y="9772650"/>
            <a:ext cx="6858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4" name="Google Shape;484;p16"/>
          <p:cNvGrpSpPr/>
          <p:nvPr/>
        </p:nvGrpSpPr>
        <p:grpSpPr>
          <a:xfrm>
            <a:off x="16630650" y="9772650"/>
            <a:ext cx="571500" cy="285900"/>
            <a:chOff x="0" y="0"/>
            <a:chExt cx="571500" cy="285900"/>
          </a:xfrm>
        </p:grpSpPr>
        <p:sp>
          <p:nvSpPr>
            <p:cNvPr id="485" name="Google Shape;485;p16"/>
            <p:cNvSpPr/>
            <p:nvPr/>
          </p:nvSpPr>
          <p:spPr>
            <a:xfrm>
              <a:off x="0" y="0"/>
              <a:ext cx="5715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16"/>
            <p:cNvSpPr txBox="1"/>
            <p:nvPr/>
          </p:nvSpPr>
          <p:spPr>
            <a:xfrm>
              <a:off x="0" y="0"/>
              <a:ext cx="571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2878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1100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7"/>
          <p:cNvSpPr/>
          <p:nvPr/>
        </p:nvSpPr>
        <p:spPr>
          <a:xfrm>
            <a:off x="978477" y="2514600"/>
            <a:ext cx="53388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</a:t>
            </a:r>
            <a:r>
              <a:rPr b="1" lang="en-US" sz="36000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3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1095524" y="7132290"/>
            <a:ext cx="54639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Literature Survey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8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KEY PRIOR WORK</a:t>
            </a:r>
            <a:endParaRPr sz="1800"/>
          </a:p>
        </p:txBody>
      </p:sp>
      <p:sp>
        <p:nvSpPr>
          <p:cNvPr id="499" name="Google Shape;499;p18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Key prior work: Grounded Event Extraction from SEC 8-Ks</a:t>
            </a:r>
            <a:endParaRPr sz="1800"/>
          </a:p>
        </p:txBody>
      </p:sp>
      <p:sp>
        <p:nvSpPr>
          <p:cNvPr id="500" name="Google Shape;500;p18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1028700" y="2091690"/>
            <a:ext cx="16230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Dolphin et al. (2026) · 292,984 SEC 8-K filings · 119-type taxonomy</a:t>
            </a:r>
            <a:endParaRPr sz="1800"/>
          </a:p>
        </p:txBody>
      </p:sp>
      <p:sp>
        <p:nvSpPr>
          <p:cNvPr id="502" name="Google Shape;502;p18"/>
          <p:cNvSpPr/>
          <p:nvPr/>
        </p:nvSpPr>
        <p:spPr>
          <a:xfrm>
            <a:off x="1143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 txBox="1"/>
          <p:nvPr/>
        </p:nvSpPr>
        <p:spPr>
          <a:xfrm>
            <a:off x="1280160" y="3360420"/>
            <a:ext cx="20115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SEC 8-K</a:t>
            </a:r>
            <a:endParaRPr sz="1800"/>
          </a:p>
        </p:txBody>
      </p:sp>
      <p:cxnSp>
        <p:nvCxnSpPr>
          <p:cNvPr id="504" name="Google Shape;504;p18"/>
          <p:cNvCxnSpPr/>
          <p:nvPr/>
        </p:nvCxnSpPr>
        <p:spPr>
          <a:xfrm>
            <a:off x="3520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05" name="Google Shape;505;p18"/>
          <p:cNvSpPr/>
          <p:nvPr/>
        </p:nvSpPr>
        <p:spPr>
          <a:xfrm>
            <a:off x="4572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4709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Structured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extraction</a:t>
            </a:r>
            <a:endParaRPr sz="1800"/>
          </a:p>
        </p:txBody>
      </p:sp>
      <p:cxnSp>
        <p:nvCxnSpPr>
          <p:cNvPr id="507" name="Google Shape;507;p18"/>
          <p:cNvCxnSpPr/>
          <p:nvPr/>
        </p:nvCxnSpPr>
        <p:spPr>
          <a:xfrm>
            <a:off x="6949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08" name="Google Shape;508;p18"/>
          <p:cNvSpPr/>
          <p:nvPr/>
        </p:nvSpPr>
        <p:spPr>
          <a:xfrm>
            <a:off x="8001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 txBox="1"/>
          <p:nvPr/>
        </p:nvSpPr>
        <p:spPr>
          <a:xfrm>
            <a:off x="8138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Value + exact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source quote</a:t>
            </a:r>
            <a:endParaRPr sz="1800"/>
          </a:p>
        </p:txBody>
      </p:sp>
      <p:cxnSp>
        <p:nvCxnSpPr>
          <p:cNvPr id="510" name="Google Shape;510;p18"/>
          <p:cNvCxnSpPr/>
          <p:nvPr/>
        </p:nvCxnSpPr>
        <p:spPr>
          <a:xfrm>
            <a:off x="10378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11" name="Google Shape;511;p18"/>
          <p:cNvSpPr/>
          <p:nvPr/>
        </p:nvSpPr>
        <p:spPr>
          <a:xfrm>
            <a:off x="11430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 txBox="1"/>
          <p:nvPr/>
        </p:nvSpPr>
        <p:spPr>
          <a:xfrm>
            <a:off x="11567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Second-pass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verification</a:t>
            </a:r>
            <a:endParaRPr sz="1800"/>
          </a:p>
        </p:txBody>
      </p:sp>
      <p:cxnSp>
        <p:nvCxnSpPr>
          <p:cNvPr id="513" name="Google Shape;513;p18"/>
          <p:cNvCxnSpPr/>
          <p:nvPr/>
        </p:nvCxnSpPr>
        <p:spPr>
          <a:xfrm>
            <a:off x="13807440" y="3737610"/>
            <a:ext cx="9600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14" name="Google Shape;514;p18"/>
          <p:cNvSpPr/>
          <p:nvPr/>
        </p:nvSpPr>
        <p:spPr>
          <a:xfrm>
            <a:off x="14859000" y="3028950"/>
            <a:ext cx="2286000" cy="1428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 txBox="1"/>
          <p:nvPr/>
        </p:nvSpPr>
        <p:spPr>
          <a:xfrm>
            <a:off x="14996160" y="3360420"/>
            <a:ext cx="20115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Confidence</a:t>
            </a:r>
            <a:b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</a:br>
            <a:r>
              <a:rPr b="1" i="0" lang="en-US" sz="20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score</a:t>
            </a:r>
            <a:endParaRPr sz="1800"/>
          </a:p>
        </p:txBody>
      </p:sp>
      <p:sp>
        <p:nvSpPr>
          <p:cNvPr id="516" name="Google Shape;516;p18"/>
          <p:cNvSpPr/>
          <p:nvPr/>
        </p:nvSpPr>
        <p:spPr>
          <a:xfrm>
            <a:off x="1085850" y="5200650"/>
            <a:ext cx="4800900" cy="29145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1428750" y="5543550"/>
            <a:ext cx="4114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KEY FINDING</a:t>
            </a:r>
            <a:endParaRPr sz="1800"/>
          </a:p>
        </p:txBody>
      </p:sp>
      <p:sp>
        <p:nvSpPr>
          <p:cNvPr id="518" name="Google Shape;518;p18"/>
          <p:cNvSpPr txBox="1"/>
          <p:nvPr/>
        </p:nvSpPr>
        <p:spPr>
          <a:xfrm>
            <a:off x="1428750" y="6000750"/>
            <a:ext cx="40005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4B7091"/>
                </a:solidFill>
                <a:latin typeface="Arial Narrow"/>
                <a:ea typeface="Arial Narrow"/>
                <a:cs typeface="Arial Narrow"/>
                <a:sym typeface="Arial Narrow"/>
              </a:rPr>
              <a:t>12% → 96%</a:t>
            </a:r>
            <a:endParaRPr sz="1800"/>
          </a:p>
        </p:txBody>
      </p:sp>
      <p:sp>
        <p:nvSpPr>
          <p:cNvPr id="519" name="Google Shape;519;p18"/>
          <p:cNvSpPr txBox="1"/>
          <p:nvPr/>
        </p:nvSpPr>
        <p:spPr>
          <a:xfrm>
            <a:off x="1428750" y="6858000"/>
            <a:ext cx="39435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Reported precision rose from the lowest to highest separately assigned quality-score groups.</a:t>
            </a:r>
            <a:endParaRPr sz="1800"/>
          </a:p>
        </p:txBody>
      </p:sp>
      <p:sp>
        <p:nvSpPr>
          <p:cNvPr id="520" name="Google Shape;520;p18"/>
          <p:cNvSpPr/>
          <p:nvPr/>
        </p:nvSpPr>
        <p:spPr>
          <a:xfrm>
            <a:off x="6229350" y="5200650"/>
            <a:ext cx="10972800" cy="291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 txBox="1"/>
          <p:nvPr/>
        </p:nvSpPr>
        <p:spPr>
          <a:xfrm>
            <a:off x="6572250" y="5543550"/>
            <a:ext cx="400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WHAT WE TAKE INTO OUR PROJECT</a:t>
            </a:r>
            <a:endParaRPr sz="1800"/>
          </a:p>
        </p:txBody>
      </p:sp>
      <p:sp>
        <p:nvSpPr>
          <p:cNvPr id="522" name="Google Shape;522;p18"/>
          <p:cNvSpPr txBox="1"/>
          <p:nvPr/>
        </p:nvSpPr>
        <p:spPr>
          <a:xfrm>
            <a:off x="6629400" y="611505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Extract</a:t>
            </a:r>
            <a:endParaRPr sz="1800"/>
          </a:p>
        </p:txBody>
      </p:sp>
      <p:sp>
        <p:nvSpPr>
          <p:cNvPr id="523" name="Google Shape;523;p18"/>
          <p:cNvSpPr txBox="1"/>
          <p:nvPr/>
        </p:nvSpPr>
        <p:spPr>
          <a:xfrm>
            <a:off x="8001000" y="611505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options, deadlines, prices, conditions</a:t>
            </a:r>
            <a:endParaRPr sz="1800"/>
          </a:p>
        </p:txBody>
      </p:sp>
      <p:sp>
        <p:nvSpPr>
          <p:cNvPr id="524" name="Google Shape;524;p18"/>
          <p:cNvSpPr txBox="1"/>
          <p:nvPr/>
        </p:nvSpPr>
        <p:spPr>
          <a:xfrm>
            <a:off x="6629400" y="6606539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Ground</a:t>
            </a:r>
            <a:endParaRPr sz="1800"/>
          </a:p>
        </p:txBody>
      </p:sp>
      <p:sp>
        <p:nvSpPr>
          <p:cNvPr id="525" name="Google Shape;525;p18"/>
          <p:cNvSpPr txBox="1"/>
          <p:nvPr/>
        </p:nvSpPr>
        <p:spPr>
          <a:xfrm>
            <a:off x="8001000" y="6606539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each material field in source text</a:t>
            </a:r>
            <a:endParaRPr sz="1800"/>
          </a:p>
        </p:txBody>
      </p:sp>
      <p:sp>
        <p:nvSpPr>
          <p:cNvPr id="526" name="Google Shape;526;p18"/>
          <p:cNvSpPr txBox="1"/>
          <p:nvPr/>
        </p:nvSpPr>
        <p:spPr>
          <a:xfrm>
            <a:off x="6629400" y="709803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Verify</a:t>
            </a:r>
            <a:endParaRPr sz="1800"/>
          </a:p>
        </p:txBody>
      </p:sp>
      <p:sp>
        <p:nvSpPr>
          <p:cNvPr id="527" name="Google Shape;527;p18"/>
          <p:cNvSpPr txBox="1"/>
          <p:nvPr/>
        </p:nvSpPr>
        <p:spPr>
          <a:xfrm>
            <a:off x="8001000" y="709803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with a separate checking pass</a:t>
            </a:r>
            <a:endParaRPr sz="1800"/>
          </a:p>
        </p:txBody>
      </p:sp>
      <p:sp>
        <p:nvSpPr>
          <p:cNvPr id="528" name="Google Shape;528;p18"/>
          <p:cNvSpPr txBox="1"/>
          <p:nvPr/>
        </p:nvSpPr>
        <p:spPr>
          <a:xfrm>
            <a:off x="6629400" y="7589520"/>
            <a:ext cx="131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Escalate</a:t>
            </a:r>
            <a:endParaRPr sz="1800"/>
          </a:p>
        </p:txBody>
      </p:sp>
      <p:sp>
        <p:nvSpPr>
          <p:cNvPr id="529" name="Google Shape;529;p18"/>
          <p:cNvSpPr txBox="1"/>
          <p:nvPr/>
        </p:nvSpPr>
        <p:spPr>
          <a:xfrm>
            <a:off x="8001000" y="7589520"/>
            <a:ext cx="8572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low-confidence material fields to human review</a:t>
            </a:r>
            <a:endParaRPr sz="1800"/>
          </a:p>
        </p:txBody>
      </p:sp>
      <p:sp>
        <p:nvSpPr>
          <p:cNvPr id="530" name="Google Shape;530;p18"/>
          <p:cNvSpPr txBox="1"/>
          <p:nvPr/>
        </p:nvSpPr>
        <p:spPr>
          <a:xfrm>
            <a:off x="1085850" y="8629650"/>
            <a:ext cx="161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Takeaway: don’t just extract an answer — extract it, show the evidence, and independently verify it.</a:t>
            </a:r>
            <a:endParaRPr sz="1800"/>
          </a:p>
        </p:txBody>
      </p:sp>
      <p:sp>
        <p:nvSpPr>
          <p:cNvPr id="531" name="Google Shape;531;p18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9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VERSIONRAG</a:t>
            </a:r>
            <a:endParaRPr sz="1800"/>
          </a:p>
        </p:txBody>
      </p:sp>
      <p:sp>
        <p:nvSpPr>
          <p:cNvPr id="537" name="Google Shape;537;p19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Version-aware retrieval for amendments</a:t>
            </a:r>
            <a:endParaRPr sz="1800"/>
          </a:p>
        </p:txBody>
      </p:sp>
      <p:sp>
        <p:nvSpPr>
          <p:cNvPr id="538" name="Google Shape;538;p19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 txBox="1"/>
          <p:nvPr/>
        </p:nvSpPr>
        <p:spPr>
          <a:xfrm>
            <a:off x="1085850" y="2148840"/>
            <a:ext cx="15659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Corporate-action terms can change after the original filing. A reliable system must preserve history rather than overwrite it.</a:t>
            </a:r>
            <a:endParaRPr sz="1800"/>
          </a:p>
        </p:txBody>
      </p:sp>
      <p:sp>
        <p:nvSpPr>
          <p:cNvPr id="540" name="Google Shape;540;p19"/>
          <p:cNvSpPr/>
          <p:nvPr/>
        </p:nvSpPr>
        <p:spPr>
          <a:xfrm>
            <a:off x="1143000" y="3143250"/>
            <a:ext cx="4572000" cy="20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1428750" y="3429000"/>
            <a:ext cx="14289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 txBox="1"/>
          <p:nvPr/>
        </p:nvSpPr>
        <p:spPr>
          <a:xfrm>
            <a:off x="1428750" y="3451860"/>
            <a:ext cx="1428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VERSION 1</a:t>
            </a:r>
            <a:endParaRPr sz="1800"/>
          </a:p>
        </p:txBody>
      </p:sp>
      <p:sp>
        <p:nvSpPr>
          <p:cNvPr id="543" name="Google Shape;543;p19"/>
          <p:cNvSpPr txBox="1"/>
          <p:nvPr/>
        </p:nvSpPr>
        <p:spPr>
          <a:xfrm>
            <a:off x="1428750" y="40576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   $40</a:t>
            </a:r>
            <a:endParaRPr sz="1800"/>
          </a:p>
        </p:txBody>
      </p:sp>
      <p:sp>
        <p:nvSpPr>
          <p:cNvPr id="544" name="Google Shape;544;p19"/>
          <p:cNvSpPr txBox="1"/>
          <p:nvPr/>
        </p:nvSpPr>
        <p:spPr>
          <a:xfrm>
            <a:off x="1428750" y="45148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Deadline      Oct 10</a:t>
            </a:r>
            <a:endParaRPr sz="1800"/>
          </a:p>
        </p:txBody>
      </p:sp>
      <p:cxnSp>
        <p:nvCxnSpPr>
          <p:cNvPr id="545" name="Google Shape;545;p19"/>
          <p:cNvCxnSpPr/>
          <p:nvPr/>
        </p:nvCxnSpPr>
        <p:spPr>
          <a:xfrm>
            <a:off x="3429000" y="5314950"/>
            <a:ext cx="0" cy="514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46" name="Google Shape;546;p19"/>
          <p:cNvSpPr/>
          <p:nvPr/>
        </p:nvSpPr>
        <p:spPr>
          <a:xfrm>
            <a:off x="1143000" y="6000750"/>
            <a:ext cx="4572000" cy="200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1428750" y="6286500"/>
            <a:ext cx="1428900" cy="434400"/>
          </a:xfrm>
          <a:prstGeom prst="roundRect">
            <a:avLst>
              <a:gd fmla="val 16667" name="adj"/>
            </a:avLst>
          </a:prstGeom>
          <a:solidFill>
            <a:srgbClr val="4B7091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 txBox="1"/>
          <p:nvPr/>
        </p:nvSpPr>
        <p:spPr>
          <a:xfrm>
            <a:off x="1428750" y="6309360"/>
            <a:ext cx="14289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AMENDMENT</a:t>
            </a:r>
            <a:endParaRPr sz="1800"/>
          </a:p>
        </p:txBody>
      </p:sp>
      <p:sp>
        <p:nvSpPr>
          <p:cNvPr id="549" name="Google Shape;549;p19"/>
          <p:cNvSpPr txBox="1"/>
          <p:nvPr/>
        </p:nvSpPr>
        <p:spPr>
          <a:xfrm>
            <a:off x="1428750" y="69151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   $43</a:t>
            </a:r>
            <a:endParaRPr sz="1800"/>
          </a:p>
        </p:txBody>
      </p:sp>
      <p:sp>
        <p:nvSpPr>
          <p:cNvPr id="550" name="Google Shape;550;p19"/>
          <p:cNvSpPr txBox="1"/>
          <p:nvPr/>
        </p:nvSpPr>
        <p:spPr>
          <a:xfrm>
            <a:off x="1428750" y="7372350"/>
            <a:ext cx="3657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Deadline      Oct 25</a:t>
            </a:r>
            <a:endParaRPr sz="1800"/>
          </a:p>
        </p:txBody>
      </p:sp>
      <p:sp>
        <p:nvSpPr>
          <p:cNvPr id="551" name="Google Shape;551;p19"/>
          <p:cNvSpPr/>
          <p:nvPr/>
        </p:nvSpPr>
        <p:spPr>
          <a:xfrm>
            <a:off x="6457950" y="3657600"/>
            <a:ext cx="4800900" cy="37149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 txBox="1"/>
          <p:nvPr/>
        </p:nvSpPr>
        <p:spPr>
          <a:xfrm>
            <a:off x="6800850" y="4000500"/>
            <a:ext cx="4114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MATERIAL CHANGE DETECTED</a:t>
            </a:r>
            <a:endParaRPr sz="1800"/>
          </a:p>
        </p:txBody>
      </p:sp>
      <p:sp>
        <p:nvSpPr>
          <p:cNvPr id="553" name="Google Shape;553;p19"/>
          <p:cNvSpPr txBox="1"/>
          <p:nvPr/>
        </p:nvSpPr>
        <p:spPr>
          <a:xfrm>
            <a:off x="6800850" y="4777739"/>
            <a:ext cx="1771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Offer price</a:t>
            </a:r>
            <a:endParaRPr sz="1800"/>
          </a:p>
        </p:txBody>
      </p:sp>
      <p:sp>
        <p:nvSpPr>
          <p:cNvPr id="554" name="Google Shape;554;p19"/>
          <p:cNvSpPr txBox="1"/>
          <p:nvPr/>
        </p:nvSpPr>
        <p:spPr>
          <a:xfrm>
            <a:off x="8629650" y="4777739"/>
            <a:ext cx="19434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$40 → $43</a:t>
            </a:r>
            <a:endParaRPr sz="1800"/>
          </a:p>
        </p:txBody>
      </p:sp>
      <p:sp>
        <p:nvSpPr>
          <p:cNvPr id="555" name="Google Shape;555;p19"/>
          <p:cNvSpPr txBox="1"/>
          <p:nvPr/>
        </p:nvSpPr>
        <p:spPr>
          <a:xfrm>
            <a:off x="6800850" y="5543550"/>
            <a:ext cx="17715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Deadline</a:t>
            </a:r>
            <a:endParaRPr sz="1800"/>
          </a:p>
        </p:txBody>
      </p:sp>
      <p:sp>
        <p:nvSpPr>
          <p:cNvPr id="556" name="Google Shape;556;p19"/>
          <p:cNvSpPr txBox="1"/>
          <p:nvPr/>
        </p:nvSpPr>
        <p:spPr>
          <a:xfrm>
            <a:off x="8629650" y="5543550"/>
            <a:ext cx="19434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Oct 10 → Oct 25</a:t>
            </a:r>
            <a:endParaRPr sz="1800"/>
          </a:p>
        </p:txBody>
      </p:sp>
      <p:sp>
        <p:nvSpPr>
          <p:cNvPr id="557" name="Google Shape;557;p19"/>
          <p:cNvSpPr txBox="1"/>
          <p:nvPr/>
        </p:nvSpPr>
        <p:spPr>
          <a:xfrm>
            <a:off x="6800850" y="6343650"/>
            <a:ext cx="39435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Keep both versions + surface the delta.</a:t>
            </a:r>
            <a:endParaRPr sz="1800"/>
          </a:p>
        </p:txBody>
      </p:sp>
      <p:sp>
        <p:nvSpPr>
          <p:cNvPr id="558" name="Google Shape;558;p19"/>
          <p:cNvSpPr/>
          <p:nvPr/>
        </p:nvSpPr>
        <p:spPr>
          <a:xfrm>
            <a:off x="12001500" y="3143250"/>
            <a:ext cx="5200500" cy="485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12344400" y="3486150"/>
            <a:ext cx="4343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LITERATURE RESULT</a:t>
            </a:r>
            <a:endParaRPr sz="1800"/>
          </a:p>
        </p:txBody>
      </p:sp>
      <p:sp>
        <p:nvSpPr>
          <p:cNvPr id="560" name="Google Shape;560;p19"/>
          <p:cNvSpPr txBox="1"/>
          <p:nvPr/>
        </p:nvSpPr>
        <p:spPr>
          <a:xfrm>
            <a:off x="12344400" y="3943350"/>
            <a:ext cx="43431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4B7091"/>
                </a:solidFill>
                <a:latin typeface="Arial Narrow"/>
                <a:ea typeface="Arial Narrow"/>
                <a:cs typeface="Arial Narrow"/>
                <a:sym typeface="Arial Narrow"/>
              </a:rPr>
              <a:t>90%</a:t>
            </a:r>
            <a:endParaRPr sz="1800"/>
          </a:p>
        </p:txBody>
      </p:sp>
      <p:sp>
        <p:nvSpPr>
          <p:cNvPr id="561" name="Google Shape;561;p19"/>
          <p:cNvSpPr txBox="1"/>
          <p:nvPr/>
        </p:nvSpPr>
        <p:spPr>
          <a:xfrm>
            <a:off x="12344400" y="4686299"/>
            <a:ext cx="428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VersionRAG accuracy on version-sensitive QA, compared with 58% naive RAG and 64% GraphRAG.</a:t>
            </a:r>
            <a:endParaRPr sz="1800"/>
          </a:p>
        </p:txBody>
      </p:sp>
      <p:sp>
        <p:nvSpPr>
          <p:cNvPr id="562" name="Google Shape;562;p19"/>
          <p:cNvSpPr txBox="1"/>
          <p:nvPr/>
        </p:nvSpPr>
        <p:spPr>
          <a:xfrm>
            <a:off x="12344400" y="6000750"/>
            <a:ext cx="4343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IMPORTANT LIMITATION</a:t>
            </a:r>
            <a:endParaRPr sz="1800"/>
          </a:p>
        </p:txBody>
      </p:sp>
      <p:sp>
        <p:nvSpPr>
          <p:cNvPr id="563" name="Google Shape;563;p19"/>
          <p:cNvSpPr txBox="1"/>
          <p:nvPr/>
        </p:nvSpPr>
        <p:spPr>
          <a:xfrm>
            <a:off x="12344400" y="6457950"/>
            <a:ext cx="4286400" cy="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benchmark used technical documentation, not corporate-action filings. We need our own validation.</a:t>
            </a:r>
            <a:endParaRPr sz="1800"/>
          </a:p>
        </p:txBody>
      </p:sp>
      <p:sp>
        <p:nvSpPr>
          <p:cNvPr id="564" name="Google Shape;564;p19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565" name="Google Shape;565;p19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7F8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0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SELECTIVE PREDICTION</a:t>
            </a:r>
            <a:endParaRPr sz="1800"/>
          </a:p>
        </p:txBody>
      </p:sp>
      <p:sp>
        <p:nvSpPr>
          <p:cNvPr id="571" name="Google Shape;571;p20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Confidence should control automation</a:t>
            </a:r>
            <a:endParaRPr sz="1800"/>
          </a:p>
        </p:txBody>
      </p:sp>
      <p:sp>
        <p:nvSpPr>
          <p:cNvPr id="572" name="Google Shape;572;p20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 txBox="1"/>
          <p:nvPr/>
        </p:nvSpPr>
        <p:spPr>
          <a:xfrm>
            <a:off x="1085850" y="2171700"/>
            <a:ext cx="157734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goal is not to automate every event. The goal is to automate the cases we can support reliably.</a:t>
            </a:r>
            <a:endParaRPr sz="1800"/>
          </a:p>
        </p:txBody>
      </p:sp>
      <p:sp>
        <p:nvSpPr>
          <p:cNvPr id="574" name="Google Shape;574;p20"/>
          <p:cNvSpPr/>
          <p:nvPr/>
        </p:nvSpPr>
        <p:spPr>
          <a:xfrm>
            <a:off x="1143000" y="3028950"/>
            <a:ext cx="7086900" cy="508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 txBox="1"/>
          <p:nvPr/>
        </p:nvSpPr>
        <p:spPr>
          <a:xfrm>
            <a:off x="1485900" y="3371850"/>
            <a:ext cx="2514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EXAMPLE EVENT</a:t>
            </a:r>
            <a:endParaRPr sz="1800"/>
          </a:p>
        </p:txBody>
      </p:sp>
      <p:sp>
        <p:nvSpPr>
          <p:cNvPr id="576" name="Google Shape;576;p20"/>
          <p:cNvSpPr txBox="1"/>
          <p:nvPr/>
        </p:nvSpPr>
        <p:spPr>
          <a:xfrm>
            <a:off x="1543050" y="405765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Issuer</a:t>
            </a:r>
            <a:endParaRPr sz="1800"/>
          </a:p>
        </p:txBody>
      </p:sp>
      <p:sp>
        <p:nvSpPr>
          <p:cNvPr id="577" name="Google Shape;577;p20"/>
          <p:cNvSpPr/>
          <p:nvPr/>
        </p:nvSpPr>
        <p:spPr>
          <a:xfrm>
            <a:off x="4400550" y="402336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 txBox="1"/>
          <p:nvPr/>
        </p:nvSpPr>
        <p:spPr>
          <a:xfrm>
            <a:off x="4400550" y="4046220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579" name="Google Shape;579;p20"/>
          <p:cNvSpPr txBox="1"/>
          <p:nvPr/>
        </p:nvSpPr>
        <p:spPr>
          <a:xfrm>
            <a:off x="6000750" y="405765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580" name="Google Shape;580;p20"/>
          <p:cNvSpPr txBox="1"/>
          <p:nvPr/>
        </p:nvSpPr>
        <p:spPr>
          <a:xfrm>
            <a:off x="1543050" y="491490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Offer price</a:t>
            </a:r>
            <a:endParaRPr sz="1800"/>
          </a:p>
        </p:txBody>
      </p:sp>
      <p:sp>
        <p:nvSpPr>
          <p:cNvPr id="581" name="Google Shape;581;p20"/>
          <p:cNvSpPr/>
          <p:nvPr/>
        </p:nvSpPr>
        <p:spPr>
          <a:xfrm>
            <a:off x="4400550" y="4880609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0"/>
          <p:cNvSpPr txBox="1"/>
          <p:nvPr/>
        </p:nvSpPr>
        <p:spPr>
          <a:xfrm>
            <a:off x="4400550" y="490346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583" name="Google Shape;583;p20"/>
          <p:cNvSpPr txBox="1"/>
          <p:nvPr/>
        </p:nvSpPr>
        <p:spPr>
          <a:xfrm>
            <a:off x="6000750" y="491490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584" name="Google Shape;584;p20"/>
          <p:cNvSpPr txBox="1"/>
          <p:nvPr/>
        </p:nvSpPr>
        <p:spPr>
          <a:xfrm>
            <a:off x="1543050" y="577215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Election deadline</a:t>
            </a:r>
            <a:endParaRPr sz="1800"/>
          </a:p>
        </p:txBody>
      </p:sp>
      <p:sp>
        <p:nvSpPr>
          <p:cNvPr id="585" name="Google Shape;585;p20"/>
          <p:cNvSpPr/>
          <p:nvPr/>
        </p:nvSpPr>
        <p:spPr>
          <a:xfrm>
            <a:off x="4400550" y="573786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40705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0"/>
          <p:cNvSpPr txBox="1"/>
          <p:nvPr/>
        </p:nvSpPr>
        <p:spPr>
          <a:xfrm>
            <a:off x="4400550" y="576071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800"/>
          </a:p>
        </p:txBody>
      </p:sp>
      <p:sp>
        <p:nvSpPr>
          <p:cNvPr id="587" name="Google Shape;587;p20"/>
          <p:cNvSpPr txBox="1"/>
          <p:nvPr/>
        </p:nvSpPr>
        <p:spPr>
          <a:xfrm>
            <a:off x="6000750" y="577215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</a:t>
            </a:r>
            <a:endParaRPr sz="1800"/>
          </a:p>
        </p:txBody>
      </p:sp>
      <p:sp>
        <p:nvSpPr>
          <p:cNvPr id="588" name="Google Shape;588;p20"/>
          <p:cNvSpPr txBox="1"/>
          <p:nvPr/>
        </p:nvSpPr>
        <p:spPr>
          <a:xfrm>
            <a:off x="1543050" y="662940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D2023"/>
                </a:solidFill>
                <a:latin typeface="Arial"/>
                <a:ea typeface="Arial"/>
                <a:cs typeface="Arial"/>
                <a:sym typeface="Arial"/>
              </a:rPr>
              <a:t>Proration condition</a:t>
            </a:r>
            <a:endParaRPr sz="1800"/>
          </a:p>
        </p:txBody>
      </p:sp>
      <p:sp>
        <p:nvSpPr>
          <p:cNvPr id="589" name="Google Shape;589;p20"/>
          <p:cNvSpPr/>
          <p:nvPr/>
        </p:nvSpPr>
        <p:spPr>
          <a:xfrm>
            <a:off x="4400550" y="6595110"/>
            <a:ext cx="1200000" cy="434400"/>
          </a:xfrm>
          <a:prstGeom prst="roundRect">
            <a:avLst>
              <a:gd fmla="val 16667" name="adj"/>
            </a:avLst>
          </a:prstGeom>
          <a:solidFill>
            <a:srgbClr val="A07032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 txBox="1"/>
          <p:nvPr/>
        </p:nvSpPr>
        <p:spPr>
          <a:xfrm>
            <a:off x="4400550" y="6617969"/>
            <a:ext cx="12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800"/>
          </a:p>
        </p:txBody>
      </p:sp>
      <p:sp>
        <p:nvSpPr>
          <p:cNvPr id="591" name="Google Shape;591;p20"/>
          <p:cNvSpPr txBox="1"/>
          <p:nvPr/>
        </p:nvSpPr>
        <p:spPr>
          <a:xfrm>
            <a:off x="6000750" y="6629400"/>
            <a:ext cx="15432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 sz="1800"/>
          </a:p>
        </p:txBody>
      </p:sp>
      <p:sp>
        <p:nvSpPr>
          <p:cNvPr id="592" name="Google Shape;592;p20"/>
          <p:cNvSpPr/>
          <p:nvPr/>
        </p:nvSpPr>
        <p:spPr>
          <a:xfrm>
            <a:off x="8915400" y="3028950"/>
            <a:ext cx="8229600" cy="50865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 txBox="1"/>
          <p:nvPr/>
        </p:nvSpPr>
        <p:spPr>
          <a:xfrm>
            <a:off x="9258300" y="3371850"/>
            <a:ext cx="400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DECISION LOGIC</a:t>
            </a:r>
            <a:endParaRPr sz="1800"/>
          </a:p>
        </p:txBody>
      </p:sp>
      <p:sp>
        <p:nvSpPr>
          <p:cNvPr id="594" name="Google Shape;594;p20"/>
          <p:cNvSpPr/>
          <p:nvPr/>
        </p:nvSpPr>
        <p:spPr>
          <a:xfrm>
            <a:off x="10858500" y="4057650"/>
            <a:ext cx="4343100" cy="8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 txBox="1"/>
          <p:nvPr/>
        </p:nvSpPr>
        <p:spPr>
          <a:xfrm>
            <a:off x="11029950" y="4263390"/>
            <a:ext cx="40005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Independent confidence check</a:t>
            </a:r>
            <a:endParaRPr sz="1800"/>
          </a:p>
        </p:txBody>
      </p:sp>
      <p:cxnSp>
        <p:nvCxnSpPr>
          <p:cNvPr id="596" name="Google Shape;596;p20"/>
          <p:cNvCxnSpPr/>
          <p:nvPr/>
        </p:nvCxnSpPr>
        <p:spPr>
          <a:xfrm>
            <a:off x="13030200" y="5006340"/>
            <a:ext cx="0" cy="4230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597" name="Google Shape;597;p20"/>
          <p:cNvSpPr/>
          <p:nvPr/>
        </p:nvSpPr>
        <p:spPr>
          <a:xfrm>
            <a:off x="9544050" y="5600700"/>
            <a:ext cx="3086400" cy="97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13430250" y="5600700"/>
            <a:ext cx="3086400" cy="97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 txBox="1"/>
          <p:nvPr/>
        </p:nvSpPr>
        <p:spPr>
          <a:xfrm>
            <a:off x="9715500" y="585216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07058"/>
                </a:solidFill>
                <a:latin typeface="Arial"/>
                <a:ea typeface="Arial"/>
                <a:cs typeface="Arial"/>
                <a:sym typeface="Arial"/>
              </a:rPr>
              <a:t>High confidence</a:t>
            </a:r>
            <a:endParaRPr sz="1800"/>
          </a:p>
        </p:txBody>
      </p:sp>
      <p:sp>
        <p:nvSpPr>
          <p:cNvPr id="600" name="Google Shape;600;p20"/>
          <p:cNvSpPr txBox="1"/>
          <p:nvPr/>
        </p:nvSpPr>
        <p:spPr>
          <a:xfrm>
            <a:off x="13601700" y="5852160"/>
            <a:ext cx="27432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Low / conflict</a:t>
            </a:r>
            <a:endParaRPr sz="1800"/>
          </a:p>
        </p:txBody>
      </p:sp>
      <p:cxnSp>
        <p:nvCxnSpPr>
          <p:cNvPr id="601" name="Google Shape;601;p20"/>
          <p:cNvCxnSpPr/>
          <p:nvPr/>
        </p:nvCxnSpPr>
        <p:spPr>
          <a:xfrm>
            <a:off x="11087100" y="6652260"/>
            <a:ext cx="0" cy="4344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cxnSp>
        <p:nvCxnSpPr>
          <p:cNvPr id="602" name="Google Shape;602;p20"/>
          <p:cNvCxnSpPr/>
          <p:nvPr/>
        </p:nvCxnSpPr>
        <p:spPr>
          <a:xfrm>
            <a:off x="14973300" y="6652260"/>
            <a:ext cx="0" cy="4344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03" name="Google Shape;603;p20"/>
          <p:cNvSpPr txBox="1"/>
          <p:nvPr/>
        </p:nvSpPr>
        <p:spPr>
          <a:xfrm>
            <a:off x="9658349" y="7200900"/>
            <a:ext cx="28575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Auto-process</a:t>
            </a:r>
            <a:endParaRPr sz="1800"/>
          </a:p>
        </p:txBody>
      </p:sp>
      <p:sp>
        <p:nvSpPr>
          <p:cNvPr id="604" name="Google Shape;604;p20"/>
          <p:cNvSpPr txBox="1"/>
          <p:nvPr/>
        </p:nvSpPr>
        <p:spPr>
          <a:xfrm>
            <a:off x="13487400" y="7200900"/>
            <a:ext cx="2971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Human review</a:t>
            </a:r>
            <a:endParaRPr sz="1800"/>
          </a:p>
        </p:txBody>
      </p:sp>
      <p:sp>
        <p:nvSpPr>
          <p:cNvPr id="605" name="Google Shape;605;p20"/>
          <p:cNvSpPr txBox="1"/>
          <p:nvPr/>
        </p:nvSpPr>
        <p:spPr>
          <a:xfrm>
            <a:off x="1085850" y="8629650"/>
            <a:ext cx="16116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Research implication: evaluate the coverage–risk trade-off, not just raw model accuracy.</a:t>
            </a:r>
            <a:endParaRPr sz="1800"/>
          </a:p>
        </p:txBody>
      </p:sp>
      <p:sp>
        <p:nvSpPr>
          <p:cNvPr id="606" name="Google Shape;606;p20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607" name="Google Shape;607;p20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6F7F8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1"/>
          <p:cNvSpPr txBox="1"/>
          <p:nvPr/>
        </p:nvSpPr>
        <p:spPr>
          <a:xfrm>
            <a:off x="1028700" y="480060"/>
            <a:ext cx="628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WHAT WE CAN BUILD</a:t>
            </a:r>
            <a:endParaRPr sz="1800"/>
          </a:p>
        </p:txBody>
      </p:sp>
      <p:sp>
        <p:nvSpPr>
          <p:cNvPr id="613" name="Google Shape;613;p21"/>
          <p:cNvSpPr txBox="1"/>
          <p:nvPr/>
        </p:nvSpPr>
        <p:spPr>
          <a:xfrm>
            <a:off x="1028700" y="937260"/>
            <a:ext cx="163449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D2023"/>
                </a:solidFill>
                <a:latin typeface="Arial Narrow"/>
                <a:ea typeface="Arial Narrow"/>
                <a:cs typeface="Arial Narrow"/>
                <a:sym typeface="Arial Narrow"/>
              </a:rPr>
              <a:t>Research → proposed project architecture</a:t>
            </a:r>
            <a:endParaRPr sz="1800"/>
          </a:p>
        </p:txBody>
      </p:sp>
      <p:sp>
        <p:nvSpPr>
          <p:cNvPr id="614" name="Google Shape;614;p21"/>
          <p:cNvSpPr/>
          <p:nvPr/>
        </p:nvSpPr>
        <p:spPr>
          <a:xfrm>
            <a:off x="1028700" y="1851660"/>
            <a:ext cx="16230600" cy="17400"/>
          </a:xfrm>
          <a:prstGeom prst="rect">
            <a:avLst/>
          </a:prstGeom>
          <a:solidFill>
            <a:srgbClr val="E0E4E8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 txBox="1"/>
          <p:nvPr/>
        </p:nvSpPr>
        <p:spPr>
          <a:xfrm>
            <a:off x="1085850" y="2148840"/>
            <a:ext cx="15659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The papers give us complementary pieces of one auditable workflow.</a:t>
            </a:r>
            <a:endParaRPr sz="1800"/>
          </a:p>
        </p:txBody>
      </p:sp>
      <p:sp>
        <p:nvSpPr>
          <p:cNvPr id="616" name="Google Shape;616;p21"/>
          <p:cNvSpPr/>
          <p:nvPr/>
        </p:nvSpPr>
        <p:spPr>
          <a:xfrm>
            <a:off x="11430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1"/>
          <p:cNvSpPr/>
          <p:nvPr/>
        </p:nvSpPr>
        <p:spPr>
          <a:xfrm>
            <a:off x="13487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1"/>
          <p:cNvSpPr txBox="1"/>
          <p:nvPr/>
        </p:nvSpPr>
        <p:spPr>
          <a:xfrm>
            <a:off x="13487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/>
          </a:p>
        </p:txBody>
      </p:sp>
      <p:sp>
        <p:nvSpPr>
          <p:cNvPr id="619" name="Google Shape;619;p21"/>
          <p:cNvSpPr txBox="1"/>
          <p:nvPr/>
        </p:nvSpPr>
        <p:spPr>
          <a:xfrm>
            <a:off x="13716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Retrieve</a:t>
            </a:r>
            <a:endParaRPr sz="1800"/>
          </a:p>
        </p:txBody>
      </p:sp>
      <p:sp>
        <p:nvSpPr>
          <p:cNvPr id="620" name="Google Shape;620;p21"/>
          <p:cNvSpPr txBox="1"/>
          <p:nvPr/>
        </p:nvSpPr>
        <p:spPr>
          <a:xfrm>
            <a:off x="13716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SEC / public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source documents</a:t>
            </a:r>
            <a:endParaRPr sz="1800"/>
          </a:p>
        </p:txBody>
      </p:sp>
      <p:cxnSp>
        <p:nvCxnSpPr>
          <p:cNvPr id="621" name="Google Shape;621;p21"/>
          <p:cNvCxnSpPr/>
          <p:nvPr/>
        </p:nvCxnSpPr>
        <p:spPr>
          <a:xfrm>
            <a:off x="3749040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22" name="Google Shape;622;p21"/>
          <p:cNvSpPr/>
          <p:nvPr/>
        </p:nvSpPr>
        <p:spPr>
          <a:xfrm>
            <a:off x="428625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1"/>
          <p:cNvSpPr/>
          <p:nvPr/>
        </p:nvSpPr>
        <p:spPr>
          <a:xfrm>
            <a:off x="449199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1"/>
          <p:cNvSpPr txBox="1"/>
          <p:nvPr/>
        </p:nvSpPr>
        <p:spPr>
          <a:xfrm>
            <a:off x="449199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/>
          </a:p>
        </p:txBody>
      </p:sp>
      <p:sp>
        <p:nvSpPr>
          <p:cNvPr id="625" name="Google Shape;625;p21"/>
          <p:cNvSpPr txBox="1"/>
          <p:nvPr/>
        </p:nvSpPr>
        <p:spPr>
          <a:xfrm>
            <a:off x="451485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Extract</a:t>
            </a:r>
            <a:endParaRPr sz="1800"/>
          </a:p>
        </p:txBody>
      </p:sp>
      <p:sp>
        <p:nvSpPr>
          <p:cNvPr id="626" name="Google Shape;626;p21"/>
          <p:cNvSpPr txBox="1"/>
          <p:nvPr/>
        </p:nvSpPr>
        <p:spPr>
          <a:xfrm>
            <a:off x="451485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Structured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corporate-action fields</a:t>
            </a:r>
            <a:endParaRPr sz="1800"/>
          </a:p>
        </p:txBody>
      </p:sp>
      <p:cxnSp>
        <p:nvCxnSpPr>
          <p:cNvPr id="627" name="Google Shape;627;p21"/>
          <p:cNvCxnSpPr/>
          <p:nvPr/>
        </p:nvCxnSpPr>
        <p:spPr>
          <a:xfrm>
            <a:off x="6892289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28" name="Google Shape;628;p21"/>
          <p:cNvSpPr/>
          <p:nvPr/>
        </p:nvSpPr>
        <p:spPr>
          <a:xfrm>
            <a:off x="74295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76352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1"/>
          <p:cNvSpPr txBox="1"/>
          <p:nvPr/>
        </p:nvSpPr>
        <p:spPr>
          <a:xfrm>
            <a:off x="76352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/>
          </a:p>
        </p:txBody>
      </p:sp>
      <p:sp>
        <p:nvSpPr>
          <p:cNvPr id="631" name="Google Shape;631;p21"/>
          <p:cNvSpPr txBox="1"/>
          <p:nvPr/>
        </p:nvSpPr>
        <p:spPr>
          <a:xfrm>
            <a:off x="76581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Ground</a:t>
            </a:r>
            <a:endParaRPr sz="1800"/>
          </a:p>
        </p:txBody>
      </p:sp>
      <p:sp>
        <p:nvSpPr>
          <p:cNvPr id="632" name="Google Shape;632;p21"/>
          <p:cNvSpPr txBox="1"/>
          <p:nvPr/>
        </p:nvSpPr>
        <p:spPr>
          <a:xfrm>
            <a:off x="76581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Source evidence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for material fields</a:t>
            </a:r>
            <a:endParaRPr sz="1800"/>
          </a:p>
        </p:txBody>
      </p:sp>
      <p:cxnSp>
        <p:nvCxnSpPr>
          <p:cNvPr id="633" name="Google Shape;633;p21"/>
          <p:cNvCxnSpPr/>
          <p:nvPr/>
        </p:nvCxnSpPr>
        <p:spPr>
          <a:xfrm>
            <a:off x="10035539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34" name="Google Shape;634;p21"/>
          <p:cNvSpPr/>
          <p:nvPr/>
        </p:nvSpPr>
        <p:spPr>
          <a:xfrm>
            <a:off x="1057275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1"/>
          <p:cNvSpPr/>
          <p:nvPr/>
        </p:nvSpPr>
        <p:spPr>
          <a:xfrm>
            <a:off x="1077849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 txBox="1"/>
          <p:nvPr/>
        </p:nvSpPr>
        <p:spPr>
          <a:xfrm>
            <a:off x="1077849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/>
          </a:p>
        </p:txBody>
      </p:sp>
      <p:sp>
        <p:nvSpPr>
          <p:cNvPr id="637" name="Google Shape;637;p21"/>
          <p:cNvSpPr txBox="1"/>
          <p:nvPr/>
        </p:nvSpPr>
        <p:spPr>
          <a:xfrm>
            <a:off x="1080135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Verify</a:t>
            </a:r>
            <a:endParaRPr sz="1800"/>
          </a:p>
        </p:txBody>
      </p:sp>
      <p:sp>
        <p:nvSpPr>
          <p:cNvPr id="638" name="Google Shape;638;p21"/>
          <p:cNvSpPr txBox="1"/>
          <p:nvPr/>
        </p:nvSpPr>
        <p:spPr>
          <a:xfrm>
            <a:off x="1080135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Independent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confidence check</a:t>
            </a:r>
            <a:endParaRPr sz="1800"/>
          </a:p>
        </p:txBody>
      </p:sp>
      <p:cxnSp>
        <p:nvCxnSpPr>
          <p:cNvPr id="639" name="Google Shape;639;p21"/>
          <p:cNvCxnSpPr/>
          <p:nvPr/>
        </p:nvCxnSpPr>
        <p:spPr>
          <a:xfrm>
            <a:off x="13178790" y="4423410"/>
            <a:ext cx="457200" cy="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40" name="Google Shape;640;p21"/>
          <p:cNvSpPr/>
          <p:nvPr/>
        </p:nvSpPr>
        <p:spPr>
          <a:xfrm>
            <a:off x="13716000" y="3200400"/>
            <a:ext cx="2571900" cy="245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0E4E8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1"/>
          <p:cNvSpPr/>
          <p:nvPr/>
        </p:nvSpPr>
        <p:spPr>
          <a:xfrm>
            <a:off x="13921740" y="3429000"/>
            <a:ext cx="571500" cy="434400"/>
          </a:xfrm>
          <a:prstGeom prst="roundRect">
            <a:avLst>
              <a:gd fmla="val 16667" name="adj"/>
            </a:avLst>
          </a:prstGeom>
          <a:solidFill>
            <a:srgbClr val="1F3445"/>
          </a:solidFill>
          <a:ln>
            <a:noFill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1"/>
          <p:cNvSpPr txBox="1"/>
          <p:nvPr/>
        </p:nvSpPr>
        <p:spPr>
          <a:xfrm>
            <a:off x="13921740" y="3451860"/>
            <a:ext cx="571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800"/>
          </a:p>
        </p:txBody>
      </p:sp>
      <p:sp>
        <p:nvSpPr>
          <p:cNvPr id="643" name="Google Shape;643;p21"/>
          <p:cNvSpPr txBox="1"/>
          <p:nvPr/>
        </p:nvSpPr>
        <p:spPr>
          <a:xfrm>
            <a:off x="13944600" y="4023360"/>
            <a:ext cx="2114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F3445"/>
                </a:solidFill>
                <a:latin typeface="Arial Narrow"/>
                <a:ea typeface="Arial Narrow"/>
                <a:cs typeface="Arial Narrow"/>
                <a:sym typeface="Arial Narrow"/>
              </a:rPr>
              <a:t>Compare</a:t>
            </a:r>
            <a:endParaRPr sz="1800"/>
          </a:p>
        </p:txBody>
      </p:sp>
      <p:sp>
        <p:nvSpPr>
          <p:cNvPr id="644" name="Google Shape;644;p21"/>
          <p:cNvSpPr txBox="1"/>
          <p:nvPr/>
        </p:nvSpPr>
        <p:spPr>
          <a:xfrm>
            <a:off x="13944600" y="4629150"/>
            <a:ext cx="21147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Amendment /</a:t>
            </a:r>
            <a:b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526070"/>
                </a:solidFill>
                <a:latin typeface="Arial"/>
                <a:ea typeface="Arial"/>
                <a:cs typeface="Arial"/>
                <a:sym typeface="Arial"/>
              </a:rPr>
              <a:t>version diff</a:t>
            </a:r>
            <a:endParaRPr sz="1800"/>
          </a:p>
        </p:txBody>
      </p:sp>
      <p:cxnSp>
        <p:nvCxnSpPr>
          <p:cNvPr id="645" name="Google Shape;645;p21"/>
          <p:cNvCxnSpPr/>
          <p:nvPr/>
        </p:nvCxnSpPr>
        <p:spPr>
          <a:xfrm>
            <a:off x="8172450" y="5829300"/>
            <a:ext cx="0" cy="514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46" name="Google Shape;646;p21"/>
          <p:cNvSpPr txBox="1"/>
          <p:nvPr/>
        </p:nvSpPr>
        <p:spPr>
          <a:xfrm>
            <a:off x="6000750" y="6457950"/>
            <a:ext cx="4343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Confidence / conflict threshold</a:t>
            </a:r>
            <a:endParaRPr sz="1800"/>
          </a:p>
        </p:txBody>
      </p:sp>
      <p:cxnSp>
        <p:nvCxnSpPr>
          <p:cNvPr id="647" name="Google Shape;647;p21"/>
          <p:cNvCxnSpPr/>
          <p:nvPr/>
        </p:nvCxnSpPr>
        <p:spPr>
          <a:xfrm flipH="1">
            <a:off x="5257950" y="6915150"/>
            <a:ext cx="2914500" cy="571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cxnSp>
        <p:nvCxnSpPr>
          <p:cNvPr id="648" name="Google Shape;648;p21"/>
          <p:cNvCxnSpPr/>
          <p:nvPr/>
        </p:nvCxnSpPr>
        <p:spPr>
          <a:xfrm>
            <a:off x="8172450" y="6915150"/>
            <a:ext cx="2914500" cy="571500"/>
          </a:xfrm>
          <a:prstGeom prst="straightConnector1">
            <a:avLst/>
          </a:prstGeom>
          <a:noFill/>
          <a:ln cap="flat" cmpd="sng" w="31750">
            <a:solidFill>
              <a:srgbClr val="4B7091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5000">
              <a:srgbClr val="000000">
                <a:alpha val="38040"/>
              </a:srgbClr>
            </a:outerShdw>
          </a:effectLst>
        </p:spPr>
      </p:cxnSp>
      <p:sp>
        <p:nvSpPr>
          <p:cNvPr id="649" name="Google Shape;649;p21"/>
          <p:cNvSpPr/>
          <p:nvPr/>
        </p:nvSpPr>
        <p:spPr>
          <a:xfrm>
            <a:off x="3143250" y="7486650"/>
            <a:ext cx="4229100" cy="1143000"/>
          </a:xfrm>
          <a:prstGeom prst="roundRect">
            <a:avLst>
              <a:gd fmla="val 16667" name="adj"/>
            </a:avLst>
          </a:prstGeom>
          <a:solidFill>
            <a:srgbClr val="F0F6F2"/>
          </a:solidFill>
          <a:ln cap="flat" cmpd="sng" w="12700">
            <a:solidFill>
              <a:srgbClr val="CDDED3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9144000" y="7486650"/>
            <a:ext cx="4229100" cy="1143000"/>
          </a:xfrm>
          <a:prstGeom prst="roundRect">
            <a:avLst>
              <a:gd fmla="val 16667" name="adj"/>
            </a:avLst>
          </a:prstGeom>
          <a:solidFill>
            <a:srgbClr val="F9F4EC"/>
          </a:solidFill>
          <a:ln cap="flat" cmpd="sng" w="12700">
            <a:solidFill>
              <a:srgbClr val="E6D6BE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1"/>
          <p:cNvSpPr txBox="1"/>
          <p:nvPr/>
        </p:nvSpPr>
        <p:spPr>
          <a:xfrm>
            <a:off x="3371850" y="7795260"/>
            <a:ext cx="3771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407058"/>
                </a:solidFill>
                <a:latin typeface="Arial"/>
                <a:ea typeface="Arial"/>
                <a:cs typeface="Arial"/>
                <a:sym typeface="Arial"/>
              </a:rPr>
              <a:t>HIGH → auto-process</a:t>
            </a:r>
            <a:endParaRPr sz="1800"/>
          </a:p>
        </p:txBody>
      </p:sp>
      <p:sp>
        <p:nvSpPr>
          <p:cNvPr id="652" name="Google Shape;652;p21"/>
          <p:cNvSpPr txBox="1"/>
          <p:nvPr/>
        </p:nvSpPr>
        <p:spPr>
          <a:xfrm>
            <a:off x="9372599" y="7795260"/>
            <a:ext cx="37719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07032"/>
                </a:solidFill>
                <a:latin typeface="Arial"/>
                <a:ea typeface="Arial"/>
                <a:cs typeface="Arial"/>
                <a:sym typeface="Arial"/>
              </a:rPr>
              <a:t>LOW / CONFLICT → review</a:t>
            </a:r>
            <a:endParaRPr sz="1800"/>
          </a:p>
        </p:txBody>
      </p:sp>
      <p:sp>
        <p:nvSpPr>
          <p:cNvPr id="653" name="Google Shape;653;p21"/>
          <p:cNvSpPr/>
          <p:nvPr/>
        </p:nvSpPr>
        <p:spPr>
          <a:xfrm>
            <a:off x="13944600" y="6572250"/>
            <a:ext cx="3200400" cy="2057400"/>
          </a:xfrm>
          <a:prstGeom prst="roundRect">
            <a:avLst>
              <a:gd fmla="val 16667" name="adj"/>
            </a:avLst>
          </a:prstGeom>
          <a:solidFill>
            <a:srgbClr val="EEF3F7"/>
          </a:solidFill>
          <a:ln cap="flat" cmpd="sng" w="12700">
            <a:solidFill>
              <a:srgbClr val="D2DCE4"/>
            </a:solidFill>
            <a:prstDash val="solid"/>
            <a:round/>
            <a:headEnd len="sm" w="sm" type="none"/>
            <a:tailEnd len="sm" w="sm" type="none"/>
          </a:ln>
          <a:effectLst>
            <a:outerShdw blurRad="50000" rotWithShape="0" dir="5400000" dist="28750">
              <a:srgbClr val="000000">
                <a:alpha val="34900"/>
              </a:srgbClr>
            </a:outerShdw>
          </a:effectLst>
        </p:spPr>
        <p:txBody>
          <a:bodyPr anchorCtr="0" anchor="ctr" bIns="57125" lIns="114275" spcFirstLastPara="1" rIns="114275" wrap="square" tIns="57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 txBox="1"/>
          <p:nvPr/>
        </p:nvSpPr>
        <p:spPr>
          <a:xfrm>
            <a:off x="14230350" y="6858000"/>
            <a:ext cx="262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4B7091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sz="1800"/>
          </a:p>
        </p:txBody>
      </p:sp>
      <p:sp>
        <p:nvSpPr>
          <p:cNvPr id="655" name="Google Shape;655;p21"/>
          <p:cNvSpPr txBox="1"/>
          <p:nvPr/>
        </p:nvSpPr>
        <p:spPr>
          <a:xfrm>
            <a:off x="14230350" y="7315200"/>
            <a:ext cx="26289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Versioned,</a:t>
            </a:r>
            <a:b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900" u="none" cap="none" strike="noStrike">
                <a:solidFill>
                  <a:srgbClr val="1F3445"/>
                </a:solidFill>
                <a:latin typeface="Arial"/>
                <a:ea typeface="Arial"/>
                <a:cs typeface="Arial"/>
                <a:sym typeface="Arial"/>
              </a:rPr>
              <a:t>auditable event record</a:t>
            </a:r>
            <a:endParaRPr sz="1800"/>
          </a:p>
        </p:txBody>
      </p:sp>
      <p:sp>
        <p:nvSpPr>
          <p:cNvPr id="656" name="Google Shape;656;p21"/>
          <p:cNvSpPr txBox="1"/>
          <p:nvPr/>
        </p:nvSpPr>
        <p:spPr>
          <a:xfrm>
            <a:off x="1028700" y="9772650"/>
            <a:ext cx="6858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BNY capstone · research synthesis · September 2026</a:t>
            </a:r>
            <a:endParaRPr sz="1800"/>
          </a:p>
        </p:txBody>
      </p:sp>
      <p:sp>
        <p:nvSpPr>
          <p:cNvPr id="657" name="Google Shape;657;p21"/>
          <p:cNvSpPr txBox="1"/>
          <p:nvPr/>
        </p:nvSpPr>
        <p:spPr>
          <a:xfrm>
            <a:off x="16630650" y="9772650"/>
            <a:ext cx="571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57125" lIns="114275" spcFirstLastPara="1" rIns="114275" wrap="square" tIns="5712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2878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2D3D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2"/>
          <p:cNvSpPr/>
          <p:nvPr/>
        </p:nvSpPr>
        <p:spPr>
          <a:xfrm>
            <a:off x="978471" y="2514600"/>
            <a:ext cx="45714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36000"/>
              <a:buFont typeface="Barlow Condensed"/>
              <a:buNone/>
            </a:pPr>
            <a:r>
              <a:rPr b="1" i="0" lang="en-US" sz="3600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</a:t>
            </a:r>
            <a:endParaRPr b="0" i="0" sz="3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1095524" y="7132290"/>
            <a:ext cx="58902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F2F2F3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Investment case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1143000" y="8378355"/>
            <a:ext cx="119808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552"/>
              </a:lnSpc>
              <a:spcBef>
                <a:spcPts val="0"/>
              </a:spcBef>
              <a:spcAft>
                <a:spcPts val="0"/>
              </a:spcAft>
              <a:buClr>
                <a:srgbClr val="F2F2F4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3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 the model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11430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question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11430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Spend once to build the system in year 0. Does what it saves over the next five years justify that spend?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3"/>
          <p:cNvSpPr/>
          <p:nvPr/>
        </p:nvSpPr>
        <p:spPr>
          <a:xfrm>
            <a:off x="1143000" y="5356920"/>
            <a:ext cx="85497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995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6600"/>
              <a:buFont typeface="Barlow Condensed"/>
              <a:buNone/>
            </a:pPr>
            <a:r>
              <a:rPr b="1" i="0" lang="en-US" sz="66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 = Benefits − Costs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3"/>
          <p:cNvSpPr/>
          <p:nvPr/>
        </p:nvSpPr>
        <p:spPr>
          <a:xfrm>
            <a:off x="1143000" y="6671370"/>
            <a:ext cx="85497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Computed for each of the five years.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93726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decision test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93726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Five years of Net, valued in today’s dollars, must exceed the build </a:t>
            </a:r>
            <a:r>
              <a:rPr lang="en-US" sz="2100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Upfront Investment</a:t>
            </a: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 — NPV ≥ 0.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9372600" y="52997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Everything in the model exists to define that yearly Net: the baseline of manual work today, what the AI changes, and the cost of running it.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4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4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Benefits: released hours and avoided errors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11430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Released hours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4"/>
          <p:cNvSpPr/>
          <p:nvPr/>
        </p:nvSpPr>
        <p:spPr>
          <a:xfrm>
            <a:off x="1143000" y="41567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Baseline: events in scope × share not straight-through × minutes per manual event → hours → FTE → labour cost, split mandatory vs voluntary.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4"/>
          <p:cNvSpPr/>
          <p:nvPr/>
        </p:nvSpPr>
        <p:spPr>
          <a:xfrm>
            <a:off x="1143000" y="5756970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1 fully automates a share of today’s manual events. </a:t>
            </a:r>
            <a:endParaRPr b="0" i="0" sz="2100" u="none" cap="none" strike="noStrike">
              <a:solidFill>
                <a:srgbClr val="1D1F20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Char char="-"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Lever 2 shortens handling time where a person is still needed — data pre-filled, source cited.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4"/>
          <p:cNvSpPr/>
          <p:nvPr/>
        </p:nvSpPr>
        <p:spPr>
          <a:xfrm>
            <a:off x="1143000" y="73571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1143000" y="8257236"/>
            <a:ext cx="85497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Labour benefit = hours released × cost per FTE × realisation rate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9372600" y="3162374"/>
            <a:ext cx="8549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Avoided errors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4"/>
          <p:cNvSpPr/>
          <p:nvPr/>
        </p:nvSpPr>
        <p:spPr>
          <a:xfrm>
            <a:off x="9372600" y="4156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Start from today’s annual error cost — make-goods, claims, remediation.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4"/>
          <p:cNvSpPr/>
          <p:nvPr/>
        </p:nvSpPr>
        <p:spPr>
          <a:xfrm>
            <a:off x="9372600" y="5299770"/>
            <a:ext cx="8005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Count only the share rooted in data sourcing and validation, then the share of that the AI eliminates.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4"/>
          <p:cNvSpPr/>
          <p:nvPr/>
        </p:nvSpPr>
        <p:spPr>
          <a:xfrm>
            <a:off x="9372600" y="6402735"/>
            <a:ext cx="80055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Error benefit = annual error cost × share rooted in sourcing × share eliminated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4"/>
          <p:cNvSpPr/>
          <p:nvPr/>
        </p:nvSpPr>
        <p:spPr>
          <a:xfrm>
            <a:off x="9372600" y="7585695"/>
            <a:ext cx="80055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5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5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Costs: four lines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5"/>
          <p:cNvSpPr/>
          <p:nvPr/>
        </p:nvSpPr>
        <p:spPr>
          <a:xfrm>
            <a:off x="11430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Build and integration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25"/>
          <p:cNvSpPr/>
          <p:nvPr/>
        </p:nvSpPr>
        <p:spPr>
          <a:xfrm>
            <a:off x="11430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One-time, in year 0. Year-0 Net equals minus the build.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5"/>
          <p:cNvSpPr/>
          <p:nvPr/>
        </p:nvSpPr>
        <p:spPr>
          <a:xfrm>
            <a:off x="52578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Run and maintenance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5"/>
          <p:cNvSpPr/>
          <p:nvPr/>
        </p:nvSpPr>
        <p:spPr>
          <a:xfrm>
            <a:off x="52578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Annual, expressed as a share of the build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5"/>
          <p:cNvSpPr/>
          <p:nvPr/>
        </p:nvSpPr>
        <p:spPr>
          <a:xfrm>
            <a:off x="93726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AI processing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5"/>
          <p:cNvSpPr/>
          <p:nvPr/>
        </p:nvSpPr>
        <p:spPr>
          <a:xfrm>
            <a:off x="93726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Per event, scaling with volume as adoption ramps.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25"/>
          <p:cNvSpPr/>
          <p:nvPr/>
        </p:nvSpPr>
        <p:spPr>
          <a:xfrm>
            <a:off x="13487400" y="3162374"/>
            <a:ext cx="402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Governance and platform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5"/>
          <p:cNvSpPr/>
          <p:nvPr/>
        </p:nvSpPr>
        <p:spPr>
          <a:xfrm>
            <a:off x="13487400" y="4156770"/>
            <a:ext cx="37674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3284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00"/>
              <a:buFont typeface="Barlow"/>
              <a:buNone/>
            </a:pPr>
            <a:r>
              <a:rPr b="0" i="0" lang="en-US" sz="2100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Annual model-risk, oversight and platform cost.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5"/>
          <p:cNvSpPr/>
          <p:nvPr/>
        </p:nvSpPr>
        <p:spPr>
          <a:xfrm>
            <a:off x="1143000" y="6402735"/>
            <a:ext cx="141069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073"/>
              </a:lnSpc>
              <a:spcBef>
                <a:spcPts val="0"/>
              </a:spcBef>
              <a:spcAft>
                <a:spcPts val="0"/>
              </a:spcAft>
              <a:buClr>
                <a:srgbClr val="416180"/>
              </a:buClr>
              <a:buSzPts val="2550"/>
              <a:buFont typeface="Barlow Condensed"/>
              <a:buNone/>
            </a:pPr>
            <a:r>
              <a:rPr b="1" i="0" lang="en-US" sz="2550" u="none" cap="none" strike="noStrike">
                <a:solidFill>
                  <a:srgbClr val="41618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Yearly Net = labour benefit + error benefit − costs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1143000" y="754335"/>
            <a:ext cx="2403600" cy="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5980A6"/>
              </a:buClr>
              <a:buSzPts val="1800"/>
              <a:buFont typeface="Barlow Condensed"/>
              <a:buNone/>
            </a:pPr>
            <a:r>
              <a:rPr b="1" i="0" lang="en-US" sz="1800" u="none" cap="none" strike="noStrike">
                <a:solidFill>
                  <a:srgbClr val="5980A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04 · INVESTMENT CASE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6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i="0" lang="en-US" sz="72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Outputs and the question each answers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6"/>
          <p:cNvSpPr/>
          <p:nvPr/>
        </p:nvSpPr>
        <p:spPr>
          <a:xfrm>
            <a:off x="1143000" y="25146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OUTPUT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6"/>
          <p:cNvSpPr/>
          <p:nvPr/>
        </p:nvSpPr>
        <p:spPr>
          <a:xfrm>
            <a:off x="5257800" y="25146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rPr b="0" i="0" lang="en-US" sz="1800" u="none" cap="none" strike="noStrike">
                <a:solidFill>
                  <a:srgbClr val="1C2020"/>
                </a:solidFill>
                <a:latin typeface="Barlow"/>
                <a:ea typeface="Barlow"/>
                <a:cs typeface="Barlow"/>
                <a:sym typeface="Barlow"/>
              </a:rPr>
              <a:t>QUESTION IT ANSWERS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6"/>
          <p:cNvSpPr/>
          <p:nvPr/>
        </p:nvSpPr>
        <p:spPr>
          <a:xfrm>
            <a:off x="13487400" y="25146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Clr>
                <a:srgbClr val="1C2020"/>
              </a:buClr>
              <a:buSzPts val="1800"/>
              <a:buFont typeface="Barlow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6"/>
          <p:cNvSpPr/>
          <p:nvPr/>
        </p:nvSpPr>
        <p:spPr>
          <a:xfrm>
            <a:off x="1143000" y="3429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Payback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6"/>
          <p:cNvSpPr/>
          <p:nvPr/>
        </p:nvSpPr>
        <p:spPr>
          <a:xfrm>
            <a:off x="5257800" y="3429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How many years until cumulative savings cover the build?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6"/>
          <p:cNvSpPr/>
          <p:nvPr/>
        </p:nvSpPr>
        <p:spPr>
          <a:xfrm>
            <a:off x="13487400" y="3429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6"/>
          <p:cNvSpPr/>
          <p:nvPr/>
        </p:nvSpPr>
        <p:spPr>
          <a:xfrm>
            <a:off x="1143000" y="4572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ROI on upfront investment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6"/>
          <p:cNvSpPr/>
          <p:nvPr/>
        </p:nvSpPr>
        <p:spPr>
          <a:xfrm>
            <a:off x="5257800" y="4572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Net operating benefit earned on the build — five-year and per-year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6"/>
          <p:cNvSpPr/>
          <p:nvPr/>
        </p:nvSpPr>
        <p:spPr>
          <a:xfrm>
            <a:off x="13487400" y="4572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6"/>
          <p:cNvSpPr/>
          <p:nvPr/>
        </p:nvSpPr>
        <p:spPr>
          <a:xfrm>
            <a:off x="1143000" y="5715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Break-even build cost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6"/>
          <p:cNvSpPr/>
          <p:nvPr/>
        </p:nvSpPr>
        <p:spPr>
          <a:xfrm>
            <a:off x="5257800" y="5715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The most the build could cost before the case stops working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6"/>
          <p:cNvSpPr/>
          <p:nvPr/>
        </p:nvSpPr>
        <p:spPr>
          <a:xfrm>
            <a:off x="13487400" y="5715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6"/>
          <p:cNvSpPr/>
          <p:nvPr/>
        </p:nvSpPr>
        <p:spPr>
          <a:xfrm>
            <a:off x="1143000" y="6858074"/>
            <a:ext cx="400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3000"/>
              <a:buFont typeface="Barlow Condensed"/>
              <a:buNone/>
            </a:pPr>
            <a:r>
              <a:rPr b="1" i="0" lang="en-US" sz="3000" u="none" cap="none" strike="noStrike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NPV and IRR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6"/>
          <p:cNvSpPr/>
          <p:nvPr/>
        </p:nvSpPr>
        <p:spPr>
          <a:xfrm>
            <a:off x="5257800" y="6858074"/>
            <a:ext cx="824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rPr b="0" i="0" lang="en-US" sz="2175" u="none" cap="none" strike="noStrike">
                <a:solidFill>
                  <a:srgbClr val="1D1F20"/>
                </a:solidFill>
                <a:latin typeface="Barlow"/>
                <a:ea typeface="Barlow"/>
                <a:cs typeface="Barlow"/>
                <a:sym typeface="Barlow"/>
              </a:rPr>
              <a:t>Value in today’s dollars and the equivalent annual return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6"/>
          <p:cNvSpPr/>
          <p:nvPr/>
        </p:nvSpPr>
        <p:spPr>
          <a:xfrm>
            <a:off x="13487400" y="6858074"/>
            <a:ext cx="3767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429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2175"/>
              <a:buFont typeface="Barlow"/>
              <a:buNone/>
            </a:pPr>
            <a:r>
              <a:t/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6"/>
          <p:cNvSpPr/>
          <p:nvPr/>
        </p:nvSpPr>
        <p:spPr>
          <a:xfrm>
            <a:off x="1143000" y="8291587"/>
            <a:ext cx="13023600" cy="2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D1F21"/>
              </a:buClr>
              <a:buSzPts val="1875"/>
              <a:buFont typeface="Barlow"/>
              <a:buNone/>
            </a:pPr>
            <a:r>
              <a:t/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3"/>
        </a:solidFill>
      </p:bgPr>
    </p:bg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7"/>
          <p:cNvSpPr/>
          <p:nvPr/>
        </p:nvSpPr>
        <p:spPr>
          <a:xfrm>
            <a:off x="1095524" y="1645965"/>
            <a:ext cx="176544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3478"/>
              </a:lnSpc>
              <a:spcBef>
                <a:spcPts val="0"/>
              </a:spcBef>
              <a:spcAft>
                <a:spcPts val="0"/>
              </a:spcAft>
              <a:buClr>
                <a:srgbClr val="1D1F20"/>
              </a:buClr>
              <a:buSzPts val="7200"/>
              <a:buFont typeface="Barlow Condensed"/>
              <a:buNone/>
            </a:pPr>
            <a:r>
              <a:rPr b="1" lang="en-US" sz="7200">
                <a:solidFill>
                  <a:srgbClr val="1D1F20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Thank You!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