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embeddedFontLst>
    <p:embeddedFont>
      <p:font typeface="Roboto Mono Medium"/>
      <p:regular r:id="rId18"/>
      <p:bold r:id="rId19"/>
      <p:italic r:id="rId20"/>
      <p:boldItalic r:id="rId21"/>
    </p:embeddedFont>
    <p:embeddedFont>
      <p:font typeface="Roboto Mono SemiBold"/>
      <p:regular r:id="rId22"/>
      <p:bold r:id="rId23"/>
      <p:italic r:id="rId24"/>
      <p:boldItalic r:id="rId25"/>
    </p:embeddedFont>
    <p:embeddedFont>
      <p:font typeface="Barlow Condensed"/>
      <p:regular r:id="rId26"/>
      <p:bold r:id="rId27"/>
      <p:italic r:id="rId28"/>
      <p:boldItalic r:id="rId29"/>
    </p:embeddedFont>
    <p:embeddedFont>
      <p:font typeface="Barlow Medium"/>
      <p:regular r:id="rId30"/>
      <p:bold r:id="rId31"/>
      <p:italic r:id="rId32"/>
      <p:boldItalic r:id="rId33"/>
    </p:embeddedFont>
    <p:embeddedFont>
      <p:font typeface="Barlow SemiBold"/>
      <p:regular r:id="rId34"/>
      <p:bold r:id="rId35"/>
      <p:italic r:id="rId36"/>
      <p:boldItalic r:id="rId37"/>
    </p:embeddedFont>
    <p:embeddedFont>
      <p:font typeface="Barlow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italic.fntdata"/><Relationship Id="rId20" Type="http://schemas.openxmlformats.org/officeDocument/2006/relationships/font" Target="fonts/RobotoMonoMedium-italic.fntdata"/><Relationship Id="rId41" Type="http://schemas.openxmlformats.org/officeDocument/2006/relationships/font" Target="fonts/Barlow-boldItalic.fntdata"/><Relationship Id="rId22" Type="http://schemas.openxmlformats.org/officeDocument/2006/relationships/font" Target="fonts/RobotoMonoSemiBold-regular.fntdata"/><Relationship Id="rId21" Type="http://schemas.openxmlformats.org/officeDocument/2006/relationships/font" Target="fonts/RobotoMonoMedium-boldItalic.fntdata"/><Relationship Id="rId24" Type="http://schemas.openxmlformats.org/officeDocument/2006/relationships/font" Target="fonts/RobotoMonoSemiBold-italic.fntdata"/><Relationship Id="rId23" Type="http://schemas.openxmlformats.org/officeDocument/2006/relationships/font" Target="fonts/RobotoMono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Condensed-regular.fntdata"/><Relationship Id="rId25" Type="http://schemas.openxmlformats.org/officeDocument/2006/relationships/font" Target="fonts/RobotoMonoSemiBold-boldItalic.fntdata"/><Relationship Id="rId28" Type="http://schemas.openxmlformats.org/officeDocument/2006/relationships/font" Target="fonts/BarlowCondensed-italic.fntdata"/><Relationship Id="rId27" Type="http://schemas.openxmlformats.org/officeDocument/2006/relationships/font" Target="fonts/BarlowCondense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Condense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Medium-bold.fntdata"/><Relationship Id="rId30" Type="http://schemas.openxmlformats.org/officeDocument/2006/relationships/font" Target="fonts/BarlowMedium-regular.fntdata"/><Relationship Id="rId11" Type="http://schemas.openxmlformats.org/officeDocument/2006/relationships/slide" Target="slides/slide7.xml"/><Relationship Id="rId33" Type="http://schemas.openxmlformats.org/officeDocument/2006/relationships/font" Target="fonts/BarlowMedium-boldItalic.fntdata"/><Relationship Id="rId10" Type="http://schemas.openxmlformats.org/officeDocument/2006/relationships/slide" Target="slides/slide6.xml"/><Relationship Id="rId32" Type="http://schemas.openxmlformats.org/officeDocument/2006/relationships/font" Target="fonts/BarlowMedium-italic.fntdata"/><Relationship Id="rId13" Type="http://schemas.openxmlformats.org/officeDocument/2006/relationships/slide" Target="slides/slide9.xml"/><Relationship Id="rId35" Type="http://schemas.openxmlformats.org/officeDocument/2006/relationships/font" Target="fonts/BarlowSemiBold-bold.fntdata"/><Relationship Id="rId12" Type="http://schemas.openxmlformats.org/officeDocument/2006/relationships/slide" Target="slides/slide8.xml"/><Relationship Id="rId34" Type="http://schemas.openxmlformats.org/officeDocument/2006/relationships/font" Target="fonts/BarlowSemiBold-regular.fntdata"/><Relationship Id="rId15" Type="http://schemas.openxmlformats.org/officeDocument/2006/relationships/slide" Target="slides/slide11.xml"/><Relationship Id="rId37" Type="http://schemas.openxmlformats.org/officeDocument/2006/relationships/font" Target="fonts/BarlowSemiBold-boldItalic.fntdata"/><Relationship Id="rId14" Type="http://schemas.openxmlformats.org/officeDocument/2006/relationships/slide" Target="slides/slide10.xml"/><Relationship Id="rId36" Type="http://schemas.openxmlformats.org/officeDocument/2006/relationships/font" Target="fonts/BarlowSemiBold-italic.fntdata"/><Relationship Id="rId17" Type="http://schemas.openxmlformats.org/officeDocument/2006/relationships/slide" Target="slides/slide13.xml"/><Relationship Id="rId39" Type="http://schemas.openxmlformats.org/officeDocument/2006/relationships/font" Target="fonts/Barlow-bold.fntdata"/><Relationship Id="rId16" Type="http://schemas.openxmlformats.org/officeDocument/2006/relationships/slide" Target="slides/slide12.xml"/><Relationship Id="rId38" Type="http://schemas.openxmlformats.org/officeDocument/2006/relationships/font" Target="fonts/Barlow-regular.fntdata"/><Relationship Id="rId19" Type="http://schemas.openxmlformats.org/officeDocument/2006/relationships/font" Target="fonts/RobotoMonoMedium-bold.fntdata"/><Relationship Id="rId18" Type="http://schemas.openxmlformats.org/officeDocument/2006/relationships/font" Target="fonts/RobotoMon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3431739a6719fc4_4_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3431739a6719fc4_4_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3431739a6719fc4_4_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h3431739a6719fc4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h3431739a6719fc4_4_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h3431739a6719fc4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6e2baa0e4f53b52a_4_15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6e2baa0e4f53b52a_4_15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6e2baa0e4f53b52a_4_15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6e2baa0e4f53b52a_4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6e2baa0e4f53b52a_4_15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6e2baa0e4f53b52a_4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6e2baa0e4f53b52a_4_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6e2baa0e4f53b52a_4_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6e2baa0e4f53b52a_4_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6e2baa0e4f53b52a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6e2baa0e4f53b52a_4_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6e2baa0e4f53b52a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6e2baa0e4f53b52a_4_6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6e2baa0e4f53b52a_4_6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6e2baa0e4f53b52a_4_6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6e2baa0e4f53b52a_4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6e2baa0e4f53b52a_4_6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6e2baa0e4f53b52a_4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6e2baa0e4f53b52a_4_13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h6e2baa0e4f53b52a_4_13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6e2baa0e4f53b52a_4_13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h6e2baa0e4f53b52a_4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h6e2baa0e4f53b52a_4_13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h6e2baa0e4f53b52a_4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6e2baa0e4f53b52a_43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6e2baa0e4f53b52a_43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6e2baa0e4f53b52a_43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6e2baa0e4f53b52a_43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h6e2baa0e4f53b52a_43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h6e2baa0e4f53b52a_43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6e2baa0e4f53b52a_43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h6e2baa0e4f53b52a_43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h6e2baa0e4f53b52a_43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6e2baa0e4f53b52a_43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h6e2baa0e4f53b52a_43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6e2baa0e4f53b52a_43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6e2baa0e4f53b52a_43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h6e2baa0e4f53b52a_43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h6e2baa0e4f53b52a_43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88ad8e03_36_0)">
  <p:cSld name="Generated (g3fb88ad8e03_36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187350" y="7820575"/>
            <a:ext cx="64998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980A6"/>
                </a:solidFill>
              </a:rPr>
              <a:t>BNY CAPSTONE</a:t>
            </a:r>
            <a:endParaRPr b="1" sz="1800">
              <a:solidFill>
                <a:srgbClr val="5980A6"/>
              </a:solidFill>
            </a:endParaRPr>
          </a:p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Arial"/>
                <a:ea typeface="Arial"/>
                <a:cs typeface="Arial"/>
                <a:sym typeface="Arial"/>
              </a:rPr>
              <a:t>CORPORATE ACTION INTELLIGENCE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904663" y="2965435"/>
            <a:ext cx="177591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600"/>
              <a:buFont typeface="Arial"/>
              <a:buNone/>
            </a:pPr>
            <a:r>
              <a:rPr b="1" i="0" lang="en-US" sz="21600" u="none" cap="none" strike="noStrike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1143000" y="8755380"/>
            <a:ext cx="1468029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2649022" y="8755380"/>
            <a:ext cx="124301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2868573" y="8755380"/>
            <a:ext cx="2134267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Pranshul Bhatnagar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80265" y="8755380"/>
            <a:ext cx="124301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199817" y="8755380"/>
            <a:ext cx="729139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Alex 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024206" y="8755380"/>
            <a:ext cx="124301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243757" y="8755380"/>
            <a:ext cx="1399139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Kedar Vaidya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687151" y="8755380"/>
            <a:ext cx="124301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906703" y="8755380"/>
            <a:ext cx="1259919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978456" y="2514600"/>
            <a:ext cx="440055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95494" y="7132320"/>
            <a:ext cx="7828526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Evaluation framework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9372600" y="7585710"/>
            <a:ext cx="8005572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1143000" y="754380"/>
            <a:ext cx="3107888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EVALUATION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KPIs: accuracy, latency and cost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1143000" y="3268980"/>
            <a:ext cx="10557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9372600" y="3268980"/>
            <a:ext cx="921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13487400" y="3268980"/>
            <a:ext cx="561142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1143000" y="4116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Detection F1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43000" y="4613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Right event and type; few false alarms</a:t>
            </a: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. Precision, recall, and F1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1143000" y="6402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Escalation precision</a:t>
            </a:r>
            <a:endParaRPr sz="950"/>
          </a:p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t/>
            </a:r>
            <a:endParaRPr b="1" sz="255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143000" y="6899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Share of events routed to a human that actually had an error</a:t>
            </a:r>
            <a:endParaRPr sz="950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sz="21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5257800" y="4116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Event-level accuracy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257800" y="4613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Every critical field correct; safe to automate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257800" y="6402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High-confidence error 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257800" y="6899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Auto-processed events that were wrong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372600" y="4116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Processing latency</a:t>
            </a:r>
            <a:endParaRPr b="1" sz="255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372600" y="4613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Time that takes to turn one announcement into a finished record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372600" y="6402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372600" y="6899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3487400" y="4116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 per document</a:t>
            </a:r>
            <a:endParaRPr b="1" sz="255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t/>
            </a:r>
            <a:endParaRPr b="1" sz="255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3487400" y="4613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Tokens in and out × list price, plus OCR, for one pipeline configuration</a:t>
            </a:r>
            <a:endParaRPr sz="950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sz="21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3487400" y="6402705"/>
            <a:ext cx="402336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lang="en-US" sz="255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 per correct event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3487400" y="6899910"/>
            <a:ext cx="3767328" cy="68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Cost per document ÷ event accuracy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43000" y="8042910"/>
            <a:ext cx="1760220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Reported per event type; accuracy and cost always shown together.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6"/>
          <p:cNvCxnSpPr/>
          <p:nvPr/>
        </p:nvCxnSpPr>
        <p:spPr>
          <a:xfrm>
            <a:off x="9006386" y="3268981"/>
            <a:ext cx="37500" cy="39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6"/>
          <p:cNvCxnSpPr/>
          <p:nvPr/>
        </p:nvCxnSpPr>
        <p:spPr>
          <a:xfrm>
            <a:off x="13102436" y="3217006"/>
            <a:ext cx="37500" cy="39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6"/>
          <p:cNvCxnSpPr/>
          <p:nvPr/>
        </p:nvCxnSpPr>
        <p:spPr>
          <a:xfrm>
            <a:off x="887086" y="3467106"/>
            <a:ext cx="37500" cy="39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7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75" name="Google Shape;75;p7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7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End-to-End Event Representation Pipeline Flow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1047750" y="2428950"/>
            <a:ext cx="3619500" cy="2000100"/>
            <a:chOff x="0" y="0"/>
            <a:chExt cx="3619500" cy="2000100"/>
          </a:xfrm>
        </p:grpSpPr>
        <p:sp>
          <p:nvSpPr>
            <p:cNvPr id="78" name="Google Shape;78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80" name="Google Shape;80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SEC Metadata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Initial discovery and indexing via SEC EFTS payload.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82" name="Google Shape;82;p7"/>
          <p:cNvGrpSpPr/>
          <p:nvPr/>
        </p:nvGrpSpPr>
        <p:grpSpPr>
          <a:xfrm>
            <a:off x="5238750" y="2428950"/>
            <a:ext cx="3619500" cy="2000100"/>
            <a:chOff x="0" y="0"/>
            <a:chExt cx="3619500" cy="2000100"/>
          </a:xfrm>
        </p:grpSpPr>
        <p:sp>
          <p:nvSpPr>
            <p:cNvPr id="83" name="Google Shape;83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85" name="Google Shape;85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Retrieve Filing Bundle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86" name="Google Shape;86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Fetch complete source documents and exhibits from SEC EDGAR.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87" name="Google Shape;87;p7"/>
          <p:cNvGrpSpPr/>
          <p:nvPr/>
        </p:nvGrpSpPr>
        <p:grpSpPr>
          <a:xfrm>
            <a:off x="9429750" y="2428950"/>
            <a:ext cx="3619500" cy="2000100"/>
            <a:chOff x="0" y="0"/>
            <a:chExt cx="3619500" cy="2000100"/>
          </a:xfrm>
        </p:grpSpPr>
        <p:sp>
          <p:nvSpPr>
            <p:cNvPr id="88" name="Google Shape;88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03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0" name="Google Shape;90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Normalize Documents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Convert raw HTML into clean, searchable plain 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3620750" y="2428950"/>
            <a:ext cx="3619500" cy="2000100"/>
            <a:chOff x="0" y="0"/>
            <a:chExt cx="3619500" cy="2000100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04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5" name="Google Shape;95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Extract Candidate Facts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6" name="Google Shape;96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AI layer (GliNER) extracts structured candidate fact payloads.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1047750" y="5857950"/>
            <a:ext cx="3619500" cy="2000100"/>
            <a:chOff x="0" y="0"/>
            <a:chExt cx="3619500" cy="2000100"/>
          </a:xfrm>
        </p:grpSpPr>
        <p:sp>
          <p:nvSpPr>
            <p:cNvPr id="98" name="Google Shape;98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chemeClr val="lt1"/>
            </a:solidFill>
            <a:ln cap="flat" cmpd="sng" w="1905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05</a:t>
              </a:r>
              <a:endParaRPr b="1" sz="238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00" name="Google Shape;100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Concise Rep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01" name="Google Shape;101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Compact event representation preserving evidence &amp; context.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5238750" y="5857950"/>
            <a:ext cx="3619500" cy="2000100"/>
            <a:chOff x="0" y="0"/>
            <a:chExt cx="3619500" cy="2000100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06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Reason / Verify / Resolve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Process amendments and resolve canonical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07" name="Google Shape;107;p7"/>
          <p:cNvGrpSpPr/>
          <p:nvPr/>
        </p:nvGrpSpPr>
        <p:grpSpPr>
          <a:xfrm>
            <a:off x="9429750" y="5857950"/>
            <a:ext cx="3619500" cy="2000100"/>
            <a:chOff x="0" y="0"/>
            <a:chExt cx="3619500" cy="2000100"/>
          </a:xfrm>
        </p:grpSpPr>
        <p:sp>
          <p:nvSpPr>
            <p:cNvPr id="108" name="Google Shape;108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07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Canonical Event State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1" name="Google Shape;111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Single source of truth for verified corporate action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12" name="Google Shape;112;p7"/>
          <p:cNvGrpSpPr/>
          <p:nvPr/>
        </p:nvGrpSpPr>
        <p:grpSpPr>
          <a:xfrm>
            <a:off x="13620750" y="5857950"/>
            <a:ext cx="3619500" cy="2000100"/>
            <a:chOff x="0" y="0"/>
            <a:chExt cx="3619500" cy="2000100"/>
          </a:xfrm>
        </p:grpSpPr>
        <p:sp>
          <p:nvSpPr>
            <p:cNvPr id="113" name="Google Shape;113;p7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08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5" name="Google Shape;115;p7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BNY Client Notification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Enriched internal context integrated for downstream alerts.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5143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9334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13525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7975" y="5134050"/>
            <a:ext cx="631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2809875" y="576270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5143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9334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13525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7"/>
          <p:cNvGrpSpPr/>
          <p:nvPr/>
        </p:nvGrpSpPr>
        <p:grpSpPr>
          <a:xfrm>
            <a:off x="1028700" y="8477250"/>
            <a:ext cx="16230600" cy="666900"/>
            <a:chOff x="0" y="0"/>
            <a:chExt cx="16230600" cy="666900"/>
          </a:xfrm>
        </p:grpSpPr>
        <p:sp>
          <p:nvSpPr>
            <p:cNvPr id="132" name="Google Shape;132;p7"/>
            <p:cNvSpPr/>
            <p:nvPr/>
          </p:nvSpPr>
          <p:spPr>
            <a:xfrm>
              <a:off x="0" y="0"/>
              <a:ext cx="16230600" cy="666900"/>
            </a:xfrm>
            <a:prstGeom prst="roundRect">
              <a:avLst>
                <a:gd fmla="val 17142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 txBox="1"/>
            <p:nvPr/>
          </p:nvSpPr>
          <p:spPr>
            <a:xfrm>
              <a:off x="190500" y="95250"/>
              <a:ext cx="1584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3445"/>
                  </a:solidFill>
                  <a:latin typeface="Barlow"/>
                  <a:ea typeface="Barlow"/>
                  <a:cs typeface="Barlow"/>
                  <a:sym typeface="Barlow"/>
                </a:rPr>
                <a:t>Takeaway: We separate raw public data, candidate extraction, verified event state, and BNY-specific enrichment before producing the client notification.</a:t>
              </a:r>
              <a:endParaRPr b="1" sz="1800">
                <a:solidFill>
                  <a:srgbClr val="1F3445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9222150" y="4432127"/>
            <a:ext cx="7579200" cy="7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8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144" name="Google Shape;144;p8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5" name="Google Shape;145;p8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End-to-End Event Representation Pipeline Flow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1047750" y="2428950"/>
            <a:ext cx="3619500" cy="2000100"/>
            <a:chOff x="0" y="0"/>
            <a:chExt cx="3619500" cy="2000100"/>
          </a:xfrm>
        </p:grpSpPr>
        <p:sp>
          <p:nvSpPr>
            <p:cNvPr id="147" name="Google Shape;147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D9EAD3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49" name="Google Shape;149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SEC Metadata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Initial discovery and indexing via SEC EFTS payload.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5238750" y="2428950"/>
            <a:ext cx="3619500" cy="2000100"/>
            <a:chOff x="0" y="0"/>
            <a:chExt cx="3619500" cy="20001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D9EAD3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Retrieve Filing Bundle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5" name="Google Shape;155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Fetch complete source documents and exhibits from SEC EDGAR.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56" name="Google Shape;156;p8"/>
          <p:cNvGrpSpPr/>
          <p:nvPr/>
        </p:nvGrpSpPr>
        <p:grpSpPr>
          <a:xfrm>
            <a:off x="9429750" y="2428950"/>
            <a:ext cx="3619500" cy="2000100"/>
            <a:chOff x="0" y="0"/>
            <a:chExt cx="3619500" cy="2000100"/>
          </a:xfrm>
        </p:grpSpPr>
        <p:sp>
          <p:nvSpPr>
            <p:cNvPr id="157" name="Google Shape;157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03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Normalize Documents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60" name="Google Shape;160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Convert raw HTML into clean, searchable plain 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13620750" y="2428950"/>
            <a:ext cx="3619500" cy="2000100"/>
            <a:chOff x="0" y="0"/>
            <a:chExt cx="3619500" cy="2000100"/>
          </a:xfrm>
        </p:grpSpPr>
        <p:sp>
          <p:nvSpPr>
            <p:cNvPr id="162" name="Google Shape;162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04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64" name="Google Shape;164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Extract Candidate Facts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65" name="Google Shape;165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AI layer (GliNER) extracts structured candidate fact payloads.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66" name="Google Shape;166;p8"/>
          <p:cNvGrpSpPr/>
          <p:nvPr/>
        </p:nvGrpSpPr>
        <p:grpSpPr>
          <a:xfrm>
            <a:off x="1047750" y="5857950"/>
            <a:ext cx="3619500" cy="2000100"/>
            <a:chOff x="0" y="0"/>
            <a:chExt cx="3619500" cy="2000100"/>
          </a:xfrm>
        </p:grpSpPr>
        <p:sp>
          <p:nvSpPr>
            <p:cNvPr id="167" name="Google Shape;167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chemeClr val="lt1"/>
            </a:solidFill>
            <a:ln cap="flat" cmpd="sng" w="1905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05</a:t>
              </a:r>
              <a:endParaRPr b="1" sz="238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69" name="Google Shape;169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Concise Rep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Compact event representation preserving evidence &amp; context.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38750" y="5857950"/>
            <a:ext cx="3619500" cy="2000100"/>
            <a:chOff x="0" y="0"/>
            <a:chExt cx="3619500" cy="2000100"/>
          </a:xfrm>
        </p:grpSpPr>
        <p:sp>
          <p:nvSpPr>
            <p:cNvPr id="172" name="Google Shape;172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06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Reason / Verify / Resolve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Process amendments and resolve canonical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9429750" y="5857950"/>
            <a:ext cx="3619500" cy="2000100"/>
            <a:chOff x="0" y="0"/>
            <a:chExt cx="3619500" cy="2000100"/>
          </a:xfrm>
        </p:grpSpPr>
        <p:sp>
          <p:nvSpPr>
            <p:cNvPr id="177" name="Google Shape;177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07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Canonical Event State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Single source of truth for verified corporate action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13620750" y="5857950"/>
            <a:ext cx="3619500" cy="2000100"/>
            <a:chOff x="0" y="0"/>
            <a:chExt cx="3619500" cy="2000100"/>
          </a:xfrm>
        </p:grpSpPr>
        <p:sp>
          <p:nvSpPr>
            <p:cNvPr id="182" name="Google Shape;182;p8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08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BNY Client Notification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Enriched internal context integrated for downstream alerts.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pic>
        <p:nvPicPr>
          <p:cNvPr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5143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9334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13525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7975" y="5134050"/>
            <a:ext cx="631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2809875" y="576270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5143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9334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13525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1028700" y="8477250"/>
            <a:ext cx="16230600" cy="666900"/>
            <a:chOff x="0" y="0"/>
            <a:chExt cx="16230600" cy="666900"/>
          </a:xfrm>
        </p:grpSpPr>
        <p:sp>
          <p:nvSpPr>
            <p:cNvPr id="201" name="Google Shape;201;p8"/>
            <p:cNvSpPr/>
            <p:nvPr/>
          </p:nvSpPr>
          <p:spPr>
            <a:xfrm>
              <a:off x="0" y="0"/>
              <a:ext cx="16230600" cy="666900"/>
            </a:xfrm>
            <a:prstGeom prst="roundRect">
              <a:avLst>
                <a:gd fmla="val 17142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 txBox="1"/>
            <p:nvPr/>
          </p:nvSpPr>
          <p:spPr>
            <a:xfrm>
              <a:off x="190500" y="95250"/>
              <a:ext cx="1584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3445"/>
                  </a:solidFill>
                  <a:latin typeface="Barlow"/>
                  <a:ea typeface="Barlow"/>
                  <a:cs typeface="Barlow"/>
                  <a:sym typeface="Barlow"/>
                </a:rPr>
                <a:t>Takeaway: We separate raw public data, candidate extraction, verified event state, and BNY-specific enrichment before producing the client notification.</a:t>
              </a:r>
              <a:endParaRPr b="1" sz="1800">
                <a:solidFill>
                  <a:srgbClr val="1F3445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9222150" y="4432127"/>
            <a:ext cx="7579200" cy="7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9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213" name="Google Shape;213;p9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4" name="Google Shape;214;p9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Files Retrieval Accuracy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215" name="Google Shape;215;p9"/>
          <p:cNvGrpSpPr/>
          <p:nvPr/>
        </p:nvGrpSpPr>
        <p:grpSpPr>
          <a:xfrm>
            <a:off x="1028700" y="2095500"/>
            <a:ext cx="16230600" cy="2190900"/>
            <a:chOff x="0" y="0"/>
            <a:chExt cx="16230600" cy="2190900"/>
          </a:xfrm>
        </p:grpSpPr>
        <p:sp>
          <p:nvSpPr>
            <p:cNvPr id="216" name="Google Shape;216;p9"/>
            <p:cNvSpPr/>
            <p:nvPr/>
          </p:nvSpPr>
          <p:spPr>
            <a:xfrm>
              <a:off x="0" y="0"/>
              <a:ext cx="16230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7" name="Google Shape;217;p9"/>
            <p:cNvGrpSpPr/>
            <p:nvPr/>
          </p:nvGrpSpPr>
          <p:grpSpPr>
            <a:xfrm>
              <a:off x="285750" y="228600"/>
              <a:ext cx="15659100" cy="381000"/>
              <a:chOff x="0" y="0"/>
              <a:chExt cx="15659100" cy="381000"/>
            </a:xfrm>
          </p:grpSpPr>
          <p:sp>
            <p:nvSpPr>
              <p:cNvPr id="218" name="Google Shape;218;p9"/>
              <p:cNvSpPr/>
              <p:nvPr/>
            </p:nvSpPr>
            <p:spPr>
              <a:xfrm>
                <a:off x="0" y="0"/>
                <a:ext cx="1565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9"/>
              <p:cNvSpPr txBox="1"/>
              <p:nvPr/>
            </p:nvSpPr>
            <p:spPr>
              <a:xfrm>
                <a:off x="0" y="0"/>
                <a:ext cx="15659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TARGET PIPELINE STAGES FOR EVALUATION</a:t>
                </a:r>
                <a:endParaRPr b="1" sz="22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</p:txBody>
          </p:sp>
        </p:grpSp>
        <p:grpSp>
          <p:nvGrpSpPr>
            <p:cNvPr id="220" name="Google Shape;220;p9"/>
            <p:cNvGrpSpPr/>
            <p:nvPr/>
          </p:nvGrpSpPr>
          <p:grpSpPr>
            <a:xfrm>
              <a:off x="381000" y="714375"/>
              <a:ext cx="7524900" cy="1190700"/>
              <a:chOff x="0" y="0"/>
              <a:chExt cx="7524900" cy="1190700"/>
            </a:xfrm>
          </p:grpSpPr>
          <p:sp>
            <p:nvSpPr>
              <p:cNvPr id="221" name="Google Shape;221;p9"/>
              <p:cNvSpPr/>
              <p:nvPr/>
            </p:nvSpPr>
            <p:spPr>
              <a:xfrm>
                <a:off x="0" y="0"/>
                <a:ext cx="75249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0F766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9"/>
              <p:cNvSpPr txBox="1"/>
              <p:nvPr/>
            </p:nvSpPr>
            <p:spPr>
              <a:xfrm>
                <a:off x="190500" y="142875"/>
                <a:ext cx="71439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01 · SEC Metadata </a:t>
                </a:r>
                <a:endParaRPr sz="13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Initial discovery and indexing via SEC EFTS payload.</a:t>
                </a:r>
                <a:endParaRPr b="1" sz="20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8324850" y="714375"/>
              <a:ext cx="7524900" cy="1190700"/>
              <a:chOff x="0" y="0"/>
              <a:chExt cx="7524900" cy="1190700"/>
            </a:xfrm>
          </p:grpSpPr>
          <p:sp>
            <p:nvSpPr>
              <p:cNvPr id="224" name="Google Shape;224;p9"/>
              <p:cNvSpPr/>
              <p:nvPr/>
            </p:nvSpPr>
            <p:spPr>
              <a:xfrm>
                <a:off x="0" y="0"/>
                <a:ext cx="75249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0F766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9"/>
              <p:cNvSpPr txBox="1"/>
              <p:nvPr/>
            </p:nvSpPr>
            <p:spPr>
              <a:xfrm>
                <a:off x="190500" y="142875"/>
                <a:ext cx="71439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02 · Retrieve Filing Bundle </a:t>
                </a:r>
                <a:endParaRPr b="1" sz="20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Fetch complete source documents and exhibits from SEC EDGAR.</a:t>
                </a:r>
                <a:endParaRPr b="1" sz="20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</p:txBody>
          </p:sp>
        </p:grpSp>
      </p:grpSp>
      <p:grpSp>
        <p:nvGrpSpPr>
          <p:cNvPr id="226" name="Google Shape;226;p9"/>
          <p:cNvGrpSpPr/>
          <p:nvPr/>
        </p:nvGrpSpPr>
        <p:grpSpPr>
          <a:xfrm>
            <a:off x="1028700" y="4572000"/>
            <a:ext cx="16230600" cy="4953000"/>
            <a:chOff x="0" y="0"/>
            <a:chExt cx="16230600" cy="4953000"/>
          </a:xfrm>
        </p:grpSpPr>
        <p:sp>
          <p:nvSpPr>
            <p:cNvPr id="227" name="Google Shape;227;p9"/>
            <p:cNvSpPr/>
            <p:nvPr/>
          </p:nvSpPr>
          <p:spPr>
            <a:xfrm>
              <a:off x="0" y="0"/>
              <a:ext cx="16230600" cy="4953000"/>
            </a:xfrm>
            <a:prstGeom prst="roundRect">
              <a:avLst>
                <a:gd fmla="val 2307" name="adj"/>
              </a:avLst>
            </a:prstGeom>
            <a:solidFill>
              <a:srgbClr val="FFFFFF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9"/>
            <p:cNvGrpSpPr/>
            <p:nvPr/>
          </p:nvGrpSpPr>
          <p:grpSpPr>
            <a:xfrm>
              <a:off x="381000" y="285750"/>
              <a:ext cx="15468600" cy="381000"/>
              <a:chOff x="0" y="0"/>
              <a:chExt cx="15468600" cy="381000"/>
            </a:xfrm>
          </p:grpSpPr>
          <p:sp>
            <p:nvSpPr>
              <p:cNvPr id="229" name="Google Shape;229;p9"/>
              <p:cNvSpPr/>
              <p:nvPr/>
            </p:nvSpPr>
            <p:spPr>
              <a:xfrm>
                <a:off x="0" y="0"/>
                <a:ext cx="154686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9"/>
              <p:cNvSpPr txBox="1"/>
              <p:nvPr/>
            </p:nvSpPr>
            <p:spPr>
              <a:xfrm>
                <a:off x="0" y="0"/>
                <a:ext cx="15468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EVALUATION METHODOLOGY: FILING DISCOVERY RECALL</a:t>
                </a:r>
                <a:endParaRPr b="1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</p:txBody>
          </p:sp>
        </p:grpSp>
        <p:grpSp>
          <p:nvGrpSpPr>
            <p:cNvPr id="231" name="Google Shape;231;p9"/>
            <p:cNvGrpSpPr/>
            <p:nvPr/>
          </p:nvGrpSpPr>
          <p:grpSpPr>
            <a:xfrm>
              <a:off x="381000" y="857250"/>
              <a:ext cx="7524900" cy="3714900"/>
              <a:chOff x="0" y="0"/>
              <a:chExt cx="7524900" cy="3714900"/>
            </a:xfrm>
          </p:grpSpPr>
          <p:sp>
            <p:nvSpPr>
              <p:cNvPr id="232" name="Google Shape;232;p9"/>
              <p:cNvSpPr/>
              <p:nvPr/>
            </p:nvSpPr>
            <p:spPr>
              <a:xfrm>
                <a:off x="0" y="0"/>
                <a:ext cx="7524900" cy="3714900"/>
              </a:xfrm>
              <a:prstGeom prst="roundRect">
                <a:avLst>
                  <a:gd fmla="val 256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9"/>
              <p:cNvSpPr txBox="1"/>
              <p:nvPr/>
            </p:nvSpPr>
            <p:spPr>
              <a:xfrm>
                <a:off x="285750" y="238125"/>
                <a:ext cx="69534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300">
                    <a:solidFill>
                      <a:srgbClr val="41618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Failure Mode &amp; Recall Metric</a:t>
                </a:r>
                <a:endParaRPr b="1" sz="230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E293B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What could go wrong: </a:t>
                </a:r>
                <a:r>
                  <a:rPr b="0" lang="en-US" sz="16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We simply never find a relevant filing — a tender offer never enters our pipeline at all.</a:t>
                </a:r>
                <a:endParaRPr b="0" sz="1600">
                  <a:solidFill>
                    <a:srgbClr val="1E293B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3730A3"/>
                    </a:solidFill>
                    <a:highlight>
                      <a:srgbClr val="EEF2FF"/>
                    </a:highlight>
                    <a:latin typeface="Barlow"/>
                    <a:ea typeface="Barlow"/>
                    <a:cs typeface="Barlow"/>
                    <a:sym typeface="Barlow"/>
                  </a:rPr>
                  <a:t>Metric: Filing Discovery Recall</a:t>
                </a:r>
                <a:endParaRPr b="1" sz="1500">
                  <a:solidFill>
                    <a:srgbClr val="3730A3"/>
                  </a:solidFill>
                  <a:highlight>
                    <a:srgbClr val="EEF2FF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>
                    <a:solidFill>
                      <a:srgbClr val="1E1B4B"/>
                    </a:solidFill>
                    <a:highlight>
                      <a:srgbClr val="EEF2FF"/>
                    </a:highlight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Discovery Recall = (relevant filings found by system) / (relevant filings existing in EDGAR)</a:t>
                </a:r>
                <a:endParaRPr b="0">
                  <a:solidFill>
                    <a:srgbClr val="1E1B4B"/>
                  </a:solidFill>
                  <a:highlight>
                    <a:srgbClr val="EEF2FF"/>
                  </a:highlight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Surfacing completeness is directly benchmarked without requiring subjective evaluation or manual tagging.</a:t>
                </a:r>
                <a:endParaRPr b="0" sz="15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234" name="Google Shape;234;p9"/>
            <p:cNvGrpSpPr/>
            <p:nvPr/>
          </p:nvGrpSpPr>
          <p:grpSpPr>
            <a:xfrm>
              <a:off x="8324850" y="857250"/>
              <a:ext cx="7524900" cy="3714900"/>
              <a:chOff x="0" y="0"/>
              <a:chExt cx="7524900" cy="3714900"/>
            </a:xfrm>
          </p:grpSpPr>
          <p:sp>
            <p:nvSpPr>
              <p:cNvPr id="235" name="Google Shape;235;p9"/>
              <p:cNvSpPr/>
              <p:nvPr/>
            </p:nvSpPr>
            <p:spPr>
              <a:xfrm>
                <a:off x="0" y="0"/>
                <a:ext cx="7524900" cy="3714900"/>
              </a:xfrm>
              <a:prstGeom prst="roundRect">
                <a:avLst>
                  <a:gd fmla="val 256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9"/>
              <p:cNvSpPr txBox="1"/>
              <p:nvPr/>
            </p:nvSpPr>
            <p:spPr>
              <a:xfrm>
                <a:off x="285750" y="238125"/>
                <a:ext cx="69534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300">
                    <a:solidFill>
                      <a:srgbClr val="41618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Ground Truth Source (No Manual Annotation)</a:t>
                </a:r>
                <a:endParaRPr b="1" sz="200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EDGAR itself publishes the authoritative denominator for this metric via two official sources:</a:t>
                </a:r>
                <a:endParaRPr b="0" sz="16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-3238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334155"/>
                  </a:buClr>
                  <a:buSzPts val="1500"/>
                  <a:buFont typeface="Barlow"/>
                  <a:buChar char="●"/>
                </a:pPr>
                <a:r>
                  <a:rPr b="1" lang="en-US" sz="1500">
                    <a:solidFill>
                      <a:srgbClr val="0F766E"/>
                    </a:solidFill>
                    <a:latin typeface="Barlow"/>
                    <a:ea typeface="Barlow"/>
                    <a:cs typeface="Barlow"/>
                    <a:sym typeface="Barlow"/>
                  </a:rPr>
                  <a:t>Full-text search:</a:t>
                </a:r>
                <a:r>
                  <a:rPr b="0" lang="en-US" sz="1500">
                    <a:solidFill>
                      <a:srgbClr val="334155"/>
                    </a:solidFill>
                    <a:latin typeface="Barlow"/>
                    <a:ea typeface="Barlow"/>
                    <a:cs typeface="Barlow"/>
                    <a:sym typeface="Barlow"/>
                  </a:rPr>
                  <a:t> (sec.gov/edgar/search/) — Filter by form type &amp; date range in UI to get exact result counts directly.</a:t>
                </a:r>
                <a:endParaRPr b="0" sz="1500">
                  <a:solidFill>
                    <a:srgbClr val="334155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-3238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334155"/>
                  </a:buClr>
                  <a:buSzPts val="1500"/>
                  <a:buFont typeface="Barlow"/>
                  <a:buChar char="●"/>
                </a:pPr>
                <a:r>
                  <a:rPr b="1" lang="en-US" sz="1500">
                    <a:solidFill>
                      <a:srgbClr val="0F766E"/>
                    </a:solidFill>
                    <a:latin typeface="Barlow"/>
                    <a:ea typeface="Barlow"/>
                    <a:cs typeface="Barlow"/>
                    <a:sym typeface="Barlow"/>
                  </a:rPr>
                  <a:t>Full/daily index files:</a:t>
                </a:r>
                <a:r>
                  <a:rPr b="0" lang="en-US" sz="1500">
                    <a:solidFill>
                      <a:srgbClr val="334155"/>
                    </a:solidFill>
                    <a:latin typeface="Barlow"/>
                    <a:ea typeface="Barlow"/>
                    <a:cs typeface="Barlow"/>
                    <a:sym typeface="Barlow"/>
                  </a:rPr>
                  <a:t> (sec.gov/Archives/edgar/) — Master lists of every filing by form type, CIK, company, &amp; date. Automated check capable.</a:t>
                </a:r>
                <a:endParaRPr b="0" sz="1500">
                  <a:solidFill>
                    <a:srgbClr val="334155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0F766E"/>
                    </a:solidFill>
                    <a:highlight>
                      <a:srgbClr val="F0FDF4"/>
                    </a:highlight>
                    <a:latin typeface="Barlow SemiBold"/>
                    <a:ea typeface="Barlow SemiBold"/>
                    <a:cs typeface="Barlow SemiBold"/>
                    <a:sym typeface="Barlow SemiBold"/>
                  </a:rPr>
                  <a:t>Example: Pull official count of e.g. every </a:t>
                </a:r>
                <a:r>
                  <a:rPr b="0" lang="en-US" sz="1500">
                    <a:solidFill>
                      <a:srgbClr val="0F766E"/>
                    </a:solidFill>
                    <a:highlight>
                      <a:srgbClr val="F0FDF4"/>
                    </a:highlight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SC TO-T</a:t>
                </a:r>
                <a:r>
                  <a:rPr b="0" lang="en-US" sz="1500">
                    <a:solidFill>
                      <a:srgbClr val="0F766E"/>
                    </a:solidFill>
                    <a:highlight>
                      <a:srgbClr val="F0FDF4"/>
                    </a:highlight>
                    <a:latin typeface="Barlow SemiBold"/>
                    <a:ea typeface="Barlow SemiBold"/>
                    <a:cs typeface="Barlow SemiBold"/>
                    <a:sym typeface="Barlow SemiBold"/>
                  </a:rPr>
                  <a:t> filed in Q2 2026, compare against Stage 1 surfaced count, and Discovery Recall calculates directly.</a:t>
                </a:r>
                <a:endParaRPr b="0" sz="1500">
                  <a:solidFill>
                    <a:srgbClr val="0F766E"/>
                  </a:solidFill>
                  <a:highlight>
                    <a:srgbClr val="F0FDF4"/>
                  </a:highlight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0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246" name="Google Shape;246;p10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7" name="Google Shape;247;p10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End-to-End Event Representation Pipeline Flow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248" name="Google Shape;248;p10"/>
          <p:cNvGrpSpPr/>
          <p:nvPr/>
        </p:nvGrpSpPr>
        <p:grpSpPr>
          <a:xfrm>
            <a:off x="1038225" y="2419425"/>
            <a:ext cx="3638700" cy="2019300"/>
            <a:chOff x="-9525" y="-9525"/>
            <a:chExt cx="3638700" cy="2019300"/>
          </a:xfrm>
        </p:grpSpPr>
        <p:pic>
          <p:nvPicPr>
            <p:cNvPr id="249" name="Google Shape;24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3638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51" name="Google Shape;251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SEC Metadata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52" name="Google Shape;252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Initial discovery and indexing via SEC EFTS payload.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53" name="Google Shape;253;p10"/>
          <p:cNvGrpSpPr/>
          <p:nvPr/>
        </p:nvGrpSpPr>
        <p:grpSpPr>
          <a:xfrm>
            <a:off x="5229225" y="2419425"/>
            <a:ext cx="3638700" cy="2019300"/>
            <a:chOff x="-9525" y="-9525"/>
            <a:chExt cx="3638700" cy="2019300"/>
          </a:xfrm>
        </p:grpSpPr>
        <p:pic>
          <p:nvPicPr>
            <p:cNvPr id="254" name="Google Shape;25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3638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56" name="Google Shape;256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Retrieve Filing Bundle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57" name="Google Shape;257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Fetch complete source documents and exhibits from SEC EDGAR.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58" name="Google Shape;258;p10"/>
          <p:cNvGrpSpPr/>
          <p:nvPr/>
        </p:nvGrpSpPr>
        <p:grpSpPr>
          <a:xfrm>
            <a:off x="9429750" y="2428950"/>
            <a:ext cx="3619500" cy="2000100"/>
            <a:chOff x="0" y="0"/>
            <a:chExt cx="3619500" cy="2000100"/>
          </a:xfrm>
        </p:grpSpPr>
        <p:sp>
          <p:nvSpPr>
            <p:cNvPr id="259" name="Google Shape;259;p10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0FDF4"/>
            </a:solidFill>
            <a:ln cap="flat" cmpd="sng" w="1905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0" u="none" strike="noStrike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03</a:t>
              </a:r>
              <a:endParaRPr b="1" i="0" sz="2380" u="none" strike="noStrike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Normalize Documents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Convert raw HTML into clean, searchable plain 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13620750" y="2428950"/>
            <a:ext cx="3619500" cy="2000100"/>
            <a:chOff x="0" y="0"/>
            <a:chExt cx="3619500" cy="2000100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0FDF4"/>
            </a:solidFill>
            <a:ln cap="flat" cmpd="sng" w="1905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0" u="none" strike="noStrike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04</a:t>
              </a:r>
              <a:endParaRPr b="1" i="0" sz="2380" u="none" strike="noStrike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66" name="Google Shape;266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Extract Candidate Facts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AI layer (GliNER) extracts structured candidate fact payloads.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268" name="Google Shape;268;p10"/>
          <p:cNvSpPr/>
          <p:nvPr/>
        </p:nvSpPr>
        <p:spPr>
          <a:xfrm>
            <a:off x="1047750" y="5857951"/>
            <a:ext cx="3619500" cy="2000100"/>
          </a:xfrm>
          <a:prstGeom prst="roundRect">
            <a:avLst>
              <a:gd fmla="val 5714" name="adj"/>
            </a:avLst>
          </a:prstGeom>
          <a:solidFill>
            <a:srgbClr val="F0FDF4"/>
          </a:solidFill>
          <a:ln cap="flat" cmpd="sng" w="190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10"/>
          <p:cNvGrpSpPr/>
          <p:nvPr/>
        </p:nvGrpSpPr>
        <p:grpSpPr>
          <a:xfrm>
            <a:off x="1238250" y="6000825"/>
            <a:ext cx="3238500" cy="1667025"/>
            <a:chOff x="190500" y="142875"/>
            <a:chExt cx="3238500" cy="1667025"/>
          </a:xfrm>
        </p:grpSpPr>
        <p:sp>
          <p:nvSpPr>
            <p:cNvPr id="270" name="Google Shape;270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05</a:t>
              </a:r>
              <a:endParaRPr b="1" sz="238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Concise Rep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72" name="Google Shape;272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Compact event representation preserving evidence &amp; context.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73" name="Google Shape;273;p10"/>
          <p:cNvGrpSpPr/>
          <p:nvPr/>
        </p:nvGrpSpPr>
        <p:grpSpPr>
          <a:xfrm>
            <a:off x="5229225" y="5848425"/>
            <a:ext cx="3638700" cy="2019300"/>
            <a:chOff x="-9525" y="-9525"/>
            <a:chExt cx="3638700" cy="2019300"/>
          </a:xfrm>
        </p:grpSpPr>
        <p:pic>
          <p:nvPicPr>
            <p:cNvPr id="274" name="Google Shape;27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3638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06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Reason / Verify / Resolve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77" name="Google Shape;277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Process amendments and resolve canonical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78" name="Google Shape;278;p10"/>
          <p:cNvGrpSpPr/>
          <p:nvPr/>
        </p:nvGrpSpPr>
        <p:grpSpPr>
          <a:xfrm>
            <a:off x="9420225" y="5848425"/>
            <a:ext cx="3638700" cy="2019300"/>
            <a:chOff x="-9525" y="-9525"/>
            <a:chExt cx="3638700" cy="2019300"/>
          </a:xfrm>
        </p:grpSpPr>
        <p:pic>
          <p:nvPicPr>
            <p:cNvPr id="279" name="Google Shape;27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3638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07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81" name="Google Shape;281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Canonical Event State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82" name="Google Shape;282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Single source of truth for verified corporate action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283" name="Google Shape;283;p10"/>
          <p:cNvGrpSpPr/>
          <p:nvPr/>
        </p:nvGrpSpPr>
        <p:grpSpPr>
          <a:xfrm>
            <a:off x="13611225" y="5848425"/>
            <a:ext cx="3638700" cy="2019300"/>
            <a:chOff x="-9525" y="-9525"/>
            <a:chExt cx="3638700" cy="2019300"/>
          </a:xfrm>
        </p:grpSpPr>
        <p:pic>
          <p:nvPicPr>
            <p:cNvPr id="284" name="Google Shape;28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36387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10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08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BNY Client Notification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287" name="Google Shape;287;p10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Enriched internal context integrated for downstream alerts.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pic>
        <p:nvPicPr>
          <p:cNvPr id="288" name="Google Shape;28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"/>
          <p:cNvSpPr/>
          <p:nvPr/>
        </p:nvSpPr>
        <p:spPr>
          <a:xfrm>
            <a:off x="5143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9334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13525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47975" y="5134050"/>
            <a:ext cx="631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2809875" y="576270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43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9334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13525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10"/>
          <p:cNvGrpSpPr/>
          <p:nvPr/>
        </p:nvGrpSpPr>
        <p:grpSpPr>
          <a:xfrm>
            <a:off x="1028700" y="8477250"/>
            <a:ext cx="16230600" cy="666900"/>
            <a:chOff x="0" y="0"/>
            <a:chExt cx="16230600" cy="666900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16230600" cy="666900"/>
            </a:xfrm>
            <a:prstGeom prst="roundRect">
              <a:avLst>
                <a:gd fmla="val 17142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0"/>
            <p:cNvSpPr txBox="1"/>
            <p:nvPr/>
          </p:nvSpPr>
          <p:spPr>
            <a:xfrm>
              <a:off x="190500" y="95250"/>
              <a:ext cx="1584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3445"/>
                  </a:solidFill>
                  <a:latin typeface="Barlow"/>
                  <a:ea typeface="Barlow"/>
                  <a:cs typeface="Barlow"/>
                  <a:sym typeface="Barlow"/>
                </a:rPr>
                <a:t>Takeaway: We separate raw public data, candidate extraction, verified event state, and BNY-specific enrichment before producing the client notification.</a:t>
              </a:r>
              <a:endParaRPr b="1" sz="1800">
                <a:solidFill>
                  <a:srgbClr val="1F3445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305" name="Google Shape;30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9222150" y="4432127"/>
            <a:ext cx="7579200" cy="7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1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315" name="Google Shape;315;p11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6" name="Google Shape;316;p11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End-to-End Event Representation Pipeline Flow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317" name="Google Shape;317;p11"/>
          <p:cNvGrpSpPr/>
          <p:nvPr/>
        </p:nvGrpSpPr>
        <p:grpSpPr>
          <a:xfrm>
            <a:off x="1028700" y="2095500"/>
            <a:ext cx="16230600" cy="2190900"/>
            <a:chOff x="0" y="0"/>
            <a:chExt cx="16230600" cy="2190900"/>
          </a:xfrm>
        </p:grpSpPr>
        <p:sp>
          <p:nvSpPr>
            <p:cNvPr id="318" name="Google Shape;318;p11"/>
            <p:cNvSpPr/>
            <p:nvPr/>
          </p:nvSpPr>
          <p:spPr>
            <a:xfrm>
              <a:off x="0" y="0"/>
              <a:ext cx="16230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 txBox="1"/>
            <p:nvPr/>
          </p:nvSpPr>
          <p:spPr>
            <a:xfrm>
              <a:off x="285750" y="228600"/>
              <a:ext cx="1565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TARGET PIPELINE STAGES FOR EVALUATION</a:t>
              </a:r>
              <a:endParaRPr b="1" sz="220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grpSp>
          <p:nvGrpSpPr>
            <p:cNvPr id="320" name="Google Shape;320;p11"/>
            <p:cNvGrpSpPr/>
            <p:nvPr/>
          </p:nvGrpSpPr>
          <p:grpSpPr>
            <a:xfrm>
              <a:off x="285750" y="714375"/>
              <a:ext cx="4953000" cy="1190700"/>
              <a:chOff x="0" y="0"/>
              <a:chExt cx="4953000" cy="1190700"/>
            </a:xfrm>
          </p:grpSpPr>
          <p:sp>
            <p:nvSpPr>
              <p:cNvPr id="321" name="Google Shape;321;p11"/>
              <p:cNvSpPr/>
              <p:nvPr/>
            </p:nvSpPr>
            <p:spPr>
              <a:xfrm>
                <a:off x="0" y="0"/>
                <a:ext cx="49530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0F766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1"/>
              <p:cNvSpPr txBox="1"/>
              <p:nvPr/>
            </p:nvSpPr>
            <p:spPr>
              <a:xfrm>
                <a:off x="190500" y="142875"/>
                <a:ext cx="4572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03 · Normalize Documents</a:t>
                </a:r>
                <a:r>
                  <a:rPr lang="en-US">
                    <a:latin typeface="Barlow"/>
                    <a:ea typeface="Barlow"/>
                    <a:cs typeface="Barlow"/>
                    <a:sym typeface="Barlow"/>
                  </a:rPr>
                  <a:t> 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Clean plain-text conversion from raw HTML SEC filings.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323" name="Google Shape;323;p11"/>
            <p:cNvGrpSpPr/>
            <p:nvPr/>
          </p:nvGrpSpPr>
          <p:grpSpPr>
            <a:xfrm>
              <a:off x="5638800" y="714375"/>
              <a:ext cx="4953000" cy="1190700"/>
              <a:chOff x="0" y="0"/>
              <a:chExt cx="4953000" cy="1190700"/>
            </a:xfrm>
          </p:grpSpPr>
          <p:sp>
            <p:nvSpPr>
              <p:cNvPr id="324" name="Google Shape;324;p11"/>
              <p:cNvSpPr/>
              <p:nvPr/>
            </p:nvSpPr>
            <p:spPr>
              <a:xfrm>
                <a:off x="0" y="0"/>
                <a:ext cx="49530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0F766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1"/>
              <p:cNvSpPr txBox="1"/>
              <p:nvPr/>
            </p:nvSpPr>
            <p:spPr>
              <a:xfrm>
                <a:off x="190500" y="142875"/>
                <a:ext cx="4572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04 · Extract Candidate Facts</a:t>
                </a:r>
                <a:r>
                  <a:rPr lang="en-US">
                    <a:latin typeface="Barlow"/>
                    <a:ea typeface="Barlow"/>
                    <a:cs typeface="Barlow"/>
                    <a:sym typeface="Barlow"/>
                  </a:rPr>
                  <a:t> 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Structured candidate fact payloads extracted via AI layer (GliNER).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326" name="Google Shape;326;p11"/>
            <p:cNvGrpSpPr/>
            <p:nvPr/>
          </p:nvGrpSpPr>
          <p:grpSpPr>
            <a:xfrm>
              <a:off x="10991850" y="714375"/>
              <a:ext cx="4953000" cy="1190700"/>
              <a:chOff x="0" y="0"/>
              <a:chExt cx="4953000" cy="1190700"/>
            </a:xfrm>
          </p:grpSpPr>
          <p:sp>
            <p:nvSpPr>
              <p:cNvPr id="327" name="Google Shape;327;p11"/>
              <p:cNvSpPr/>
              <p:nvPr/>
            </p:nvSpPr>
            <p:spPr>
              <a:xfrm>
                <a:off x="0" y="0"/>
                <a:ext cx="49530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0F766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1"/>
              <p:cNvSpPr txBox="1"/>
              <p:nvPr/>
            </p:nvSpPr>
            <p:spPr>
              <a:xfrm>
                <a:off x="190500" y="142875"/>
                <a:ext cx="45720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05 · Tender Concise Rep</a:t>
                </a:r>
                <a:r>
                  <a:rPr lang="en-US">
                    <a:latin typeface="Barlow"/>
                    <a:ea typeface="Barlow"/>
                    <a:cs typeface="Barlow"/>
                    <a:sym typeface="Barlow"/>
                  </a:rPr>
                  <a:t> 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Compact event representation preserving evidence &amp; context.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29" name="Google Shape;329;p11"/>
          <p:cNvGrpSpPr/>
          <p:nvPr/>
        </p:nvGrpSpPr>
        <p:grpSpPr>
          <a:xfrm>
            <a:off x="1028700" y="4572000"/>
            <a:ext cx="16230600" cy="3619500"/>
            <a:chOff x="0" y="0"/>
            <a:chExt cx="16230600" cy="3619500"/>
          </a:xfrm>
        </p:grpSpPr>
        <p:sp>
          <p:nvSpPr>
            <p:cNvPr id="330" name="Google Shape;330;p11"/>
            <p:cNvSpPr/>
            <p:nvPr/>
          </p:nvSpPr>
          <p:spPr>
            <a:xfrm>
              <a:off x="0" y="0"/>
              <a:ext cx="162306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 txBox="1"/>
            <p:nvPr/>
          </p:nvSpPr>
          <p:spPr>
            <a:xfrm>
              <a:off x="381000" y="285750"/>
              <a:ext cx="1546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EVALUATION METHODOLOGY: LLM BACKWARD VALIDATION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grpSp>
          <p:nvGrpSpPr>
            <p:cNvPr id="332" name="Google Shape;332;p11"/>
            <p:cNvGrpSpPr/>
            <p:nvPr/>
          </p:nvGrpSpPr>
          <p:grpSpPr>
            <a:xfrm>
              <a:off x="381000" y="857250"/>
              <a:ext cx="7429500" cy="2333700"/>
              <a:chOff x="0" y="0"/>
              <a:chExt cx="7429500" cy="2333700"/>
            </a:xfrm>
          </p:grpSpPr>
          <p:sp>
            <p:nvSpPr>
              <p:cNvPr id="333" name="Google Shape;333;p11"/>
              <p:cNvSpPr/>
              <p:nvPr/>
            </p:nvSpPr>
            <p:spPr>
              <a:xfrm>
                <a:off x="0" y="0"/>
                <a:ext cx="74295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1"/>
              <p:cNvSpPr txBox="1"/>
              <p:nvPr/>
            </p:nvSpPr>
            <p:spPr>
              <a:xfrm>
                <a:off x="285750" y="238125"/>
                <a:ext cx="68580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41618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Human-Like Verification Approach</a:t>
                </a:r>
                <a:endParaRPr b="1" sz="220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Evaluates extracted corporate action fields by leveraging LLMs to inspect the source document retrospectively.</a:t>
                </a:r>
                <a:endParaRPr sz="16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334155"/>
                  </a:buClr>
                  <a:buSzPts val="1500"/>
                  <a:buFont typeface="Barlow"/>
                  <a:buChar char="●"/>
                </a:pPr>
                <a:r>
                  <a:rPr lang="en-US" sz="1500">
                    <a:solidFill>
                      <a:srgbClr val="334155"/>
                    </a:solidFill>
                    <a:latin typeface="Barlow"/>
                    <a:ea typeface="Barlow"/>
                    <a:cs typeface="Barlow"/>
                    <a:sym typeface="Barlow"/>
                  </a:rPr>
                  <a:t>Mimics how human domain experts verify structured facts against raw source text.</a:t>
                </a:r>
                <a:endParaRPr sz="1500">
                  <a:solidFill>
                    <a:srgbClr val="334155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1500"/>
                  <a:buFont typeface="Barlow"/>
                  <a:buChar char="●"/>
                </a:pPr>
                <a:r>
                  <a:rPr lang="en-US" sz="1500">
                    <a:solidFill>
                      <a:srgbClr val="334155"/>
                    </a:solidFill>
                    <a:latin typeface="Barlow"/>
                    <a:ea typeface="Barlow"/>
                    <a:cs typeface="Barlow"/>
                    <a:sym typeface="Barlow"/>
                  </a:rPr>
                  <a:t>Checks whether extracted values are explicitly supported by the underlying filing context.</a:t>
                </a:r>
                <a:endParaRPr sz="1500">
                  <a:solidFill>
                    <a:srgbClr val="334155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335" name="Google Shape;335;p11"/>
            <p:cNvGrpSpPr/>
            <p:nvPr/>
          </p:nvGrpSpPr>
          <p:grpSpPr>
            <a:xfrm>
              <a:off x="8229600" y="857250"/>
              <a:ext cx="7620000" cy="2333700"/>
              <a:chOff x="0" y="0"/>
              <a:chExt cx="7620000" cy="2333700"/>
            </a:xfrm>
          </p:grpSpPr>
          <p:sp>
            <p:nvSpPr>
              <p:cNvPr id="336" name="Google Shape;336;p11"/>
              <p:cNvSpPr/>
              <p:nvPr/>
            </p:nvSpPr>
            <p:spPr>
              <a:xfrm>
                <a:off x="0" y="0"/>
                <a:ext cx="7620000" cy="2333700"/>
              </a:xfrm>
              <a:prstGeom prst="roundRect">
                <a:avLst>
                  <a:gd fmla="val 408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1"/>
              <p:cNvSpPr txBox="1"/>
              <p:nvPr/>
            </p:nvSpPr>
            <p:spPr>
              <a:xfrm>
                <a:off x="285750" y="238125"/>
                <a:ext cx="70485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41618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Validation Workflow Mechanism</a:t>
                </a:r>
                <a:endParaRPr b="1" sz="220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20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2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Extracted Field </a:t>
                </a:r>
                <a:r>
                  <a:rPr b="1" lang="en-US" sz="1800">
                    <a:solidFill>
                      <a:srgbClr val="0F766E"/>
                    </a:solidFill>
                    <a:latin typeface="Barlow"/>
                    <a:ea typeface="Barlow"/>
                    <a:cs typeface="Barlow"/>
                    <a:sym typeface="Barlow"/>
                  </a:rPr>
                  <a:t>➔</a:t>
                </a:r>
                <a:r>
                  <a:rPr lang="en-US" sz="1600">
                    <a:solidFill>
                      <a:srgbClr val="1D1F20"/>
                    </a:solidFill>
                    <a:latin typeface="Barlow"/>
                    <a:ea typeface="Barlow"/>
                    <a:cs typeface="Barlow"/>
                    <a:sym typeface="Barlow"/>
                  </a:rPr>
                  <a:t> </a:t>
                </a:r>
                <a:r>
                  <a:rPr b="1" lang="en-US" sz="1600">
                    <a:solidFill>
                      <a:srgbClr val="1F3445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LLM Backward Search </a:t>
                </a:r>
                <a:r>
                  <a:rPr b="1" lang="en-US" sz="1800">
                    <a:solidFill>
                      <a:srgbClr val="0F766E"/>
                    </a:solidFill>
                    <a:latin typeface="Barlow"/>
                    <a:ea typeface="Barlow"/>
                    <a:cs typeface="Barlow"/>
                    <a:sym typeface="Barlow"/>
                  </a:rPr>
                  <a:t>➔</a:t>
                </a:r>
                <a:r>
                  <a:rPr lang="en-US" sz="1600">
                    <a:solidFill>
                      <a:srgbClr val="1D1F20"/>
                    </a:solidFill>
                    <a:latin typeface="Barlow"/>
                    <a:ea typeface="Barlow"/>
                    <a:cs typeface="Barlow"/>
                    <a:sym typeface="Barlow"/>
                  </a:rPr>
                  <a:t> </a:t>
                </a:r>
                <a:r>
                  <a:rPr b="1" lang="en-US" sz="1600">
                    <a:solidFill>
                      <a:srgbClr val="0F766E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Ground Verification</a:t>
                </a:r>
                <a:endParaRPr b="1" sz="160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475569"/>
                    </a:solidFill>
                    <a:latin typeface="Barlow"/>
                    <a:ea typeface="Barlow"/>
                    <a:cs typeface="Barlow"/>
                    <a:sym typeface="Barlow"/>
                  </a:rPr>
                  <a:t>Validates accuracy across key corporate action fields (e.g., offer price, expiration date, tender terms) directly against normalized filing text.</a:t>
                </a:r>
                <a:endParaRPr sz="15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/>
          <p:nvPr/>
        </p:nvSpPr>
        <p:spPr>
          <a:xfrm>
            <a:off x="978447" y="2514600"/>
            <a:ext cx="51657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095494" y="7132320"/>
            <a:ext cx="46692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sources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1143000" y="754380"/>
            <a:ext cx="201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095494" y="164592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Evaluation data sources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143000" y="2514600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SOURCE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257800" y="2514600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9372600" y="2514600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VALIDATES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3487400" y="2514600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667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LIMITATION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143000" y="3771147"/>
            <a:ext cx="40095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Business Quant 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257800" y="3804484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47,548 records; mostly dividends, splits, M&amp;A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9372600" y="3804484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Event discovery, counterparties, dates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3487400" y="3804484"/>
            <a:ext cx="3767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tender, exchange, rights or conversion events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43000" y="4914147"/>
            <a:ext cx="40095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Kaggle: Technology M&amp;A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257800" y="4947485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1,643 historical acquisitions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9372600" y="4947485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Acquirers, targets, dates, deal terms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3487400" y="4947485"/>
            <a:ext cx="3767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M&amp;A only; some private deals lack filings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143000" y="6057147"/>
            <a:ext cx="40095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Databento Corporate Actions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257800" y="6090485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864 US records, 104 fields; 3 rights issues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9372600" y="6090485"/>
            <a:ext cx="4009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Event types, securities, dates, terms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3487400" y="6090485"/>
            <a:ext cx="3767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3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One-day sample; no tenders, no amendments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/>
          <p:nvPr/>
        </p:nvSpPr>
        <p:spPr>
          <a:xfrm>
            <a:off x="1143000" y="754380"/>
            <a:ext cx="201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095494" y="164592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Coverage by priority action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143000" y="3162300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Tender offers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953000" y="3200400"/>
            <a:ext cx="228600" cy="22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5257800" y="3096472"/>
            <a:ext cx="5091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8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9372600" y="324231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None of the </a:t>
            </a: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three </a:t>
            </a: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sources contains a tender offer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143000" y="4305300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Exchange offers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953000" y="4343400"/>
            <a:ext cx="228600" cy="228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257800" y="4239472"/>
            <a:ext cx="5091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8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9372600" y="4385284"/>
            <a:ext cx="8549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dedicated dataset among the three  sources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sz="21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143000" y="5448300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Rights issues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953000" y="5486400"/>
            <a:ext cx="228600" cy="228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5257800" y="5382472"/>
            <a:ext cx="936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8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Limited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9372600" y="552831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3 Databento records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1143000" y="6591300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Mergers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953000" y="6629400"/>
            <a:ext cx="2286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257800" y="6525472"/>
            <a:ext cx="10041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8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Covered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9372600" y="667131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1,643 Kaggle deals plus Business Quant acquisitions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143000" y="7734300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Conversions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953000" y="7772400"/>
            <a:ext cx="228600" cy="228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5257800" y="7668472"/>
            <a:ext cx="936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8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Limited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9372600" y="781431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dedicated dataset among the </a:t>
            </a: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three</a:t>
            </a: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sources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/>
          <p:nvPr/>
        </p:nvSpPr>
        <p:spPr>
          <a:xfrm>
            <a:off x="1143000" y="754380"/>
            <a:ext cx="201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95494" y="164592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Tender offers: gap and proposed approach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43000" y="3202305"/>
            <a:ext cx="16482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Tender offers are low volume but high priority for BNY — and none of our </a:t>
            </a:r>
            <a:r>
              <a:rPr lang="en-US" sz="25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three </a:t>
            </a: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sources has any. We propose a hybrid evaluation built on historical SEC filings.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43000" y="4572000"/>
            <a:ext cx="36576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5257800" y="4572000"/>
            <a:ext cx="36576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9372600" y="4572000"/>
            <a:ext cx="36576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13487400" y="4572000"/>
            <a:ext cx="36576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371600" y="4869180"/>
            <a:ext cx="2784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371600" y="5448300"/>
            <a:ext cx="352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371600" y="6214110"/>
            <a:ext cx="3296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Find past tender offers in SEC filings; score discovery recall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486400" y="4869180"/>
            <a:ext cx="312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486400" y="5448300"/>
            <a:ext cx="352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Annotate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486400" y="6214110"/>
            <a:ext cx="3296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Manually label a sample to set the ground truth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9601200" y="4869180"/>
            <a:ext cx="313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9601200" y="5448300"/>
            <a:ext cx="352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Check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9601200" y="6214110"/>
            <a:ext cx="3296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LLM-assisted review of extracted fields against source; flags errors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3716000" y="4869180"/>
            <a:ext cx="3207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3716000" y="5448300"/>
            <a:ext cx="352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Measure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3716000" y="6214110"/>
            <a:ext cx="3296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Extraction accuracy, evidence grounding and amendment handling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9" name="Google Shape;4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601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00" y="60198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6400" y="60198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>
            <a:off x="1095494" y="164592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You!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