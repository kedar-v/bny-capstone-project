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94" r:id="rId50"/>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10287000" cx="18288000"/>
  <p:notesSz cx="10287000" cy="18288000"/>
  <p:embeddedFontLst>
    <p:embeddedFont>
      <p:font typeface="Mate"/>
      <p:regular r:id="rId44"/>
      <p:italic r:id="rId45"/>
    </p:embeddedFont>
    <p:embeddedFont>
      <p:font typeface="Helvetica Neue"/>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DFEEF5F-5377-4CFB-AF1D-0F02BC4190C8}">
  <a:tblStyle styleId="{0DFEEF5F-5377-4CFB-AF1D-0F02BC4190C8}"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font" Target="fonts/Mate-regular.fntdata"/><Relationship Id="rId45" Type="http://schemas.openxmlformats.org/officeDocument/2006/relationships/font" Target="fonts/Mate-italic.fntdata"/><Relationship Id="rId46" Type="http://schemas.openxmlformats.org/officeDocument/2006/relationships/font" Target="fonts/HelveticaNeue-regular.fntdata"/><Relationship Id="rId47" Type="http://schemas.openxmlformats.org/officeDocument/2006/relationships/font" Target="fonts/HelveticaNeue-bold.fntdata"/><Relationship Id="rId48" Type="http://schemas.openxmlformats.org/officeDocument/2006/relationships/font" Target="fonts/HelveticaNeue-italic.fntdata"/><Relationship Id="rId49" Type="http://schemas.openxmlformats.org/officeDocument/2006/relationships/font" Target="fonts/HelveticaNeue-boldItalic.fntdata"/><Relationship Id="rId50"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h3370f97549d1f30d_6_822:notes"/>
          <p:cNvSpPr/>
          <p:nvPr>
            <p:ph idx="2" type="sldImg"/>
          </p:nvPr>
        </p:nvSpPr>
        <p:spPr>
          <a:xfrm>
            <a:off x="1714500" y="1371600"/>
            <a:ext cx="6858000" cy="6858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 name="Google Shape;33;h3370f97549d1f30d_6_822:notes"/>
          <p:cNvSpPr txBox="1"/>
          <p:nvPr>
            <p:ph idx="1" type="body"/>
          </p:nvPr>
        </p:nvSpPr>
        <p:spPr>
          <a:xfrm>
            <a:off x="1371600" y="8686800"/>
            <a:ext cx="7543800" cy="8229600"/>
          </a:xfrm>
          <a:prstGeom prst="rect">
            <a:avLst/>
          </a:prstGeom>
          <a:noFill/>
          <a:ln>
            <a:noFill/>
          </a:ln>
        </p:spPr>
        <p:txBody>
          <a:bodyPr anchorCtr="0" anchor="t" bIns="76175" lIns="152375" spcFirstLastPara="1" rIns="152375" wrap="square" tIns="76175">
            <a:noAutofit/>
          </a:bodyPr>
          <a:lstStyle/>
          <a:p>
            <a:pPr indent="-228600" lvl="0" marL="457200" marR="0" rtl="0" algn="l">
              <a:lnSpc>
                <a:spcPct val="100000"/>
              </a:lnSpc>
              <a:spcBef>
                <a:spcPts val="0"/>
              </a:spcBef>
              <a:spcAft>
                <a:spcPts val="0"/>
              </a:spcAft>
              <a:buClr>
                <a:srgbClr val="000000"/>
              </a:buClr>
              <a:buSzPts val="1400"/>
              <a:buFont typeface="Arial"/>
              <a:buNone/>
            </a:pPr>
            <a:r>
              <a:rPr b="0" lang="en-US" sz="1200"/>
              <a:t>Hi everyone, we're the Corporate Action Intelligence team, and we're working with BNY's AI Hub.</a:t>
            </a:r>
            <a:endParaRPr/>
          </a:p>
          <a:p>
            <a:pPr indent="-228600" lvl="0" marL="457200" rtl="0" algn="l">
              <a:lnSpc>
                <a:spcPct val="100000"/>
              </a:lnSpc>
              <a:spcBef>
                <a:spcPts val="800"/>
              </a:spcBef>
              <a:spcAft>
                <a:spcPts val="0"/>
              </a:spcAft>
              <a:buSzPts val="1400"/>
              <a:buNone/>
            </a:pPr>
            <a:r>
              <a:rPr b="0" lang="en-US" sz="1200"/>
              <a:t>The question we're tackling is whether AI can read the long, messy filings behind corporate actions and turn them into structured records that people can actually trust. This is where we are at the middle of the semester.</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h3370f97549d1f30d_6_836:notes"/>
          <p:cNvSpPr/>
          <p:nvPr>
            <p:ph idx="2" type="sldImg"/>
          </p:nvPr>
        </p:nvSpPr>
        <p:spPr>
          <a:xfrm>
            <a:off x="1714500" y="1371600"/>
            <a:ext cx="6858000" cy="6858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 name="Google Shape;48;h3370f97549d1f30d_6_836:notes"/>
          <p:cNvSpPr txBox="1"/>
          <p:nvPr>
            <p:ph idx="1" type="body"/>
          </p:nvPr>
        </p:nvSpPr>
        <p:spPr>
          <a:xfrm>
            <a:off x="1371600" y="8686800"/>
            <a:ext cx="7543800" cy="8229600"/>
          </a:xfrm>
          <a:prstGeom prst="rect">
            <a:avLst/>
          </a:prstGeom>
          <a:noFill/>
          <a:ln>
            <a:noFill/>
          </a:ln>
        </p:spPr>
        <p:txBody>
          <a:bodyPr anchorCtr="0" anchor="t" bIns="76175" lIns="152375" spcFirstLastPara="1" rIns="152375" wrap="square" tIns="76175">
            <a:noAutofit/>
          </a:bodyPr>
          <a:lstStyle/>
          <a:p>
            <a:pPr indent="-228600" lvl="0" marL="457200" marR="0" rtl="0" algn="l">
              <a:lnSpc>
                <a:spcPct val="100000"/>
              </a:lnSpc>
              <a:spcBef>
                <a:spcPts val="0"/>
              </a:spcBef>
              <a:spcAft>
                <a:spcPts val="0"/>
              </a:spcAft>
              <a:buClr>
                <a:srgbClr val="000000"/>
              </a:buClr>
              <a:buSzPts val="1400"/>
              <a:buFont typeface="Arial"/>
              <a:buNone/>
            </a:pPr>
            <a:r>
              <a:rPr b="0" lang="en-US" sz="1200"/>
              <a:t>Here's our plan for today. We'll start with the problem, then how we approached it, how our pipeline works, how we build our data and evaluate it, then a live demo, and finally what's next.</a:t>
            </a:r>
            <a:endParaRPr/>
          </a:p>
          <a:p>
            <a:pPr indent="-228600" lvl="0" marL="457200" rtl="0" algn="l">
              <a:lnSpc>
                <a:spcPct val="100000"/>
              </a:lnSpc>
              <a:spcBef>
                <a:spcPts val="800"/>
              </a:spcBef>
              <a:spcAft>
                <a:spcPts val="0"/>
              </a:spcAft>
              <a:buSzPts val="1400"/>
              <a:buNone/>
            </a:pPr>
            <a:r>
              <a:rPr b="0" lang="en-US" sz="1200"/>
              <a:t>If you remember one thing from today, it's this: every value we pull out of a filing links back to the exact text it came from. That traceability is what makes this useful for a bank.</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h3370f97549d1f30d_6_8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h3370f97549d1f30d_6_8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800"/>
              </a:spcBef>
              <a:spcAft>
                <a:spcPts val="0"/>
              </a:spcAft>
              <a:buSzPts val="1400"/>
              <a:buNone/>
            </a:pPr>
            <a:r>
              <a:rPr b="0" lang="en-US" sz="1200"/>
              <a:t>Its core business is being a custodian. Large investors like pension funds, asset managers and insurers don't hold their shares themselves. BNY holds them and services them on their behalf, across more than 50 trillion dollars of client assets.</a:t>
            </a:r>
            <a:endParaRPr/>
          </a:p>
          <a:p>
            <a:pPr indent="-228600" lvl="0" marL="457200" rtl="0" algn="l">
              <a:lnSpc>
                <a:spcPct val="100000"/>
              </a:lnSpc>
              <a:spcBef>
                <a:spcPts val="800"/>
              </a:spcBef>
              <a:spcAft>
                <a:spcPts val="0"/>
              </a:spcAft>
              <a:buSzPts val="1400"/>
              <a:buNone/>
            </a:pPr>
            <a:r>
              <a:rPr b="0" lang="en-US" sz="1200"/>
              <a:t>So BNY sits in the middle. Companies issue shares and announce events, like a merger or an offer to buy shares. Those events are called corporate actions. BNY has to understand each one and alert every client who holds that share: what's changing, what they need to do, and by when.</a:t>
            </a:r>
            <a:endParaRPr/>
          </a:p>
          <a:p>
            <a:pPr indent="-228600" lvl="0" marL="457200" rtl="0" algn="l">
              <a:lnSpc>
                <a:spcPct val="100000"/>
              </a:lnSpc>
              <a:spcBef>
                <a:spcPts val="800"/>
              </a:spcBef>
              <a:spcAft>
                <a:spcPts val="0"/>
              </a:spcAft>
              <a:buSzPts val="1400"/>
              <a:buNone/>
            </a:pPr>
            <a:r>
              <a:rPr b="0" lang="en-US" sz="1200"/>
              <a:t>If a filing is misread, a client can miss a deadline or be paid the wrong amount, and BNY is responsible for making that right. That's the work we're trying to make faster and more reliable.</a:t>
            </a:r>
            <a:endParaRPr/>
          </a:p>
        </p:txBody>
      </p:sp>
      <p:sp>
        <p:nvSpPr>
          <p:cNvPr id="80" name="Google Shape;80;h3370f97549d1f30d_6_87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h3370f97549d1f30d_6_896:notes"/>
          <p:cNvSpPr/>
          <p:nvPr>
            <p:ph idx="2" type="sldImg"/>
          </p:nvPr>
        </p:nvSpPr>
        <p:spPr>
          <a:xfrm>
            <a:off x="1714500" y="1371600"/>
            <a:ext cx="6858000" cy="6858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h3370f97549d1f30d_6_896:notes"/>
          <p:cNvSpPr txBox="1"/>
          <p:nvPr>
            <p:ph idx="1" type="body"/>
          </p:nvPr>
        </p:nvSpPr>
        <p:spPr>
          <a:xfrm>
            <a:off x="1371600" y="8686800"/>
            <a:ext cx="7543800" cy="8229600"/>
          </a:xfrm>
          <a:prstGeom prst="rect">
            <a:avLst/>
          </a:prstGeom>
          <a:noFill/>
          <a:ln>
            <a:noFill/>
          </a:ln>
        </p:spPr>
        <p:txBody>
          <a:bodyPr anchorCtr="0" anchor="t" bIns="76175" lIns="152375" spcFirstLastPara="1" rIns="152375" wrap="square" tIns="76175">
            <a:noAutofit/>
          </a:bodyPr>
          <a:lstStyle/>
          <a:p>
            <a:pPr indent="-228600" lvl="0" marL="457200" marR="0" rtl="0" algn="l">
              <a:lnSpc>
                <a:spcPct val="100000"/>
              </a:lnSpc>
              <a:spcBef>
                <a:spcPts val="0"/>
              </a:spcBef>
              <a:spcAft>
                <a:spcPts val="0"/>
              </a:spcAft>
              <a:buClr>
                <a:srgbClr val="000000"/>
              </a:buClr>
              <a:buSzPts val="1400"/>
              <a:buFont typeface="Arial"/>
              <a:buNone/>
            </a:pPr>
            <a:r>
              <a:rPr b="0" lang="en-US" sz="1200"/>
              <a:t>Here's what that looks like for one real corporate action.</a:t>
            </a:r>
            <a:endParaRPr/>
          </a:p>
          <a:p>
            <a:pPr indent="-228600" lvl="0" marL="457200" rtl="0" algn="l">
              <a:lnSpc>
                <a:spcPct val="100000"/>
              </a:lnSpc>
              <a:spcBef>
                <a:spcPts val="800"/>
              </a:spcBef>
              <a:spcAft>
                <a:spcPts val="0"/>
              </a:spcAft>
              <a:buSzPts val="1400"/>
              <a:buNone/>
            </a:pPr>
            <a:r>
              <a:rPr b="0" lang="en-US" sz="1200"/>
              <a:t>Bending Spoons agreed to buy Eventbrite for $4.50 in cash per share. That deal was filed with the SEC in a proxy statement of about 816,000 characters. Because BNY holds Eventbrite shares for its clients, someone has to read that filing and pull out the price, the dates and the options. Then every client holding Eventbrite gets an alert.</a:t>
            </a:r>
            <a:endParaRPr/>
          </a:p>
          <a:p>
            <a:pPr indent="-228600" lvl="0" marL="457200" rtl="0" algn="l">
              <a:lnSpc>
                <a:spcPct val="100000"/>
              </a:lnSpc>
              <a:spcBef>
                <a:spcPts val="800"/>
              </a:spcBef>
              <a:spcAft>
                <a:spcPts val="0"/>
              </a:spcAft>
              <a:buSzPts val="1400"/>
              <a:buNone/>
            </a:pPr>
            <a:r>
              <a:rPr b="0" lang="en-US" sz="1200"/>
              <a:t>That third step, reading the filing, is done by hand today, and it's the step we're automating.</a:t>
            </a:r>
            <a:endParaRPr/>
          </a:p>
          <a:p>
            <a:pPr indent="-228600" lvl="0" marL="457200" rtl="0" algn="l">
              <a:lnSpc>
                <a:spcPct val="100000"/>
              </a:lnSpc>
              <a:spcBef>
                <a:spcPts val="800"/>
              </a:spcBef>
              <a:spcAft>
                <a:spcPts val="0"/>
              </a:spcAft>
              <a:buSzPts val="1400"/>
              <a:buNone/>
            </a:pPr>
            <a:r>
              <a:rPr b="0" lang="en-US" sz="1200"/>
              <a:t>We're covering five types of corporate actions: mergers, tender offers, exchange offers, rights issues and conversions.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h3370f97549d1f30d_6_953:notes"/>
          <p:cNvSpPr/>
          <p:nvPr>
            <p:ph idx="2" type="sldImg"/>
          </p:nvPr>
        </p:nvSpPr>
        <p:spPr>
          <a:xfrm>
            <a:off x="1714500" y="1371600"/>
            <a:ext cx="6858000" cy="6858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2" name="Google Shape;162;h3370f97549d1f30d_6_953:notes"/>
          <p:cNvSpPr txBox="1"/>
          <p:nvPr>
            <p:ph idx="1" type="body"/>
          </p:nvPr>
        </p:nvSpPr>
        <p:spPr>
          <a:xfrm>
            <a:off x="1371600" y="8686800"/>
            <a:ext cx="7543800" cy="8229600"/>
          </a:xfrm>
          <a:prstGeom prst="rect">
            <a:avLst/>
          </a:prstGeom>
          <a:noFill/>
          <a:ln>
            <a:noFill/>
          </a:ln>
        </p:spPr>
        <p:txBody>
          <a:bodyPr anchorCtr="0" anchor="t" bIns="76175" lIns="152375" spcFirstLastPara="1" rIns="152375" wrap="square" tIns="76175">
            <a:noAutofit/>
          </a:bodyPr>
          <a:lstStyle/>
          <a:p>
            <a:pPr indent="-228600" lvl="0" marL="457200" marR="0" rtl="0" algn="l">
              <a:lnSpc>
                <a:spcPct val="100000"/>
              </a:lnSpc>
              <a:spcBef>
                <a:spcPts val="0"/>
              </a:spcBef>
              <a:spcAft>
                <a:spcPts val="0"/>
              </a:spcAft>
              <a:buClr>
                <a:srgbClr val="000000"/>
              </a:buClr>
              <a:buSzPts val="1400"/>
              <a:buFont typeface="Arial"/>
              <a:buNone/>
            </a:pPr>
            <a:r>
              <a:rPr b="0" lang="en-US" sz="1200"/>
              <a:t>So why is reading the filing hard?</a:t>
            </a:r>
            <a:endParaRPr/>
          </a:p>
          <a:p>
            <a:pPr indent="-228600" lvl="0" marL="457200" rtl="0" algn="l">
              <a:lnSpc>
                <a:spcPct val="100000"/>
              </a:lnSpc>
              <a:spcBef>
                <a:spcPts val="800"/>
              </a:spcBef>
              <a:spcAft>
                <a:spcPts val="0"/>
              </a:spcAft>
              <a:buSzPts val="1400"/>
              <a:buNone/>
            </a:pPr>
            <a:r>
              <a:rPr b="0" lang="en-US" sz="1200"/>
              <a:t>This is that same Eventbrite filing. It's about 200 pages long, and the one number a client cares about most, the $4.50 cash price, shows up on only four of those pages.</a:t>
            </a:r>
            <a:endParaRPr/>
          </a:p>
          <a:p>
            <a:pPr indent="-228600" lvl="0" marL="457200" rtl="0" algn="l">
              <a:lnSpc>
                <a:spcPct val="100000"/>
              </a:lnSpc>
              <a:spcBef>
                <a:spcPts val="800"/>
              </a:spcBef>
              <a:spcAft>
                <a:spcPts val="0"/>
              </a:spcAft>
              <a:buSzPts val="1400"/>
              <a:buNone/>
            </a:pPr>
            <a:r>
              <a:rPr b="0" lang="en-US" sz="1200"/>
              <a:t>And that's not unusual. Each dot here is one filing from our sample of tender-offer and merger filings. They range from a few thousand characters to over five million, which is roughly ten novels.</a:t>
            </a:r>
            <a:endParaRPr/>
          </a:p>
          <a:p>
            <a:pPr indent="-228600" lvl="0" marL="457200" rtl="0" algn="l">
              <a:lnSpc>
                <a:spcPct val="100000"/>
              </a:lnSpc>
              <a:spcBef>
                <a:spcPts val="800"/>
              </a:spcBef>
              <a:spcAft>
                <a:spcPts val="0"/>
              </a:spcAft>
              <a:buSzPts val="1400"/>
              <a:buNone/>
            </a:pPr>
            <a:r>
              <a:rPr b="0" lang="en-US" sz="1200"/>
              <a:t>On top of being long, the information changes, because amendments revise prices and dates after the first filing. And it's ambiguous: a dollar figure could be the offer price, a par value, or an old bid that was rejected.</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h3370f97549d1f30d_6_980:notes"/>
          <p:cNvSpPr/>
          <p:nvPr>
            <p:ph idx="2" type="sldImg"/>
          </p:nvPr>
        </p:nvSpPr>
        <p:spPr>
          <a:xfrm>
            <a:off x="1714500" y="1371600"/>
            <a:ext cx="6858000" cy="6858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h3370f97549d1f30d_6_980:notes"/>
          <p:cNvSpPr txBox="1"/>
          <p:nvPr>
            <p:ph idx="1" type="body"/>
          </p:nvPr>
        </p:nvSpPr>
        <p:spPr>
          <a:xfrm>
            <a:off x="1371600" y="8686800"/>
            <a:ext cx="7543800" cy="8229600"/>
          </a:xfrm>
          <a:prstGeom prst="rect">
            <a:avLst/>
          </a:prstGeom>
          <a:noFill/>
          <a:ln>
            <a:noFill/>
          </a:ln>
        </p:spPr>
        <p:txBody>
          <a:bodyPr anchorCtr="0" anchor="t" bIns="76175" lIns="152375" spcFirstLastPara="1" rIns="152375" wrap="square" tIns="76175">
            <a:noAutofit/>
          </a:bodyPr>
          <a:lstStyle/>
          <a:p>
            <a:pPr indent="-228600" lvl="0" marL="457200" marR="0" rtl="0" algn="l">
              <a:lnSpc>
                <a:spcPct val="100000"/>
              </a:lnSpc>
              <a:spcBef>
                <a:spcPts val="0"/>
              </a:spcBef>
              <a:spcAft>
                <a:spcPts val="0"/>
              </a:spcAft>
              <a:buClr>
                <a:srgbClr val="000000"/>
              </a:buClr>
              <a:buSzPts val="1400"/>
              <a:buFont typeface="Arial"/>
              <a:buNone/>
            </a:pPr>
            <a:r>
              <a:rPr b="0" lang="en-US" sz="1200"/>
              <a:t>We broke the problem into four connected parts.</a:t>
            </a:r>
            <a:endParaRPr/>
          </a:p>
          <a:p>
            <a:pPr indent="-228600" lvl="0" marL="457200" rtl="0" algn="l">
              <a:lnSpc>
                <a:spcPct val="100000"/>
              </a:lnSpc>
              <a:spcBef>
                <a:spcPts val="800"/>
              </a:spcBef>
              <a:spcAft>
                <a:spcPts val="0"/>
              </a:spcAft>
              <a:buSzPts val="1400"/>
              <a:buNone/>
            </a:pPr>
            <a:r>
              <a:rPr b="0" lang="en-US" sz="1200"/>
              <a:t>First, data: which filings matter, and how do we get their full text? We search and load SEC filings for all five types.</a:t>
            </a:r>
            <a:endParaRPr/>
          </a:p>
          <a:p>
            <a:pPr indent="-228600" lvl="0" marL="457200" rtl="0" algn="l">
              <a:lnSpc>
                <a:spcPct val="100000"/>
              </a:lnSpc>
              <a:spcBef>
                <a:spcPts val="800"/>
              </a:spcBef>
              <a:spcAft>
                <a:spcPts val="0"/>
              </a:spcAft>
              <a:buSzPts val="1400"/>
              <a:buNone/>
            </a:pPr>
            <a:r>
              <a:rPr b="0" lang="en-US" sz="1200"/>
              <a:t>Second, extraction: which values do we need, and where are they? We pull out each value along with the quote that supports it.</a:t>
            </a:r>
            <a:endParaRPr/>
          </a:p>
          <a:p>
            <a:pPr indent="-228600" lvl="0" marL="457200" rtl="0" algn="l">
              <a:lnSpc>
                <a:spcPct val="100000"/>
              </a:lnSpc>
              <a:spcBef>
                <a:spcPts val="800"/>
              </a:spcBef>
              <a:spcAft>
                <a:spcPts val="0"/>
              </a:spcAft>
              <a:buSzPts val="1400"/>
              <a:buNone/>
            </a:pPr>
            <a:r>
              <a:rPr b="0" lang="en-US" sz="1200"/>
              <a:t>Third, evaluation: how do we know each value is right? We compare against a reference set built from the same filings.</a:t>
            </a:r>
            <a:endParaRPr/>
          </a:p>
          <a:p>
            <a:pPr indent="-228600" lvl="0" marL="457200" rtl="0" algn="l">
              <a:lnSpc>
                <a:spcPct val="100000"/>
              </a:lnSpc>
              <a:spcBef>
                <a:spcPts val="800"/>
              </a:spcBef>
              <a:spcAft>
                <a:spcPts val="0"/>
              </a:spcAft>
              <a:buSzPts val="1400"/>
              <a:buNone/>
            </a:pPr>
            <a:r>
              <a:rPr b="0" lang="en-US" sz="1200"/>
              <a:t>And fourth, value: what does BNY actually gain? We turn the records into alerts and measure the payoff.</a:t>
            </a:r>
            <a:endParaRPr/>
          </a:p>
          <a:p>
            <a:pPr indent="-228600" lvl="0" marL="457200" rtl="0" algn="l">
              <a:lnSpc>
                <a:spcPct val="100000"/>
              </a:lnSpc>
              <a:spcBef>
                <a:spcPts val="800"/>
              </a:spcBef>
              <a:spcAft>
                <a:spcPts val="0"/>
              </a:spcAft>
              <a:buSzPts val="1400"/>
              <a:buNone/>
            </a:pPr>
            <a:r>
              <a:rPr b="0" lang="en-US" sz="1200"/>
              <a:t>All four lead to one goal: a structured record of every corporate action, where each value is backed by a quote from the filing. BNY can't share client data with us, so we work only from public SEC filings, and anything only BNY would know, like client accounts and positions, stays blank rather than being guessed.</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h3370f97549d1f30d_6_1024:notes"/>
          <p:cNvSpPr/>
          <p:nvPr>
            <p:ph idx="2" type="sldImg"/>
          </p:nvPr>
        </p:nvSpPr>
        <p:spPr>
          <a:xfrm>
            <a:off x="1714500" y="1371600"/>
            <a:ext cx="6858000" cy="6858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5" name="Google Shape;235;h3370f97549d1f30d_6_1024:notes"/>
          <p:cNvSpPr txBox="1"/>
          <p:nvPr>
            <p:ph idx="1" type="body"/>
          </p:nvPr>
        </p:nvSpPr>
        <p:spPr>
          <a:xfrm>
            <a:off x="1371600" y="8686800"/>
            <a:ext cx="7543800" cy="8229600"/>
          </a:xfrm>
          <a:prstGeom prst="rect">
            <a:avLst/>
          </a:prstGeom>
          <a:noFill/>
          <a:ln>
            <a:noFill/>
          </a:ln>
        </p:spPr>
        <p:txBody>
          <a:bodyPr anchorCtr="0" anchor="t" bIns="76175" lIns="152375" spcFirstLastPara="1" rIns="152375" wrap="square" tIns="76175">
            <a:noAutofit/>
          </a:bodyPr>
          <a:lstStyle/>
          <a:p>
            <a:pPr indent="-228600" lvl="0" marL="457200" marR="0" rtl="0" algn="l">
              <a:lnSpc>
                <a:spcPct val="100000"/>
              </a:lnSpc>
              <a:spcBef>
                <a:spcPts val="0"/>
              </a:spcBef>
              <a:spcAft>
                <a:spcPts val="0"/>
              </a:spcAft>
              <a:buClr>
                <a:srgbClr val="000000"/>
              </a:buClr>
              <a:buSzPts val="1400"/>
              <a:buFont typeface="Arial"/>
              <a:buNone/>
            </a:pPr>
            <a:r>
              <a:rPr b="0" lang="en-US" sz="1200"/>
              <a:t>Here's that idea as a pipeline. It has eight steps in four phases: ingest, extract, resolve and deliver.</a:t>
            </a:r>
            <a:endParaRPr/>
          </a:p>
          <a:p>
            <a:pPr indent="-228600" lvl="0" marL="457200" rtl="0" algn="l">
              <a:lnSpc>
                <a:spcPct val="100000"/>
              </a:lnSpc>
              <a:spcBef>
                <a:spcPts val="800"/>
              </a:spcBef>
              <a:spcAft>
                <a:spcPts val="0"/>
              </a:spcAft>
              <a:buSzPts val="1400"/>
              <a:buNone/>
            </a:pPr>
            <a:r>
              <a:rPr b="0" lang="en-US" sz="1200"/>
              <a:t>The teal steps are built and running on real filings. We search the SEC, download each filing and its exhibits, clean it into readable text, extract candidate values, and build a compact record. The grey steps come next: reasoning across a filing and its amendments so we end up with one current record per event. The client alert at the end is a prototype, which you'll see in the demo.</a:t>
            </a:r>
            <a:endParaRPr/>
          </a:p>
          <a:p>
            <a:pPr indent="-228600" lvl="0" marL="457200" rtl="0" algn="l">
              <a:lnSpc>
                <a:spcPct val="100000"/>
              </a:lnSpc>
              <a:spcBef>
                <a:spcPts val="800"/>
              </a:spcBef>
              <a:spcAft>
                <a:spcPts val="0"/>
              </a:spcAft>
              <a:buSzPts val="1400"/>
              <a:buNone/>
            </a:pPr>
            <a:r>
              <a:rPr b="0" lang="en-US" sz="1200"/>
              <a:t>Along the bottom is the Eventbrite example flowing through it: from the raw filing, to the "$4.50 in cash" candidate, to a structured event record, to a client alert.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h3370f97549d1f30d_6_1087:notes"/>
          <p:cNvSpPr/>
          <p:nvPr>
            <p:ph idx="2" type="sldImg"/>
          </p:nvPr>
        </p:nvSpPr>
        <p:spPr>
          <a:xfrm>
            <a:off x="1714500" y="1371600"/>
            <a:ext cx="6858000" cy="6858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9" name="Google Shape;299;h3370f97549d1f30d_6_1087:notes"/>
          <p:cNvSpPr txBox="1"/>
          <p:nvPr>
            <p:ph idx="1" type="body"/>
          </p:nvPr>
        </p:nvSpPr>
        <p:spPr>
          <a:xfrm>
            <a:off x="1371600" y="8686800"/>
            <a:ext cx="7543800" cy="8229600"/>
          </a:xfrm>
          <a:prstGeom prst="rect">
            <a:avLst/>
          </a:prstGeom>
          <a:noFill/>
          <a:ln>
            <a:noFill/>
          </a:ln>
        </p:spPr>
        <p:txBody>
          <a:bodyPr anchorCtr="0" anchor="t" bIns="76175" lIns="152375" spcFirstLastPara="1" rIns="152375" wrap="square" tIns="76175">
            <a:noAutofit/>
          </a:bodyPr>
          <a:lstStyle/>
          <a:p>
            <a:pPr indent="-228600" lvl="0" marL="457200" marR="0" rtl="0" algn="l">
              <a:lnSpc>
                <a:spcPct val="100000"/>
              </a:lnSpc>
              <a:spcBef>
                <a:spcPts val="0"/>
              </a:spcBef>
              <a:spcAft>
                <a:spcPts val="0"/>
              </a:spcAft>
              <a:buClr>
                <a:srgbClr val="000000"/>
              </a:buClr>
              <a:buSzPts val="1400"/>
              <a:buFont typeface="Arial"/>
              <a:buNone/>
            </a:pPr>
            <a:r>
              <a:rPr b="0" lang="en-US" sz="1200"/>
              <a:t>The extraction step is where our method choices matter, and we found that each method fails in a different way.</a:t>
            </a:r>
            <a:endParaRPr/>
          </a:p>
          <a:p>
            <a:pPr indent="-228600" lvl="0" marL="457200" rtl="0" algn="l">
              <a:lnSpc>
                <a:spcPct val="100000"/>
              </a:lnSpc>
              <a:spcBef>
                <a:spcPts val="800"/>
              </a:spcBef>
              <a:spcAft>
                <a:spcPts val="0"/>
              </a:spcAft>
              <a:buSzPts val="1400"/>
              <a:buNone/>
            </a:pPr>
            <a:r>
              <a:rPr b="0" lang="en-US" sz="1200"/>
              <a:t>Keyword rules are precise for fixed formats, like checking that a CUSIP identifier is valid, but they're very literal. In 35 merger filings, 9,299 dollar amounts matched our pattern, and only 354 of them were actual deal terms.</a:t>
            </a:r>
            <a:endParaRPr/>
          </a:p>
          <a:p>
            <a:pPr indent="-228600" lvl="0" marL="457200" rtl="0" algn="l">
              <a:lnSpc>
                <a:spcPct val="100000"/>
              </a:lnSpc>
              <a:spcBef>
                <a:spcPts val="800"/>
              </a:spcBef>
              <a:spcAft>
                <a:spcPts val="0"/>
              </a:spcAft>
              <a:buSzPts val="1400"/>
              <a:buNone/>
            </a:pPr>
            <a:r>
              <a:rPr b="0" lang="en-US" sz="1200"/>
              <a:t>GLiNER, a small entity-recognition model, is fast and runs on our own machines, but it often grabbed a heading like "Offer Price" instead of the actual price.</a:t>
            </a:r>
            <a:endParaRPr/>
          </a:p>
          <a:p>
            <a:pPr indent="-228600" lvl="0" marL="457200" rtl="0" algn="l">
              <a:lnSpc>
                <a:spcPct val="100000"/>
              </a:lnSpc>
              <a:spcBef>
                <a:spcPts val="800"/>
              </a:spcBef>
              <a:spcAft>
                <a:spcPts val="0"/>
              </a:spcAft>
              <a:buSzPts val="1400"/>
              <a:buNone/>
            </a:pPr>
            <a:r>
              <a:rPr b="0" lang="en-US" sz="1200"/>
              <a:t>A large language model understands context and complex terms really well, but it's slow, and the very longest filings can time out.</a:t>
            </a:r>
            <a:endParaRPr/>
          </a:p>
          <a:p>
            <a:pPr indent="-228600" lvl="0" marL="457200" rtl="0" algn="l">
              <a:lnSpc>
                <a:spcPct val="100000"/>
              </a:lnSpc>
              <a:spcBef>
                <a:spcPts val="800"/>
              </a:spcBef>
              <a:spcAft>
                <a:spcPts val="0"/>
              </a:spcAft>
              <a:buSzPts val="1400"/>
              <a:buNone/>
            </a:pPr>
            <a:r>
              <a:rPr b="0" lang="en-US" sz="1200"/>
              <a:t>And human review is the ground truth, but people can't read thousands of filings.</a:t>
            </a:r>
            <a:endParaRPr/>
          </a:p>
          <a:p>
            <a:pPr indent="-228600" lvl="0" marL="457200" rtl="0" algn="l">
              <a:lnSpc>
                <a:spcPct val="100000"/>
              </a:lnSpc>
              <a:spcBef>
                <a:spcPts val="800"/>
              </a:spcBef>
              <a:spcAft>
                <a:spcPts val="0"/>
              </a:spcAft>
              <a:buSzPts val="1400"/>
              <a:buNone/>
            </a:pPr>
            <a:r>
              <a:rPr b="0" lang="en-US" sz="1200"/>
              <a:t>So we combine them, and let each one do the job it's best at. Moving from left to right, the methods get more expensive and slower, but understand more context.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h3370f97549d1f30d_6_1150:notes"/>
          <p:cNvSpPr/>
          <p:nvPr>
            <p:ph idx="2" type="sldImg"/>
          </p:nvPr>
        </p:nvSpPr>
        <p:spPr>
          <a:xfrm>
            <a:off x="1714500" y="1371600"/>
            <a:ext cx="6858000" cy="6858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3" name="Google Shape;363;h3370f97549d1f30d_6_1150:notes"/>
          <p:cNvSpPr txBox="1"/>
          <p:nvPr>
            <p:ph idx="1" type="body"/>
          </p:nvPr>
        </p:nvSpPr>
        <p:spPr>
          <a:xfrm>
            <a:off x="1371600" y="8686800"/>
            <a:ext cx="7543800" cy="8229600"/>
          </a:xfrm>
          <a:prstGeom prst="rect">
            <a:avLst/>
          </a:prstGeom>
          <a:noFill/>
          <a:ln>
            <a:noFill/>
          </a:ln>
        </p:spPr>
        <p:txBody>
          <a:bodyPr anchorCtr="0" anchor="t" bIns="76175" lIns="152375" spcFirstLastPara="1" rIns="152375" wrap="square" tIns="76175">
            <a:noAutofit/>
          </a:bodyPr>
          <a:lstStyle/>
          <a:p>
            <a:pPr indent="-228600" lvl="0" marL="457200" marR="0" rtl="0" algn="l">
              <a:lnSpc>
                <a:spcPct val="100000"/>
              </a:lnSpc>
              <a:spcBef>
                <a:spcPts val="0"/>
              </a:spcBef>
              <a:spcAft>
                <a:spcPts val="0"/>
              </a:spcAft>
              <a:buClr>
                <a:srgbClr val="000000"/>
              </a:buClr>
              <a:buSzPts val="1400"/>
              <a:buFont typeface="Arial"/>
              <a:buNone/>
            </a:pPr>
            <a:r>
              <a:rPr b="0" lang="en-US" sz="1200"/>
              <a:t>All of this needs data, and there's no labelled dataset for this task. Nobody publishes corporate-action filings with the answers filled in, and BNY can't share theirs. So we built our own from public SEC filings, in three steps.</a:t>
            </a:r>
            <a:endParaRPr/>
          </a:p>
          <a:p>
            <a:pPr indent="-228600" lvl="0" marL="457200" rtl="0" algn="l">
              <a:lnSpc>
                <a:spcPct val="100000"/>
              </a:lnSpc>
              <a:spcBef>
                <a:spcPts val="800"/>
              </a:spcBef>
              <a:spcAft>
                <a:spcPts val="0"/>
              </a:spcAft>
              <a:buSzPts val="1400"/>
              <a:buNone/>
            </a:pPr>
            <a:r>
              <a:rPr b="0" lang="en-US" sz="1200"/>
              <a:t>First, we search the SEC by form type, keyword and date, for all five action types. Second, we download each filing along with its exhibits and clean it into readable text. Third, we use a large language model to pull out each field together with the exact quote that supports it, and we have 571 of those labelled records so far.</a:t>
            </a:r>
            <a:endParaRPr/>
          </a:p>
          <a:p>
            <a:pPr indent="-228600" lvl="0" marL="457200" rtl="0" algn="l">
              <a:lnSpc>
                <a:spcPct val="100000"/>
              </a:lnSpc>
              <a:spcBef>
                <a:spcPts val="800"/>
              </a:spcBef>
              <a:spcAft>
                <a:spcPts val="0"/>
              </a:spcAft>
              <a:buSzPts val="1400"/>
              <a:buNone/>
            </a:pPr>
            <a:r>
              <a:rPr b="0" lang="en-US" sz="1200"/>
              <a:t>That labelled set becomes the reference we score our own pipeline against.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h3370f97549d1f30d_6_1171:notes"/>
          <p:cNvSpPr/>
          <p:nvPr>
            <p:ph idx="2" type="sldImg"/>
          </p:nvPr>
        </p:nvSpPr>
        <p:spPr>
          <a:xfrm>
            <a:off x="1714500" y="1371600"/>
            <a:ext cx="6858000" cy="6858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5" name="Google Shape;385;h3370f97549d1f30d_6_1171:notes"/>
          <p:cNvSpPr txBox="1"/>
          <p:nvPr>
            <p:ph idx="1" type="body"/>
          </p:nvPr>
        </p:nvSpPr>
        <p:spPr>
          <a:xfrm>
            <a:off x="1371600" y="8686800"/>
            <a:ext cx="7543800" cy="8229600"/>
          </a:xfrm>
          <a:prstGeom prst="rect">
            <a:avLst/>
          </a:prstGeom>
          <a:noFill/>
          <a:ln>
            <a:noFill/>
          </a:ln>
        </p:spPr>
        <p:txBody>
          <a:bodyPr anchorCtr="0" anchor="t" bIns="76175" lIns="152375" spcFirstLastPara="1" rIns="152375" wrap="square" tIns="76175">
            <a:noAutofit/>
          </a:bodyPr>
          <a:lstStyle/>
          <a:p>
            <a:pPr indent="-228600" lvl="0" marL="457200" marR="0" rtl="0" algn="l">
              <a:lnSpc>
                <a:spcPct val="100000"/>
              </a:lnSpc>
              <a:spcBef>
                <a:spcPts val="0"/>
              </a:spcBef>
              <a:spcAft>
                <a:spcPts val="0"/>
              </a:spcAft>
              <a:buClr>
                <a:srgbClr val="000000"/>
              </a:buClr>
              <a:buSzPts val="1400"/>
              <a:buFont typeface="Arial"/>
              <a:buNone/>
            </a:pPr>
            <a:r>
              <a:rPr b="0" lang="en-US" sz="1200"/>
              <a:t>Here's what one of those records looks like.</a:t>
            </a:r>
            <a:endParaRPr/>
          </a:p>
          <a:p>
            <a:pPr indent="-228600" lvl="0" marL="457200" rtl="0" algn="l">
              <a:lnSpc>
                <a:spcPct val="100000"/>
              </a:lnSpc>
              <a:spcBef>
                <a:spcPts val="800"/>
              </a:spcBef>
              <a:spcAft>
                <a:spcPts val="0"/>
              </a:spcAft>
              <a:buSzPts val="1400"/>
              <a:buNone/>
            </a:pPr>
            <a:r>
              <a:rPr b="0" lang="en-US" sz="1200"/>
              <a:t>On the left is the actual sentence from Eventbrite's letter to its stockholders, saying holders will receive $4.50 in cash for each share. On the right is the structured record we built from it: the acquirer, the target, the type of payment, the cash per share, the deal status, and whether holders get a choice.</a:t>
            </a:r>
            <a:endParaRPr/>
          </a:p>
          <a:p>
            <a:pPr indent="-228600" lvl="0" marL="457200" rtl="0" algn="l">
              <a:lnSpc>
                <a:spcPct val="100000"/>
              </a:lnSpc>
              <a:spcBef>
                <a:spcPts val="800"/>
              </a:spcBef>
              <a:spcAft>
                <a:spcPts val="0"/>
              </a:spcAft>
              <a:buSzPts val="1400"/>
              <a:buNone/>
            </a:pPr>
            <a:r>
              <a:rPr b="0" lang="en-US" sz="1200"/>
              <a:t>Every value comes with the quote behind it and a score from one to five for how directly that quote supports it. So instead of searching a 200-page document, a reviewer can check each value in seconds.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h3370f97549d1f30d_6_1220:notes"/>
          <p:cNvSpPr/>
          <p:nvPr>
            <p:ph idx="2" type="sldImg"/>
          </p:nvPr>
        </p:nvSpPr>
        <p:spPr>
          <a:xfrm>
            <a:off x="1714500" y="1371600"/>
            <a:ext cx="6858000" cy="6858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5" name="Google Shape;435;h3370f97549d1f30d_6_1220:notes"/>
          <p:cNvSpPr txBox="1"/>
          <p:nvPr>
            <p:ph idx="1" type="body"/>
          </p:nvPr>
        </p:nvSpPr>
        <p:spPr>
          <a:xfrm>
            <a:off x="1371600" y="8686800"/>
            <a:ext cx="7543800" cy="8229600"/>
          </a:xfrm>
          <a:prstGeom prst="rect">
            <a:avLst/>
          </a:prstGeom>
          <a:noFill/>
          <a:ln>
            <a:noFill/>
          </a:ln>
        </p:spPr>
        <p:txBody>
          <a:bodyPr anchorCtr="0" anchor="t" bIns="76175" lIns="152375" spcFirstLastPara="1" rIns="152375" wrap="square" tIns="76175">
            <a:noAutofit/>
          </a:bodyPr>
          <a:lstStyle/>
          <a:p>
            <a:pPr indent="-228600" lvl="0" marL="457200" marR="0" rtl="0" algn="l">
              <a:lnSpc>
                <a:spcPct val="100000"/>
              </a:lnSpc>
              <a:spcBef>
                <a:spcPts val="0"/>
              </a:spcBef>
              <a:spcAft>
                <a:spcPts val="0"/>
              </a:spcAft>
              <a:buClr>
                <a:srgbClr val="000000"/>
              </a:buClr>
              <a:buSzPts val="1400"/>
              <a:buFont typeface="Arial"/>
              <a:buNone/>
            </a:pPr>
            <a:r>
              <a:rPr b="0" lang="en-US" sz="1200"/>
              <a:t>So how do we know the values are right?</a:t>
            </a:r>
            <a:endParaRPr/>
          </a:p>
          <a:p>
            <a:pPr indent="-228600" lvl="0" marL="457200" rtl="0" algn="l">
              <a:lnSpc>
                <a:spcPct val="100000"/>
              </a:lnSpc>
              <a:spcBef>
                <a:spcPts val="800"/>
              </a:spcBef>
              <a:spcAft>
                <a:spcPts val="0"/>
              </a:spcAft>
              <a:buSzPts val="1400"/>
              <a:buNone/>
            </a:pPr>
            <a:r>
              <a:rPr b="0" lang="en-US" sz="1200"/>
              <a:t>Our goal is on the right. Having a large language model read every filing gives good accuracy, but at BNY's scale it's expensive and slow. We want to reach that same level of accuracy at a fraction of the cost. This chart is illustrative, not measured.</a:t>
            </a:r>
            <a:endParaRPr/>
          </a:p>
          <a:p>
            <a:pPr indent="-228600" lvl="0" marL="457200" rtl="0" algn="l">
              <a:lnSpc>
                <a:spcPct val="100000"/>
              </a:lnSpc>
              <a:spcBef>
                <a:spcPts val="800"/>
              </a:spcBef>
              <a:spcAft>
                <a:spcPts val="0"/>
              </a:spcAft>
              <a:buSzPts val="1400"/>
              <a:buNone/>
            </a:pPr>
            <a:r>
              <a:rPr b="0" lang="en-US" sz="1200"/>
              <a:t>We check it in two ways. Before deployment, a language model builds a reference set from the filings, and we spot-check it by hand. Our cheaper pipeline, using rules and GLiNER, learns from that set, and we score it field by field.</a:t>
            </a:r>
            <a:endParaRPr/>
          </a:p>
          <a:p>
            <a:pPr indent="-228600" lvl="0" marL="457200" rtl="0" algn="l">
              <a:lnSpc>
                <a:spcPct val="100000"/>
              </a:lnSpc>
              <a:spcBef>
                <a:spcPts val="800"/>
              </a:spcBef>
              <a:spcAft>
                <a:spcPts val="0"/>
              </a:spcAft>
              <a:buSzPts val="1400"/>
              <a:buNone/>
            </a:pPr>
            <a:r>
              <a:rPr b="0" lang="en-US" sz="1200"/>
              <a:t>After deployment, we take a sample of the live results across different event and filing types and run what we call a backward check. Instead of re-reading the whole filing, we just ask whether the filing actually supports each value we extracted, which is much cheaper. That gives every value a confidence score, and anything with low confidence goes to a person to review. That last part came directly from BNY's feedback: reviewers want to know how closely they need to look.</a:t>
            </a:r>
            <a:endParaRPr/>
          </a:p>
          <a:p>
            <a:pPr indent="-228600" lvl="0" marL="457200" rtl="0" algn="l">
              <a:lnSpc>
                <a:spcPct val="100000"/>
              </a:lnSpc>
              <a:spcBef>
                <a:spcPts val="800"/>
              </a:spcBef>
              <a:spcAft>
                <a:spcPts val="0"/>
              </a:spcAft>
              <a:buSzPts val="1400"/>
              <a:buNone/>
            </a:pPr>
            <a:r>
              <a:rPr b="0" lang="en-US" sz="1200"/>
              <a:t>Let us show you what this looks like in practice.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h3370f97549d1f30d_6_1279:notes"/>
          <p:cNvSpPr/>
          <p:nvPr>
            <p:ph idx="2" type="sldImg"/>
          </p:nvPr>
        </p:nvSpPr>
        <p:spPr>
          <a:xfrm>
            <a:off x="1714500" y="1371600"/>
            <a:ext cx="6858000" cy="6858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5" name="Google Shape;495;h3370f97549d1f30d_6_1279:notes"/>
          <p:cNvSpPr txBox="1"/>
          <p:nvPr>
            <p:ph idx="1" type="body"/>
          </p:nvPr>
        </p:nvSpPr>
        <p:spPr>
          <a:xfrm>
            <a:off x="1371600" y="8686800"/>
            <a:ext cx="7543800" cy="8229600"/>
          </a:xfrm>
          <a:prstGeom prst="rect">
            <a:avLst/>
          </a:prstGeom>
          <a:noFill/>
          <a:ln>
            <a:noFill/>
          </a:ln>
        </p:spPr>
        <p:txBody>
          <a:bodyPr anchorCtr="0" anchor="t" bIns="76175" lIns="152375" spcFirstLastPara="1" rIns="152375" wrap="square" tIns="76175">
            <a:noAutofit/>
          </a:bodyPr>
          <a:lstStyle/>
          <a:p>
            <a:pPr indent="-228600" lvl="0" marL="457200" marR="0" rtl="0" algn="l">
              <a:lnSpc>
                <a:spcPct val="100000"/>
              </a:lnSpc>
              <a:spcBef>
                <a:spcPts val="0"/>
              </a:spcBef>
              <a:spcAft>
                <a:spcPts val="0"/>
              </a:spcAft>
              <a:buClr>
                <a:srgbClr val="000000"/>
              </a:buClr>
              <a:buSzPts val="1400"/>
              <a:buFont typeface="Arial"/>
              <a:buNone/>
            </a:pPr>
            <a:r>
              <a:rPr b="0" lang="en-US" sz="1200"/>
              <a:t>This is our filings monitor. It lists every SEC filing we've processed, with its type, form and status.</a:t>
            </a:r>
            <a:endParaRPr/>
          </a:p>
          <a:p>
            <a:pPr indent="-228600" lvl="0" marL="457200" rtl="0" algn="l">
              <a:lnSpc>
                <a:spcPct val="100000"/>
              </a:lnSpc>
              <a:spcBef>
                <a:spcPts val="800"/>
              </a:spcBef>
              <a:spcAft>
                <a:spcPts val="0"/>
              </a:spcAft>
              <a:buSzPts val="1400"/>
              <a:buNone/>
            </a:pPr>
            <a:r>
              <a:rPr b="0" lang="en-US" sz="1200"/>
              <a:t>When we fetch the latest filings, the system connects to the SEC, finds new filings, downloads them, extracts the terms, links them to existing events, and stores the results.</a:t>
            </a:r>
            <a:endParaRPr/>
          </a:p>
          <a:p>
            <a:pPr indent="-228600" lvl="0" marL="457200" rtl="0" algn="l">
              <a:lnSpc>
                <a:spcPct val="100000"/>
              </a:lnSpc>
              <a:spcBef>
                <a:spcPts val="800"/>
              </a:spcBef>
              <a:spcAft>
                <a:spcPts val="0"/>
              </a:spcAft>
              <a:buSzPts val="1400"/>
              <a:buNone/>
            </a:pPr>
            <a:r>
              <a:rPr b="0" lang="en-US" sz="1200"/>
              <a:t>If we open a merger record, you can see the extracted terms: the parties, the consideration, the conditions and the dates, along with the passage from the filing that each value came from.</a:t>
            </a:r>
            <a:endParaRPr/>
          </a:p>
          <a:p>
            <a:pPr indent="-228600" lvl="0" marL="457200" rtl="0" algn="l">
              <a:lnSpc>
                <a:spcPct val="100000"/>
              </a:lnSpc>
              <a:spcBef>
                <a:spcPts val="800"/>
              </a:spcBef>
              <a:spcAft>
                <a:spcPts val="0"/>
              </a:spcAft>
              <a:buSzPts val="1400"/>
              <a:buNone/>
            </a:pPr>
            <a:r>
              <a:rPr b="0" lang="en-US" sz="1200"/>
              <a:t>This is the version history. When an amendment comes in, the record updates, and you can see exactly what changed. And from here we can always click through to the original filing on the SEC's website, so a person can check the source.</a:t>
            </a:r>
            <a:endParaRPr/>
          </a:p>
          <a:p>
            <a:pPr indent="-228600" lvl="0" marL="457200" rtl="0" algn="l">
              <a:lnSpc>
                <a:spcPct val="100000"/>
              </a:lnSpc>
              <a:spcBef>
                <a:spcPts val="800"/>
              </a:spcBef>
              <a:spcAft>
                <a:spcPts val="0"/>
              </a:spcAft>
              <a:buSzPts val="1400"/>
              <a:buNone/>
            </a:pPr>
            <a:r>
              <a:rPr b="0" lang="en-US" sz="1200"/>
              <a:t>Finally, this is the client side. A client can add a company to their watchlist and get notified whenever there's news on it.</a:t>
            </a:r>
            <a:endParaRPr/>
          </a:p>
          <a:p>
            <a:pPr indent="-228600" lvl="0" marL="457200" rtl="0" algn="l">
              <a:lnSpc>
                <a:spcPct val="100000"/>
              </a:lnSpc>
              <a:spcBef>
                <a:spcPts val="800"/>
              </a:spcBef>
              <a:spcAft>
                <a:spcPts val="0"/>
              </a:spcAft>
              <a:buSzPts val="1400"/>
              <a:buNone/>
            </a:pPr>
            <a:r>
              <a:rPr b="0" lang="en-US" sz="1200"/>
              <a:t>That's where we are today. Here's what we can't claim yet.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h3370f97549d1f30d_6_1286:notes"/>
          <p:cNvSpPr/>
          <p:nvPr>
            <p:ph idx="2" type="sldImg"/>
          </p:nvPr>
        </p:nvSpPr>
        <p:spPr>
          <a:xfrm>
            <a:off x="1714500" y="1371600"/>
            <a:ext cx="6858000" cy="6858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3" name="Google Shape;503;h3370f97549d1f30d_6_1286:notes"/>
          <p:cNvSpPr txBox="1"/>
          <p:nvPr>
            <p:ph idx="1" type="body"/>
          </p:nvPr>
        </p:nvSpPr>
        <p:spPr>
          <a:xfrm>
            <a:off x="1371600" y="8686800"/>
            <a:ext cx="7543800" cy="8229600"/>
          </a:xfrm>
          <a:prstGeom prst="rect">
            <a:avLst/>
          </a:prstGeom>
          <a:noFill/>
          <a:ln>
            <a:noFill/>
          </a:ln>
        </p:spPr>
        <p:txBody>
          <a:bodyPr anchorCtr="0" anchor="t" bIns="76175" lIns="152375" spcFirstLastPara="1" rIns="152375" wrap="square" tIns="76175">
            <a:noAutofit/>
          </a:bodyPr>
          <a:lstStyle/>
          <a:p>
            <a:pPr indent="-228600" lvl="0" marL="457200" marR="0" rtl="0" algn="l">
              <a:lnSpc>
                <a:spcPct val="100000"/>
              </a:lnSpc>
              <a:spcBef>
                <a:spcPts val="0"/>
              </a:spcBef>
              <a:spcAft>
                <a:spcPts val="0"/>
              </a:spcAft>
              <a:buClr>
                <a:srgbClr val="000000"/>
              </a:buClr>
              <a:buSzPts val="1400"/>
              <a:buFont typeface="Arial"/>
              <a:buNone/>
            </a:pPr>
            <a:r>
              <a:rPr b="0" lang="en-US" sz="1200"/>
              <a:t>We want to be upfront about four limitations.</a:t>
            </a:r>
            <a:endParaRPr/>
          </a:p>
          <a:p>
            <a:pPr indent="-228600" lvl="0" marL="457200" rtl="0" algn="l">
              <a:lnSpc>
                <a:spcPct val="100000"/>
              </a:lnSpc>
              <a:spcBef>
                <a:spcPts val="800"/>
              </a:spcBef>
              <a:spcAft>
                <a:spcPts val="0"/>
              </a:spcAft>
              <a:buSzPts val="1400"/>
              <a:buNone/>
            </a:pPr>
            <a:r>
              <a:rPr b="0" lang="en-US" sz="1200"/>
              <a:t>First, we don't have an independent ground truth yet. Our reference set is made by a language model, and nobody has checked it by hand. Next, people will review a sample of the records against the filings.</a:t>
            </a:r>
            <a:endParaRPr/>
          </a:p>
          <a:p>
            <a:pPr indent="-228600" lvl="0" marL="457200" rtl="0" algn="l">
              <a:lnSpc>
                <a:spcPct val="100000"/>
              </a:lnSpc>
              <a:spcBef>
                <a:spcPts val="800"/>
              </a:spcBef>
              <a:spcAft>
                <a:spcPts val="0"/>
              </a:spcAft>
              <a:buSzPts val="1400"/>
              <a:buNone/>
            </a:pPr>
            <a:r>
              <a:rPr b="0" lang="en-US" sz="1200"/>
              <a:t>Second, only part of the scope is built. Two of the five action types have labelled data, tender offers and mergers, and our GLiNER extraction pipeline currently only handles tender offers. Next, we'll extend both to all five types.</a:t>
            </a:r>
            <a:endParaRPr/>
          </a:p>
          <a:p>
            <a:pPr indent="-228600" lvl="0" marL="457200" rtl="0" algn="l">
              <a:lnSpc>
                <a:spcPct val="100000"/>
              </a:lnSpc>
              <a:spcBef>
                <a:spcPts val="800"/>
              </a:spcBef>
              <a:spcAft>
                <a:spcPts val="0"/>
              </a:spcAft>
              <a:buSzPts val="1400"/>
              <a:buNone/>
            </a:pPr>
            <a:r>
              <a:rPr b="0" lang="en-US" sz="1200"/>
              <a:t>Third, a filing is not the same as an event. One deal shows up across many filings and amendments, and we don't link them together yet. That's what event tracking will solve.</a:t>
            </a:r>
            <a:endParaRPr/>
          </a:p>
          <a:p>
            <a:pPr indent="-228600" lvl="0" marL="457200" rtl="0" algn="l">
              <a:lnSpc>
                <a:spcPct val="100000"/>
              </a:lnSpc>
              <a:spcBef>
                <a:spcPts val="800"/>
              </a:spcBef>
              <a:spcAft>
                <a:spcPts val="0"/>
              </a:spcAft>
              <a:buSzPts val="1400"/>
              <a:buNone/>
            </a:pPr>
            <a:r>
              <a:rPr b="0" lang="en-US" sz="1200"/>
              <a:t>And fourth, we have a limited view of BNY's own process. Their internal workflows and data are proprietary, so we can't see exactly how their teams handle corporate actions today. We design from public filings and their feedback, and we'll keep checking our assumptions with BNY's subject matter experts as we build.</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h3370f97549d1f30d_6_1323:notes"/>
          <p:cNvSpPr/>
          <p:nvPr>
            <p:ph idx="2" type="sldImg"/>
          </p:nvPr>
        </p:nvSpPr>
        <p:spPr>
          <a:xfrm>
            <a:off x="1714500" y="1371600"/>
            <a:ext cx="6858000" cy="6858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1" name="Google Shape;541;h3370f97549d1f30d_6_1323:notes"/>
          <p:cNvSpPr txBox="1"/>
          <p:nvPr>
            <p:ph idx="1" type="body"/>
          </p:nvPr>
        </p:nvSpPr>
        <p:spPr>
          <a:xfrm>
            <a:off x="1371600" y="8686800"/>
            <a:ext cx="7543800" cy="8229600"/>
          </a:xfrm>
          <a:prstGeom prst="rect">
            <a:avLst/>
          </a:prstGeom>
          <a:noFill/>
          <a:ln>
            <a:noFill/>
          </a:ln>
        </p:spPr>
        <p:txBody>
          <a:bodyPr anchorCtr="0" anchor="t" bIns="76175" lIns="152375" spcFirstLastPara="1" rIns="152375" wrap="square" tIns="76175">
            <a:noAutofit/>
          </a:bodyPr>
          <a:lstStyle/>
          <a:p>
            <a:pPr indent="-228600" lvl="0" marL="457200" marR="0" rtl="0" algn="l">
              <a:lnSpc>
                <a:spcPct val="100000"/>
              </a:lnSpc>
              <a:spcBef>
                <a:spcPts val="0"/>
              </a:spcBef>
              <a:spcAft>
                <a:spcPts val="0"/>
              </a:spcAft>
              <a:buClr>
                <a:srgbClr val="000000"/>
              </a:buClr>
              <a:buSzPts val="1400"/>
              <a:buFont typeface="Arial"/>
              <a:buNone/>
            </a:pPr>
            <a:r>
              <a:rPr b="0" lang="en-US" sz="1200"/>
              <a:t>Looking ahead, we have three directions, and the scope will keep evolving with BNY's feedback.</a:t>
            </a:r>
            <a:endParaRPr/>
          </a:p>
          <a:p>
            <a:pPr indent="-228600" lvl="0" marL="457200" rtl="0" algn="l">
              <a:lnSpc>
                <a:spcPct val="100000"/>
              </a:lnSpc>
              <a:spcBef>
                <a:spcPts val="800"/>
              </a:spcBef>
              <a:spcAft>
                <a:spcPts val="0"/>
              </a:spcAft>
              <a:buSzPts val="1400"/>
              <a:buNone/>
            </a:pPr>
            <a:r>
              <a:rPr b="0" lang="en-US" sz="1200"/>
              <a:t>First, verify and expand: reviewing the reference set by hand, adding exchange offers, rights issues and conversions, and screening out filings that aren't real events.</a:t>
            </a:r>
            <a:endParaRPr/>
          </a:p>
          <a:p>
            <a:pPr indent="-228600" lvl="0" marL="457200" rtl="0" algn="l">
              <a:lnSpc>
                <a:spcPct val="100000"/>
              </a:lnSpc>
              <a:spcBef>
                <a:spcPts val="800"/>
              </a:spcBef>
              <a:spcAft>
                <a:spcPts val="0"/>
              </a:spcAft>
              <a:buSzPts val="1400"/>
              <a:buNone/>
            </a:pPr>
            <a:r>
              <a:rPr b="0" lang="en-US" sz="1200"/>
              <a:t>Second, tracking each event over time. The original filing and every amendment should feed one event history that always shows the current terms and everything that changed. We're exploring two ways to do this: RAG, which retrieves an event's earlier filings whenever a new one arrives, and Hindsight, an agent memory that keeps track of each event's current state.</a:t>
            </a:r>
            <a:endParaRPr/>
          </a:p>
          <a:p>
            <a:pPr indent="-228600" lvl="0" marL="457200" rtl="0" algn="l">
              <a:lnSpc>
                <a:spcPct val="100000"/>
              </a:lnSpc>
              <a:spcBef>
                <a:spcPts val="800"/>
              </a:spcBef>
              <a:spcAft>
                <a:spcPts val="0"/>
              </a:spcAft>
              <a:buSzPts val="1400"/>
              <a:buNone/>
            </a:pPr>
            <a:r>
              <a:rPr b="0" lang="en-US" sz="1200"/>
              <a:t>Third, building the downstream tasks BNY actually uses: drafting client notifications, sending alerts when an amendment changes the terms, and a queue of uncertain cases for people to review.</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h3370f97549d1f30d_6_1380:notes"/>
          <p:cNvSpPr/>
          <p:nvPr>
            <p:ph idx="2" type="sldImg"/>
          </p:nvPr>
        </p:nvSpPr>
        <p:spPr>
          <a:xfrm>
            <a:off x="1714500" y="1371600"/>
            <a:ext cx="6858000" cy="6858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9" name="Google Shape;599;h3370f97549d1f30d_6_1380:notes"/>
          <p:cNvSpPr txBox="1"/>
          <p:nvPr>
            <p:ph idx="1" type="body"/>
          </p:nvPr>
        </p:nvSpPr>
        <p:spPr>
          <a:xfrm>
            <a:off x="1371600" y="8686800"/>
            <a:ext cx="7543800" cy="8229600"/>
          </a:xfrm>
          <a:prstGeom prst="rect">
            <a:avLst/>
          </a:prstGeom>
          <a:noFill/>
          <a:ln>
            <a:noFill/>
          </a:ln>
        </p:spPr>
        <p:txBody>
          <a:bodyPr anchorCtr="0" anchor="t" bIns="76175" lIns="152375" spcFirstLastPara="1" rIns="152375" wrap="square" tIns="76175">
            <a:noAutofit/>
          </a:bodyPr>
          <a:lstStyle/>
          <a:p>
            <a:pPr indent="-228600" lvl="0" marL="457200" marR="0" rtl="0" algn="l">
              <a:lnSpc>
                <a:spcPct val="100000"/>
              </a:lnSpc>
              <a:spcBef>
                <a:spcPts val="0"/>
              </a:spcBef>
              <a:spcAft>
                <a:spcPts val="0"/>
              </a:spcAft>
              <a:buClr>
                <a:srgbClr val="000000"/>
              </a:buClr>
              <a:buSzPts val="1400"/>
              <a:buFont typeface="Arial"/>
              <a:buNone/>
            </a:pPr>
            <a:r>
              <a:rPr b="0" lang="en-US" sz="1200"/>
              <a:t>So what does BNY actually get from this?</a:t>
            </a:r>
            <a:endParaRPr/>
          </a:p>
          <a:p>
            <a:pPr indent="-228600" lvl="0" marL="457200" rtl="0" algn="l">
              <a:lnSpc>
                <a:spcPct val="100000"/>
              </a:lnSpc>
              <a:spcBef>
                <a:spcPts val="800"/>
              </a:spcBef>
              <a:spcAft>
                <a:spcPts val="0"/>
              </a:spcAft>
              <a:buSzPts val="1400"/>
              <a:buNone/>
            </a:pPr>
            <a:r>
              <a:rPr b="0" lang="en-US" sz="1200"/>
              <a:t>Not a one-off model, but a set of reusable tools. The SEC loader is built. The reference dataset covers two of the five types so far. The extraction pipeline is built for tender offers. The evaluation setup is designed. And the ROI model has its framework in place.</a:t>
            </a:r>
            <a:endParaRPr/>
          </a:p>
          <a:p>
            <a:pPr indent="-228600" lvl="0" marL="457200" rtl="0" algn="l">
              <a:lnSpc>
                <a:spcPct val="100000"/>
              </a:lnSpc>
              <a:spcBef>
                <a:spcPts val="800"/>
              </a:spcBef>
              <a:spcAft>
                <a:spcPts val="0"/>
              </a:spcAft>
              <a:buSzPts val="1400"/>
              <a:buNone/>
            </a:pPr>
            <a:r>
              <a:rPr b="0" lang="en-US" sz="1200"/>
              <a:t>What ties them all together is that every value can be traced back to its source. That's what a bank needs before it can trust automation.</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h3370f97549d1f30d_6_1423:notes"/>
          <p:cNvSpPr/>
          <p:nvPr>
            <p:ph idx="2" type="sldImg"/>
          </p:nvPr>
        </p:nvSpPr>
        <p:spPr>
          <a:xfrm>
            <a:off x="1714500" y="1371600"/>
            <a:ext cx="6858000" cy="6858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3" name="Google Shape;643;h3370f97549d1f30d_6_1423:notes"/>
          <p:cNvSpPr txBox="1"/>
          <p:nvPr>
            <p:ph idx="1" type="body"/>
          </p:nvPr>
        </p:nvSpPr>
        <p:spPr>
          <a:xfrm>
            <a:off x="1371600" y="8686800"/>
            <a:ext cx="7543800" cy="8229600"/>
          </a:xfrm>
          <a:prstGeom prst="rect">
            <a:avLst/>
          </a:prstGeom>
          <a:noFill/>
          <a:ln>
            <a:noFill/>
          </a:ln>
        </p:spPr>
        <p:txBody>
          <a:bodyPr anchorCtr="0" anchor="t" bIns="76175" lIns="152375" spcFirstLastPara="1" rIns="152375" wrap="square" tIns="76175">
            <a:noAutofit/>
          </a:bodyPr>
          <a:lstStyle/>
          <a:p>
            <a:pPr indent="-228600" lvl="0" marL="457200" marR="0" rtl="0" algn="l">
              <a:lnSpc>
                <a:spcPct val="100000"/>
              </a:lnSpc>
              <a:spcBef>
                <a:spcPts val="0"/>
              </a:spcBef>
              <a:spcAft>
                <a:spcPts val="0"/>
              </a:spcAft>
              <a:buClr>
                <a:srgbClr val="000000"/>
              </a:buClr>
              <a:buSzPts val="1400"/>
              <a:buFont typeface="Arial"/>
              <a:buNone/>
            </a:pPr>
            <a:r>
              <a:rPr b="0" lang="en-US" sz="1200"/>
              <a:t>Thank you so much for listening. We'd love to take your questions.</a:t>
            </a:r>
            <a:endParaRPr/>
          </a:p>
          <a:p>
            <a:pPr indent="-228600" lvl="0" marL="457200" rtl="0" algn="l">
              <a:lnSpc>
                <a:spcPct val="100000"/>
              </a:lnSpc>
              <a:spcBef>
                <a:spcPts val="800"/>
              </a:spcBef>
              <a:spcAft>
                <a:spcPts val="0"/>
              </a:spcAft>
              <a:buSzPts val="1400"/>
              <a:buNone/>
            </a:pPr>
            <a:r>
              <a:rPr b="0" lang="en-US" sz="1200"/>
              <a:t>Why not just use ChatGPT on every filing? It actually works fairly well, but at BNY's volume it's expensive and slow, it can make things up, and it's hard to audit. We use the language model to teach and check a cheaper pipeline instead.</a:t>
            </a:r>
            <a:endParaRPr/>
          </a:p>
          <a:p>
            <a:pPr indent="-228600" lvl="0" marL="457200" rtl="0" algn="l">
              <a:lnSpc>
                <a:spcPct val="100000"/>
              </a:lnSpc>
              <a:spcBef>
                <a:spcPts val="800"/>
              </a:spcBef>
              <a:spcAft>
                <a:spcPts val="0"/>
              </a:spcAft>
              <a:buSzPts val="1400"/>
              <a:buNone/>
            </a:pPr>
            <a:r>
              <a:rPr b="0" lang="en-US" sz="1200"/>
              <a:t>How accurate is it? We don't have an accuracy number yet. Reviewing a sample by hand is our next step, and our evaluation setup is built to measure exactly that.</a:t>
            </a:r>
            <a:endParaRPr/>
          </a:p>
          <a:p>
            <a:pPr indent="-228600" lvl="0" marL="457200" rtl="0" algn="l">
              <a:lnSpc>
                <a:spcPct val="100000"/>
              </a:lnSpc>
              <a:spcBef>
                <a:spcPts val="800"/>
              </a:spcBef>
              <a:spcAft>
                <a:spcPts val="0"/>
              </a:spcAft>
              <a:buSzPts val="1400"/>
              <a:buNone/>
            </a:pPr>
            <a:r>
              <a:rPr b="0" lang="en-US" sz="1200"/>
              <a:t>Why only public SEC data? BNY can't share client data, so anything only BNY would know stays blank rather than guessed.</a:t>
            </a:r>
            <a:endParaRPr/>
          </a:p>
          <a:p>
            <a:pPr indent="-228600" lvl="0" marL="457200" rtl="0" algn="l">
              <a:lnSpc>
                <a:spcPct val="100000"/>
              </a:lnSpc>
              <a:spcBef>
                <a:spcPts val="800"/>
              </a:spcBef>
              <a:spcAft>
                <a:spcPts val="0"/>
              </a:spcAft>
              <a:buSzPts val="1400"/>
              <a:buNone/>
            </a:pPr>
            <a:r>
              <a:rPr b="0" lang="en-US" sz="1200"/>
              <a:t>How do you handle amendments? Right now each filing is its own record. Linking filings into one event history is our next major step.</a:t>
            </a:r>
            <a:endParaRPr/>
          </a:p>
          <a:p>
            <a:pPr indent="-228600" lvl="0" marL="457200" rtl="0" algn="l">
              <a:lnSpc>
                <a:spcPct val="100000"/>
              </a:lnSpc>
              <a:spcBef>
                <a:spcPts val="800"/>
              </a:spcBef>
              <a:spcAft>
                <a:spcPts val="0"/>
              </a:spcAft>
              <a:buSzPts val="1400"/>
              <a:buNone/>
            </a:pPr>
            <a:r>
              <a:rPr b="0" lang="en-US" sz="1200"/>
              <a:t>What happens when the system isn't sure? Every value gets a confidence score, and low-confidence values go to a person.</a:t>
            </a:r>
            <a:endParaRPr/>
          </a:p>
          <a:p>
            <a:pPr indent="-228600" lvl="0" marL="457200" rtl="0" algn="l">
              <a:lnSpc>
                <a:spcPct val="100000"/>
              </a:lnSpc>
              <a:spcBef>
                <a:spcPts val="800"/>
              </a:spcBef>
              <a:spcAft>
                <a:spcPts val="0"/>
              </a:spcAft>
              <a:buSzPts val="1400"/>
              <a:buNone/>
            </a:pPr>
            <a:r>
              <a:rPr b="0" lang="en-US" sz="1200"/>
              <a:t>What about dates? BNY told us dates like record dates, election deadlines and payment dates are the most critical fields, because a wrong deadline is the costliest mistake. Adding them is a current priority.</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h3370f97549d1f30d_6_14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9" name="Google Shape;659;h3370f97549d1f30d_6_14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0" name="Google Shape;660;h3370f97549d1f30d_6_14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h3370f97549d1f30d_6_686:notes"/>
          <p:cNvSpPr/>
          <p:nvPr>
            <p:ph idx="2" type="sldImg"/>
          </p:nvPr>
        </p:nvSpPr>
        <p:spPr>
          <a:xfrm>
            <a:off x="1714500" y="1371600"/>
            <a:ext cx="6858000" cy="6858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5" name="Google Shape;665;h3370f97549d1f30d_6_686:notes"/>
          <p:cNvSpPr txBox="1"/>
          <p:nvPr>
            <p:ph idx="1" type="body"/>
          </p:nvPr>
        </p:nvSpPr>
        <p:spPr>
          <a:xfrm>
            <a:off x="1371600" y="8686800"/>
            <a:ext cx="7543800" cy="8229600"/>
          </a:xfrm>
          <a:prstGeom prst="rect">
            <a:avLst/>
          </a:prstGeom>
          <a:noFill/>
          <a:ln>
            <a:noFill/>
          </a:ln>
        </p:spPr>
        <p:txBody>
          <a:bodyPr anchorCtr="0" anchor="t" bIns="76175" lIns="152375" spcFirstLastPara="1" rIns="152375" wrap="square" tIns="76175">
            <a:noAutofit/>
          </a:bodyPr>
          <a:lstStyle/>
          <a:p>
            <a:pPr indent="0" lvl="0" marL="381000" rtl="0" algn="l">
              <a:spcBef>
                <a:spcPts val="0"/>
              </a:spcBef>
              <a:spcAft>
                <a:spcPts val="0"/>
              </a:spcAft>
              <a:buNone/>
            </a:pPr>
            <a:r>
              <a:rPr lang="en-US" sz="2000">
                <a:solidFill>
                  <a:srgbClr val="04243C"/>
                </a:solidFill>
              </a:rPr>
              <a:t>TIME: ~45 sec</a:t>
            </a:r>
            <a:endParaRPr/>
          </a:p>
          <a:p>
            <a:pPr indent="0" lvl="0" marL="381000" rtl="0" algn="l">
              <a:spcBef>
                <a:spcPts val="0"/>
              </a:spcBef>
              <a:spcAft>
                <a:spcPts val="0"/>
              </a:spcAft>
              <a:buNone/>
            </a:pPr>
            <a:r>
              <a:rPr lang="en-US" sz="2000">
                <a:solidFill>
                  <a:srgbClr val="04243C"/>
                </a:solidFill>
              </a:rPr>
              <a:t>GOAL: Share early results honestly.</a:t>
            </a:r>
            <a:endParaRPr/>
          </a:p>
          <a:p>
            <a:pPr indent="0" lvl="0" marL="381000" rtl="0" algn="l">
              <a:spcBef>
                <a:spcPts val="0"/>
              </a:spcBef>
              <a:spcAft>
                <a:spcPts val="0"/>
              </a:spcAft>
              <a:buNone/>
            </a:pPr>
            <a:r>
              <a:t/>
            </a:r>
            <a:endParaRPr sz="2000">
              <a:solidFill>
                <a:srgbClr val="04243C"/>
              </a:solidFill>
            </a:endParaRPr>
          </a:p>
          <a:p>
            <a:pPr indent="0" lvl="0" marL="381000" rtl="0" algn="l">
              <a:spcBef>
                <a:spcPts val="0"/>
              </a:spcBef>
              <a:spcAft>
                <a:spcPts val="0"/>
              </a:spcAft>
              <a:buNone/>
            </a:pPr>
            <a:r>
              <a:rPr lang="en-US" sz="2000">
                <a:solidFill>
                  <a:srgbClr val="04243C"/>
                </a:solidFill>
              </a:rPr>
              <a:t>SAY:</a:t>
            </a:r>
            <a:endParaRPr/>
          </a:p>
          <a:p>
            <a:pPr indent="0" lvl="0" marL="381000" rtl="0" algn="l">
              <a:spcBef>
                <a:spcPts val="0"/>
              </a:spcBef>
              <a:spcAft>
                <a:spcPts val="0"/>
              </a:spcAft>
              <a:buNone/>
            </a:pPr>
            <a:r>
              <a:rPr lang="en-US" sz="2000">
                <a:solidFill>
                  <a:srgbClr val="04243C"/>
                </a:solidFill>
              </a:rPr>
              <a:t>• "This is the share of records where the LLM found a value, for tender offers and mergers."</a:t>
            </a:r>
            <a:endParaRPr/>
          </a:p>
          <a:p>
            <a:pPr indent="0" lvl="0" marL="381000" rtl="0" algn="l">
              <a:spcBef>
                <a:spcPts val="0"/>
              </a:spcBef>
              <a:spcAft>
                <a:spcPts val="0"/>
              </a:spcAft>
              <a:buNone/>
            </a:pPr>
            <a:r>
              <a:rPr lang="en-US" sz="2000">
                <a:solidFill>
                  <a:srgbClr val="04243C"/>
                </a:solidFill>
              </a:rPr>
              <a:t>• Teal bars, the core terms (parties, price, expiration date), are filled in roughly 80 to 100 percent of records.</a:t>
            </a:r>
            <a:endParaRPr/>
          </a:p>
          <a:p>
            <a:pPr indent="0" lvl="0" marL="381000" rtl="0" algn="l">
              <a:spcBef>
                <a:spcPts val="0"/>
              </a:spcBef>
              <a:spcAft>
                <a:spcPts val="0"/>
              </a:spcAft>
              <a:buNone/>
            </a:pPr>
            <a:r>
              <a:rPr lang="en-US" sz="2000">
                <a:solidFill>
                  <a:srgbClr val="04243C"/>
                </a:solidFill>
              </a:rPr>
              <a:t>• Sand bars are low, but low isn't failure: many terms don't apply to every deal. Election deadlines only exist when holders get a choice, and only 2 of our merger records offered one.</a:t>
            </a:r>
            <a:endParaRPr/>
          </a:p>
          <a:p>
            <a:pPr indent="0" lvl="0" marL="381000" rtl="0" algn="l">
              <a:spcBef>
                <a:spcPts val="0"/>
              </a:spcBef>
              <a:spcAft>
                <a:spcPts val="0"/>
              </a:spcAft>
              <a:buNone/>
            </a:pPr>
            <a:r>
              <a:rPr lang="en-US" sz="2000">
                <a:solidFill>
                  <a:srgbClr val="04243C"/>
                </a:solidFill>
              </a:rPr>
              <a:t>• "Found isn't the same as correct. Human review is what measures accuracy, and that's next."</a:t>
            </a:r>
            <a:endParaRPr/>
          </a:p>
          <a:p>
            <a:pPr indent="0" lvl="0" marL="381000" rtl="0" algn="l">
              <a:spcBef>
                <a:spcPts val="0"/>
              </a:spcBef>
              <a:spcAft>
                <a:spcPts val="0"/>
              </a:spcAft>
              <a:buNone/>
            </a:pPr>
            <a:r>
              <a:t/>
            </a:r>
            <a:endParaRPr sz="2000">
              <a:solidFill>
                <a:srgbClr val="04243C"/>
              </a:solidFill>
            </a:endParaRPr>
          </a:p>
          <a:p>
            <a:pPr indent="0" lvl="0" marL="381000" rtl="0" algn="l">
              <a:spcBef>
                <a:spcPts val="0"/>
              </a:spcBef>
              <a:spcAft>
                <a:spcPts val="0"/>
              </a:spcAft>
              <a:buNone/>
            </a:pPr>
            <a:r>
              <a:rPr lang="en-US" sz="2000">
                <a:solidFill>
                  <a:srgbClr val="04243C"/>
                </a:solidFill>
              </a:rPr>
              <a:t>CAREFUL: Don't call these accuracy numbers. They are coverage.</a:t>
            </a:r>
            <a:endParaRPr/>
          </a:p>
          <a:p>
            <a:pPr indent="0" lvl="0" marL="381000" rtl="0" algn="l">
              <a:spcBef>
                <a:spcPts val="0"/>
              </a:spcBef>
              <a:spcAft>
                <a:spcPts val="0"/>
              </a:spcAft>
              <a:buNone/>
            </a:pPr>
            <a:r>
              <a:t/>
            </a:r>
            <a:endParaRPr sz="2000">
              <a:solidFill>
                <a:srgbClr val="04243C"/>
              </a:solidFill>
            </a:endParaRPr>
          </a:p>
          <a:p>
            <a:pPr indent="0" lvl="0" marL="381000" rtl="0" algn="l">
              <a:spcBef>
                <a:spcPts val="0"/>
              </a:spcBef>
              <a:spcAft>
                <a:spcPts val="0"/>
              </a:spcAft>
              <a:buNone/>
            </a:pPr>
            <a:r>
              <a:rPr lang="en-US" sz="2000">
                <a:solidFill>
                  <a:srgbClr val="04243C"/>
                </a:solidFill>
              </a:rPr>
              <a:t>HAND OFF: "Let's show you what this looks like in practice." Switch to the demo.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h3370f97549d1f30d_6_701:notes"/>
          <p:cNvSpPr/>
          <p:nvPr>
            <p:ph idx="2" type="sldImg"/>
          </p:nvPr>
        </p:nvSpPr>
        <p:spPr>
          <a:xfrm>
            <a:off x="571950" y="1371600"/>
            <a:ext cx="9144000" cy="6858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1" name="Google Shape;681;h3370f97549d1f30d_6_701:notes"/>
          <p:cNvSpPr txBox="1"/>
          <p:nvPr>
            <p:ph idx="1" type="body"/>
          </p:nvPr>
        </p:nvSpPr>
        <p:spPr>
          <a:xfrm>
            <a:off x="1028700" y="8686800"/>
            <a:ext cx="8229600" cy="8229600"/>
          </a:xfrm>
          <a:prstGeom prst="rect">
            <a:avLst/>
          </a:prstGeom>
          <a:noFill/>
          <a:ln>
            <a:noFill/>
          </a:ln>
        </p:spPr>
        <p:txBody>
          <a:bodyPr anchorCtr="0" anchor="t" bIns="45700" lIns="91425" spcFirstLastPara="1" rIns="91425" wrap="square" tIns="45700">
            <a:noAutofit/>
          </a:bodyPr>
          <a:lstStyle/>
          <a:p>
            <a:pPr indent="0" lvl="0" marL="762000" rtl="0" algn="l">
              <a:lnSpc>
                <a:spcPct val="115000"/>
              </a:lnSpc>
              <a:spcBef>
                <a:spcPts val="2000"/>
              </a:spcBef>
              <a:spcAft>
                <a:spcPts val="0"/>
              </a:spcAft>
              <a:buSzPts val="1400"/>
              <a:buNone/>
            </a:pPr>
            <a:r>
              <a:rPr lang="en-US"/>
              <a:t>Kedar</a:t>
            </a:r>
            <a:endParaRPr/>
          </a:p>
          <a:p>
            <a:pPr indent="-381000" lvl="0" marL="762000" rtl="0" algn="l">
              <a:lnSpc>
                <a:spcPct val="115000"/>
              </a:lnSpc>
              <a:spcBef>
                <a:spcPts val="2000"/>
              </a:spcBef>
              <a:spcAft>
                <a:spcPts val="0"/>
              </a:spcAft>
              <a:buClr>
                <a:schemeClr val="dk1"/>
              </a:buClr>
              <a:buSzPts val="1400"/>
              <a:buNone/>
            </a:pPr>
            <a:r>
              <a:rPr lang="en-US"/>
              <a:t>One challenge is that there is not a reliable labeled ground-truth dataset for all of the corporate actions we are working with.</a:t>
            </a:r>
            <a:endParaRPr/>
          </a:p>
          <a:p>
            <a:pPr indent="-381000" lvl="0" marL="762000" rtl="0" algn="l">
              <a:lnSpc>
                <a:spcPct val="115000"/>
              </a:lnSpc>
              <a:spcBef>
                <a:spcPts val="2000"/>
              </a:spcBef>
              <a:spcAft>
                <a:spcPts val="0"/>
              </a:spcAft>
              <a:buClr>
                <a:schemeClr val="dk1"/>
              </a:buClr>
              <a:buSzPts val="1400"/>
              <a:buNone/>
            </a:pPr>
            <a:r>
              <a:rPr lang="en-US"/>
              <a:t>We are therefore creating a standardized reference dataset from historical SEC filings.</a:t>
            </a:r>
            <a:endParaRPr/>
          </a:p>
          <a:p>
            <a:pPr indent="-381000" lvl="0" marL="762000" rtl="0" algn="l">
              <a:lnSpc>
                <a:spcPct val="115000"/>
              </a:lnSpc>
              <a:spcBef>
                <a:spcPts val="2000"/>
              </a:spcBef>
              <a:spcAft>
                <a:spcPts val="0"/>
              </a:spcAft>
              <a:buClr>
                <a:schemeClr val="dk1"/>
              </a:buClr>
              <a:buSzPts val="1400"/>
              <a:buNone/>
            </a:pPr>
            <a:r>
              <a:rPr lang="en-US"/>
              <a:t>We use the same schema and prompt across filings, run them through an LLM, normalize the outputs, and retain the supporting source passages.</a:t>
            </a:r>
            <a:endParaRPr/>
          </a:p>
          <a:p>
            <a:pPr indent="-381000" lvl="0" marL="762000" rtl="0" algn="l">
              <a:lnSpc>
                <a:spcPct val="115000"/>
              </a:lnSpc>
              <a:spcBef>
                <a:spcPts val="2000"/>
              </a:spcBef>
              <a:spcAft>
                <a:spcPts val="0"/>
              </a:spcAft>
              <a:buClr>
                <a:schemeClr val="dk1"/>
              </a:buClr>
              <a:buSzPts val="1400"/>
              <a:buNone/>
            </a:pPr>
            <a:r>
              <a:rPr lang="en-US"/>
              <a:t>Ambiguous examples can then be manually reviewed.</a:t>
            </a:r>
            <a:endParaRPr/>
          </a:p>
          <a:p>
            <a:pPr indent="-381000" lvl="0" marL="762000" rtl="0" algn="l">
              <a:lnSpc>
                <a:spcPct val="115000"/>
              </a:lnSpc>
              <a:spcBef>
                <a:spcPts val="2000"/>
              </a:spcBef>
              <a:spcAft>
                <a:spcPts val="0"/>
              </a:spcAft>
              <a:buClr>
                <a:schemeClr val="dk1"/>
              </a:buClr>
              <a:buSzPts val="1400"/>
              <a:buNone/>
            </a:pPr>
            <a:r>
              <a:rPr lang="en-US"/>
              <a:t>This gives us a scalable benchmark for measuring extraction accuracy, completeness, grounding, and amendment handling. 10_16 BNY Client Demo</a:t>
            </a:r>
            <a:endParaRPr/>
          </a:p>
          <a:p>
            <a:pPr indent="0" lvl="0" marL="0" rtl="0" algn="l">
              <a:lnSpc>
                <a:spcPct val="100000"/>
              </a:lnSpc>
              <a:spcBef>
                <a:spcPts val="200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h3370f97549d1f30d_6_760:notes"/>
          <p:cNvSpPr/>
          <p:nvPr>
            <p:ph idx="2" type="sldImg"/>
          </p:nvPr>
        </p:nvSpPr>
        <p:spPr>
          <a:xfrm>
            <a:off x="1714500" y="1371600"/>
            <a:ext cx="6858000" cy="6858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1" name="Google Shape;741;h3370f97549d1f30d_6_760:notes"/>
          <p:cNvSpPr txBox="1"/>
          <p:nvPr>
            <p:ph idx="1" type="body"/>
          </p:nvPr>
        </p:nvSpPr>
        <p:spPr>
          <a:xfrm>
            <a:off x="1371600" y="8686800"/>
            <a:ext cx="7543800" cy="8229600"/>
          </a:xfrm>
          <a:prstGeom prst="rect">
            <a:avLst/>
          </a:prstGeom>
          <a:noFill/>
          <a:ln>
            <a:noFill/>
          </a:ln>
        </p:spPr>
        <p:txBody>
          <a:bodyPr anchorCtr="0" anchor="t" bIns="76175" lIns="152375" spcFirstLastPara="1" rIns="152375" wrap="square" tIns="76175">
            <a:noAutofit/>
          </a:bodyPr>
          <a:lstStyle/>
          <a:p>
            <a:pPr indent="0" lvl="0" marL="381000" marR="0" rtl="0" algn="l">
              <a:spcBef>
                <a:spcPts val="0"/>
              </a:spcBef>
              <a:spcAft>
                <a:spcPts val="0"/>
              </a:spcAft>
              <a:buNone/>
            </a:pPr>
            <a:r>
              <a:rPr lang="en-US" sz="2000">
                <a:solidFill>
                  <a:srgbClr val="04243C"/>
                </a:solidFill>
              </a:rPr>
              <a:t>We search the SEC full-text system by form, keyword and filing date. Search hits are documents, not deals, so we sample across forms and keep the full text, including exhibits. Tender filings are much shorter, so almost all extracted on the first try.</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h3370f97549d1f30d_6_8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2" name="Google Shape;782;h3370f97549d1f30d_6_8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3" name="Google Shape;783;h3370f97549d1f30d_6_8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8" name="Google Shape;78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SECTION DIVIDER: use between topics or before the Appendix.</a:t>
            </a:r>
            <a:endParaRPr/>
          </a:p>
        </p:txBody>
      </p:sp>
      <p:sp>
        <p:nvSpPr>
          <p:cNvPr id="789" name="Google Shape;78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6" name="Google Shape;79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TITLE + BULLETS: simple text slide with a visual card on the right.</a:t>
            </a:r>
            <a:endParaRPr/>
          </a:p>
        </p:txBody>
      </p:sp>
      <p:sp>
        <p:nvSpPr>
          <p:cNvPr id="797" name="Google Shape;797;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7" name="Google Shape;80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THREE CARDS: problem statement style. Bottom row = 4 numbered steps.</a:t>
            </a:r>
            <a:endParaRPr/>
          </a:p>
        </p:txBody>
      </p:sp>
      <p:sp>
        <p:nvSpPr>
          <p:cNvPr id="808" name="Google Shape;808;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8" name="Google Shape;83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PIPELINE: 8 numbered steps in two rows. Delete steps you do not need.</a:t>
            </a:r>
            <a:endParaRPr/>
          </a:p>
        </p:txBody>
      </p:sp>
      <p:sp>
        <p:nvSpPr>
          <p:cNvPr id="839" name="Google Shape;83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3" name="Google Shape;883;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DEMO: delete the placeholder box and paste a screenshot in its place.</a:t>
            </a:r>
            <a:endParaRPr/>
          </a:p>
        </p:txBody>
      </p:sp>
      <p:sp>
        <p:nvSpPr>
          <p:cNvPr id="884" name="Google Shape;884;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2" name="Google Shape;892;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APPROACH + WHY: five horizontal steps on top, two rationale cards below.</a:t>
            </a:r>
            <a:endParaRPr/>
          </a:p>
        </p:txBody>
      </p:sp>
      <p:sp>
        <p:nvSpPr>
          <p:cNvPr id="893" name="Google Shape;893;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9" name="Google Shape;929;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TWO COLUMNS: methodology, before/after, pros/cons, etc.</a:t>
            </a:r>
            <a:endParaRPr/>
          </a:p>
        </p:txBody>
      </p:sp>
      <p:sp>
        <p:nvSpPr>
          <p:cNvPr id="930" name="Google Shape;930;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4" name="Google Shape;944;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SWIMLANES: two labeled streams, three stages each.</a:t>
            </a:r>
            <a:endParaRPr/>
          </a:p>
        </p:txBody>
      </p:sp>
      <p:sp>
        <p:nvSpPr>
          <p:cNvPr id="945" name="Google Shape;945;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3" name="Google Shape;983;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STEP COLUMNS: five tinted headers, then a navy takeaway banner.</a:t>
            </a:r>
            <a:endParaRPr/>
          </a:p>
        </p:txBody>
      </p:sp>
      <p:sp>
        <p:nvSpPr>
          <p:cNvPr id="984" name="Google Shape;984;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2" name="Google Shape;1022;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STATS: big numbers with short labels. Keep to 3 or 4.</a:t>
            </a:r>
            <a:endParaRPr/>
          </a:p>
        </p:txBody>
      </p:sp>
      <p:sp>
        <p:nvSpPr>
          <p:cNvPr id="1023" name="Google Shape;1023;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7" name="Google Shape;1047;p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TABLE: edit cells directly; add rows by copying a row in PowerPoint.</a:t>
            </a:r>
            <a:endParaRPr/>
          </a:p>
        </p:txBody>
      </p:sp>
      <p:sp>
        <p:nvSpPr>
          <p:cNvPr id="1048" name="Google Shape;1048;p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5" name="Google Shape;1055;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CHART: right-click the chart and choose Edit Data to change the numbers.</a:t>
            </a:r>
            <a:endParaRPr/>
          </a:p>
        </p:txBody>
      </p:sp>
      <p:sp>
        <p:nvSpPr>
          <p:cNvPr id="1056" name="Google Shape;1056;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 name="Shape 1065"/>
        <p:cNvGrpSpPr/>
        <p:nvPr/>
      </p:nvGrpSpPr>
      <p:grpSpPr>
        <a:xfrm>
          <a:off x="0" y="0"/>
          <a:ext cx="0" cy="0"/>
          <a:chOff x="0" y="0"/>
          <a:chExt cx="0" cy="0"/>
        </a:xfrm>
      </p:grpSpPr>
      <p:sp>
        <p:nvSpPr>
          <p:cNvPr id="1066" name="Google Shape;106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7" name="Google Shape;1067;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DISCUSSION LIST: numbered rows, up to five.</a:t>
            </a:r>
            <a:endParaRPr/>
          </a:p>
        </p:txBody>
      </p:sp>
      <p:sp>
        <p:nvSpPr>
          <p:cNvPr id="1068" name="Google Shape;1068;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9" name="Google Shape;1089;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CLOSING SLIDE: replace the team and presenter names.</a:t>
            </a:r>
            <a:endParaRPr/>
          </a:p>
        </p:txBody>
      </p:sp>
      <p:sp>
        <p:nvSpPr>
          <p:cNvPr id="1090" name="Google Shape;1090;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p32:notes"/>
          <p:cNvSpPr/>
          <p:nvPr>
            <p:ph idx="2" type="sldImg"/>
          </p:nvPr>
        </p:nvSpPr>
        <p:spPr>
          <a:xfrm>
            <a:off x="0" y="0"/>
            <a:ext cx="4500000" cy="45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8" name="Google Shape;1098;p32:notes"/>
          <p:cNvSpPr txBox="1"/>
          <p:nvPr>
            <p:ph idx="1" type="body"/>
          </p:nvPr>
        </p:nvSpPr>
        <p:spPr>
          <a:xfrm>
            <a:off x="0" y="0"/>
            <a:ext cx="4500000" cy="6000000"/>
          </a:xfrm>
          <a:prstGeom prst="rect">
            <a:avLst/>
          </a:prstGeom>
          <a:noFill/>
          <a:ln>
            <a:noFill/>
          </a:ln>
        </p:spPr>
        <p:txBody>
          <a:bodyPr anchorCtr="0" anchor="t" bIns="76175" lIns="152375" spcFirstLastPara="1" rIns="152375" wrap="square" tIns="76175">
            <a:noAutofit/>
          </a:bodyPr>
          <a:lstStyle/>
          <a:p>
            <a:pPr indent="0" lvl="0" marL="0" rtl="0" algn="l">
              <a:lnSpc>
                <a:spcPct val="100000"/>
              </a:lnSpc>
              <a:spcBef>
                <a:spcPts val="0"/>
              </a:spcBef>
              <a:spcAft>
                <a:spcPts val="0"/>
              </a:spcAft>
              <a:buSzPts val="1400"/>
              <a:buNone/>
            </a:pPr>
            <a:r>
              <a:rPr lang="en-US">
                <a:solidFill>
                  <a:schemeClr val="dk1"/>
                </a:solidFill>
              </a:rPr>
              <a:t>Aesha</a:t>
            </a:r>
            <a:endParaRPr>
              <a:solidFill>
                <a:schemeClr val="dk1"/>
              </a:solidFill>
            </a:endParaRPr>
          </a:p>
          <a:p>
            <a:pPr indent="-381000" lvl="0" marL="762000" rtl="0" algn="l">
              <a:lnSpc>
                <a:spcPct val="100000"/>
              </a:lnSpc>
              <a:spcBef>
                <a:spcPts val="0"/>
              </a:spcBef>
              <a:spcAft>
                <a:spcPts val="0"/>
              </a:spcAft>
              <a:buClr>
                <a:schemeClr val="dk1"/>
              </a:buClr>
              <a:buSzPts val="1400"/>
              <a:buNone/>
            </a:pPr>
            <a:r>
              <a:rPr lang="en-US">
                <a:solidFill>
                  <a:schemeClr val="dk1"/>
                </a:solidFill>
              </a:rPr>
              <a:t>The core problem is that corporate-action information is often buried across long SEC filings, footnotes, and exhibits, so the important terms are not immediately accessible.</a:t>
            </a:r>
            <a:endParaRPr>
              <a:solidFill>
                <a:schemeClr val="dk1"/>
              </a:solidFill>
            </a:endParaRPr>
          </a:p>
          <a:p>
            <a:pPr indent="-381000" lvl="0" marL="762000" rtl="0" algn="l">
              <a:lnSpc>
                <a:spcPct val="100000"/>
              </a:lnSpc>
              <a:spcBef>
                <a:spcPts val="0"/>
              </a:spcBef>
              <a:spcAft>
                <a:spcPts val="0"/>
              </a:spcAft>
              <a:buClr>
                <a:schemeClr val="dk1"/>
              </a:buClr>
              <a:buSzPts val="1400"/>
              <a:buNone/>
            </a:pPr>
            <a:r>
              <a:rPr lang="en-US">
                <a:solidFill>
                  <a:schemeClr val="dk1"/>
                </a:solidFill>
              </a:rPr>
              <a:t>A second challenge is that the event changes over time. A later amendment may revise the offer price, expiration date, or other key conditions, so looking at one filing in isolation is not enough.</a:t>
            </a:r>
            <a:endParaRPr>
              <a:solidFill>
                <a:schemeClr val="dk1"/>
              </a:solidFill>
            </a:endParaRPr>
          </a:p>
          <a:p>
            <a:pPr indent="-381000" lvl="0" marL="762000" rtl="0" algn="l">
              <a:lnSpc>
                <a:spcPct val="100000"/>
              </a:lnSpc>
              <a:spcBef>
                <a:spcPts val="0"/>
              </a:spcBef>
              <a:spcAft>
                <a:spcPts val="0"/>
              </a:spcAft>
              <a:buClr>
                <a:schemeClr val="dk1"/>
              </a:buClr>
              <a:buSzPts val="1400"/>
              <a:buNone/>
            </a:pPr>
            <a:r>
              <a:rPr lang="en-US">
                <a:solidFill>
                  <a:schemeClr val="dk1"/>
                </a:solidFill>
              </a:rPr>
              <a:t>The third challenge is context: a number by itself is not useful unless we know what field it belongs to, which event it applies to, and where it came from.</a:t>
            </a:r>
            <a:endParaRPr>
              <a:solidFill>
                <a:schemeClr val="dk1"/>
              </a:solidFill>
            </a:endParaRPr>
          </a:p>
          <a:p>
            <a:pPr indent="-381000" lvl="0" marL="762000" rtl="0" algn="l">
              <a:lnSpc>
                <a:spcPct val="100000"/>
              </a:lnSpc>
              <a:spcBef>
                <a:spcPts val="0"/>
              </a:spcBef>
              <a:spcAft>
                <a:spcPts val="0"/>
              </a:spcAft>
              <a:buClr>
                <a:schemeClr val="dk1"/>
              </a:buClr>
              <a:buSzPts val="1400"/>
              <a:buNone/>
            </a:pPr>
            <a:r>
              <a:rPr lang="en-US">
                <a:solidFill>
                  <a:schemeClr val="dk1"/>
                </a:solidFill>
              </a:rPr>
              <a:t>So our goal is not just to extract values, but to build a structured corporate-action dataset where each field is tied back to traceable source evidence.</a:t>
            </a:r>
            <a:endParaRPr>
              <a:solidFill>
                <a:schemeClr val="dk1"/>
              </a:solidFill>
            </a:endParaRPr>
          </a:p>
          <a:p>
            <a:pPr indent="-381000" lvl="0" marL="762000" rtl="0" algn="l">
              <a:lnSpc>
                <a:spcPct val="100000"/>
              </a:lnSpc>
              <a:spcBef>
                <a:spcPts val="0"/>
              </a:spcBef>
              <a:spcAft>
                <a:spcPts val="0"/>
              </a:spcAft>
              <a:buClr>
                <a:schemeClr val="dk1"/>
              </a:buClr>
              <a:buSzPts val="1400"/>
              <a:buNone/>
            </a:pPr>
            <a:r>
              <a:rPr lang="en-US">
                <a:solidFill>
                  <a:schemeClr val="dk1"/>
                </a:solidFill>
              </a:rPr>
              <a:t>We are designing the framework to support several event types, but for the current demo and implementation work we are narrowing in on tender offers and mergers first.</a:t>
            </a:r>
            <a:endParaRPr>
              <a:solidFill>
                <a:schemeClr val="dk1"/>
              </a:solidFill>
            </a:endParaRPr>
          </a:p>
          <a:p>
            <a:pPr indent="-381000" lvl="0" marL="762000" rtl="0" algn="l">
              <a:lnSpc>
                <a:spcPct val="100000"/>
              </a:lnSpc>
              <a:spcBef>
                <a:spcPts val="0"/>
              </a:spcBef>
              <a:spcAft>
                <a:spcPts val="0"/>
              </a:spcAft>
              <a:buClr>
                <a:schemeClr val="dk1"/>
              </a:buClr>
              <a:buSzPts val="1400"/>
              <a:buNone/>
            </a:pPr>
            <a:r>
              <a:rPr lang="en-US">
                <a:solidFill>
                  <a:schemeClr val="dk1"/>
                </a:solidFill>
              </a:rPr>
              <a:t>The workflow at the bottom reflects the broader system: intake and classification, tracking changes over time, enabling downstream processing, and keeping an audit trail for exceptions and review.</a:t>
            </a:r>
            <a:endParaRPr>
              <a:solidFill>
                <a:schemeClr val="dk1"/>
              </a:solidFill>
            </a:endParaRPr>
          </a:p>
          <a:p>
            <a:pPr indent="0" lvl="0" marL="0" rtl="0" algn="l">
              <a:lnSpc>
                <a:spcPct val="100000"/>
              </a:lnSpc>
              <a:spcBef>
                <a:spcPts val="0"/>
              </a:spcBef>
              <a:spcAft>
                <a:spcPts val="0"/>
              </a:spcAft>
              <a:buSzPts val="1800"/>
              <a:buNone/>
            </a:pPr>
            <a:r>
              <a:t/>
            </a:r>
            <a:endParaRPr>
              <a:solidFill>
                <a:schemeClr val="dk1"/>
              </a:solidFill>
            </a:endParaRPr>
          </a:p>
          <a:p>
            <a:pPr indent="0" lvl="0" marL="0" rtl="0" algn="l">
              <a:lnSpc>
                <a:spcPct val="100000"/>
              </a:lnSpc>
              <a:spcBef>
                <a:spcPts val="0"/>
              </a:spcBef>
              <a:spcAft>
                <a:spcPts val="0"/>
              </a:spcAft>
              <a:buSzPts val="1800"/>
              <a:buNone/>
            </a:pPr>
            <a:r>
              <a:t/>
            </a:r>
            <a:endParaRPr>
              <a:solidFill>
                <a:schemeClr val="dk1"/>
              </a:solidFill>
            </a:endParaRPr>
          </a:p>
          <a:p>
            <a:pPr indent="0" lvl="0" marL="0" rtl="0" algn="l">
              <a:lnSpc>
                <a:spcPct val="100000"/>
              </a:lnSpc>
              <a:spcBef>
                <a:spcPts val="0"/>
              </a:spcBef>
              <a:spcAft>
                <a:spcPts val="0"/>
              </a:spcAft>
              <a:buSzPts val="1800"/>
              <a:buNone/>
            </a:pPr>
            <a:r>
              <a:t/>
            </a:r>
            <a:endParaRPr>
              <a:solidFill>
                <a:schemeClr val="dk1"/>
              </a:solidFill>
            </a:endParaRPr>
          </a:p>
          <a:p>
            <a:pPr indent="0" lvl="0" marL="0" rtl="0" algn="l">
              <a:lnSpc>
                <a:spcPct val="100000"/>
              </a:lnSpc>
              <a:spcBef>
                <a:spcPts val="0"/>
              </a:spcBef>
              <a:spcAft>
                <a:spcPts val="0"/>
              </a:spcAft>
              <a:buSzPts val="1800"/>
              <a:buNone/>
            </a:pPr>
            <a:r>
              <a:t/>
            </a:r>
            <a:endParaRPr>
              <a:solidFill>
                <a:schemeClr val="dk1"/>
              </a:solidFill>
            </a:endParaRPr>
          </a:p>
          <a:p>
            <a:pPr indent="0" lvl="0" marL="0" rtl="0" algn="l">
              <a:lnSpc>
                <a:spcPct val="100000"/>
              </a:lnSpc>
              <a:spcBef>
                <a:spcPts val="0"/>
              </a:spcBef>
              <a:spcAft>
                <a:spcPts val="0"/>
              </a:spcAft>
              <a:buSzPts val="1800"/>
              <a:buNone/>
            </a:pPr>
            <a:r>
              <a:rPr lang="en-US">
                <a:solidFill>
                  <a:schemeClr val="dk1"/>
                </a:solidFill>
              </a:rPr>
              <a:t>Turn unstructured notices and filing documents into standardized, structured event fields.</a:t>
            </a:r>
            <a:endParaRPr>
              <a:solidFill>
                <a:schemeClr val="dk1"/>
              </a:solidFill>
            </a:endParaRPr>
          </a:p>
          <a:p>
            <a:pPr indent="0" lvl="0" marL="0" rtl="0" algn="l">
              <a:lnSpc>
                <a:spcPct val="100000"/>
              </a:lnSpc>
              <a:spcBef>
                <a:spcPts val="0"/>
              </a:spcBef>
              <a:spcAft>
                <a:spcPts val="0"/>
              </a:spcAft>
              <a:buSzPts val="1800"/>
              <a:buNone/>
            </a:pPr>
            <a:r>
              <a:t/>
            </a:r>
            <a:endParaRPr>
              <a:solidFill>
                <a:schemeClr val="dk1"/>
              </a:solidFill>
            </a:endParaRPr>
          </a:p>
          <a:p>
            <a:pPr indent="0" lvl="0" marL="0" rtl="0" algn="l">
              <a:lnSpc>
                <a:spcPct val="100000"/>
              </a:lnSpc>
              <a:spcBef>
                <a:spcPts val="0"/>
              </a:spcBef>
              <a:spcAft>
                <a:spcPts val="0"/>
              </a:spcAft>
              <a:buSzPts val="1800"/>
              <a:buNone/>
            </a:pPr>
            <a:r>
              <a:rPr lang="en-US">
                <a:solidFill>
                  <a:schemeClr val="dk1"/>
                </a:solidFill>
              </a:rPr>
              <a:t>Link multiple notices to the same event and identify what changed or superseded prior information.</a:t>
            </a:r>
            <a:endParaRPr>
              <a:solidFill>
                <a:schemeClr val="dk1"/>
              </a:solidFill>
            </a:endParaRPr>
          </a:p>
          <a:p>
            <a:pPr indent="0" lvl="0" marL="0" rtl="0" algn="l">
              <a:lnSpc>
                <a:spcPct val="100000"/>
              </a:lnSpc>
              <a:spcBef>
                <a:spcPts val="0"/>
              </a:spcBef>
              <a:spcAft>
                <a:spcPts val="0"/>
              </a:spcAft>
              <a:buSzPts val="1800"/>
              <a:buNone/>
            </a:pPr>
            <a:r>
              <a:rPr lang="en-US">
                <a:solidFill>
                  <a:schemeClr val="dk1"/>
                </a:solidFill>
              </a:rPr>
              <a:t>Determine required actions such as calculations, notifications, and settlement-related operational steps.</a:t>
            </a:r>
            <a:endParaRPr>
              <a:solidFill>
                <a:schemeClr val="dk1"/>
              </a:solidFill>
            </a:endParaRPr>
          </a:p>
          <a:p>
            <a:pPr indent="0" lvl="0" marL="0" rtl="0" algn="l">
              <a:lnSpc>
                <a:spcPct val="100000"/>
              </a:lnSpc>
              <a:spcBef>
                <a:spcPts val="0"/>
              </a:spcBef>
              <a:spcAft>
                <a:spcPts val="0"/>
              </a:spcAft>
              <a:buSzPts val="1800"/>
              <a:buNone/>
            </a:pPr>
            <a:r>
              <a:rPr lang="en-US">
                <a:solidFill>
                  <a:schemeClr val="dk1"/>
                </a:solidFill>
              </a:rPr>
              <a:t>Log decisions and evidence with full lineage; route ambiguous or high-risk cases to human review.</a:t>
            </a:r>
            <a:endParaRPr>
              <a:solidFill>
                <a:schemeClr val="dk1"/>
              </a:solidFill>
            </a:endParaRPr>
          </a:p>
          <a:p>
            <a:pPr indent="0" lvl="0" marL="0" rtl="0" algn="l">
              <a:lnSpc>
                <a:spcPct val="100000"/>
              </a:lnSpc>
              <a:spcBef>
                <a:spcPts val="0"/>
              </a:spcBef>
              <a:spcAft>
                <a:spcPts val="0"/>
              </a:spcAft>
              <a:buClr>
                <a:schemeClr val="dk1"/>
              </a:buClr>
              <a:buSzPts val="1800"/>
              <a:buFont typeface="Arial"/>
              <a:buNone/>
            </a:pPr>
            <a:r>
              <a:t/>
            </a:r>
            <a:endParaRPr>
              <a:solidFill>
                <a:schemeClr val="dk1"/>
              </a:solidFill>
            </a:endParaRPr>
          </a:p>
        </p:txBody>
      </p:sp>
      <p:sp>
        <p:nvSpPr>
          <p:cNvPr id="1099" name="Google Shape;1099;p32:notes"/>
          <p:cNvSpPr txBox="1"/>
          <p:nvPr>
            <p:ph idx="12" type="sldNum"/>
          </p:nvPr>
        </p:nvSpPr>
        <p:spPr>
          <a:xfrm>
            <a:off x="0" y="0"/>
            <a:ext cx="4500000" cy="6000000"/>
          </a:xfrm>
          <a:prstGeom prst="rect">
            <a:avLst/>
          </a:prstGeom>
          <a:noFill/>
          <a:ln>
            <a:noFill/>
          </a:ln>
        </p:spPr>
        <p:txBody>
          <a:bodyPr anchorCtr="0" anchor="t" bIns="76175" lIns="152375" spcFirstLastPara="1" rIns="152375" wrap="square" tIns="7617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p33:notes"/>
          <p:cNvSpPr txBox="1"/>
          <p:nvPr>
            <p:ph idx="2" type="hdr"/>
          </p:nvPr>
        </p:nvSpPr>
        <p:spPr>
          <a:xfrm>
            <a:off x="0" y="0"/>
            <a:ext cx="2971800" cy="459000"/>
          </a:xfrm>
          <a:prstGeom prst="rect">
            <a:avLst/>
          </a:prstGeom>
          <a:noFill/>
          <a:ln>
            <a:noFill/>
          </a:ln>
        </p:spPr>
        <p:txBody>
          <a:bodyPr anchorCtr="0" anchor="t" bIns="46550" lIns="93125" spcFirstLastPara="1" rIns="93125" wrap="square" tIns="46550">
            <a:noAutofit/>
          </a:bodyPr>
          <a:lstStyle/>
          <a:p>
            <a:pPr indent="0" lvl="0" marL="0" rtl="0" algn="l">
              <a:lnSpc>
                <a:spcPct val="100000"/>
              </a:lnSpc>
              <a:spcBef>
                <a:spcPts val="0"/>
              </a:spcBef>
              <a:spcAft>
                <a:spcPts val="0"/>
              </a:spcAft>
              <a:buSzPts val="1400"/>
              <a:buNone/>
            </a:pPr>
            <a:r>
              <a:t/>
            </a:r>
            <a:endParaRPr/>
          </a:p>
        </p:txBody>
      </p:sp>
      <p:sp>
        <p:nvSpPr>
          <p:cNvPr id="1134" name="Google Shape;1134;p33:notes"/>
          <p:cNvSpPr txBox="1"/>
          <p:nvPr>
            <p:ph idx="10" type="dt"/>
          </p:nvPr>
        </p:nvSpPr>
        <p:spPr>
          <a:xfrm>
            <a:off x="3884613" y="0"/>
            <a:ext cx="2971800" cy="459000"/>
          </a:xfrm>
          <a:prstGeom prst="rect">
            <a:avLst/>
          </a:prstGeom>
          <a:noFill/>
          <a:ln>
            <a:noFill/>
          </a:ln>
        </p:spPr>
        <p:txBody>
          <a:bodyPr anchorCtr="0" anchor="t" bIns="46550" lIns="93125" spcFirstLastPara="1" rIns="93125" wrap="square" tIns="46550">
            <a:noAutofit/>
          </a:bodyPr>
          <a:lstStyle/>
          <a:p>
            <a:pPr indent="0" lvl="0" marL="0" rtl="0" algn="r">
              <a:lnSpc>
                <a:spcPct val="100000"/>
              </a:lnSpc>
              <a:spcBef>
                <a:spcPts val="0"/>
              </a:spcBef>
              <a:spcAft>
                <a:spcPts val="0"/>
              </a:spcAft>
              <a:buSzPts val="1400"/>
              <a:buNone/>
            </a:pPr>
            <a:r>
              <a:t/>
            </a:r>
            <a:endParaRPr/>
          </a:p>
        </p:txBody>
      </p:sp>
      <p:sp>
        <p:nvSpPr>
          <p:cNvPr id="1135" name="Google Shape;1135;p33:notes"/>
          <p:cNvSpPr/>
          <p:nvPr>
            <p:ph idx="3" type="sldImg"/>
          </p:nvPr>
        </p:nvSpPr>
        <p:spPr>
          <a:xfrm>
            <a:off x="685800" y="1143000"/>
            <a:ext cx="5486400" cy="3086400"/>
          </a:xfrm>
          <a:custGeom>
            <a:rect b="b" l="l" r="r" t="t"/>
            <a:pathLst>
              <a:path extrusionOk="0" h="120000" w="120000">
                <a:moveTo>
                  <a:pt x="0" y="0"/>
                </a:moveTo>
                <a:lnTo>
                  <a:pt x="120000" y="0"/>
                </a:lnTo>
                <a:lnTo>
                  <a:pt x="120000" y="120000"/>
                </a:lnTo>
                <a:lnTo>
                  <a:pt x="0" y="120000"/>
                </a:lnTo>
                <a:close/>
              </a:path>
            </a:pathLst>
          </a:custGeom>
          <a:noFill/>
          <a:ln cap="flat" cmpd="sng" w="12925">
            <a:solidFill>
              <a:srgbClr val="000000"/>
            </a:solidFill>
            <a:prstDash val="solid"/>
            <a:round/>
            <a:headEnd len="sm" w="sm" type="none"/>
            <a:tailEnd len="sm" w="sm" type="none"/>
          </a:ln>
        </p:spPr>
      </p:sp>
      <p:sp>
        <p:nvSpPr>
          <p:cNvPr id="1136" name="Google Shape;1136;p33:notes"/>
          <p:cNvSpPr txBox="1"/>
          <p:nvPr>
            <p:ph idx="1" type="body"/>
          </p:nvPr>
        </p:nvSpPr>
        <p:spPr>
          <a:xfrm>
            <a:off x="685800" y="4400550"/>
            <a:ext cx="5486400" cy="3600600"/>
          </a:xfrm>
          <a:prstGeom prst="rect">
            <a:avLst/>
          </a:prstGeom>
          <a:noFill/>
          <a:ln>
            <a:noFill/>
          </a:ln>
        </p:spPr>
        <p:txBody>
          <a:bodyPr anchorCtr="0" anchor="t" bIns="46550" lIns="93125" spcFirstLastPara="1" rIns="93125" wrap="square" tIns="46550">
            <a:noAutofit/>
          </a:bodyPr>
          <a:lstStyle/>
          <a:p>
            <a:pPr indent="0" lvl="0" marL="0" rtl="0" algn="l">
              <a:lnSpc>
                <a:spcPct val="115000"/>
              </a:lnSpc>
              <a:spcBef>
                <a:spcPts val="2000"/>
              </a:spcBef>
              <a:spcAft>
                <a:spcPts val="0"/>
              </a:spcAft>
              <a:buSzPts val="1400"/>
              <a:buNone/>
            </a:pPr>
            <a:r>
              <a:rPr lang="en-US"/>
              <a:t>Alex</a:t>
            </a:r>
            <a:endParaRPr/>
          </a:p>
          <a:p>
            <a:pPr indent="-381000" lvl="0" marL="762000" rtl="0" algn="l">
              <a:lnSpc>
                <a:spcPct val="115000"/>
              </a:lnSpc>
              <a:spcBef>
                <a:spcPts val="2000"/>
              </a:spcBef>
              <a:spcAft>
                <a:spcPts val="0"/>
              </a:spcAft>
              <a:buClr>
                <a:schemeClr val="dk1"/>
              </a:buClr>
              <a:buSzPts val="1400"/>
              <a:buNone/>
            </a:pPr>
            <a:r>
              <a:rPr lang="en-US"/>
              <a:t>This slide shows the full flow from raw SEC data to something that can actually be used downstream.</a:t>
            </a:r>
            <a:endParaRPr/>
          </a:p>
          <a:p>
            <a:pPr indent="-381000" lvl="0" marL="762000" rtl="0" algn="l">
              <a:lnSpc>
                <a:spcPct val="115000"/>
              </a:lnSpc>
              <a:spcBef>
                <a:spcPts val="2000"/>
              </a:spcBef>
              <a:spcAft>
                <a:spcPts val="0"/>
              </a:spcAft>
              <a:buClr>
                <a:schemeClr val="dk1"/>
              </a:buClr>
              <a:buSzPts val="1400"/>
              <a:buNone/>
            </a:pPr>
            <a:r>
              <a:rPr lang="en-US"/>
              <a:t>First, we use SEC metadata to identify relevant filings and then retrieve the complete filing bundle, including exhibits when needed.</a:t>
            </a:r>
            <a:endParaRPr/>
          </a:p>
          <a:p>
            <a:pPr indent="-381000" lvl="0" marL="762000" rtl="0" algn="l">
              <a:lnSpc>
                <a:spcPct val="115000"/>
              </a:lnSpc>
              <a:spcBef>
                <a:spcPts val="2000"/>
              </a:spcBef>
              <a:spcAft>
                <a:spcPts val="0"/>
              </a:spcAft>
              <a:buClr>
                <a:schemeClr val="dk1"/>
              </a:buClr>
              <a:buSzPts val="1400"/>
              <a:buNone/>
            </a:pPr>
            <a:r>
              <a:rPr lang="en-US"/>
              <a:t>Next, we normalize the documents so the filing text is in a cleaner, searchable format.</a:t>
            </a:r>
            <a:endParaRPr/>
          </a:p>
          <a:p>
            <a:pPr indent="-381000" lvl="0" marL="762000" rtl="0" algn="l">
              <a:lnSpc>
                <a:spcPct val="115000"/>
              </a:lnSpc>
              <a:spcBef>
                <a:spcPts val="2000"/>
              </a:spcBef>
              <a:spcAft>
                <a:spcPts val="0"/>
              </a:spcAft>
              <a:buClr>
                <a:schemeClr val="dk1"/>
              </a:buClr>
              <a:buSzPts val="1400"/>
              <a:buNone/>
            </a:pPr>
            <a:r>
              <a:rPr lang="en-US"/>
              <a:t>From there, we extract candidate facts such as prices, dates, parties, conditions, and other event-specific fields.</a:t>
            </a:r>
            <a:endParaRPr/>
          </a:p>
          <a:p>
            <a:pPr indent="-381000" lvl="0" marL="762000" rtl="0" algn="l">
              <a:lnSpc>
                <a:spcPct val="115000"/>
              </a:lnSpc>
              <a:spcBef>
                <a:spcPts val="2000"/>
              </a:spcBef>
              <a:spcAft>
                <a:spcPts val="0"/>
              </a:spcAft>
              <a:buClr>
                <a:schemeClr val="dk1"/>
              </a:buClr>
              <a:buSzPts val="1400"/>
              <a:buNone/>
            </a:pPr>
            <a:r>
              <a:rPr lang="en-US"/>
              <a:t>The next step is important: we do not treat every extracted value as automatically correct. We preserve evidence and context, then reason across multiple filings and amendments to resolve conflicts and determine the current value.</a:t>
            </a:r>
            <a:endParaRPr/>
          </a:p>
          <a:p>
            <a:pPr indent="-381000" lvl="0" marL="762000" rtl="0" algn="l">
              <a:lnSpc>
                <a:spcPct val="115000"/>
              </a:lnSpc>
              <a:spcBef>
                <a:spcPts val="2000"/>
              </a:spcBef>
              <a:spcAft>
                <a:spcPts val="0"/>
              </a:spcAft>
              <a:buClr>
                <a:schemeClr val="dk1"/>
              </a:buClr>
              <a:buSzPts val="1400"/>
              <a:buNone/>
            </a:pPr>
            <a:r>
              <a:rPr lang="en-US"/>
              <a:t>That gives us a canonical event state — essentially one current source of truth for the corporate action.</a:t>
            </a:r>
            <a:endParaRPr/>
          </a:p>
          <a:p>
            <a:pPr indent="-381000" lvl="0" marL="762000" rtl="0" algn="l">
              <a:lnSpc>
                <a:spcPct val="115000"/>
              </a:lnSpc>
              <a:spcBef>
                <a:spcPts val="2000"/>
              </a:spcBef>
              <a:spcAft>
                <a:spcPts val="0"/>
              </a:spcAft>
              <a:buClr>
                <a:schemeClr val="dk1"/>
              </a:buClr>
              <a:buSzPts val="1400"/>
              <a:buNone/>
            </a:pPr>
            <a:r>
              <a:rPr lang="en-US"/>
              <a:t>Once we have that structured event state, it can support downstream use cases such as internal alerts, client notifications, and other operational workflows.</a:t>
            </a:r>
            <a:endParaRPr/>
          </a:p>
          <a:p>
            <a:pPr indent="-381000" lvl="0" marL="762000" rtl="0" algn="l">
              <a:lnSpc>
                <a:spcPct val="115000"/>
              </a:lnSpc>
              <a:spcBef>
                <a:spcPts val="2000"/>
              </a:spcBef>
              <a:spcAft>
                <a:spcPts val="0"/>
              </a:spcAft>
              <a:buClr>
                <a:schemeClr val="dk1"/>
              </a:buClr>
              <a:buSzPts val="1400"/>
              <a:buNone/>
            </a:pPr>
            <a:r>
              <a:rPr lang="en-US"/>
              <a:t>The main idea is that the technical extraction is only one piece; the value comes from turning multiple documents into one reliable, current event representation. </a:t>
            </a:r>
            <a:endParaRPr/>
          </a:p>
          <a:p>
            <a:pPr indent="-381000" lvl="0" marL="762000" rtl="0" algn="l">
              <a:lnSpc>
                <a:spcPct val="115000"/>
              </a:lnSpc>
              <a:spcBef>
                <a:spcPts val="2000"/>
              </a:spcBef>
              <a:spcAft>
                <a:spcPts val="2000"/>
              </a:spcAft>
              <a:buClr>
                <a:schemeClr val="dk1"/>
              </a:buClr>
              <a:buSzPts val="1400"/>
              <a:buNone/>
            </a:pPr>
            <a:r>
              <a:t/>
            </a:r>
            <a:endParaRPr/>
          </a:p>
        </p:txBody>
      </p:sp>
      <p:sp>
        <p:nvSpPr>
          <p:cNvPr id="1137" name="Google Shape;1137;p33:notes"/>
          <p:cNvSpPr txBox="1"/>
          <p:nvPr>
            <p:ph idx="11" type="ftr"/>
          </p:nvPr>
        </p:nvSpPr>
        <p:spPr>
          <a:xfrm>
            <a:off x="0" y="8685213"/>
            <a:ext cx="2971800" cy="459000"/>
          </a:xfrm>
          <a:prstGeom prst="rect">
            <a:avLst/>
          </a:prstGeom>
          <a:noFill/>
          <a:ln>
            <a:noFill/>
          </a:ln>
        </p:spPr>
        <p:txBody>
          <a:bodyPr anchorCtr="0" anchor="b" bIns="46550" lIns="93125" spcFirstLastPara="1" rIns="93125" wrap="square" tIns="46550">
            <a:noAutofit/>
          </a:bodyPr>
          <a:lstStyle/>
          <a:p>
            <a:pPr indent="0" lvl="0" marL="0" rtl="0" algn="l">
              <a:lnSpc>
                <a:spcPct val="100000"/>
              </a:lnSpc>
              <a:spcBef>
                <a:spcPts val="0"/>
              </a:spcBef>
              <a:spcAft>
                <a:spcPts val="0"/>
              </a:spcAft>
              <a:buSzPts val="1400"/>
              <a:buNone/>
            </a:pPr>
            <a:r>
              <a:t/>
            </a:r>
            <a:endParaRPr/>
          </a:p>
        </p:txBody>
      </p:sp>
      <p:sp>
        <p:nvSpPr>
          <p:cNvPr id="1138" name="Google Shape;1138;p33:notes"/>
          <p:cNvSpPr txBox="1"/>
          <p:nvPr>
            <p:ph idx="12" type="sldNum"/>
          </p:nvPr>
        </p:nvSpPr>
        <p:spPr>
          <a:xfrm>
            <a:off x="3884613" y="8685213"/>
            <a:ext cx="2971800" cy="459000"/>
          </a:xfrm>
          <a:prstGeom prst="rect">
            <a:avLst/>
          </a:prstGeom>
          <a:noFill/>
          <a:ln>
            <a:noFill/>
          </a:ln>
        </p:spPr>
        <p:txBody>
          <a:bodyPr anchorCtr="0" anchor="b" bIns="46550" lIns="93125" spcFirstLastPara="1" rIns="93125" wrap="square" tIns="4655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8" name="Shape 1198"/>
        <p:cNvGrpSpPr/>
        <p:nvPr/>
      </p:nvGrpSpPr>
      <p:grpSpPr>
        <a:xfrm>
          <a:off x="0" y="0"/>
          <a:ext cx="0" cy="0"/>
          <a:chOff x="0" y="0"/>
          <a:chExt cx="0" cy="0"/>
        </a:xfrm>
      </p:grpSpPr>
      <p:sp>
        <p:nvSpPr>
          <p:cNvPr id="1199" name="Google Shape;1199;p34:notes"/>
          <p:cNvSpPr/>
          <p:nvPr>
            <p:ph idx="2" type="sldImg"/>
          </p:nvPr>
        </p:nvSpPr>
        <p:spPr>
          <a:xfrm>
            <a:off x="571950" y="1371600"/>
            <a:ext cx="9144000" cy="6858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0" name="Google Shape;1200;p34:notes"/>
          <p:cNvSpPr txBox="1"/>
          <p:nvPr>
            <p:ph idx="1" type="body"/>
          </p:nvPr>
        </p:nvSpPr>
        <p:spPr>
          <a:xfrm>
            <a:off x="1028700" y="8686800"/>
            <a:ext cx="8229600" cy="8229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Pranshul</a:t>
            </a:r>
            <a:endParaRP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rPr sz="1200"/>
              <a:t>This appendix slide summarizes our ROI framework. It isn't part of the talk, but it's here if anyone asks whether the project is worth building.</a:t>
            </a:r>
          </a:p>
          <a:p>
            <a:pPr>
              <a:spcBef>
                <a:spcPts val="800"/>
              </a:spcBef>
            </a:pPr>
            <a:r>
              <a:rPr sz="1200"/>
              <a:t>The question is simple: if BNY spends once to build this in year zero, do the savings over the next five years justify it? Each year's net is benefits minus costs.</a:t>
            </a:r>
          </a:p>
          <a:p>
            <a:pPr>
              <a:spcBef>
                <a:spcPts val="800"/>
              </a:spcBef>
            </a:pPr>
            <a:r>
              <a:rPr sz="1200"/>
              <a:t>Benefits come from two places. Released hours, from fully automating some manual events and shortening review time on the rest, valued at the cost of an operations employee and a realisation rate. And avoided errors: the share of today's error cost that comes from data sourcing, times the share the system removes.</a:t>
            </a:r>
          </a:p>
          <a:p>
            <a:pPr>
              <a:spcBef>
                <a:spcPts val="800"/>
              </a:spcBef>
            </a:pPr>
            <a:r>
              <a:rPr sz="1200"/>
              <a:t>Costs have four lines: the one-time build, yearly run and maintenance, a per-event AI processing cost, and governance and platform costs.</a:t>
            </a:r>
          </a:p>
          <a:p>
            <a:pPr>
              <a:spcBef>
                <a:spcPts val="800"/>
              </a:spcBef>
            </a:pPr>
            <a:r>
              <a:rPr sz="1200"/>
              <a:t>From that yearly net we report payback, ROI on the upfront investment, the break-even build cost, and NPV and IRR. The decision test is that five years of net benefit, in today's dollars, covers the build. The inputs are placeholders until BNY confirms their volumes and costs.</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5f4af6847654f19e_7_0)">
  <p:cSld name="Generated (h5f4af6847654f19e_7_0)">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NY_CONTENT">
  <p:cSld name="BNY_CONTENT">
    <p:spTree>
      <p:nvGrpSpPr>
        <p:cNvPr id="12" name="Shape 12"/>
        <p:cNvGrpSpPr/>
        <p:nvPr/>
      </p:nvGrpSpPr>
      <p:grpSpPr>
        <a:xfrm>
          <a:off x="0" y="0"/>
          <a:ext cx="0" cy="0"/>
          <a:chOff x="0" y="0"/>
          <a:chExt cx="0" cy="0"/>
        </a:xfrm>
      </p:grpSpPr>
      <p:sp>
        <p:nvSpPr>
          <p:cNvPr id="13" name="Google Shape;13;p3"/>
          <p:cNvSpPr txBox="1"/>
          <p:nvPr>
            <p:ph idx="1" type="body"/>
          </p:nvPr>
        </p:nvSpPr>
        <p:spPr>
          <a:xfrm>
            <a:off x="822960" y="548640"/>
            <a:ext cx="14630400" cy="36576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280"/>
              </a:spcBef>
              <a:spcAft>
                <a:spcPts val="0"/>
              </a:spcAft>
              <a:buClr>
                <a:schemeClr val="accent1"/>
              </a:buClr>
              <a:buSzPts val="1400"/>
              <a:buFont typeface="Arial"/>
              <a:buNone/>
              <a:defRPr b="1" i="0" sz="1400" u="none" cap="none" strike="noStrike">
                <a:solidFill>
                  <a:schemeClr val="accent1"/>
                </a:solidFill>
                <a:latin typeface="Helvetica Neue"/>
                <a:ea typeface="Helvetica Neue"/>
                <a:cs typeface="Helvetica Neue"/>
                <a:sym typeface="Helvetica Neue"/>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Helvetica Neue"/>
                <a:ea typeface="Helvetica Neue"/>
                <a:cs typeface="Helvetica Neue"/>
                <a:sym typeface="Helvetica Neue"/>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Helvetica Neue"/>
                <a:ea typeface="Helvetica Neue"/>
                <a:cs typeface="Helvetica Neue"/>
                <a:sym typeface="Helvetica Neue"/>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Helvetica Neue"/>
                <a:ea typeface="Helvetica Neue"/>
                <a:cs typeface="Helvetica Neue"/>
                <a:sym typeface="Helvetica Neue"/>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Helvetica Neue"/>
                <a:ea typeface="Helvetica Neue"/>
                <a:cs typeface="Helvetica Neue"/>
                <a:sym typeface="Helvetica Neue"/>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Helvetica Neue"/>
                <a:ea typeface="Helvetica Neue"/>
                <a:cs typeface="Helvetica Neue"/>
                <a:sym typeface="Helvetica Neue"/>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Helvetica Neue"/>
                <a:ea typeface="Helvetica Neue"/>
                <a:cs typeface="Helvetica Neue"/>
                <a:sym typeface="Helvetica Neue"/>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Helvetica Neue"/>
                <a:ea typeface="Helvetica Neue"/>
                <a:cs typeface="Helvetica Neue"/>
                <a:sym typeface="Helvetica Neue"/>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Helvetica Neue"/>
                <a:ea typeface="Helvetica Neue"/>
                <a:cs typeface="Helvetica Neue"/>
                <a:sym typeface="Helvetica Neue"/>
              </a:defRPr>
            </a:lvl9pPr>
          </a:lstStyle>
          <a:p/>
        </p:txBody>
      </p:sp>
      <p:sp>
        <p:nvSpPr>
          <p:cNvPr id="14" name="Google Shape;14;p3"/>
          <p:cNvSpPr txBox="1"/>
          <p:nvPr>
            <p:ph type="title"/>
          </p:nvPr>
        </p:nvSpPr>
        <p:spPr>
          <a:xfrm>
            <a:off x="822960" y="960120"/>
            <a:ext cx="16642080" cy="82296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3600"/>
              <a:buFont typeface="Arial"/>
              <a:buNone/>
              <a:defRPr b="1" i="0" sz="3600" u="none" cap="none" strike="noStrike">
                <a:solidFill>
                  <a:schemeClr val="dk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Helvetica Neue"/>
                <a:ea typeface="Helvetica Neue"/>
                <a:cs typeface="Helvetica Neue"/>
                <a:sym typeface="Helvetica Neu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Helvetica Neue"/>
                <a:ea typeface="Helvetica Neue"/>
                <a:cs typeface="Helvetica Neue"/>
                <a:sym typeface="Helvetica Neu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Helvetica Neue"/>
                <a:ea typeface="Helvetica Neue"/>
                <a:cs typeface="Helvetica Neue"/>
                <a:sym typeface="Helvetica Neu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Helvetica Neue"/>
                <a:ea typeface="Helvetica Neue"/>
                <a:cs typeface="Helvetica Neue"/>
                <a:sym typeface="Helvetica Neu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Helvetica Neue"/>
                <a:ea typeface="Helvetica Neue"/>
                <a:cs typeface="Helvetica Neue"/>
                <a:sym typeface="Helvetica Neu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Helvetica Neue"/>
                <a:ea typeface="Helvetica Neue"/>
                <a:cs typeface="Helvetica Neue"/>
                <a:sym typeface="Helvetica Neu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Helvetica Neue"/>
                <a:ea typeface="Helvetica Neue"/>
                <a:cs typeface="Helvetica Neue"/>
                <a:sym typeface="Helvetica Neu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Helvetica Neue"/>
                <a:ea typeface="Helvetica Neue"/>
                <a:cs typeface="Helvetica Neue"/>
                <a:sym typeface="Helvetica Neue"/>
              </a:defRPr>
            </a:lvl9pPr>
          </a:lstStyle>
          <a:p/>
        </p:txBody>
      </p:sp>
      <p:sp>
        <p:nvSpPr>
          <p:cNvPr id="15" name="Google Shape;15;p3"/>
          <p:cNvSpPr txBox="1"/>
          <p:nvPr>
            <p:ph idx="12" type="sldNum"/>
          </p:nvPr>
        </p:nvSpPr>
        <p:spPr>
          <a:xfrm>
            <a:off x="16550640" y="9646920"/>
            <a:ext cx="914400" cy="36576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Helvetica Neue"/>
                <a:ea typeface="Helvetica Neue"/>
                <a:cs typeface="Helvetica Neue"/>
                <a:sym typeface="Helvetica Neue"/>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Helvetica Neue"/>
                <a:ea typeface="Helvetica Neue"/>
                <a:cs typeface="Helvetica Neue"/>
                <a:sym typeface="Helvetica Neue"/>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Helvetica Neue"/>
                <a:ea typeface="Helvetica Neue"/>
                <a:cs typeface="Helvetica Neue"/>
                <a:sym typeface="Helvetica Neue"/>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Helvetica Neue"/>
                <a:ea typeface="Helvetica Neue"/>
                <a:cs typeface="Helvetica Neue"/>
                <a:sym typeface="Helvetica Neue"/>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Helvetica Neue"/>
                <a:ea typeface="Helvetica Neue"/>
                <a:cs typeface="Helvetica Neue"/>
                <a:sym typeface="Helvetica Neue"/>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Helvetica Neue"/>
                <a:ea typeface="Helvetica Neue"/>
                <a:cs typeface="Helvetica Neue"/>
                <a:sym typeface="Helvetica Neue"/>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Helvetica Neue"/>
                <a:ea typeface="Helvetica Neue"/>
                <a:cs typeface="Helvetica Neue"/>
                <a:sym typeface="Helvetica Neue"/>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Helvetica Neue"/>
                <a:ea typeface="Helvetica Neue"/>
                <a:cs typeface="Helvetica Neue"/>
                <a:sym typeface="Helvetica Neue"/>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NY_SECTION">
  <p:cSld name="BNY_SECTION">
    <p:spTree>
      <p:nvGrpSpPr>
        <p:cNvPr id="16" name="Shape 16"/>
        <p:cNvGrpSpPr/>
        <p:nvPr/>
      </p:nvGrpSpPr>
      <p:grpSpPr>
        <a:xfrm>
          <a:off x="0" y="0"/>
          <a:ext cx="0" cy="0"/>
          <a:chOff x="0" y="0"/>
          <a:chExt cx="0" cy="0"/>
        </a:xfrm>
      </p:grpSpPr>
      <p:sp>
        <p:nvSpPr>
          <p:cNvPr id="17" name="Google Shape;17;p4"/>
          <p:cNvSpPr txBox="1"/>
          <p:nvPr>
            <p:ph type="title"/>
          </p:nvPr>
        </p:nvSpPr>
        <p:spPr>
          <a:xfrm>
            <a:off x="822960" y="3931920"/>
            <a:ext cx="12801600" cy="146304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6000"/>
              <a:buFont typeface="Arial"/>
              <a:buNone/>
              <a:defRPr b="1" i="0" sz="6000" u="none" cap="none" strike="noStrike">
                <a:solidFill>
                  <a:schemeClr val="dk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Helvetica Neue"/>
                <a:ea typeface="Helvetica Neue"/>
                <a:cs typeface="Helvetica Neue"/>
                <a:sym typeface="Helvetica Neu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Helvetica Neue"/>
                <a:ea typeface="Helvetica Neue"/>
                <a:cs typeface="Helvetica Neue"/>
                <a:sym typeface="Helvetica Neu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Helvetica Neue"/>
                <a:ea typeface="Helvetica Neue"/>
                <a:cs typeface="Helvetica Neue"/>
                <a:sym typeface="Helvetica Neu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Helvetica Neue"/>
                <a:ea typeface="Helvetica Neue"/>
                <a:cs typeface="Helvetica Neue"/>
                <a:sym typeface="Helvetica Neu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Helvetica Neue"/>
                <a:ea typeface="Helvetica Neue"/>
                <a:cs typeface="Helvetica Neue"/>
                <a:sym typeface="Helvetica Neu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Helvetica Neue"/>
                <a:ea typeface="Helvetica Neue"/>
                <a:cs typeface="Helvetica Neue"/>
                <a:sym typeface="Helvetica Neu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Helvetica Neue"/>
                <a:ea typeface="Helvetica Neue"/>
                <a:cs typeface="Helvetica Neue"/>
                <a:sym typeface="Helvetica Neu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Helvetica Neue"/>
                <a:ea typeface="Helvetica Neue"/>
                <a:cs typeface="Helvetica Neue"/>
                <a:sym typeface="Helvetica Neue"/>
              </a:defRPr>
            </a:lvl9pPr>
          </a:lstStyle>
          <a:p/>
        </p:txBody>
      </p:sp>
      <p:sp>
        <p:nvSpPr>
          <p:cNvPr id="18" name="Google Shape;18;p4"/>
          <p:cNvSpPr txBox="1"/>
          <p:nvPr>
            <p:ph idx="12" type="sldNum"/>
          </p:nvPr>
        </p:nvSpPr>
        <p:spPr>
          <a:xfrm>
            <a:off x="16550640" y="9646920"/>
            <a:ext cx="914400" cy="36576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Helvetica Neue"/>
                <a:ea typeface="Helvetica Neue"/>
                <a:cs typeface="Helvetica Neue"/>
                <a:sym typeface="Helvetica Neue"/>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Helvetica Neue"/>
                <a:ea typeface="Helvetica Neue"/>
                <a:cs typeface="Helvetica Neue"/>
                <a:sym typeface="Helvetica Neue"/>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Helvetica Neue"/>
                <a:ea typeface="Helvetica Neue"/>
                <a:cs typeface="Helvetica Neue"/>
                <a:sym typeface="Helvetica Neue"/>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Helvetica Neue"/>
                <a:ea typeface="Helvetica Neue"/>
                <a:cs typeface="Helvetica Neue"/>
                <a:sym typeface="Helvetica Neue"/>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Helvetica Neue"/>
                <a:ea typeface="Helvetica Neue"/>
                <a:cs typeface="Helvetica Neue"/>
                <a:sym typeface="Helvetica Neue"/>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Helvetica Neue"/>
                <a:ea typeface="Helvetica Neue"/>
                <a:cs typeface="Helvetica Neue"/>
                <a:sym typeface="Helvetica Neue"/>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Helvetica Neue"/>
                <a:ea typeface="Helvetica Neue"/>
                <a:cs typeface="Helvetica Neue"/>
                <a:sym typeface="Helvetica Neue"/>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Helvetica Neue"/>
                <a:ea typeface="Helvetica Neue"/>
                <a:cs typeface="Helvetica Neue"/>
                <a:sym typeface="Helvetica Neue"/>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NY_CLOSING">
  <p:cSld name="BNY_CLOSING">
    <p:spTree>
      <p:nvGrpSpPr>
        <p:cNvPr id="19" name="Shape 19"/>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 name="Shape 20"/>
        <p:cNvGrpSpPr/>
        <p:nvPr/>
      </p:nvGrpSpPr>
      <p:grpSpPr>
        <a:xfrm>
          <a:off x="0" y="0"/>
          <a:ext cx="0" cy="0"/>
          <a:chOff x="0" y="0"/>
          <a:chExt cx="0" cy="0"/>
        </a:xfrm>
      </p:grpSpPr>
      <p:sp>
        <p:nvSpPr>
          <p:cNvPr id="21" name="Google Shape;21;p6"/>
          <p:cNvSpPr txBox="1"/>
          <p:nvPr>
            <p:ph idx="12" type="sldNum"/>
          </p:nvPr>
        </p:nvSpPr>
        <p:spPr>
          <a:xfrm>
            <a:off x="16944916" y="9326434"/>
            <a:ext cx="1097400" cy="78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Helvetica Neue"/>
                <a:ea typeface="Helvetica Neue"/>
                <a:cs typeface="Helvetica Neue"/>
                <a:sym typeface="Helvetica Neue"/>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Helvetica Neue"/>
                <a:ea typeface="Helvetica Neue"/>
                <a:cs typeface="Helvetica Neue"/>
                <a:sym typeface="Helvetica Neue"/>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Helvetica Neue"/>
                <a:ea typeface="Helvetica Neue"/>
                <a:cs typeface="Helvetica Neue"/>
                <a:sym typeface="Helvetica Neue"/>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Helvetica Neue"/>
                <a:ea typeface="Helvetica Neue"/>
                <a:cs typeface="Helvetica Neue"/>
                <a:sym typeface="Helvetica Neue"/>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Helvetica Neue"/>
                <a:ea typeface="Helvetica Neue"/>
                <a:cs typeface="Helvetica Neue"/>
                <a:sym typeface="Helvetica Neue"/>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Helvetica Neue"/>
                <a:ea typeface="Helvetica Neue"/>
                <a:cs typeface="Helvetica Neue"/>
                <a:sym typeface="Helvetica Neue"/>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Helvetica Neue"/>
                <a:ea typeface="Helvetica Neue"/>
                <a:cs typeface="Helvetica Neue"/>
                <a:sym typeface="Helvetica Neue"/>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Helvetica Neue"/>
                <a:ea typeface="Helvetica Neue"/>
                <a:cs typeface="Helvetica Neue"/>
                <a:sym typeface="Helvetica Neue"/>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b88ad8e03_36_0)">
  <p:cSld name="Generated (g3fb88ad8e03_36_0)">
    <p:spTree>
      <p:nvGrpSpPr>
        <p:cNvPr id="22" name="Shape 22"/>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NY_TITLE">
  <p:cSld name="BNY_TITLE">
    <p:spTree>
      <p:nvGrpSpPr>
        <p:cNvPr id="23" name="Shape 23"/>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spTree>
      <p:nvGrpSpPr>
        <p:cNvPr id="24" name="Shape 24"/>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5f4af6847654f19e_7_0) 1" type="title">
  <p:cSld name="TITLE">
    <p:spTree>
      <p:nvGrpSpPr>
        <p:cNvPr id="25" name="Shape 25"/>
        <p:cNvGrpSpPr/>
        <p:nvPr/>
      </p:nvGrpSpPr>
      <p:grpSpPr>
        <a:xfrm>
          <a:off x="0" y="0"/>
          <a:ext cx="0" cy="0"/>
          <a:chOff x="0" y="0"/>
          <a:chExt cx="0" cy="0"/>
        </a:xfrm>
      </p:grpSpPr>
      <p:sp>
        <p:nvSpPr>
          <p:cNvPr id="26" name="Google Shape;26;p10"/>
          <p:cNvSpPr txBox="1"/>
          <p:nvPr>
            <p:ph idx="12" type="sldNum"/>
          </p:nvPr>
        </p:nvSpPr>
        <p:spPr>
          <a:xfrm>
            <a:off x="8839200" y="9534525"/>
            <a:ext cx="4267200" cy="276900"/>
          </a:xfrm>
          <a:prstGeom prst="rect">
            <a:avLst/>
          </a:prstGeom>
          <a:noFill/>
          <a:ln>
            <a:noFill/>
          </a:ln>
        </p:spPr>
        <p:txBody>
          <a:bodyPr anchorCtr="0" anchor="t" bIns="45675" lIns="45675" spcFirstLastPara="1" rIns="45675" wrap="square" tIns="45675">
            <a:spAutoFit/>
          </a:bodyPr>
          <a:lstStyle>
            <a:lvl1pPr indent="0" lvl="0" marL="0" algn="r">
              <a:lnSpc>
                <a:spcPct val="100000"/>
              </a:lnSpc>
              <a:spcBef>
                <a:spcPts val="0"/>
              </a:spcBef>
              <a:spcAft>
                <a:spcPts val="0"/>
              </a:spcAft>
              <a:buClr>
                <a:srgbClr val="475569"/>
              </a:buClr>
              <a:buSzPts val="1200"/>
              <a:buFont typeface="Helvetica Neue"/>
              <a:buNone/>
              <a:defRPr sz="1200">
                <a:solidFill>
                  <a:srgbClr val="475569"/>
                </a:solidFill>
                <a:latin typeface="Helvetica Neue"/>
                <a:ea typeface="Helvetica Neue"/>
                <a:cs typeface="Helvetica Neue"/>
                <a:sym typeface="Helvetica Neue"/>
              </a:defRPr>
            </a:lvl1pPr>
            <a:lvl2pPr indent="0" lvl="1" marL="0" algn="r">
              <a:lnSpc>
                <a:spcPct val="100000"/>
              </a:lnSpc>
              <a:spcBef>
                <a:spcPts val="0"/>
              </a:spcBef>
              <a:spcAft>
                <a:spcPts val="0"/>
              </a:spcAft>
              <a:buClr>
                <a:srgbClr val="475569"/>
              </a:buClr>
              <a:buSzPts val="1200"/>
              <a:buFont typeface="Helvetica Neue"/>
              <a:buNone/>
              <a:defRPr sz="1200">
                <a:solidFill>
                  <a:srgbClr val="475569"/>
                </a:solidFill>
                <a:latin typeface="Helvetica Neue"/>
                <a:ea typeface="Helvetica Neue"/>
                <a:cs typeface="Helvetica Neue"/>
                <a:sym typeface="Helvetica Neue"/>
              </a:defRPr>
            </a:lvl2pPr>
            <a:lvl3pPr indent="0" lvl="2" marL="0" algn="r">
              <a:lnSpc>
                <a:spcPct val="100000"/>
              </a:lnSpc>
              <a:spcBef>
                <a:spcPts val="0"/>
              </a:spcBef>
              <a:spcAft>
                <a:spcPts val="0"/>
              </a:spcAft>
              <a:buClr>
                <a:srgbClr val="475569"/>
              </a:buClr>
              <a:buSzPts val="1200"/>
              <a:buFont typeface="Helvetica Neue"/>
              <a:buNone/>
              <a:defRPr sz="1200">
                <a:solidFill>
                  <a:srgbClr val="475569"/>
                </a:solidFill>
                <a:latin typeface="Helvetica Neue"/>
                <a:ea typeface="Helvetica Neue"/>
                <a:cs typeface="Helvetica Neue"/>
                <a:sym typeface="Helvetica Neue"/>
              </a:defRPr>
            </a:lvl3pPr>
            <a:lvl4pPr indent="0" lvl="3" marL="0" algn="r">
              <a:lnSpc>
                <a:spcPct val="100000"/>
              </a:lnSpc>
              <a:spcBef>
                <a:spcPts val="0"/>
              </a:spcBef>
              <a:spcAft>
                <a:spcPts val="0"/>
              </a:spcAft>
              <a:buClr>
                <a:srgbClr val="475569"/>
              </a:buClr>
              <a:buSzPts val="1200"/>
              <a:buFont typeface="Helvetica Neue"/>
              <a:buNone/>
              <a:defRPr sz="1200">
                <a:solidFill>
                  <a:srgbClr val="475569"/>
                </a:solidFill>
                <a:latin typeface="Helvetica Neue"/>
                <a:ea typeface="Helvetica Neue"/>
                <a:cs typeface="Helvetica Neue"/>
                <a:sym typeface="Helvetica Neue"/>
              </a:defRPr>
            </a:lvl4pPr>
            <a:lvl5pPr indent="0" lvl="4" marL="0" algn="r">
              <a:lnSpc>
                <a:spcPct val="100000"/>
              </a:lnSpc>
              <a:spcBef>
                <a:spcPts val="0"/>
              </a:spcBef>
              <a:spcAft>
                <a:spcPts val="0"/>
              </a:spcAft>
              <a:buClr>
                <a:srgbClr val="475569"/>
              </a:buClr>
              <a:buSzPts val="1200"/>
              <a:buFont typeface="Helvetica Neue"/>
              <a:buNone/>
              <a:defRPr sz="1200">
                <a:solidFill>
                  <a:srgbClr val="475569"/>
                </a:solidFill>
                <a:latin typeface="Helvetica Neue"/>
                <a:ea typeface="Helvetica Neue"/>
                <a:cs typeface="Helvetica Neue"/>
                <a:sym typeface="Helvetica Neue"/>
              </a:defRPr>
            </a:lvl5pPr>
            <a:lvl6pPr indent="0" lvl="5" marL="0" algn="r">
              <a:lnSpc>
                <a:spcPct val="100000"/>
              </a:lnSpc>
              <a:spcBef>
                <a:spcPts val="0"/>
              </a:spcBef>
              <a:spcAft>
                <a:spcPts val="0"/>
              </a:spcAft>
              <a:buClr>
                <a:srgbClr val="475569"/>
              </a:buClr>
              <a:buSzPts val="1200"/>
              <a:buFont typeface="Helvetica Neue"/>
              <a:buNone/>
              <a:defRPr sz="1200">
                <a:solidFill>
                  <a:srgbClr val="475569"/>
                </a:solidFill>
                <a:latin typeface="Helvetica Neue"/>
                <a:ea typeface="Helvetica Neue"/>
                <a:cs typeface="Helvetica Neue"/>
                <a:sym typeface="Helvetica Neue"/>
              </a:defRPr>
            </a:lvl6pPr>
            <a:lvl7pPr indent="0" lvl="6" marL="0" algn="r">
              <a:lnSpc>
                <a:spcPct val="100000"/>
              </a:lnSpc>
              <a:spcBef>
                <a:spcPts val="0"/>
              </a:spcBef>
              <a:spcAft>
                <a:spcPts val="0"/>
              </a:spcAft>
              <a:buClr>
                <a:srgbClr val="475569"/>
              </a:buClr>
              <a:buSzPts val="1200"/>
              <a:buFont typeface="Helvetica Neue"/>
              <a:buNone/>
              <a:defRPr sz="1200">
                <a:solidFill>
                  <a:srgbClr val="475569"/>
                </a:solidFill>
                <a:latin typeface="Helvetica Neue"/>
                <a:ea typeface="Helvetica Neue"/>
                <a:cs typeface="Helvetica Neue"/>
                <a:sym typeface="Helvetica Neue"/>
              </a:defRPr>
            </a:lvl7pPr>
            <a:lvl8pPr indent="0" lvl="7" marL="0" algn="r">
              <a:lnSpc>
                <a:spcPct val="100000"/>
              </a:lnSpc>
              <a:spcBef>
                <a:spcPts val="0"/>
              </a:spcBef>
              <a:spcAft>
                <a:spcPts val="0"/>
              </a:spcAft>
              <a:buClr>
                <a:srgbClr val="475569"/>
              </a:buClr>
              <a:buSzPts val="1200"/>
              <a:buFont typeface="Helvetica Neue"/>
              <a:buNone/>
              <a:defRPr sz="1200">
                <a:solidFill>
                  <a:srgbClr val="475569"/>
                </a:solidFill>
                <a:latin typeface="Helvetica Neue"/>
                <a:ea typeface="Helvetica Neue"/>
                <a:cs typeface="Helvetica Neue"/>
                <a:sym typeface="Helvetica Neue"/>
              </a:defRPr>
            </a:lvl8pPr>
            <a:lvl9pPr indent="0" lvl="8" marL="0" algn="r">
              <a:lnSpc>
                <a:spcPct val="100000"/>
              </a:lnSpc>
              <a:spcBef>
                <a:spcPts val="0"/>
              </a:spcBef>
              <a:spcAft>
                <a:spcPts val="0"/>
              </a:spcAft>
              <a:buClr>
                <a:srgbClr val="475569"/>
              </a:buClr>
              <a:buSzPts val="1200"/>
              <a:buFont typeface="Helvetica Neue"/>
              <a:buNone/>
              <a:defRPr sz="1200">
                <a:solidFill>
                  <a:srgbClr val="475569"/>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solidFill>
                <a:schemeClr val="dk2"/>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NY_CONTENT 1" type="tx">
  <p:cSld name="TITLE_AND_BODY">
    <p:spTree>
      <p:nvGrpSpPr>
        <p:cNvPr id="27" name="Shape 27"/>
        <p:cNvGrpSpPr/>
        <p:nvPr/>
      </p:nvGrpSpPr>
      <p:grpSpPr>
        <a:xfrm>
          <a:off x="0" y="0"/>
          <a:ext cx="0" cy="0"/>
          <a:chOff x="0" y="0"/>
          <a:chExt cx="0" cy="0"/>
        </a:xfrm>
      </p:grpSpPr>
      <p:sp>
        <p:nvSpPr>
          <p:cNvPr id="28" name="Google Shape;28;p11"/>
          <p:cNvSpPr txBox="1"/>
          <p:nvPr>
            <p:ph idx="1" type="body"/>
          </p:nvPr>
        </p:nvSpPr>
        <p:spPr>
          <a:xfrm>
            <a:off x="822960" y="548640"/>
            <a:ext cx="14630400" cy="365700"/>
          </a:xfrm>
          <a:prstGeom prst="rect">
            <a:avLst/>
          </a:prstGeom>
          <a:noFill/>
          <a:ln>
            <a:noFill/>
          </a:ln>
        </p:spPr>
        <p:txBody>
          <a:bodyPr anchorCtr="0" anchor="t" bIns="45675" lIns="45675" spcFirstLastPara="1" rIns="45675" wrap="square" tIns="45675">
            <a:normAutofit/>
          </a:bodyPr>
          <a:lstStyle>
            <a:lvl1pPr indent="-317500" lvl="0" marL="457200" algn="l">
              <a:lnSpc>
                <a:spcPct val="100000"/>
              </a:lnSpc>
              <a:spcBef>
                <a:spcPts val="200"/>
              </a:spcBef>
              <a:spcAft>
                <a:spcPts val="0"/>
              </a:spcAft>
              <a:buClr>
                <a:schemeClr val="accent1"/>
              </a:buClr>
              <a:buSzPts val="1400"/>
              <a:buFont typeface="Helvetica Neue"/>
              <a:buChar char="●"/>
              <a:defRPr b="1">
                <a:solidFill>
                  <a:schemeClr val="accent1"/>
                </a:solidFill>
                <a:latin typeface="Helvetica Neue"/>
                <a:ea typeface="Helvetica Neue"/>
                <a:cs typeface="Helvetica Neue"/>
                <a:sym typeface="Helvetica Neue"/>
              </a:defRPr>
            </a:lvl1pPr>
            <a:lvl2pPr indent="-317500" lvl="1" marL="914400" algn="l">
              <a:lnSpc>
                <a:spcPct val="100000"/>
              </a:lnSpc>
              <a:spcBef>
                <a:spcPts val="200"/>
              </a:spcBef>
              <a:spcAft>
                <a:spcPts val="0"/>
              </a:spcAft>
              <a:buClr>
                <a:schemeClr val="accent1"/>
              </a:buClr>
              <a:buSzPts val="1400"/>
              <a:buFont typeface="Helvetica Neue"/>
              <a:buChar char="–"/>
              <a:defRPr b="1">
                <a:solidFill>
                  <a:schemeClr val="accent1"/>
                </a:solidFill>
                <a:latin typeface="Helvetica Neue"/>
                <a:ea typeface="Helvetica Neue"/>
                <a:cs typeface="Helvetica Neue"/>
                <a:sym typeface="Helvetica Neue"/>
              </a:defRPr>
            </a:lvl2pPr>
            <a:lvl3pPr indent="-317500" lvl="2" marL="1371600" algn="l">
              <a:lnSpc>
                <a:spcPct val="100000"/>
              </a:lnSpc>
              <a:spcBef>
                <a:spcPts val="200"/>
              </a:spcBef>
              <a:spcAft>
                <a:spcPts val="0"/>
              </a:spcAft>
              <a:buClr>
                <a:schemeClr val="accent1"/>
              </a:buClr>
              <a:buSzPts val="1400"/>
              <a:buFont typeface="Helvetica Neue"/>
              <a:buChar char="•"/>
              <a:defRPr b="1">
                <a:solidFill>
                  <a:schemeClr val="accent1"/>
                </a:solidFill>
                <a:latin typeface="Helvetica Neue"/>
                <a:ea typeface="Helvetica Neue"/>
                <a:cs typeface="Helvetica Neue"/>
                <a:sym typeface="Helvetica Neue"/>
              </a:defRPr>
            </a:lvl3pPr>
            <a:lvl4pPr indent="-317500" lvl="3" marL="1828800" algn="l">
              <a:lnSpc>
                <a:spcPct val="100000"/>
              </a:lnSpc>
              <a:spcBef>
                <a:spcPts val="200"/>
              </a:spcBef>
              <a:spcAft>
                <a:spcPts val="0"/>
              </a:spcAft>
              <a:buClr>
                <a:schemeClr val="accent1"/>
              </a:buClr>
              <a:buSzPts val="1400"/>
              <a:buFont typeface="Helvetica Neue"/>
              <a:buChar char="–"/>
              <a:defRPr b="1">
                <a:solidFill>
                  <a:schemeClr val="accent1"/>
                </a:solidFill>
                <a:latin typeface="Helvetica Neue"/>
                <a:ea typeface="Helvetica Neue"/>
                <a:cs typeface="Helvetica Neue"/>
                <a:sym typeface="Helvetica Neue"/>
              </a:defRPr>
            </a:lvl4pPr>
            <a:lvl5pPr indent="-317500" lvl="4" marL="2286000" algn="l">
              <a:lnSpc>
                <a:spcPct val="100000"/>
              </a:lnSpc>
              <a:spcBef>
                <a:spcPts val="200"/>
              </a:spcBef>
              <a:spcAft>
                <a:spcPts val="0"/>
              </a:spcAft>
              <a:buClr>
                <a:schemeClr val="accent1"/>
              </a:buClr>
              <a:buSzPts val="1400"/>
              <a:buFont typeface="Helvetica Neue"/>
              <a:buChar char="»"/>
              <a:defRPr b="1">
                <a:solidFill>
                  <a:schemeClr val="accent1"/>
                </a:solidFill>
                <a:latin typeface="Helvetica Neue"/>
                <a:ea typeface="Helvetica Neue"/>
                <a:cs typeface="Helvetica Neue"/>
                <a:sym typeface="Helvetica Neue"/>
              </a:defRPr>
            </a:lvl5pPr>
            <a:lvl6pPr indent="-342900" lvl="5" marL="2743200" algn="l">
              <a:lnSpc>
                <a:spcPct val="100000"/>
              </a:lnSpc>
              <a:spcBef>
                <a:spcPts val="0"/>
              </a:spcBef>
              <a:spcAft>
                <a:spcPts val="0"/>
              </a:spcAft>
              <a:buClr>
                <a:srgbClr val="000000"/>
              </a:buClr>
              <a:buSzPts val="1800"/>
              <a:buChar char="■"/>
              <a:defRPr/>
            </a:lvl6pPr>
            <a:lvl7pPr indent="-342900" lvl="6" marL="3200400" algn="l">
              <a:lnSpc>
                <a:spcPct val="100000"/>
              </a:lnSpc>
              <a:spcBef>
                <a:spcPts val="0"/>
              </a:spcBef>
              <a:spcAft>
                <a:spcPts val="0"/>
              </a:spcAft>
              <a:buClr>
                <a:srgbClr val="000000"/>
              </a:buClr>
              <a:buSzPts val="1800"/>
              <a:buChar char="●"/>
              <a:defRPr/>
            </a:lvl7pPr>
            <a:lvl8pPr indent="-342900" lvl="7" marL="3657600" algn="l">
              <a:lnSpc>
                <a:spcPct val="100000"/>
              </a:lnSpc>
              <a:spcBef>
                <a:spcPts val="0"/>
              </a:spcBef>
              <a:spcAft>
                <a:spcPts val="0"/>
              </a:spcAft>
              <a:buClr>
                <a:srgbClr val="000000"/>
              </a:buClr>
              <a:buSzPts val="1800"/>
              <a:buChar char="○"/>
              <a:defRPr/>
            </a:lvl8pPr>
            <a:lvl9pPr indent="-342900" lvl="8" marL="4114800" algn="l">
              <a:lnSpc>
                <a:spcPct val="100000"/>
              </a:lnSpc>
              <a:spcBef>
                <a:spcPts val="0"/>
              </a:spcBef>
              <a:spcAft>
                <a:spcPts val="0"/>
              </a:spcAft>
              <a:buClr>
                <a:srgbClr val="000000"/>
              </a:buClr>
              <a:buSzPts val="1800"/>
              <a:buChar char="■"/>
              <a:defRPr/>
            </a:lvl9pPr>
          </a:lstStyle>
          <a:p/>
        </p:txBody>
      </p:sp>
      <p:sp>
        <p:nvSpPr>
          <p:cNvPr id="29" name="Google Shape;29;p11"/>
          <p:cNvSpPr txBox="1"/>
          <p:nvPr>
            <p:ph type="title"/>
          </p:nvPr>
        </p:nvSpPr>
        <p:spPr>
          <a:xfrm>
            <a:off x="822960" y="960119"/>
            <a:ext cx="16642200" cy="822900"/>
          </a:xfrm>
          <a:prstGeom prst="rect">
            <a:avLst/>
          </a:prstGeom>
          <a:noFill/>
          <a:ln>
            <a:noFill/>
          </a:ln>
        </p:spPr>
        <p:txBody>
          <a:bodyPr anchorCtr="0" anchor="t" bIns="45675" lIns="45675" spcFirstLastPara="1" rIns="45675" wrap="square" tIns="45675">
            <a:normAutofit/>
          </a:bodyPr>
          <a:lstStyle>
            <a:lvl1pPr lvl="0" algn="l">
              <a:lnSpc>
                <a:spcPct val="100000"/>
              </a:lnSpc>
              <a:spcBef>
                <a:spcPts val="0"/>
              </a:spcBef>
              <a:spcAft>
                <a:spcPts val="0"/>
              </a:spcAft>
              <a:buClr>
                <a:srgbClr val="04243C"/>
              </a:buClr>
              <a:buSzPts val="3600"/>
              <a:buFont typeface="Helvetica Neue"/>
              <a:buChar char="●"/>
              <a:defRPr b="1" sz="3600">
                <a:solidFill>
                  <a:srgbClr val="04243C"/>
                </a:solidFill>
                <a:latin typeface="Helvetica Neue"/>
                <a:ea typeface="Helvetica Neue"/>
                <a:cs typeface="Helvetica Neue"/>
                <a:sym typeface="Helvetica Neue"/>
              </a:defRPr>
            </a:lvl1pPr>
            <a:lvl2pPr lvl="1" algn="l">
              <a:lnSpc>
                <a:spcPct val="100000"/>
              </a:lnSpc>
              <a:spcBef>
                <a:spcPts val="0"/>
              </a:spcBef>
              <a:spcAft>
                <a:spcPts val="0"/>
              </a:spcAft>
              <a:buClr>
                <a:srgbClr val="000000"/>
              </a:buClr>
              <a:buSzPts val="1800"/>
              <a:buChar char="○"/>
              <a:defRPr/>
            </a:lvl2pPr>
            <a:lvl3pPr lvl="2" algn="l">
              <a:lnSpc>
                <a:spcPct val="100000"/>
              </a:lnSpc>
              <a:spcBef>
                <a:spcPts val="0"/>
              </a:spcBef>
              <a:spcAft>
                <a:spcPts val="0"/>
              </a:spcAft>
              <a:buClr>
                <a:srgbClr val="000000"/>
              </a:buClr>
              <a:buSzPts val="1800"/>
              <a:buChar char="■"/>
              <a:defRPr/>
            </a:lvl3pPr>
            <a:lvl4pPr lvl="3" algn="l">
              <a:lnSpc>
                <a:spcPct val="100000"/>
              </a:lnSpc>
              <a:spcBef>
                <a:spcPts val="0"/>
              </a:spcBef>
              <a:spcAft>
                <a:spcPts val="0"/>
              </a:spcAft>
              <a:buClr>
                <a:srgbClr val="000000"/>
              </a:buClr>
              <a:buSzPts val="1800"/>
              <a:buChar char="●"/>
              <a:defRPr/>
            </a:lvl4pPr>
            <a:lvl5pPr lvl="4" algn="l">
              <a:lnSpc>
                <a:spcPct val="100000"/>
              </a:lnSpc>
              <a:spcBef>
                <a:spcPts val="0"/>
              </a:spcBef>
              <a:spcAft>
                <a:spcPts val="0"/>
              </a:spcAft>
              <a:buClr>
                <a:srgbClr val="000000"/>
              </a:buClr>
              <a:buSzPts val="1800"/>
              <a:buChar char="○"/>
              <a:defRPr/>
            </a:lvl5pPr>
            <a:lvl6pPr lvl="5" algn="l">
              <a:lnSpc>
                <a:spcPct val="100000"/>
              </a:lnSpc>
              <a:spcBef>
                <a:spcPts val="0"/>
              </a:spcBef>
              <a:spcAft>
                <a:spcPts val="0"/>
              </a:spcAft>
              <a:buClr>
                <a:srgbClr val="000000"/>
              </a:buClr>
              <a:buSzPts val="1800"/>
              <a:buChar char="■"/>
              <a:defRPr/>
            </a:lvl6pPr>
            <a:lvl7pPr lvl="6" algn="l">
              <a:lnSpc>
                <a:spcPct val="100000"/>
              </a:lnSpc>
              <a:spcBef>
                <a:spcPts val="0"/>
              </a:spcBef>
              <a:spcAft>
                <a:spcPts val="0"/>
              </a:spcAft>
              <a:buClr>
                <a:srgbClr val="000000"/>
              </a:buClr>
              <a:buSzPts val="1800"/>
              <a:buChar char="●"/>
              <a:defRPr/>
            </a:lvl7pPr>
            <a:lvl8pPr lvl="7" algn="l">
              <a:lnSpc>
                <a:spcPct val="100000"/>
              </a:lnSpc>
              <a:spcBef>
                <a:spcPts val="0"/>
              </a:spcBef>
              <a:spcAft>
                <a:spcPts val="0"/>
              </a:spcAft>
              <a:buClr>
                <a:srgbClr val="000000"/>
              </a:buClr>
              <a:buSzPts val="1800"/>
              <a:buChar char="○"/>
              <a:defRPr/>
            </a:lvl8pPr>
            <a:lvl9pPr lvl="8" algn="l">
              <a:lnSpc>
                <a:spcPct val="100000"/>
              </a:lnSpc>
              <a:spcBef>
                <a:spcPts val="0"/>
              </a:spcBef>
              <a:spcAft>
                <a:spcPts val="0"/>
              </a:spcAft>
              <a:buClr>
                <a:srgbClr val="000000"/>
              </a:buClr>
              <a:buSzPts val="1800"/>
              <a:buChar char="■"/>
              <a:defRPr/>
            </a:lvl9pPr>
          </a:lstStyle>
          <a:p/>
        </p:txBody>
      </p:sp>
      <p:sp>
        <p:nvSpPr>
          <p:cNvPr id="30" name="Google Shape;30;p11"/>
          <p:cNvSpPr txBox="1"/>
          <p:nvPr>
            <p:ph idx="12" type="sldNum"/>
          </p:nvPr>
        </p:nvSpPr>
        <p:spPr>
          <a:xfrm>
            <a:off x="17191470" y="9646919"/>
            <a:ext cx="273600" cy="276900"/>
          </a:xfrm>
          <a:prstGeom prst="rect">
            <a:avLst/>
          </a:prstGeom>
          <a:noFill/>
          <a:ln>
            <a:noFill/>
          </a:ln>
        </p:spPr>
        <p:txBody>
          <a:bodyPr anchorCtr="0" anchor="t" bIns="45675" lIns="45675" spcFirstLastPara="1" rIns="45675" wrap="square" tIns="45675">
            <a:spAutoFit/>
          </a:bodyPr>
          <a:lstStyle>
            <a:lvl1pPr indent="0" lvl="0" marL="0" algn="r">
              <a:lnSpc>
                <a:spcPct val="100000"/>
              </a:lnSpc>
              <a:spcBef>
                <a:spcPts val="0"/>
              </a:spcBef>
              <a:spcAft>
                <a:spcPts val="0"/>
              </a:spcAft>
              <a:buClr>
                <a:srgbClr val="475569"/>
              </a:buClr>
              <a:buSzPts val="1200"/>
              <a:buFont typeface="Helvetica Neue"/>
              <a:buNone/>
              <a:defRPr sz="1200">
                <a:solidFill>
                  <a:srgbClr val="475569"/>
                </a:solidFill>
                <a:latin typeface="Helvetica Neue"/>
                <a:ea typeface="Helvetica Neue"/>
                <a:cs typeface="Helvetica Neue"/>
                <a:sym typeface="Helvetica Neue"/>
              </a:defRPr>
            </a:lvl1pPr>
            <a:lvl2pPr indent="0" lvl="1" marL="0" algn="r">
              <a:lnSpc>
                <a:spcPct val="100000"/>
              </a:lnSpc>
              <a:spcBef>
                <a:spcPts val="0"/>
              </a:spcBef>
              <a:spcAft>
                <a:spcPts val="0"/>
              </a:spcAft>
              <a:buClr>
                <a:srgbClr val="475569"/>
              </a:buClr>
              <a:buSzPts val="1200"/>
              <a:buFont typeface="Helvetica Neue"/>
              <a:buNone/>
              <a:defRPr sz="1200">
                <a:solidFill>
                  <a:srgbClr val="475569"/>
                </a:solidFill>
                <a:latin typeface="Helvetica Neue"/>
                <a:ea typeface="Helvetica Neue"/>
                <a:cs typeface="Helvetica Neue"/>
                <a:sym typeface="Helvetica Neue"/>
              </a:defRPr>
            </a:lvl2pPr>
            <a:lvl3pPr indent="0" lvl="2" marL="0" algn="r">
              <a:lnSpc>
                <a:spcPct val="100000"/>
              </a:lnSpc>
              <a:spcBef>
                <a:spcPts val="0"/>
              </a:spcBef>
              <a:spcAft>
                <a:spcPts val="0"/>
              </a:spcAft>
              <a:buClr>
                <a:srgbClr val="475569"/>
              </a:buClr>
              <a:buSzPts val="1200"/>
              <a:buFont typeface="Helvetica Neue"/>
              <a:buNone/>
              <a:defRPr sz="1200">
                <a:solidFill>
                  <a:srgbClr val="475569"/>
                </a:solidFill>
                <a:latin typeface="Helvetica Neue"/>
                <a:ea typeface="Helvetica Neue"/>
                <a:cs typeface="Helvetica Neue"/>
                <a:sym typeface="Helvetica Neue"/>
              </a:defRPr>
            </a:lvl3pPr>
            <a:lvl4pPr indent="0" lvl="3" marL="0" algn="r">
              <a:lnSpc>
                <a:spcPct val="100000"/>
              </a:lnSpc>
              <a:spcBef>
                <a:spcPts val="0"/>
              </a:spcBef>
              <a:spcAft>
                <a:spcPts val="0"/>
              </a:spcAft>
              <a:buClr>
                <a:srgbClr val="475569"/>
              </a:buClr>
              <a:buSzPts val="1200"/>
              <a:buFont typeface="Helvetica Neue"/>
              <a:buNone/>
              <a:defRPr sz="1200">
                <a:solidFill>
                  <a:srgbClr val="475569"/>
                </a:solidFill>
                <a:latin typeface="Helvetica Neue"/>
                <a:ea typeface="Helvetica Neue"/>
                <a:cs typeface="Helvetica Neue"/>
                <a:sym typeface="Helvetica Neue"/>
              </a:defRPr>
            </a:lvl4pPr>
            <a:lvl5pPr indent="0" lvl="4" marL="0" algn="r">
              <a:lnSpc>
                <a:spcPct val="100000"/>
              </a:lnSpc>
              <a:spcBef>
                <a:spcPts val="0"/>
              </a:spcBef>
              <a:spcAft>
                <a:spcPts val="0"/>
              </a:spcAft>
              <a:buClr>
                <a:srgbClr val="475569"/>
              </a:buClr>
              <a:buSzPts val="1200"/>
              <a:buFont typeface="Helvetica Neue"/>
              <a:buNone/>
              <a:defRPr sz="1200">
                <a:solidFill>
                  <a:srgbClr val="475569"/>
                </a:solidFill>
                <a:latin typeface="Helvetica Neue"/>
                <a:ea typeface="Helvetica Neue"/>
                <a:cs typeface="Helvetica Neue"/>
                <a:sym typeface="Helvetica Neue"/>
              </a:defRPr>
            </a:lvl5pPr>
            <a:lvl6pPr indent="0" lvl="5" marL="0" algn="r">
              <a:lnSpc>
                <a:spcPct val="100000"/>
              </a:lnSpc>
              <a:spcBef>
                <a:spcPts val="0"/>
              </a:spcBef>
              <a:spcAft>
                <a:spcPts val="0"/>
              </a:spcAft>
              <a:buClr>
                <a:srgbClr val="475569"/>
              </a:buClr>
              <a:buSzPts val="1200"/>
              <a:buFont typeface="Helvetica Neue"/>
              <a:buNone/>
              <a:defRPr sz="1200">
                <a:solidFill>
                  <a:srgbClr val="475569"/>
                </a:solidFill>
                <a:latin typeface="Helvetica Neue"/>
                <a:ea typeface="Helvetica Neue"/>
                <a:cs typeface="Helvetica Neue"/>
                <a:sym typeface="Helvetica Neue"/>
              </a:defRPr>
            </a:lvl6pPr>
            <a:lvl7pPr indent="0" lvl="6" marL="0" algn="r">
              <a:lnSpc>
                <a:spcPct val="100000"/>
              </a:lnSpc>
              <a:spcBef>
                <a:spcPts val="0"/>
              </a:spcBef>
              <a:spcAft>
                <a:spcPts val="0"/>
              </a:spcAft>
              <a:buClr>
                <a:srgbClr val="475569"/>
              </a:buClr>
              <a:buSzPts val="1200"/>
              <a:buFont typeface="Helvetica Neue"/>
              <a:buNone/>
              <a:defRPr sz="1200">
                <a:solidFill>
                  <a:srgbClr val="475569"/>
                </a:solidFill>
                <a:latin typeface="Helvetica Neue"/>
                <a:ea typeface="Helvetica Neue"/>
                <a:cs typeface="Helvetica Neue"/>
                <a:sym typeface="Helvetica Neue"/>
              </a:defRPr>
            </a:lvl7pPr>
            <a:lvl8pPr indent="0" lvl="7" marL="0" algn="r">
              <a:lnSpc>
                <a:spcPct val="100000"/>
              </a:lnSpc>
              <a:spcBef>
                <a:spcPts val="0"/>
              </a:spcBef>
              <a:spcAft>
                <a:spcPts val="0"/>
              </a:spcAft>
              <a:buClr>
                <a:srgbClr val="475569"/>
              </a:buClr>
              <a:buSzPts val="1200"/>
              <a:buFont typeface="Helvetica Neue"/>
              <a:buNone/>
              <a:defRPr sz="1200">
                <a:solidFill>
                  <a:srgbClr val="475569"/>
                </a:solidFill>
                <a:latin typeface="Helvetica Neue"/>
                <a:ea typeface="Helvetica Neue"/>
                <a:cs typeface="Helvetica Neue"/>
                <a:sym typeface="Helvetica Neue"/>
              </a:defRPr>
            </a:lvl8pPr>
            <a:lvl9pPr indent="0" lvl="8" marL="0" algn="r">
              <a:lnSpc>
                <a:spcPct val="100000"/>
              </a:lnSpc>
              <a:spcBef>
                <a:spcPts val="0"/>
              </a:spcBef>
              <a:spcAft>
                <a:spcPts val="0"/>
              </a:spcAft>
              <a:buClr>
                <a:srgbClr val="475569"/>
              </a:buClr>
              <a:buSzPts val="1200"/>
              <a:buFont typeface="Helvetica Neue"/>
              <a:buNone/>
              <a:defRPr sz="1200">
                <a:solidFill>
                  <a:srgbClr val="475569"/>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solidFill>
                <a:schemeClr val="dk2"/>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9" name="Shape 9"/>
        <p:cNvGrpSpPr/>
        <p:nvPr/>
      </p:nvGrpSpPr>
      <p:grpSpPr>
        <a:xfrm>
          <a:off x="0" y="0"/>
          <a:ext cx="0" cy="0"/>
          <a:chOff x="0" y="0"/>
          <a:chExt cx="0" cy="0"/>
        </a:xfrm>
      </p:grpSpPr>
      <p:sp>
        <p:nvSpPr>
          <p:cNvPr id="10" name="Google Shape;10;p1"/>
          <p:cNvSpPr txBox="1"/>
          <p:nvPr>
            <p:ph idx="12" type="sldNum"/>
          </p:nvPr>
        </p:nvSpPr>
        <p:spPr>
          <a:xfrm>
            <a:off x="16550640" y="9646920"/>
            <a:ext cx="914400" cy="36576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1.png"/><Relationship Id="rId5" Type="http://schemas.openxmlformats.org/officeDocument/2006/relationships/image" Target="../media/image4.png"/><Relationship Id="rId6" Type="http://schemas.openxmlformats.org/officeDocument/2006/relationships/image" Target="../media/image17.png"/><Relationship Id="rId7" Type="http://schemas.openxmlformats.org/officeDocument/2006/relationships/image" Target="../media/image8.png"/><Relationship Id="rId8"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1.pn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3.png"/><Relationship Id="rId5" Type="http://schemas.openxmlformats.org/officeDocument/2006/relationships/image" Target="../media/image10.png"/><Relationship Id="rId6" Type="http://schemas.openxmlformats.org/officeDocument/2006/relationships/image" Target="../media/image21.png"/><Relationship Id="rId7"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image" Target="../media/image17.png"/><Relationship Id="rId6"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 Id="rId3" Type="http://schemas.openxmlformats.org/officeDocument/2006/relationships/image" Target="../media/image1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 Id="rId3" Type="http://schemas.openxmlformats.org/officeDocument/2006/relationships/image" Target="../media/image17.png"/><Relationship Id="rId4" Type="http://schemas.openxmlformats.org/officeDocument/2006/relationships/image" Target="../media/image14.png"/><Relationship Id="rId5" Type="http://schemas.openxmlformats.org/officeDocument/2006/relationships/image" Target="../media/image26.png"/><Relationship Id="rId6"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 Id="rId3" Type="http://schemas.openxmlformats.org/officeDocument/2006/relationships/image" Target="../media/image32.png"/><Relationship Id="rId4" Type="http://schemas.openxmlformats.org/officeDocument/2006/relationships/image" Target="../media/image15.png"/><Relationship Id="rId5" Type="http://schemas.openxmlformats.org/officeDocument/2006/relationships/image" Target="../media/image17.png"/><Relationship Id="rId6" Type="http://schemas.openxmlformats.org/officeDocument/2006/relationships/image" Target="../media/image3.png"/><Relationship Id="rId7"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 Id="rId3"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 Id="rId3"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image" Target="../media/image33.png"/><Relationship Id="rId5" Type="http://schemas.openxmlformats.org/officeDocument/2006/relationships/image" Target="../media/image27.png"/><Relationship Id="rId6" Type="http://schemas.openxmlformats.org/officeDocument/2006/relationships/image" Target="../media/image22.png"/><Relationship Id="rId7" Type="http://schemas.openxmlformats.org/officeDocument/2006/relationships/image" Target="../media/image30.png"/><Relationship Id="rId8" Type="http://schemas.openxmlformats.org/officeDocument/2006/relationships/image" Target="../media/image23.png"/><Relationship Id="rId9"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 Id="rId3" Type="http://schemas.openxmlformats.org/officeDocument/2006/relationships/image" Target="../media/image19.png"/><Relationship Id="rId4" Type="http://schemas.openxmlformats.org/officeDocument/2006/relationships/image" Target="../media/image3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8.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grpSp>
        <p:nvGrpSpPr>
          <p:cNvPr id="35" name="Google Shape;35;p12"/>
          <p:cNvGrpSpPr/>
          <p:nvPr/>
        </p:nvGrpSpPr>
        <p:grpSpPr>
          <a:xfrm>
            <a:off x="1143000" y="1660424"/>
            <a:ext cx="15674100" cy="5111701"/>
            <a:chOff x="0" y="-2"/>
            <a:chExt cx="15674100" cy="5111701"/>
          </a:xfrm>
        </p:grpSpPr>
        <p:sp>
          <p:nvSpPr>
            <p:cNvPr id="36" name="Google Shape;36;p12"/>
            <p:cNvSpPr/>
            <p:nvPr/>
          </p:nvSpPr>
          <p:spPr>
            <a:xfrm>
              <a:off x="0" y="-1"/>
              <a:ext cx="15674100" cy="51117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grpSp>
          <p:nvGrpSpPr>
            <p:cNvPr id="37" name="Google Shape;37;p12"/>
            <p:cNvGrpSpPr/>
            <p:nvPr/>
          </p:nvGrpSpPr>
          <p:grpSpPr>
            <a:xfrm>
              <a:off x="0" y="-2"/>
              <a:ext cx="15674100" cy="5111700"/>
              <a:chOff x="0" y="-1"/>
              <a:chExt cx="15674100" cy="5111700"/>
            </a:xfrm>
          </p:grpSpPr>
          <p:sp>
            <p:nvSpPr>
              <p:cNvPr id="38" name="Google Shape;38;p12"/>
              <p:cNvSpPr/>
              <p:nvPr/>
            </p:nvSpPr>
            <p:spPr>
              <a:xfrm>
                <a:off x="0" y="-1"/>
                <a:ext cx="15674100" cy="51117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4243C"/>
                  </a:buClr>
                  <a:buSzPts val="8000"/>
                  <a:buFont typeface="Helvetica Neue"/>
                  <a:buNone/>
                </a:pPr>
                <a:r>
                  <a:t/>
                </a:r>
                <a:endParaRPr b="1" i="0" sz="8000" u="none" cap="none" strike="noStrike">
                  <a:solidFill>
                    <a:srgbClr val="04243C"/>
                  </a:solidFill>
                  <a:latin typeface="Helvetica Neue"/>
                  <a:ea typeface="Helvetica Neue"/>
                  <a:cs typeface="Helvetica Neue"/>
                  <a:sym typeface="Helvetica Neue"/>
                </a:endParaRPr>
              </a:p>
            </p:txBody>
          </p:sp>
          <p:sp>
            <p:nvSpPr>
              <p:cNvPr id="39" name="Google Shape;39;p12"/>
              <p:cNvSpPr txBox="1"/>
              <p:nvPr/>
            </p:nvSpPr>
            <p:spPr>
              <a:xfrm>
                <a:off x="0" y="-1"/>
                <a:ext cx="15674100" cy="3681300"/>
              </a:xfrm>
              <a:prstGeom prst="rect">
                <a:avLst/>
              </a:prstGeom>
              <a:noFill/>
              <a:ln>
                <a:noFill/>
              </a:ln>
            </p:spPr>
            <p:txBody>
              <a:bodyPr anchorCtr="0" anchor="t" bIns="25400" lIns="25400" spcFirstLastPara="1" rIns="25400" wrap="square" tIns="25400">
                <a:spAutoFit/>
              </a:bodyPr>
              <a:lstStyle/>
              <a:p>
                <a:pPr indent="0" lvl="0" marL="0" marR="0" rtl="0" algn="l">
                  <a:lnSpc>
                    <a:spcPct val="100000"/>
                  </a:lnSpc>
                  <a:spcBef>
                    <a:spcPts val="0"/>
                  </a:spcBef>
                  <a:spcAft>
                    <a:spcPts val="0"/>
                  </a:spcAft>
                  <a:buClr>
                    <a:srgbClr val="04243C"/>
                  </a:buClr>
                  <a:buSzPts val="15000"/>
                  <a:buFont typeface="Helvetica Neue"/>
                  <a:buNone/>
                </a:pPr>
                <a:r>
                  <a:rPr b="1" i="0" lang="en-US" sz="15000" u="none" cap="none" strike="noStrike">
                    <a:solidFill>
                      <a:srgbClr val="04243C"/>
                    </a:solidFill>
                    <a:latin typeface="Helvetica Neue"/>
                    <a:ea typeface="Helvetica Neue"/>
                    <a:cs typeface="Helvetica Neue"/>
                    <a:sym typeface="Helvetica Neue"/>
                  </a:rPr>
                  <a:t>BNY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700"/>
                  </a:spcBef>
                  <a:spcAft>
                    <a:spcPts val="0"/>
                  </a:spcAft>
                  <a:buClr>
                    <a:schemeClr val="accent1"/>
                  </a:buClr>
                  <a:buSzPts val="8000"/>
                  <a:buFont typeface="Helvetica Neue"/>
                  <a:buNone/>
                </a:pPr>
                <a:r>
                  <a:rPr b="1" i="0" lang="en-US" sz="8000" u="none" cap="none" strike="noStrike">
                    <a:solidFill>
                      <a:schemeClr val="accent1"/>
                    </a:solidFill>
                    <a:latin typeface="Helvetica Neue"/>
                    <a:ea typeface="Helvetica Neue"/>
                    <a:cs typeface="Helvetica Neue"/>
                    <a:sym typeface="Helvetica Neue"/>
                  </a:rPr>
                  <a:t>Corporate Action Intelligence</a:t>
                </a:r>
                <a:endParaRPr b="0" i="0" sz="1400" u="none" cap="none" strike="noStrike">
                  <a:solidFill>
                    <a:srgbClr val="000000"/>
                  </a:solidFill>
                  <a:latin typeface="Arial"/>
                  <a:ea typeface="Arial"/>
                  <a:cs typeface="Arial"/>
                  <a:sym typeface="Arial"/>
                </a:endParaRPr>
              </a:p>
            </p:txBody>
          </p:sp>
        </p:grpSp>
      </p:grpSp>
      <p:sp>
        <p:nvSpPr>
          <p:cNvPr id="40" name="Google Shape;40;p12"/>
          <p:cNvSpPr/>
          <p:nvPr/>
        </p:nvSpPr>
        <p:spPr>
          <a:xfrm>
            <a:off x="1285998" y="7703333"/>
            <a:ext cx="143727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41" name="Google Shape;41;p12"/>
          <p:cNvSpPr/>
          <p:nvPr/>
        </p:nvSpPr>
        <p:spPr>
          <a:xfrm>
            <a:off x="1285875" y="7048500"/>
            <a:ext cx="1333500" cy="57300"/>
          </a:xfrm>
          <a:prstGeom prst="roundRect">
            <a:avLst>
              <a:gd fmla="val 50000" name="adj"/>
            </a:avLst>
          </a:prstGeom>
          <a:solidFill>
            <a:schemeClr val="accent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grpSp>
        <p:nvGrpSpPr>
          <p:cNvPr id="42" name="Google Shape;42;p12"/>
          <p:cNvGrpSpPr/>
          <p:nvPr/>
        </p:nvGrpSpPr>
        <p:grpSpPr>
          <a:xfrm>
            <a:off x="1285997" y="7334250"/>
            <a:ext cx="14372700" cy="952500"/>
            <a:chOff x="-1" y="0"/>
            <a:chExt cx="14372700" cy="952500"/>
          </a:xfrm>
        </p:grpSpPr>
        <p:sp>
          <p:nvSpPr>
            <p:cNvPr id="43" name="Google Shape;43;p12"/>
            <p:cNvSpPr/>
            <p:nvPr/>
          </p:nvSpPr>
          <p:spPr>
            <a:xfrm>
              <a:off x="-1" y="0"/>
              <a:ext cx="14372700" cy="9525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4243C"/>
                </a:buClr>
                <a:buSzPts val="1600"/>
                <a:buFont typeface="Helvetica Neue"/>
                <a:buNone/>
              </a:pPr>
              <a:r>
                <a:t/>
              </a:r>
              <a:endParaRPr b="1" i="0" sz="1600" u="none" cap="none" strike="noStrike">
                <a:solidFill>
                  <a:srgbClr val="04243C"/>
                </a:solidFill>
                <a:latin typeface="Helvetica Neue"/>
                <a:ea typeface="Helvetica Neue"/>
                <a:cs typeface="Helvetica Neue"/>
                <a:sym typeface="Helvetica Neue"/>
              </a:endParaRPr>
            </a:p>
          </p:txBody>
        </p:sp>
        <p:sp>
          <p:nvSpPr>
            <p:cNvPr id="44" name="Google Shape;44;p12"/>
            <p:cNvSpPr txBox="1"/>
            <p:nvPr/>
          </p:nvSpPr>
          <p:spPr>
            <a:xfrm>
              <a:off x="-1" y="0"/>
              <a:ext cx="14372700" cy="605400"/>
            </a:xfrm>
            <a:prstGeom prst="rect">
              <a:avLst/>
            </a:prstGeom>
            <a:noFill/>
            <a:ln>
              <a:noFill/>
            </a:ln>
          </p:spPr>
          <p:txBody>
            <a:bodyPr anchorCtr="0" anchor="t" bIns="25400" lIns="25400" spcFirstLastPara="1" rIns="25400" wrap="square" tIns="25400">
              <a:spAutoFit/>
            </a:bodyPr>
            <a:lstStyle/>
            <a:p>
              <a:pPr indent="0" lvl="0" marL="0" marR="0" rtl="0" algn="l">
                <a:lnSpc>
                  <a:spcPct val="100000"/>
                </a:lnSpc>
                <a:spcBef>
                  <a:spcPts val="0"/>
                </a:spcBef>
                <a:spcAft>
                  <a:spcPts val="0"/>
                </a:spcAft>
                <a:buClr>
                  <a:srgbClr val="04243C"/>
                </a:buClr>
                <a:buSzPts val="2000"/>
                <a:buFont typeface="Helvetica Neue"/>
                <a:buNone/>
              </a:pPr>
              <a:r>
                <a:rPr b="1" i="0" lang="en-US" sz="2000" u="none" cap="none" strike="noStrike">
                  <a:solidFill>
                    <a:srgbClr val="04243C"/>
                  </a:solidFill>
                  <a:latin typeface="Helvetica Neue"/>
                  <a:ea typeface="Helvetica Neue"/>
                  <a:cs typeface="Helvetica Neue"/>
                  <a:sym typeface="Helvetica Neue"/>
                </a:rPr>
                <a:t>Bank of New York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475569"/>
                </a:buClr>
                <a:buSzPts val="1600"/>
                <a:buFont typeface="Helvetica Neue"/>
                <a:buNone/>
              </a:pPr>
              <a:r>
                <a:rPr b="0" i="0" lang="en-US" sz="1600" u="none" cap="none" strike="noStrike">
                  <a:solidFill>
                    <a:srgbClr val="475569"/>
                  </a:solidFill>
                  <a:latin typeface="Helvetica Neue"/>
                  <a:ea typeface="Helvetica Neue"/>
                  <a:cs typeface="Helvetica Neue"/>
                  <a:sym typeface="Helvetica Neue"/>
                </a:rPr>
                <a:t>Aesha Gandhi, Pranshul Bhatnagar, Alex Li, Kedar Vaidya, Aaron Jiang</a:t>
              </a:r>
              <a:endParaRPr b="0" i="0" sz="1400" u="none" cap="none" strike="noStrike">
                <a:solidFill>
                  <a:srgbClr val="000000"/>
                </a:solidFill>
                <a:latin typeface="Arial"/>
                <a:ea typeface="Arial"/>
                <a:cs typeface="Arial"/>
                <a:sym typeface="Arial"/>
              </a:endParaRPr>
            </a:p>
          </p:txBody>
        </p:sp>
      </p:grpSp>
      <p:sp>
        <p:nvSpPr>
          <p:cNvPr id="45" name="Google Shape;45;p12"/>
          <p:cNvSpPr txBox="1"/>
          <p:nvPr/>
        </p:nvSpPr>
        <p:spPr>
          <a:xfrm>
            <a:off x="1289304" y="6172199"/>
            <a:ext cx="14356200" cy="4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475569"/>
              </a:buClr>
              <a:buSzPts val="2600"/>
              <a:buFont typeface="Arial"/>
              <a:buNone/>
            </a:pPr>
            <a:r>
              <a:rPr b="0" i="0" lang="en-US" sz="2600" u="none" cap="none" strike="noStrike">
                <a:solidFill>
                  <a:srgbClr val="475569"/>
                </a:solidFill>
                <a:latin typeface="Arial"/>
                <a:ea typeface="Arial"/>
                <a:cs typeface="Arial"/>
                <a:sym typeface="Arial"/>
              </a:rPr>
              <a:t>Mid-Semester Progress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13"/>
          <p:cNvSpPr txBox="1"/>
          <p:nvPr>
            <p:ph type="title"/>
          </p:nvPr>
        </p:nvSpPr>
        <p:spPr>
          <a:xfrm>
            <a:off x="822960" y="960119"/>
            <a:ext cx="16642200" cy="822900"/>
          </a:xfrm>
          <a:prstGeom prst="rect">
            <a:avLst/>
          </a:prstGeom>
          <a:noFill/>
          <a:ln>
            <a:noFill/>
          </a:ln>
        </p:spPr>
        <p:txBody>
          <a:bodyPr anchorCtr="0" anchor="t" bIns="45675" lIns="45675" spcFirstLastPara="1" rIns="45675" wrap="square" tIns="45675">
            <a:normAutofit/>
          </a:bodyPr>
          <a:lstStyle/>
          <a:p>
            <a:pPr indent="0" lvl="0" marL="0" rtl="0" algn="l">
              <a:lnSpc>
                <a:spcPct val="100000"/>
              </a:lnSpc>
              <a:spcBef>
                <a:spcPts val="0"/>
              </a:spcBef>
              <a:spcAft>
                <a:spcPts val="0"/>
              </a:spcAft>
              <a:buClr>
                <a:srgbClr val="04243C"/>
              </a:buClr>
              <a:buSzPts val="3600"/>
              <a:buFont typeface="Helvetica Neue"/>
              <a:buNone/>
            </a:pPr>
            <a:r>
              <a:rPr b="1" lang="en-US" sz="3600">
                <a:solidFill>
                  <a:srgbClr val="04243C"/>
                </a:solidFill>
                <a:latin typeface="Helvetica Neue"/>
                <a:ea typeface="Helvetica Neue"/>
                <a:cs typeface="Helvetica Neue"/>
                <a:sym typeface="Helvetica Neue"/>
              </a:rPr>
              <a:t>What we'll cover today</a:t>
            </a:r>
            <a:endParaRPr/>
          </a:p>
        </p:txBody>
      </p:sp>
      <p:sp>
        <p:nvSpPr>
          <p:cNvPr id="51" name="Google Shape;51;p13"/>
          <p:cNvSpPr txBox="1"/>
          <p:nvPr>
            <p:ph idx="4294967295" type="sldNum"/>
          </p:nvPr>
        </p:nvSpPr>
        <p:spPr>
          <a:xfrm>
            <a:off x="17276204" y="9646919"/>
            <a:ext cx="188700" cy="276900"/>
          </a:xfrm>
          <a:prstGeom prst="rect">
            <a:avLst/>
          </a:prstGeom>
          <a:noFill/>
          <a:ln>
            <a:noFill/>
          </a:ln>
        </p:spPr>
        <p:txBody>
          <a:bodyPr anchorCtr="0" anchor="t" bIns="45675" lIns="45675" spcFirstLastPara="1" rIns="45675" wrap="square" tIns="45675">
            <a:spAutoFit/>
          </a:bodyPr>
          <a:lstStyle/>
          <a:p>
            <a:pPr indent="0" lvl="0" marL="0" rtl="0" algn="r">
              <a:lnSpc>
                <a:spcPct val="100000"/>
              </a:lnSpc>
              <a:spcBef>
                <a:spcPts val="0"/>
              </a:spcBef>
              <a:spcAft>
                <a:spcPts val="0"/>
              </a:spcAft>
              <a:buClr>
                <a:srgbClr val="475569"/>
              </a:buClr>
              <a:buSzPts val="1200"/>
              <a:buFont typeface="Helvetica Neue"/>
              <a:buNone/>
            </a:pPr>
            <a:fld id="{00000000-1234-1234-1234-123412341234}" type="slidenum">
              <a:rPr lang="en-US" sz="1200">
                <a:solidFill>
                  <a:srgbClr val="475569"/>
                </a:solidFill>
                <a:latin typeface="Helvetica Neue"/>
                <a:ea typeface="Helvetica Neue"/>
                <a:cs typeface="Helvetica Neue"/>
                <a:sym typeface="Helvetica Neue"/>
              </a:rPr>
              <a:t>‹#›</a:t>
            </a:fld>
            <a:endParaRPr/>
          </a:p>
        </p:txBody>
      </p:sp>
      <p:cxnSp>
        <p:nvCxnSpPr>
          <p:cNvPr id="52" name="Google Shape;52;p13"/>
          <p:cNvCxnSpPr/>
          <p:nvPr/>
        </p:nvCxnSpPr>
        <p:spPr>
          <a:xfrm>
            <a:off x="2209800" y="4297679"/>
            <a:ext cx="13868400" cy="0"/>
          </a:xfrm>
          <a:prstGeom prst="straightConnector1">
            <a:avLst/>
          </a:prstGeom>
          <a:noFill/>
          <a:ln cap="flat" cmpd="sng" w="50800">
            <a:solidFill>
              <a:schemeClr val="accent3"/>
            </a:solidFill>
            <a:prstDash val="solid"/>
            <a:round/>
            <a:headEnd len="sm" w="sm" type="none"/>
            <a:tailEnd len="sm" w="sm" type="none"/>
          </a:ln>
        </p:spPr>
      </p:cxnSp>
      <p:sp>
        <p:nvSpPr>
          <p:cNvPr id="53" name="Google Shape;53;p13"/>
          <p:cNvSpPr txBox="1"/>
          <p:nvPr/>
        </p:nvSpPr>
        <p:spPr>
          <a:xfrm>
            <a:off x="822958" y="2743199"/>
            <a:ext cx="2773800" cy="338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accent1"/>
              </a:buClr>
              <a:buSzPts val="2200"/>
              <a:buFont typeface="Helvetica Neue"/>
              <a:buNone/>
            </a:pPr>
            <a:r>
              <a:rPr b="1" i="0" lang="en-US" sz="2200" u="none" cap="none" strike="noStrike">
                <a:solidFill>
                  <a:schemeClr val="accent1"/>
                </a:solidFill>
                <a:latin typeface="Helvetica Neue"/>
                <a:ea typeface="Helvetica Neue"/>
                <a:cs typeface="Helvetica Neue"/>
                <a:sym typeface="Helvetica Neue"/>
              </a:rPr>
              <a:t>01</a:t>
            </a:r>
            <a:endParaRPr b="0" i="0" sz="1400" u="none" cap="none" strike="noStrike">
              <a:solidFill>
                <a:srgbClr val="000000"/>
              </a:solidFill>
              <a:latin typeface="Arial"/>
              <a:ea typeface="Arial"/>
              <a:cs typeface="Arial"/>
              <a:sym typeface="Arial"/>
            </a:endParaRPr>
          </a:p>
        </p:txBody>
      </p:sp>
      <p:sp>
        <p:nvSpPr>
          <p:cNvPr id="54" name="Google Shape;54;p13"/>
          <p:cNvSpPr/>
          <p:nvPr/>
        </p:nvSpPr>
        <p:spPr>
          <a:xfrm>
            <a:off x="1432558" y="3520440"/>
            <a:ext cx="1554600" cy="15546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pic>
        <p:nvPicPr>
          <p:cNvPr descr="Google Shape;46;p11" id="55" name="Google Shape;55;p13"/>
          <p:cNvPicPr preferRelativeResize="0"/>
          <p:nvPr/>
        </p:nvPicPr>
        <p:blipFill rotWithShape="1">
          <a:blip r:embed="rId3">
            <a:alphaModFix/>
          </a:blip>
          <a:srcRect b="0" l="0" r="0" t="0"/>
          <a:stretch/>
        </p:blipFill>
        <p:spPr>
          <a:xfrm>
            <a:off x="1805634" y="3893515"/>
            <a:ext cx="808330" cy="808330"/>
          </a:xfrm>
          <a:prstGeom prst="rect">
            <a:avLst/>
          </a:prstGeom>
          <a:noFill/>
          <a:ln>
            <a:noFill/>
          </a:ln>
        </p:spPr>
      </p:pic>
      <p:sp>
        <p:nvSpPr>
          <p:cNvPr id="56" name="Google Shape;56;p13"/>
          <p:cNvSpPr txBox="1"/>
          <p:nvPr/>
        </p:nvSpPr>
        <p:spPr>
          <a:xfrm>
            <a:off x="914399" y="5394959"/>
            <a:ext cx="2590800" cy="354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243C"/>
              </a:buClr>
              <a:buSzPts val="2300"/>
              <a:buFont typeface="Helvetica Neue"/>
              <a:buNone/>
            </a:pPr>
            <a:r>
              <a:rPr b="1" i="0" lang="en-US" sz="2300" u="none" cap="none" strike="noStrike">
                <a:solidFill>
                  <a:srgbClr val="04243C"/>
                </a:solidFill>
                <a:latin typeface="Helvetica Neue"/>
                <a:ea typeface="Helvetica Neue"/>
                <a:cs typeface="Helvetica Neue"/>
                <a:sym typeface="Helvetica Neue"/>
              </a:rPr>
              <a:t>The problem</a:t>
            </a:r>
            <a:endParaRPr b="0" i="0" sz="1400" u="none" cap="none" strike="noStrike">
              <a:solidFill>
                <a:srgbClr val="000000"/>
              </a:solidFill>
              <a:latin typeface="Arial"/>
              <a:ea typeface="Arial"/>
              <a:cs typeface="Arial"/>
              <a:sym typeface="Arial"/>
            </a:endParaRPr>
          </a:p>
        </p:txBody>
      </p:sp>
      <p:sp>
        <p:nvSpPr>
          <p:cNvPr id="57" name="Google Shape;57;p13"/>
          <p:cNvSpPr txBox="1"/>
          <p:nvPr/>
        </p:nvSpPr>
        <p:spPr>
          <a:xfrm>
            <a:off x="3596640" y="2743199"/>
            <a:ext cx="2773800" cy="338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accent1"/>
              </a:buClr>
              <a:buSzPts val="2200"/>
              <a:buFont typeface="Helvetica Neue"/>
              <a:buNone/>
            </a:pPr>
            <a:r>
              <a:rPr b="1" i="0" lang="en-US" sz="2200" u="none" cap="none" strike="noStrike">
                <a:solidFill>
                  <a:schemeClr val="accent1"/>
                </a:solidFill>
                <a:latin typeface="Helvetica Neue"/>
                <a:ea typeface="Helvetica Neue"/>
                <a:cs typeface="Helvetica Neue"/>
                <a:sym typeface="Helvetica Neue"/>
              </a:rPr>
              <a:t>02</a:t>
            </a:r>
            <a:endParaRPr b="0" i="0" sz="1400" u="none" cap="none" strike="noStrike">
              <a:solidFill>
                <a:srgbClr val="000000"/>
              </a:solidFill>
              <a:latin typeface="Arial"/>
              <a:ea typeface="Arial"/>
              <a:cs typeface="Arial"/>
              <a:sym typeface="Arial"/>
            </a:endParaRPr>
          </a:p>
        </p:txBody>
      </p:sp>
      <p:sp>
        <p:nvSpPr>
          <p:cNvPr id="58" name="Google Shape;58;p13"/>
          <p:cNvSpPr/>
          <p:nvPr/>
        </p:nvSpPr>
        <p:spPr>
          <a:xfrm>
            <a:off x="4206240" y="3520440"/>
            <a:ext cx="1554600" cy="15546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pic>
        <p:nvPicPr>
          <p:cNvPr descr="Google Shape;51;p11" id="59" name="Google Shape;59;p13"/>
          <p:cNvPicPr preferRelativeResize="0"/>
          <p:nvPr/>
        </p:nvPicPr>
        <p:blipFill rotWithShape="1">
          <a:blip r:embed="rId4">
            <a:alphaModFix/>
          </a:blip>
          <a:srcRect b="0" l="0" r="0" t="0"/>
          <a:stretch/>
        </p:blipFill>
        <p:spPr>
          <a:xfrm>
            <a:off x="4579315" y="3893515"/>
            <a:ext cx="808330" cy="808330"/>
          </a:xfrm>
          <a:prstGeom prst="rect">
            <a:avLst/>
          </a:prstGeom>
          <a:noFill/>
          <a:ln>
            <a:noFill/>
          </a:ln>
        </p:spPr>
      </p:pic>
      <p:sp>
        <p:nvSpPr>
          <p:cNvPr id="60" name="Google Shape;60;p13"/>
          <p:cNvSpPr txBox="1"/>
          <p:nvPr/>
        </p:nvSpPr>
        <p:spPr>
          <a:xfrm>
            <a:off x="3688079" y="5394959"/>
            <a:ext cx="2590800" cy="354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243C"/>
              </a:buClr>
              <a:buSzPts val="2300"/>
              <a:buFont typeface="Helvetica Neue"/>
              <a:buNone/>
            </a:pPr>
            <a:r>
              <a:rPr b="1" i="0" lang="en-US" sz="2300" u="none" cap="none" strike="noStrike">
                <a:solidFill>
                  <a:srgbClr val="04243C"/>
                </a:solidFill>
                <a:latin typeface="Helvetica Neue"/>
                <a:ea typeface="Helvetica Neue"/>
                <a:cs typeface="Helvetica Neue"/>
                <a:sym typeface="Helvetica Neue"/>
              </a:rPr>
              <a:t>Our approach</a:t>
            </a:r>
            <a:endParaRPr b="0" i="0" sz="1400" u="none" cap="none" strike="noStrike">
              <a:solidFill>
                <a:srgbClr val="000000"/>
              </a:solidFill>
              <a:latin typeface="Arial"/>
              <a:ea typeface="Arial"/>
              <a:cs typeface="Arial"/>
              <a:sym typeface="Arial"/>
            </a:endParaRPr>
          </a:p>
        </p:txBody>
      </p:sp>
      <p:sp>
        <p:nvSpPr>
          <p:cNvPr id="61" name="Google Shape;61;p13"/>
          <p:cNvSpPr txBox="1"/>
          <p:nvPr/>
        </p:nvSpPr>
        <p:spPr>
          <a:xfrm>
            <a:off x="6370318" y="2743199"/>
            <a:ext cx="2773800" cy="338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accent1"/>
              </a:buClr>
              <a:buSzPts val="2200"/>
              <a:buFont typeface="Helvetica Neue"/>
              <a:buNone/>
            </a:pPr>
            <a:r>
              <a:rPr b="1" i="0" lang="en-US" sz="2200" u="none" cap="none" strike="noStrike">
                <a:solidFill>
                  <a:schemeClr val="accent1"/>
                </a:solidFill>
                <a:latin typeface="Helvetica Neue"/>
                <a:ea typeface="Helvetica Neue"/>
                <a:cs typeface="Helvetica Neue"/>
                <a:sym typeface="Helvetica Neue"/>
              </a:rPr>
              <a:t>03</a:t>
            </a:r>
            <a:endParaRPr b="0" i="0" sz="1400" u="none" cap="none" strike="noStrike">
              <a:solidFill>
                <a:srgbClr val="000000"/>
              </a:solidFill>
              <a:latin typeface="Arial"/>
              <a:ea typeface="Arial"/>
              <a:cs typeface="Arial"/>
              <a:sym typeface="Arial"/>
            </a:endParaRPr>
          </a:p>
        </p:txBody>
      </p:sp>
      <p:sp>
        <p:nvSpPr>
          <p:cNvPr id="62" name="Google Shape;62;p13"/>
          <p:cNvSpPr/>
          <p:nvPr/>
        </p:nvSpPr>
        <p:spPr>
          <a:xfrm>
            <a:off x="6979919" y="3520440"/>
            <a:ext cx="1554600" cy="15546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pic>
        <p:nvPicPr>
          <p:cNvPr descr="Google Shape;56;p11" id="63" name="Google Shape;63;p13"/>
          <p:cNvPicPr preferRelativeResize="0"/>
          <p:nvPr/>
        </p:nvPicPr>
        <p:blipFill rotWithShape="1">
          <a:blip r:embed="rId5">
            <a:alphaModFix/>
          </a:blip>
          <a:srcRect b="0" l="0" r="0" t="0"/>
          <a:stretch/>
        </p:blipFill>
        <p:spPr>
          <a:xfrm>
            <a:off x="7352995" y="3893515"/>
            <a:ext cx="808330" cy="808330"/>
          </a:xfrm>
          <a:prstGeom prst="rect">
            <a:avLst/>
          </a:prstGeom>
          <a:noFill/>
          <a:ln>
            <a:noFill/>
          </a:ln>
        </p:spPr>
      </p:pic>
      <p:sp>
        <p:nvSpPr>
          <p:cNvPr id="64" name="Google Shape;64;p13"/>
          <p:cNvSpPr txBox="1"/>
          <p:nvPr/>
        </p:nvSpPr>
        <p:spPr>
          <a:xfrm>
            <a:off x="6461759" y="5394959"/>
            <a:ext cx="2590800" cy="354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243C"/>
              </a:buClr>
              <a:buSzPts val="2300"/>
              <a:buFont typeface="Helvetica Neue"/>
              <a:buNone/>
            </a:pPr>
            <a:r>
              <a:rPr b="1" i="0" lang="en-US" sz="2300" u="none" cap="none" strike="noStrike">
                <a:solidFill>
                  <a:srgbClr val="04243C"/>
                </a:solidFill>
                <a:latin typeface="Helvetica Neue"/>
                <a:ea typeface="Helvetica Neue"/>
                <a:cs typeface="Helvetica Neue"/>
                <a:sym typeface="Helvetica Neue"/>
              </a:rPr>
              <a:t>How it works</a:t>
            </a:r>
            <a:endParaRPr b="0" i="0" sz="1400" u="none" cap="none" strike="noStrike">
              <a:solidFill>
                <a:srgbClr val="000000"/>
              </a:solidFill>
              <a:latin typeface="Arial"/>
              <a:ea typeface="Arial"/>
              <a:cs typeface="Arial"/>
              <a:sym typeface="Arial"/>
            </a:endParaRPr>
          </a:p>
        </p:txBody>
      </p:sp>
      <p:sp>
        <p:nvSpPr>
          <p:cNvPr id="65" name="Google Shape;65;p13"/>
          <p:cNvSpPr txBox="1"/>
          <p:nvPr/>
        </p:nvSpPr>
        <p:spPr>
          <a:xfrm>
            <a:off x="9143999" y="2743199"/>
            <a:ext cx="2773800" cy="338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accent1"/>
              </a:buClr>
              <a:buSzPts val="2200"/>
              <a:buFont typeface="Helvetica Neue"/>
              <a:buNone/>
            </a:pPr>
            <a:r>
              <a:rPr b="1" i="0" lang="en-US" sz="2200" u="none" cap="none" strike="noStrike">
                <a:solidFill>
                  <a:schemeClr val="accent1"/>
                </a:solidFill>
                <a:latin typeface="Helvetica Neue"/>
                <a:ea typeface="Helvetica Neue"/>
                <a:cs typeface="Helvetica Neue"/>
                <a:sym typeface="Helvetica Neue"/>
              </a:rPr>
              <a:t>04</a:t>
            </a:r>
            <a:endParaRPr b="0" i="0" sz="1400" u="none" cap="none" strike="noStrike">
              <a:solidFill>
                <a:srgbClr val="000000"/>
              </a:solidFill>
              <a:latin typeface="Arial"/>
              <a:ea typeface="Arial"/>
              <a:cs typeface="Arial"/>
              <a:sym typeface="Arial"/>
            </a:endParaRPr>
          </a:p>
        </p:txBody>
      </p:sp>
      <p:sp>
        <p:nvSpPr>
          <p:cNvPr id="66" name="Google Shape;66;p13"/>
          <p:cNvSpPr/>
          <p:nvPr/>
        </p:nvSpPr>
        <p:spPr>
          <a:xfrm>
            <a:off x="9753599" y="3520440"/>
            <a:ext cx="1554600" cy="15546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pic>
        <p:nvPicPr>
          <p:cNvPr descr="Google Shape;61;p11" id="67" name="Google Shape;67;p13"/>
          <p:cNvPicPr preferRelativeResize="0"/>
          <p:nvPr/>
        </p:nvPicPr>
        <p:blipFill rotWithShape="1">
          <a:blip r:embed="rId6">
            <a:alphaModFix/>
          </a:blip>
          <a:srcRect b="0" l="0" r="0" t="0"/>
          <a:stretch/>
        </p:blipFill>
        <p:spPr>
          <a:xfrm>
            <a:off x="10126674" y="3893515"/>
            <a:ext cx="808330" cy="808330"/>
          </a:xfrm>
          <a:prstGeom prst="rect">
            <a:avLst/>
          </a:prstGeom>
          <a:noFill/>
          <a:ln>
            <a:noFill/>
          </a:ln>
        </p:spPr>
      </p:pic>
      <p:sp>
        <p:nvSpPr>
          <p:cNvPr id="68" name="Google Shape;68;p13"/>
          <p:cNvSpPr txBox="1"/>
          <p:nvPr/>
        </p:nvSpPr>
        <p:spPr>
          <a:xfrm>
            <a:off x="9235440" y="5394959"/>
            <a:ext cx="2590800" cy="354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243C"/>
              </a:buClr>
              <a:buSzPts val="2300"/>
              <a:buFont typeface="Helvetica Neue"/>
              <a:buNone/>
            </a:pPr>
            <a:r>
              <a:rPr b="1" i="0" lang="en-US" sz="2300" u="none" cap="none" strike="noStrike">
                <a:solidFill>
                  <a:srgbClr val="04243C"/>
                </a:solidFill>
                <a:latin typeface="Helvetica Neue"/>
                <a:ea typeface="Helvetica Neue"/>
                <a:cs typeface="Helvetica Neue"/>
                <a:sym typeface="Helvetica Neue"/>
              </a:rPr>
              <a:t>Data + evaluation</a:t>
            </a:r>
            <a:endParaRPr b="0" i="0" sz="1400" u="none" cap="none" strike="noStrike">
              <a:solidFill>
                <a:srgbClr val="000000"/>
              </a:solidFill>
              <a:latin typeface="Arial"/>
              <a:ea typeface="Arial"/>
              <a:cs typeface="Arial"/>
              <a:sym typeface="Arial"/>
            </a:endParaRPr>
          </a:p>
        </p:txBody>
      </p:sp>
      <p:sp>
        <p:nvSpPr>
          <p:cNvPr id="69" name="Google Shape;69;p13"/>
          <p:cNvSpPr txBox="1"/>
          <p:nvPr/>
        </p:nvSpPr>
        <p:spPr>
          <a:xfrm>
            <a:off x="11917678" y="2743199"/>
            <a:ext cx="2773800" cy="338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243C"/>
              </a:buClr>
              <a:buSzPts val="2200"/>
              <a:buFont typeface="Helvetica Neue"/>
              <a:buNone/>
            </a:pPr>
            <a:r>
              <a:rPr b="1" i="0" lang="en-US" sz="2200" u="none" cap="none" strike="noStrike">
                <a:solidFill>
                  <a:srgbClr val="04243C"/>
                </a:solidFill>
                <a:latin typeface="Helvetica Neue"/>
                <a:ea typeface="Helvetica Neue"/>
                <a:cs typeface="Helvetica Neue"/>
                <a:sym typeface="Helvetica Neue"/>
              </a:rPr>
              <a:t>05</a:t>
            </a:r>
            <a:endParaRPr b="0" i="0" sz="1400" u="none" cap="none" strike="noStrike">
              <a:solidFill>
                <a:srgbClr val="000000"/>
              </a:solidFill>
              <a:latin typeface="Arial"/>
              <a:ea typeface="Arial"/>
              <a:cs typeface="Arial"/>
              <a:sym typeface="Arial"/>
            </a:endParaRPr>
          </a:p>
        </p:txBody>
      </p:sp>
      <p:sp>
        <p:nvSpPr>
          <p:cNvPr id="70" name="Google Shape;70;p13"/>
          <p:cNvSpPr/>
          <p:nvPr/>
        </p:nvSpPr>
        <p:spPr>
          <a:xfrm>
            <a:off x="12527280" y="3520440"/>
            <a:ext cx="1554600" cy="1554600"/>
          </a:xfrm>
          <a:prstGeom prst="ellipse">
            <a:avLst/>
          </a:prstGeom>
          <a:solidFill>
            <a:srgbClr val="04243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pic>
        <p:nvPicPr>
          <p:cNvPr descr="Google Shape;66;p11" id="71" name="Google Shape;71;p13"/>
          <p:cNvPicPr preferRelativeResize="0"/>
          <p:nvPr/>
        </p:nvPicPr>
        <p:blipFill rotWithShape="1">
          <a:blip r:embed="rId7">
            <a:alphaModFix/>
          </a:blip>
          <a:srcRect b="0" l="0" r="0" t="0"/>
          <a:stretch/>
        </p:blipFill>
        <p:spPr>
          <a:xfrm>
            <a:off x="12900355" y="3893515"/>
            <a:ext cx="808330" cy="808330"/>
          </a:xfrm>
          <a:prstGeom prst="rect">
            <a:avLst/>
          </a:prstGeom>
          <a:noFill/>
          <a:ln>
            <a:noFill/>
          </a:ln>
        </p:spPr>
      </p:pic>
      <p:sp>
        <p:nvSpPr>
          <p:cNvPr id="72" name="Google Shape;72;p13"/>
          <p:cNvSpPr txBox="1"/>
          <p:nvPr/>
        </p:nvSpPr>
        <p:spPr>
          <a:xfrm>
            <a:off x="12009118" y="5394959"/>
            <a:ext cx="2590800" cy="354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243C"/>
              </a:buClr>
              <a:buSzPts val="2300"/>
              <a:buFont typeface="Helvetica Neue"/>
              <a:buNone/>
            </a:pPr>
            <a:r>
              <a:rPr b="1" i="0" lang="en-US" sz="2300" u="none" cap="none" strike="noStrike">
                <a:solidFill>
                  <a:srgbClr val="04243C"/>
                </a:solidFill>
                <a:latin typeface="Helvetica Neue"/>
                <a:ea typeface="Helvetica Neue"/>
                <a:cs typeface="Helvetica Neue"/>
                <a:sym typeface="Helvetica Neue"/>
              </a:rPr>
              <a:t>Live demo</a:t>
            </a:r>
            <a:endParaRPr b="0" i="0" sz="1400" u="none" cap="none" strike="noStrike">
              <a:solidFill>
                <a:srgbClr val="000000"/>
              </a:solidFill>
              <a:latin typeface="Arial"/>
              <a:ea typeface="Arial"/>
              <a:cs typeface="Arial"/>
              <a:sym typeface="Arial"/>
            </a:endParaRPr>
          </a:p>
        </p:txBody>
      </p:sp>
      <p:sp>
        <p:nvSpPr>
          <p:cNvPr id="73" name="Google Shape;73;p13"/>
          <p:cNvSpPr txBox="1"/>
          <p:nvPr/>
        </p:nvSpPr>
        <p:spPr>
          <a:xfrm>
            <a:off x="14691360" y="2743199"/>
            <a:ext cx="2773800" cy="338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accent1"/>
              </a:buClr>
              <a:buSzPts val="2200"/>
              <a:buFont typeface="Helvetica Neue"/>
              <a:buNone/>
            </a:pPr>
            <a:r>
              <a:rPr b="1" i="0" lang="en-US" sz="2200" u="none" cap="none" strike="noStrike">
                <a:solidFill>
                  <a:schemeClr val="accent1"/>
                </a:solidFill>
                <a:latin typeface="Helvetica Neue"/>
                <a:ea typeface="Helvetica Neue"/>
                <a:cs typeface="Helvetica Neue"/>
                <a:sym typeface="Helvetica Neue"/>
              </a:rPr>
              <a:t>06</a:t>
            </a:r>
            <a:endParaRPr b="0" i="0" sz="1400" u="none" cap="none" strike="noStrike">
              <a:solidFill>
                <a:srgbClr val="000000"/>
              </a:solidFill>
              <a:latin typeface="Arial"/>
              <a:ea typeface="Arial"/>
              <a:cs typeface="Arial"/>
              <a:sym typeface="Arial"/>
            </a:endParaRPr>
          </a:p>
        </p:txBody>
      </p:sp>
      <p:sp>
        <p:nvSpPr>
          <p:cNvPr id="74" name="Google Shape;74;p13"/>
          <p:cNvSpPr/>
          <p:nvPr/>
        </p:nvSpPr>
        <p:spPr>
          <a:xfrm>
            <a:off x="15300959" y="3520440"/>
            <a:ext cx="1554600" cy="15546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pic>
        <p:nvPicPr>
          <p:cNvPr descr="Google Shape;71;p11" id="75" name="Google Shape;75;p13"/>
          <p:cNvPicPr preferRelativeResize="0"/>
          <p:nvPr/>
        </p:nvPicPr>
        <p:blipFill rotWithShape="1">
          <a:blip r:embed="rId8">
            <a:alphaModFix/>
          </a:blip>
          <a:srcRect b="0" l="0" r="0" t="0"/>
          <a:stretch/>
        </p:blipFill>
        <p:spPr>
          <a:xfrm>
            <a:off x="15674035" y="3893515"/>
            <a:ext cx="808330" cy="808330"/>
          </a:xfrm>
          <a:prstGeom prst="rect">
            <a:avLst/>
          </a:prstGeom>
          <a:noFill/>
          <a:ln>
            <a:noFill/>
          </a:ln>
        </p:spPr>
      </p:pic>
      <p:sp>
        <p:nvSpPr>
          <p:cNvPr id="76" name="Google Shape;76;p13"/>
          <p:cNvSpPr txBox="1"/>
          <p:nvPr/>
        </p:nvSpPr>
        <p:spPr>
          <a:xfrm>
            <a:off x="14782800" y="5394959"/>
            <a:ext cx="2590800" cy="354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243C"/>
              </a:buClr>
              <a:buSzPts val="2300"/>
              <a:buFont typeface="Helvetica Neue"/>
              <a:buNone/>
            </a:pPr>
            <a:r>
              <a:rPr b="1" i="0" lang="en-US" sz="2300" u="none" cap="none" strike="noStrike">
                <a:solidFill>
                  <a:srgbClr val="04243C"/>
                </a:solidFill>
                <a:latin typeface="Helvetica Neue"/>
                <a:ea typeface="Helvetica Neue"/>
                <a:cs typeface="Helvetica Neue"/>
                <a:sym typeface="Helvetica Neue"/>
              </a:rPr>
              <a:t>What's next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4"/>
          <p:cNvSpPr txBox="1"/>
          <p:nvPr>
            <p:ph type="title"/>
          </p:nvPr>
        </p:nvSpPr>
        <p:spPr>
          <a:xfrm>
            <a:off x="822960" y="960119"/>
            <a:ext cx="16642200" cy="822900"/>
          </a:xfrm>
          <a:prstGeom prst="rect">
            <a:avLst/>
          </a:prstGeom>
          <a:noFill/>
          <a:ln>
            <a:noFill/>
          </a:ln>
        </p:spPr>
        <p:txBody>
          <a:bodyPr anchorCtr="0" anchor="t" bIns="45675" lIns="45675" spcFirstLastPara="1" rIns="45675" wrap="square" tIns="45675">
            <a:normAutofit/>
          </a:bodyPr>
          <a:lstStyle/>
          <a:p>
            <a:pPr indent="0" lvl="0" marL="0" rtl="0" algn="l">
              <a:lnSpc>
                <a:spcPct val="100000"/>
              </a:lnSpc>
              <a:spcBef>
                <a:spcPts val="0"/>
              </a:spcBef>
              <a:spcAft>
                <a:spcPts val="0"/>
              </a:spcAft>
              <a:buClr>
                <a:srgbClr val="04243C"/>
              </a:buClr>
              <a:buSzPts val="3600"/>
              <a:buFont typeface="Helvetica Neue"/>
              <a:buNone/>
            </a:pPr>
            <a:r>
              <a:rPr b="1" lang="en-US" sz="3600">
                <a:solidFill>
                  <a:srgbClr val="04243C"/>
                </a:solidFill>
                <a:latin typeface="Helvetica Neue"/>
                <a:ea typeface="Helvetica Neue"/>
                <a:cs typeface="Helvetica Neue"/>
                <a:sym typeface="Helvetica Neue"/>
              </a:rPr>
              <a:t>BNY sits between companies and the investors who own their shares</a:t>
            </a:r>
            <a:endParaRPr/>
          </a:p>
        </p:txBody>
      </p:sp>
      <p:sp>
        <p:nvSpPr>
          <p:cNvPr id="83" name="Google Shape;83;p14"/>
          <p:cNvSpPr txBox="1"/>
          <p:nvPr>
            <p:ph idx="4294967295" type="sldNum"/>
          </p:nvPr>
        </p:nvSpPr>
        <p:spPr>
          <a:xfrm>
            <a:off x="17276204" y="9646919"/>
            <a:ext cx="188700" cy="276900"/>
          </a:xfrm>
          <a:prstGeom prst="rect">
            <a:avLst/>
          </a:prstGeom>
          <a:noFill/>
          <a:ln>
            <a:noFill/>
          </a:ln>
        </p:spPr>
        <p:txBody>
          <a:bodyPr anchorCtr="0" anchor="t" bIns="45675" lIns="45675" spcFirstLastPara="1" rIns="45675" wrap="square" tIns="45675">
            <a:spAutoFit/>
          </a:bodyPr>
          <a:lstStyle/>
          <a:p>
            <a:pPr indent="0" lvl="0" marL="0" rtl="0" algn="r">
              <a:lnSpc>
                <a:spcPct val="100000"/>
              </a:lnSpc>
              <a:spcBef>
                <a:spcPts val="0"/>
              </a:spcBef>
              <a:spcAft>
                <a:spcPts val="0"/>
              </a:spcAft>
              <a:buClr>
                <a:srgbClr val="475569"/>
              </a:buClr>
              <a:buSzPts val="1200"/>
              <a:buFont typeface="Helvetica Neue"/>
              <a:buNone/>
            </a:pPr>
            <a:fld id="{00000000-1234-1234-1234-123412341234}" type="slidenum">
              <a:rPr lang="en-US" sz="1200">
                <a:solidFill>
                  <a:srgbClr val="475569"/>
                </a:solidFill>
                <a:latin typeface="Helvetica Neue"/>
                <a:ea typeface="Helvetica Neue"/>
                <a:cs typeface="Helvetica Neue"/>
                <a:sym typeface="Helvetica Neue"/>
              </a:rPr>
              <a:t>‹#›</a:t>
            </a:fld>
            <a:endParaRPr/>
          </a:p>
        </p:txBody>
      </p:sp>
      <p:sp>
        <p:nvSpPr>
          <p:cNvPr id="84" name="Google Shape;84;p14"/>
          <p:cNvSpPr/>
          <p:nvPr/>
        </p:nvSpPr>
        <p:spPr>
          <a:xfrm>
            <a:off x="2011680" y="3931920"/>
            <a:ext cx="1828800" cy="1828800"/>
          </a:xfrm>
          <a:prstGeom prst="ellipse">
            <a:avLst/>
          </a:prstGeom>
          <a:solidFill>
            <a:srgbClr val="2B9CAE"/>
          </a:solidFill>
          <a:ln>
            <a:noFill/>
          </a:ln>
          <a:effectLst>
            <a:outerShdw blurRad="203200" rotWithShape="0" algn="t" dir="5400000" dist="50800">
              <a:srgbClr val="0F172A">
                <a:alpha val="1294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building-2_FFFFFF.png" id="85" name="Google Shape;85;p14"/>
          <p:cNvPicPr preferRelativeResize="0"/>
          <p:nvPr/>
        </p:nvPicPr>
        <p:blipFill rotWithShape="1">
          <a:blip r:embed="rId3">
            <a:alphaModFix/>
          </a:blip>
          <a:srcRect b="0" l="0" r="0" t="0"/>
          <a:stretch/>
        </p:blipFill>
        <p:spPr>
          <a:xfrm>
            <a:off x="2468880" y="4389120"/>
            <a:ext cx="914400" cy="914400"/>
          </a:xfrm>
          <a:prstGeom prst="rect">
            <a:avLst/>
          </a:prstGeom>
          <a:noFill/>
          <a:ln>
            <a:noFill/>
          </a:ln>
        </p:spPr>
      </p:pic>
      <p:sp>
        <p:nvSpPr>
          <p:cNvPr id="86" name="Google Shape;86;p14"/>
          <p:cNvSpPr txBox="1"/>
          <p:nvPr/>
        </p:nvSpPr>
        <p:spPr>
          <a:xfrm>
            <a:off x="731520" y="6309360"/>
            <a:ext cx="4389000" cy="369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400" u="none" cap="none" strike="noStrike">
                <a:solidFill>
                  <a:srgbClr val="04243C"/>
                </a:solidFill>
                <a:latin typeface="Helvetica Neue"/>
                <a:ea typeface="Helvetica Neue"/>
                <a:cs typeface="Helvetica Neue"/>
                <a:sym typeface="Helvetica Neue"/>
              </a:rPr>
              <a:t>Companies</a:t>
            </a:r>
            <a:endParaRPr/>
          </a:p>
        </p:txBody>
      </p:sp>
      <p:sp>
        <p:nvSpPr>
          <p:cNvPr id="87" name="Google Shape;87;p14"/>
          <p:cNvSpPr txBox="1"/>
          <p:nvPr/>
        </p:nvSpPr>
        <p:spPr>
          <a:xfrm>
            <a:off x="731520" y="6858000"/>
            <a:ext cx="43890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800" u="none" cap="none" strike="noStrike">
                <a:solidFill>
                  <a:srgbClr val="475569"/>
                </a:solidFill>
                <a:latin typeface="Helvetica Neue"/>
                <a:ea typeface="Helvetica Neue"/>
                <a:cs typeface="Helvetica Neue"/>
                <a:sym typeface="Helvetica Neue"/>
              </a:rPr>
              <a:t>Issue shares and announce events</a:t>
            </a:r>
            <a:endParaRPr/>
          </a:p>
        </p:txBody>
      </p:sp>
      <p:sp>
        <p:nvSpPr>
          <p:cNvPr id="88" name="Google Shape;88;p14"/>
          <p:cNvSpPr/>
          <p:nvPr/>
        </p:nvSpPr>
        <p:spPr>
          <a:xfrm>
            <a:off x="7909560" y="3611879"/>
            <a:ext cx="2469000" cy="2469000"/>
          </a:xfrm>
          <a:prstGeom prst="ellipse">
            <a:avLst/>
          </a:prstGeom>
          <a:solidFill>
            <a:srgbClr val="04243C"/>
          </a:solidFill>
          <a:ln>
            <a:noFill/>
          </a:ln>
          <a:effectLst>
            <a:outerShdw blurRad="203200" rotWithShape="0" algn="t" dir="5400000" dist="50800">
              <a:srgbClr val="0F172A">
                <a:alpha val="1294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vault_FFFFFF.png" id="89" name="Google Shape;89;p14"/>
          <p:cNvPicPr preferRelativeResize="0"/>
          <p:nvPr/>
        </p:nvPicPr>
        <p:blipFill rotWithShape="1">
          <a:blip r:embed="rId4">
            <a:alphaModFix/>
          </a:blip>
          <a:srcRect b="0" l="0" r="0" t="0"/>
          <a:stretch/>
        </p:blipFill>
        <p:spPr>
          <a:xfrm>
            <a:off x="8526780" y="4229100"/>
            <a:ext cx="1234440" cy="1234440"/>
          </a:xfrm>
          <a:prstGeom prst="rect">
            <a:avLst/>
          </a:prstGeom>
          <a:noFill/>
          <a:ln>
            <a:noFill/>
          </a:ln>
        </p:spPr>
      </p:pic>
      <p:sp>
        <p:nvSpPr>
          <p:cNvPr id="90" name="Google Shape;90;p14"/>
          <p:cNvSpPr txBox="1"/>
          <p:nvPr/>
        </p:nvSpPr>
        <p:spPr>
          <a:xfrm>
            <a:off x="6949440" y="6309360"/>
            <a:ext cx="4389000" cy="369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400" u="none" cap="none" strike="noStrike">
                <a:solidFill>
                  <a:srgbClr val="04243C"/>
                </a:solidFill>
                <a:latin typeface="Helvetica Neue"/>
                <a:ea typeface="Helvetica Neue"/>
                <a:cs typeface="Helvetica Neue"/>
                <a:sym typeface="Helvetica Neue"/>
              </a:rPr>
              <a:t>BNY, the custodian</a:t>
            </a:r>
            <a:endParaRPr/>
          </a:p>
        </p:txBody>
      </p:sp>
      <p:sp>
        <p:nvSpPr>
          <p:cNvPr id="91" name="Google Shape;91;p14"/>
          <p:cNvSpPr txBox="1"/>
          <p:nvPr/>
        </p:nvSpPr>
        <p:spPr>
          <a:xfrm>
            <a:off x="6949440" y="6858000"/>
            <a:ext cx="43890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800" u="none" cap="none" strike="noStrike">
                <a:solidFill>
                  <a:srgbClr val="475569"/>
                </a:solidFill>
                <a:latin typeface="Helvetica Neue"/>
                <a:ea typeface="Helvetica Neue"/>
                <a:cs typeface="Helvetica Neue"/>
                <a:sym typeface="Helvetica Neue"/>
              </a:rPr>
              <a:t>Holds clients' shares and services them</a:t>
            </a:r>
            <a:endParaRPr/>
          </a:p>
        </p:txBody>
      </p:sp>
      <p:sp>
        <p:nvSpPr>
          <p:cNvPr id="92" name="Google Shape;92;p14"/>
          <p:cNvSpPr/>
          <p:nvPr/>
        </p:nvSpPr>
        <p:spPr>
          <a:xfrm>
            <a:off x="14447520" y="3931920"/>
            <a:ext cx="1828800" cy="1828800"/>
          </a:xfrm>
          <a:prstGeom prst="ellipse">
            <a:avLst/>
          </a:prstGeom>
          <a:solidFill>
            <a:srgbClr val="2B9CAE"/>
          </a:solidFill>
          <a:ln>
            <a:noFill/>
          </a:ln>
          <a:effectLst>
            <a:outerShdw blurRad="203200" rotWithShape="0" algn="t" dir="5400000" dist="50800">
              <a:srgbClr val="0F172A">
                <a:alpha val="1294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users_FFFFFF.png" id="93" name="Google Shape;93;p14"/>
          <p:cNvPicPr preferRelativeResize="0"/>
          <p:nvPr/>
        </p:nvPicPr>
        <p:blipFill rotWithShape="1">
          <a:blip r:embed="rId5">
            <a:alphaModFix/>
          </a:blip>
          <a:srcRect b="0" l="0" r="0" t="0"/>
          <a:stretch/>
        </p:blipFill>
        <p:spPr>
          <a:xfrm>
            <a:off x="14904720" y="4389120"/>
            <a:ext cx="914400" cy="914400"/>
          </a:xfrm>
          <a:prstGeom prst="rect">
            <a:avLst/>
          </a:prstGeom>
          <a:noFill/>
          <a:ln>
            <a:noFill/>
          </a:ln>
        </p:spPr>
      </p:pic>
      <p:sp>
        <p:nvSpPr>
          <p:cNvPr id="94" name="Google Shape;94;p14"/>
          <p:cNvSpPr txBox="1"/>
          <p:nvPr/>
        </p:nvSpPr>
        <p:spPr>
          <a:xfrm>
            <a:off x="13167360" y="6309360"/>
            <a:ext cx="4389000" cy="369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400" u="none" cap="none" strike="noStrike">
                <a:solidFill>
                  <a:srgbClr val="04243C"/>
                </a:solidFill>
                <a:latin typeface="Helvetica Neue"/>
                <a:ea typeface="Helvetica Neue"/>
                <a:cs typeface="Helvetica Neue"/>
                <a:sym typeface="Helvetica Neue"/>
              </a:rPr>
              <a:t>Clients</a:t>
            </a:r>
            <a:endParaRPr/>
          </a:p>
        </p:txBody>
      </p:sp>
      <p:sp>
        <p:nvSpPr>
          <p:cNvPr id="95" name="Google Shape;95;p14"/>
          <p:cNvSpPr txBox="1"/>
          <p:nvPr/>
        </p:nvSpPr>
        <p:spPr>
          <a:xfrm>
            <a:off x="13167360" y="6858000"/>
            <a:ext cx="43890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800" u="none" cap="none" strike="noStrike">
                <a:solidFill>
                  <a:srgbClr val="475569"/>
                </a:solidFill>
                <a:latin typeface="Helvetica Neue"/>
                <a:ea typeface="Helvetica Neue"/>
                <a:cs typeface="Helvetica Neue"/>
                <a:sym typeface="Helvetica Neue"/>
              </a:rPr>
              <a:t>Pension funds, asset managers, insurers</a:t>
            </a:r>
            <a:endParaRPr/>
          </a:p>
        </p:txBody>
      </p:sp>
      <p:cxnSp>
        <p:nvCxnSpPr>
          <p:cNvPr id="96" name="Google Shape;96;p14"/>
          <p:cNvCxnSpPr/>
          <p:nvPr/>
        </p:nvCxnSpPr>
        <p:spPr>
          <a:xfrm>
            <a:off x="4023360" y="4846320"/>
            <a:ext cx="3703200" cy="0"/>
          </a:xfrm>
          <a:prstGeom prst="straightConnector1">
            <a:avLst/>
          </a:prstGeom>
          <a:noFill/>
          <a:ln cap="flat" cmpd="sng" w="38100">
            <a:solidFill>
              <a:srgbClr val="2B9CAE"/>
            </a:solidFill>
            <a:prstDash val="solid"/>
            <a:round/>
            <a:headEnd len="sm" w="sm" type="none"/>
            <a:tailEnd len="med" w="med" type="triangle"/>
          </a:ln>
        </p:spPr>
      </p:cxnSp>
      <p:sp>
        <p:nvSpPr>
          <p:cNvPr id="97" name="Google Shape;97;p14"/>
          <p:cNvSpPr txBox="1"/>
          <p:nvPr/>
        </p:nvSpPr>
        <p:spPr>
          <a:xfrm>
            <a:off x="4023360" y="3886200"/>
            <a:ext cx="3703200" cy="292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900" u="none" cap="none" strike="noStrike">
                <a:solidFill>
                  <a:srgbClr val="2B9CAE"/>
                </a:solidFill>
                <a:latin typeface="Helvetica Neue"/>
                <a:ea typeface="Helvetica Neue"/>
                <a:cs typeface="Helvetica Neue"/>
                <a:sym typeface="Helvetica Neue"/>
              </a:rPr>
              <a:t>Corporate actions</a:t>
            </a:r>
            <a:endParaRPr/>
          </a:p>
        </p:txBody>
      </p:sp>
      <p:sp>
        <p:nvSpPr>
          <p:cNvPr id="98" name="Google Shape;98;p14"/>
          <p:cNvSpPr txBox="1"/>
          <p:nvPr/>
        </p:nvSpPr>
        <p:spPr>
          <a:xfrm>
            <a:off x="4023360" y="5029200"/>
            <a:ext cx="3703200" cy="246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1" lang="en-US" sz="1600" u="none" cap="none" strike="noStrike">
                <a:solidFill>
                  <a:srgbClr val="475569"/>
                </a:solidFill>
                <a:latin typeface="Helvetica Neue"/>
                <a:ea typeface="Helvetica Neue"/>
                <a:cs typeface="Helvetica Neue"/>
                <a:sym typeface="Helvetica Neue"/>
              </a:rPr>
              <a:t>mergers, buyout offers …</a:t>
            </a:r>
            <a:endParaRPr/>
          </a:p>
        </p:txBody>
      </p:sp>
      <p:cxnSp>
        <p:nvCxnSpPr>
          <p:cNvPr id="99" name="Google Shape;99;p14"/>
          <p:cNvCxnSpPr/>
          <p:nvPr/>
        </p:nvCxnSpPr>
        <p:spPr>
          <a:xfrm>
            <a:off x="10561319" y="4846320"/>
            <a:ext cx="3703200" cy="0"/>
          </a:xfrm>
          <a:prstGeom prst="straightConnector1">
            <a:avLst/>
          </a:prstGeom>
          <a:noFill/>
          <a:ln cap="flat" cmpd="sng" w="38100">
            <a:solidFill>
              <a:srgbClr val="2B9CAE"/>
            </a:solidFill>
            <a:prstDash val="solid"/>
            <a:round/>
            <a:headEnd len="sm" w="sm" type="none"/>
            <a:tailEnd len="med" w="med" type="triangle"/>
          </a:ln>
        </p:spPr>
      </p:cxnSp>
      <p:sp>
        <p:nvSpPr>
          <p:cNvPr id="100" name="Google Shape;100;p14"/>
          <p:cNvSpPr txBox="1"/>
          <p:nvPr/>
        </p:nvSpPr>
        <p:spPr>
          <a:xfrm>
            <a:off x="10561319" y="3886200"/>
            <a:ext cx="3703200" cy="292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900" u="none" cap="none" strike="noStrike">
                <a:solidFill>
                  <a:srgbClr val="2B9CAE"/>
                </a:solidFill>
                <a:latin typeface="Helvetica Neue"/>
                <a:ea typeface="Helvetica Neue"/>
                <a:cs typeface="Helvetica Neue"/>
                <a:sym typeface="Helvetica Neue"/>
              </a:rPr>
              <a:t>Alerts</a:t>
            </a:r>
            <a:endParaRPr/>
          </a:p>
        </p:txBody>
      </p:sp>
      <p:sp>
        <p:nvSpPr>
          <p:cNvPr id="101" name="Google Shape;101;p14"/>
          <p:cNvSpPr txBox="1"/>
          <p:nvPr/>
        </p:nvSpPr>
        <p:spPr>
          <a:xfrm>
            <a:off x="10561319" y="5029200"/>
            <a:ext cx="3703200" cy="246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1" lang="en-US" sz="1600" u="none" cap="none" strike="noStrike">
                <a:solidFill>
                  <a:srgbClr val="475569"/>
                </a:solidFill>
                <a:latin typeface="Helvetica Neue"/>
                <a:ea typeface="Helvetica Neue"/>
                <a:cs typeface="Helvetica Neue"/>
                <a:sym typeface="Helvetica Neue"/>
              </a:rPr>
              <a:t>what changes, what to do, by when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5"/>
          <p:cNvSpPr txBox="1"/>
          <p:nvPr>
            <p:ph type="title"/>
          </p:nvPr>
        </p:nvSpPr>
        <p:spPr>
          <a:xfrm>
            <a:off x="822960" y="960119"/>
            <a:ext cx="16642200" cy="822900"/>
          </a:xfrm>
          <a:prstGeom prst="rect">
            <a:avLst/>
          </a:prstGeom>
          <a:noFill/>
          <a:ln>
            <a:noFill/>
          </a:ln>
        </p:spPr>
        <p:txBody>
          <a:bodyPr anchorCtr="0" anchor="t" bIns="45675" lIns="45675" spcFirstLastPara="1" rIns="45675" wrap="square" tIns="45675">
            <a:normAutofit/>
          </a:bodyPr>
          <a:lstStyle/>
          <a:p>
            <a:pPr indent="0" lvl="0" marL="0" rtl="0" algn="l">
              <a:lnSpc>
                <a:spcPct val="100000"/>
              </a:lnSpc>
              <a:spcBef>
                <a:spcPts val="0"/>
              </a:spcBef>
              <a:spcAft>
                <a:spcPts val="0"/>
              </a:spcAft>
              <a:buClr>
                <a:srgbClr val="04243C"/>
              </a:buClr>
              <a:buSzPts val="3600"/>
              <a:buFont typeface="Helvetica Neue"/>
              <a:buNone/>
            </a:pPr>
            <a:r>
              <a:rPr b="1" lang="en-US" sz="3600">
                <a:solidFill>
                  <a:srgbClr val="04243C"/>
                </a:solidFill>
                <a:latin typeface="Helvetica Neue"/>
                <a:ea typeface="Helvetica Neue"/>
                <a:cs typeface="Helvetica Neue"/>
                <a:sym typeface="Helvetica Neue"/>
              </a:rPr>
              <a:t>When a company changes its shares, every holder must be told</a:t>
            </a:r>
            <a:endParaRPr/>
          </a:p>
        </p:txBody>
      </p:sp>
      <p:sp>
        <p:nvSpPr>
          <p:cNvPr id="107" name="Google Shape;107;p15"/>
          <p:cNvSpPr txBox="1"/>
          <p:nvPr>
            <p:ph idx="4294967295" type="sldNum"/>
          </p:nvPr>
        </p:nvSpPr>
        <p:spPr>
          <a:xfrm>
            <a:off x="17276204" y="9646919"/>
            <a:ext cx="188700" cy="276900"/>
          </a:xfrm>
          <a:prstGeom prst="rect">
            <a:avLst/>
          </a:prstGeom>
          <a:noFill/>
          <a:ln>
            <a:noFill/>
          </a:ln>
        </p:spPr>
        <p:txBody>
          <a:bodyPr anchorCtr="0" anchor="t" bIns="45675" lIns="45675" spcFirstLastPara="1" rIns="45675" wrap="square" tIns="45675">
            <a:spAutoFit/>
          </a:bodyPr>
          <a:lstStyle/>
          <a:p>
            <a:pPr indent="0" lvl="0" marL="0" rtl="0" algn="r">
              <a:lnSpc>
                <a:spcPct val="100000"/>
              </a:lnSpc>
              <a:spcBef>
                <a:spcPts val="0"/>
              </a:spcBef>
              <a:spcAft>
                <a:spcPts val="0"/>
              </a:spcAft>
              <a:buClr>
                <a:srgbClr val="475569"/>
              </a:buClr>
              <a:buSzPts val="1200"/>
              <a:buFont typeface="Helvetica Neue"/>
              <a:buNone/>
            </a:pPr>
            <a:fld id="{00000000-1234-1234-1234-123412341234}" type="slidenum">
              <a:rPr lang="en-US" sz="1200">
                <a:solidFill>
                  <a:srgbClr val="475569"/>
                </a:solidFill>
                <a:latin typeface="Helvetica Neue"/>
                <a:ea typeface="Helvetica Neue"/>
                <a:cs typeface="Helvetica Neue"/>
                <a:sym typeface="Helvetica Neue"/>
              </a:rPr>
              <a:t>‹#›</a:t>
            </a:fld>
            <a:endParaRPr/>
          </a:p>
        </p:txBody>
      </p:sp>
      <p:sp>
        <p:nvSpPr>
          <p:cNvPr id="108" name="Google Shape;108;p15"/>
          <p:cNvSpPr/>
          <p:nvPr/>
        </p:nvSpPr>
        <p:spPr>
          <a:xfrm>
            <a:off x="822960" y="2194559"/>
            <a:ext cx="3749058" cy="3291840"/>
          </a:xfrm>
          <a:custGeom>
            <a:rect b="b" l="l" r="r" t="t"/>
            <a:pathLst>
              <a:path extrusionOk="0" h="21600" w="21600">
                <a:moveTo>
                  <a:pt x="0" y="0"/>
                </a:moveTo>
                <a:lnTo>
                  <a:pt x="19493" y="0"/>
                </a:lnTo>
                <a:lnTo>
                  <a:pt x="21600" y="2400"/>
                </a:lnTo>
                <a:lnTo>
                  <a:pt x="21600" y="21600"/>
                </a:lnTo>
                <a:lnTo>
                  <a:pt x="0" y="21600"/>
                </a:lnTo>
                <a:close/>
              </a:path>
            </a:pathLst>
          </a:custGeom>
          <a:solidFill>
            <a:srgbClr val="FFFFFF"/>
          </a:solidFill>
          <a:ln cap="flat" cmpd="sng" w="12700">
            <a:solidFill>
              <a:schemeClr val="accent3"/>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grpSp>
        <p:nvGrpSpPr>
          <p:cNvPr id="109" name="Google Shape;109;p15"/>
          <p:cNvGrpSpPr/>
          <p:nvPr/>
        </p:nvGrpSpPr>
        <p:grpSpPr>
          <a:xfrm>
            <a:off x="1142998" y="2514598"/>
            <a:ext cx="731400" cy="731400"/>
            <a:chOff x="-1" y="-1"/>
            <a:chExt cx="731400" cy="731400"/>
          </a:xfrm>
        </p:grpSpPr>
        <p:sp>
          <p:nvSpPr>
            <p:cNvPr id="110" name="Google Shape;110;p15"/>
            <p:cNvSpPr/>
            <p:nvPr/>
          </p:nvSpPr>
          <p:spPr>
            <a:xfrm>
              <a:off x="-1" y="-1"/>
              <a:ext cx="731400" cy="7314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5"/>
            <p:cNvSpPr txBox="1"/>
            <p:nvPr/>
          </p:nvSpPr>
          <p:spPr>
            <a:xfrm>
              <a:off x="152828" y="167349"/>
              <a:ext cx="426000" cy="400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2600"/>
                <a:buFont typeface="Helvetica Neue"/>
                <a:buNone/>
              </a:pPr>
              <a:r>
                <a:rPr b="1" i="0" lang="en-US" sz="2600" u="none" cap="none" strike="noStrike">
                  <a:solidFill>
                    <a:srgbClr val="FFFFFF"/>
                  </a:solidFill>
                  <a:latin typeface="Helvetica Neue"/>
                  <a:ea typeface="Helvetica Neue"/>
                  <a:cs typeface="Helvetica Neue"/>
                  <a:sym typeface="Helvetica Neue"/>
                </a:rPr>
                <a:t>1</a:t>
              </a:r>
              <a:endParaRPr b="0" i="0" sz="1400" u="none" cap="none" strike="noStrike">
                <a:solidFill>
                  <a:srgbClr val="000000"/>
                </a:solidFill>
                <a:latin typeface="Arial"/>
                <a:ea typeface="Arial"/>
                <a:cs typeface="Arial"/>
                <a:sym typeface="Arial"/>
              </a:endParaRPr>
            </a:p>
          </p:txBody>
        </p:sp>
      </p:grpSp>
      <p:sp>
        <p:nvSpPr>
          <p:cNvPr id="112" name="Google Shape;112;p15"/>
          <p:cNvSpPr txBox="1"/>
          <p:nvPr/>
        </p:nvSpPr>
        <p:spPr>
          <a:xfrm>
            <a:off x="1142999" y="3520438"/>
            <a:ext cx="31089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2300"/>
              <a:buFont typeface="Helvetica Neue"/>
              <a:buNone/>
            </a:pPr>
            <a:r>
              <a:rPr b="1" i="0" lang="en-US" sz="2300" u="none" cap="none" strike="noStrike">
                <a:solidFill>
                  <a:srgbClr val="04243C"/>
                </a:solidFill>
                <a:latin typeface="Helvetica Neue"/>
                <a:ea typeface="Helvetica Neue"/>
                <a:cs typeface="Helvetica Neue"/>
                <a:sym typeface="Helvetica Neue"/>
              </a:rPr>
              <a:t>Company announces</a:t>
            </a:r>
            <a:endParaRPr b="0" i="0" sz="1400" u="none" cap="none" strike="noStrike">
              <a:solidFill>
                <a:srgbClr val="000000"/>
              </a:solidFill>
              <a:latin typeface="Arial"/>
              <a:ea typeface="Arial"/>
              <a:cs typeface="Arial"/>
              <a:sym typeface="Arial"/>
            </a:endParaRPr>
          </a:p>
        </p:txBody>
      </p:sp>
      <p:sp>
        <p:nvSpPr>
          <p:cNvPr id="113" name="Google Shape;113;p15"/>
          <p:cNvSpPr txBox="1"/>
          <p:nvPr/>
        </p:nvSpPr>
        <p:spPr>
          <a:xfrm>
            <a:off x="1142999" y="4160520"/>
            <a:ext cx="3108900" cy="585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475569"/>
              </a:buClr>
              <a:buSzPts val="1900"/>
              <a:buFont typeface="Helvetica Neue"/>
              <a:buNone/>
            </a:pPr>
            <a:r>
              <a:rPr b="0" i="0" lang="en-US" sz="1900" u="none" cap="none" strike="noStrike">
                <a:solidFill>
                  <a:srgbClr val="475569"/>
                </a:solidFill>
                <a:latin typeface="Helvetica Neue"/>
                <a:ea typeface="Helvetica Neue"/>
                <a:cs typeface="Helvetica Neue"/>
                <a:sym typeface="Helvetica Neue"/>
              </a:rPr>
              <a:t>Bending Spoons buys Eventbrite at $4.50 / share</a:t>
            </a:r>
            <a:endParaRPr b="0" i="0" sz="1400" u="none" cap="none" strike="noStrike">
              <a:solidFill>
                <a:srgbClr val="000000"/>
              </a:solidFill>
              <a:latin typeface="Arial"/>
              <a:ea typeface="Arial"/>
              <a:cs typeface="Arial"/>
              <a:sym typeface="Arial"/>
            </a:endParaRPr>
          </a:p>
        </p:txBody>
      </p:sp>
      <p:cxnSp>
        <p:nvCxnSpPr>
          <p:cNvPr id="114" name="Google Shape;114;p15"/>
          <p:cNvCxnSpPr/>
          <p:nvPr/>
        </p:nvCxnSpPr>
        <p:spPr>
          <a:xfrm>
            <a:off x="4645152" y="3840479"/>
            <a:ext cx="402300" cy="0"/>
          </a:xfrm>
          <a:prstGeom prst="straightConnector1">
            <a:avLst/>
          </a:prstGeom>
          <a:noFill/>
          <a:ln cap="flat" cmpd="sng" w="25400">
            <a:solidFill>
              <a:schemeClr val="accent1"/>
            </a:solidFill>
            <a:prstDash val="solid"/>
            <a:round/>
            <a:headEnd len="sm" w="sm" type="none"/>
            <a:tailEnd len="med" w="med" type="triangle"/>
          </a:ln>
        </p:spPr>
      </p:cxnSp>
      <p:sp>
        <p:nvSpPr>
          <p:cNvPr id="115" name="Google Shape;115;p15"/>
          <p:cNvSpPr/>
          <p:nvPr/>
        </p:nvSpPr>
        <p:spPr>
          <a:xfrm>
            <a:off x="5120640" y="2194559"/>
            <a:ext cx="3749058" cy="3291840"/>
          </a:xfrm>
          <a:custGeom>
            <a:rect b="b" l="l" r="r" t="t"/>
            <a:pathLst>
              <a:path extrusionOk="0" h="21600" w="21600">
                <a:moveTo>
                  <a:pt x="0" y="0"/>
                </a:moveTo>
                <a:lnTo>
                  <a:pt x="19493" y="0"/>
                </a:lnTo>
                <a:lnTo>
                  <a:pt x="21600" y="2400"/>
                </a:lnTo>
                <a:lnTo>
                  <a:pt x="21600" y="21600"/>
                </a:lnTo>
                <a:lnTo>
                  <a:pt x="0" y="21600"/>
                </a:lnTo>
                <a:close/>
              </a:path>
            </a:pathLst>
          </a:custGeom>
          <a:solidFill>
            <a:srgbClr val="FFFFFF"/>
          </a:solidFill>
          <a:ln cap="flat" cmpd="sng" w="12700">
            <a:solidFill>
              <a:schemeClr val="accent3"/>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grpSp>
        <p:nvGrpSpPr>
          <p:cNvPr id="116" name="Google Shape;116;p15"/>
          <p:cNvGrpSpPr/>
          <p:nvPr/>
        </p:nvGrpSpPr>
        <p:grpSpPr>
          <a:xfrm>
            <a:off x="5440678" y="2514598"/>
            <a:ext cx="731400" cy="731400"/>
            <a:chOff x="-1" y="-1"/>
            <a:chExt cx="731400" cy="731400"/>
          </a:xfrm>
        </p:grpSpPr>
        <p:sp>
          <p:nvSpPr>
            <p:cNvPr id="117" name="Google Shape;117;p15"/>
            <p:cNvSpPr/>
            <p:nvPr/>
          </p:nvSpPr>
          <p:spPr>
            <a:xfrm>
              <a:off x="-1" y="-1"/>
              <a:ext cx="731400" cy="7314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5"/>
            <p:cNvSpPr txBox="1"/>
            <p:nvPr/>
          </p:nvSpPr>
          <p:spPr>
            <a:xfrm>
              <a:off x="152828" y="167349"/>
              <a:ext cx="426000" cy="400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2600"/>
                <a:buFont typeface="Helvetica Neue"/>
                <a:buNone/>
              </a:pPr>
              <a:r>
                <a:rPr b="1" i="0" lang="en-US" sz="2600" u="none" cap="none" strike="noStrike">
                  <a:solidFill>
                    <a:srgbClr val="FFFFFF"/>
                  </a:solidFill>
                  <a:latin typeface="Helvetica Neue"/>
                  <a:ea typeface="Helvetica Neue"/>
                  <a:cs typeface="Helvetica Neue"/>
                  <a:sym typeface="Helvetica Neue"/>
                </a:rPr>
                <a:t>2</a:t>
              </a:r>
              <a:endParaRPr b="0" i="0" sz="1400" u="none" cap="none" strike="noStrike">
                <a:solidFill>
                  <a:srgbClr val="000000"/>
                </a:solidFill>
                <a:latin typeface="Arial"/>
                <a:ea typeface="Arial"/>
                <a:cs typeface="Arial"/>
                <a:sym typeface="Arial"/>
              </a:endParaRPr>
            </a:p>
          </p:txBody>
        </p:sp>
      </p:grpSp>
      <p:sp>
        <p:nvSpPr>
          <p:cNvPr id="119" name="Google Shape;119;p15"/>
          <p:cNvSpPr txBox="1"/>
          <p:nvPr/>
        </p:nvSpPr>
        <p:spPr>
          <a:xfrm>
            <a:off x="5440679" y="3520438"/>
            <a:ext cx="31089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2300"/>
              <a:buFont typeface="Helvetica Neue"/>
              <a:buNone/>
            </a:pPr>
            <a:r>
              <a:rPr b="1" i="0" lang="en-US" sz="2300" u="none" cap="none" strike="noStrike">
                <a:solidFill>
                  <a:srgbClr val="04243C"/>
                </a:solidFill>
                <a:latin typeface="Helvetica Neue"/>
                <a:ea typeface="Helvetica Neue"/>
                <a:cs typeface="Helvetica Neue"/>
                <a:sym typeface="Helvetica Neue"/>
              </a:rPr>
              <a:t>Files with the SEC</a:t>
            </a:r>
            <a:endParaRPr b="0" i="0" sz="1400" u="none" cap="none" strike="noStrike">
              <a:solidFill>
                <a:srgbClr val="000000"/>
              </a:solidFill>
              <a:latin typeface="Arial"/>
              <a:ea typeface="Arial"/>
              <a:cs typeface="Arial"/>
              <a:sym typeface="Arial"/>
            </a:endParaRPr>
          </a:p>
        </p:txBody>
      </p:sp>
      <p:sp>
        <p:nvSpPr>
          <p:cNvPr id="120" name="Google Shape;120;p15"/>
          <p:cNvSpPr txBox="1"/>
          <p:nvPr/>
        </p:nvSpPr>
        <p:spPr>
          <a:xfrm>
            <a:off x="5440679" y="4160520"/>
            <a:ext cx="3108900" cy="585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475569"/>
              </a:buClr>
              <a:buSzPts val="1900"/>
              <a:buFont typeface="Helvetica Neue"/>
              <a:buNone/>
            </a:pPr>
            <a:r>
              <a:rPr b="0" i="0" lang="en-US" sz="1900" u="none" cap="none" strike="noStrike">
                <a:solidFill>
                  <a:srgbClr val="475569"/>
                </a:solidFill>
                <a:latin typeface="Helvetica Neue"/>
                <a:ea typeface="Helvetica Neue"/>
                <a:cs typeface="Helvetica Neue"/>
                <a:sym typeface="Helvetica Neue"/>
              </a:rPr>
              <a:t>An 816K-character proxy statement</a:t>
            </a:r>
            <a:endParaRPr b="0" i="0" sz="1400" u="none" cap="none" strike="noStrike">
              <a:solidFill>
                <a:srgbClr val="000000"/>
              </a:solidFill>
              <a:latin typeface="Arial"/>
              <a:ea typeface="Arial"/>
              <a:cs typeface="Arial"/>
              <a:sym typeface="Arial"/>
            </a:endParaRPr>
          </a:p>
        </p:txBody>
      </p:sp>
      <p:cxnSp>
        <p:nvCxnSpPr>
          <p:cNvPr id="121" name="Google Shape;121;p15"/>
          <p:cNvCxnSpPr/>
          <p:nvPr/>
        </p:nvCxnSpPr>
        <p:spPr>
          <a:xfrm>
            <a:off x="8942831" y="3840479"/>
            <a:ext cx="402300" cy="0"/>
          </a:xfrm>
          <a:prstGeom prst="straightConnector1">
            <a:avLst/>
          </a:prstGeom>
          <a:noFill/>
          <a:ln cap="flat" cmpd="sng" w="25400">
            <a:solidFill>
              <a:schemeClr val="accent1"/>
            </a:solidFill>
            <a:prstDash val="solid"/>
            <a:round/>
            <a:headEnd len="sm" w="sm" type="none"/>
            <a:tailEnd len="med" w="med" type="triangle"/>
          </a:ln>
        </p:spPr>
      </p:cxnSp>
      <p:sp>
        <p:nvSpPr>
          <p:cNvPr id="122" name="Google Shape;122;p15"/>
          <p:cNvSpPr/>
          <p:nvPr/>
        </p:nvSpPr>
        <p:spPr>
          <a:xfrm>
            <a:off x="9418318" y="2194559"/>
            <a:ext cx="3749058" cy="3291840"/>
          </a:xfrm>
          <a:custGeom>
            <a:rect b="b" l="l" r="r" t="t"/>
            <a:pathLst>
              <a:path extrusionOk="0" h="21600" w="21600">
                <a:moveTo>
                  <a:pt x="0" y="0"/>
                </a:moveTo>
                <a:lnTo>
                  <a:pt x="19493" y="0"/>
                </a:lnTo>
                <a:lnTo>
                  <a:pt x="21600" y="2400"/>
                </a:lnTo>
                <a:lnTo>
                  <a:pt x="21600" y="21600"/>
                </a:lnTo>
                <a:lnTo>
                  <a:pt x="0" y="21600"/>
                </a:lnTo>
                <a:close/>
              </a:path>
            </a:pathLst>
          </a:custGeom>
          <a:solidFill>
            <a:schemeClr val="accent2"/>
          </a:solidFill>
          <a:ln cap="flat" cmpd="sng" w="12700">
            <a:solidFill>
              <a:schemeClr val="accent3"/>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grpSp>
        <p:nvGrpSpPr>
          <p:cNvPr id="123" name="Google Shape;123;p15"/>
          <p:cNvGrpSpPr/>
          <p:nvPr/>
        </p:nvGrpSpPr>
        <p:grpSpPr>
          <a:xfrm>
            <a:off x="9738358" y="2514598"/>
            <a:ext cx="731400" cy="731400"/>
            <a:chOff x="-1" y="-1"/>
            <a:chExt cx="731400" cy="731400"/>
          </a:xfrm>
        </p:grpSpPr>
        <p:sp>
          <p:nvSpPr>
            <p:cNvPr id="124" name="Google Shape;124;p15"/>
            <p:cNvSpPr/>
            <p:nvPr/>
          </p:nvSpPr>
          <p:spPr>
            <a:xfrm>
              <a:off x="-1" y="-1"/>
              <a:ext cx="731400" cy="7314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15"/>
            <p:cNvSpPr txBox="1"/>
            <p:nvPr/>
          </p:nvSpPr>
          <p:spPr>
            <a:xfrm>
              <a:off x="152828" y="167349"/>
              <a:ext cx="426000" cy="400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2600"/>
                <a:buFont typeface="Helvetica Neue"/>
                <a:buNone/>
              </a:pPr>
              <a:r>
                <a:rPr b="1" i="0" lang="en-US" sz="2600" u="none" cap="none" strike="noStrike">
                  <a:solidFill>
                    <a:srgbClr val="FFFFFF"/>
                  </a:solidFill>
                  <a:latin typeface="Helvetica Neue"/>
                  <a:ea typeface="Helvetica Neue"/>
                  <a:cs typeface="Helvetica Neue"/>
                  <a:sym typeface="Helvetica Neue"/>
                </a:rPr>
                <a:t>3</a:t>
              </a:r>
              <a:endParaRPr b="0" i="0" sz="1400" u="none" cap="none" strike="noStrike">
                <a:solidFill>
                  <a:srgbClr val="000000"/>
                </a:solidFill>
                <a:latin typeface="Arial"/>
                <a:ea typeface="Arial"/>
                <a:cs typeface="Arial"/>
                <a:sym typeface="Arial"/>
              </a:endParaRPr>
            </a:p>
          </p:txBody>
        </p:sp>
      </p:grpSp>
      <p:sp>
        <p:nvSpPr>
          <p:cNvPr id="126" name="Google Shape;126;p15"/>
          <p:cNvSpPr txBox="1"/>
          <p:nvPr/>
        </p:nvSpPr>
        <p:spPr>
          <a:xfrm>
            <a:off x="9738359" y="3520438"/>
            <a:ext cx="31089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2300"/>
              <a:buFont typeface="Helvetica Neue"/>
              <a:buNone/>
            </a:pPr>
            <a:r>
              <a:rPr b="1" i="0" lang="en-US" sz="2300" u="none" cap="none" strike="noStrike">
                <a:solidFill>
                  <a:srgbClr val="04243C"/>
                </a:solidFill>
                <a:latin typeface="Helvetica Neue"/>
                <a:ea typeface="Helvetica Neue"/>
                <a:cs typeface="Helvetica Neue"/>
                <a:sym typeface="Helvetica Neue"/>
              </a:rPr>
              <a:t>BNY reads the filing</a:t>
            </a:r>
            <a:endParaRPr b="0" i="0" sz="1400" u="none" cap="none" strike="noStrike">
              <a:solidFill>
                <a:srgbClr val="000000"/>
              </a:solidFill>
              <a:latin typeface="Arial"/>
              <a:ea typeface="Arial"/>
              <a:cs typeface="Arial"/>
              <a:sym typeface="Arial"/>
            </a:endParaRPr>
          </a:p>
        </p:txBody>
      </p:sp>
      <p:sp>
        <p:nvSpPr>
          <p:cNvPr id="127" name="Google Shape;127;p15"/>
          <p:cNvSpPr txBox="1"/>
          <p:nvPr/>
        </p:nvSpPr>
        <p:spPr>
          <a:xfrm>
            <a:off x="9738359" y="4160520"/>
            <a:ext cx="3108900" cy="585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475569"/>
              </a:buClr>
              <a:buSzPts val="1900"/>
              <a:buFont typeface="Helvetica Neue"/>
              <a:buNone/>
            </a:pPr>
            <a:r>
              <a:rPr b="0" i="0" lang="en-US" sz="1900" u="none" cap="none" strike="noStrike">
                <a:solidFill>
                  <a:srgbClr val="475569"/>
                </a:solidFill>
                <a:latin typeface="Helvetica Neue"/>
                <a:ea typeface="Helvetica Neue"/>
                <a:cs typeface="Helvetica Neue"/>
                <a:sym typeface="Helvetica Neue"/>
              </a:rPr>
              <a:t>Staff pull out price, dates and options</a:t>
            </a:r>
            <a:endParaRPr b="0" i="0" sz="1400" u="none" cap="none" strike="noStrike">
              <a:solidFill>
                <a:srgbClr val="000000"/>
              </a:solidFill>
              <a:latin typeface="Arial"/>
              <a:ea typeface="Arial"/>
              <a:cs typeface="Arial"/>
              <a:sym typeface="Arial"/>
            </a:endParaRPr>
          </a:p>
        </p:txBody>
      </p:sp>
      <p:cxnSp>
        <p:nvCxnSpPr>
          <p:cNvPr id="128" name="Google Shape;128;p15"/>
          <p:cNvCxnSpPr/>
          <p:nvPr/>
        </p:nvCxnSpPr>
        <p:spPr>
          <a:xfrm>
            <a:off x="13240511" y="3840479"/>
            <a:ext cx="402300" cy="0"/>
          </a:xfrm>
          <a:prstGeom prst="straightConnector1">
            <a:avLst/>
          </a:prstGeom>
          <a:noFill/>
          <a:ln cap="flat" cmpd="sng" w="25400">
            <a:solidFill>
              <a:schemeClr val="accent1"/>
            </a:solidFill>
            <a:prstDash val="solid"/>
            <a:round/>
            <a:headEnd len="sm" w="sm" type="none"/>
            <a:tailEnd len="med" w="med" type="triangle"/>
          </a:ln>
        </p:spPr>
      </p:cxnSp>
      <p:sp>
        <p:nvSpPr>
          <p:cNvPr id="129" name="Google Shape;129;p15"/>
          <p:cNvSpPr/>
          <p:nvPr/>
        </p:nvSpPr>
        <p:spPr>
          <a:xfrm>
            <a:off x="13715998" y="2194559"/>
            <a:ext cx="3749058" cy="3291840"/>
          </a:xfrm>
          <a:custGeom>
            <a:rect b="b" l="l" r="r" t="t"/>
            <a:pathLst>
              <a:path extrusionOk="0" h="21600" w="21600">
                <a:moveTo>
                  <a:pt x="0" y="0"/>
                </a:moveTo>
                <a:lnTo>
                  <a:pt x="19493" y="0"/>
                </a:lnTo>
                <a:lnTo>
                  <a:pt x="21600" y="2400"/>
                </a:lnTo>
                <a:lnTo>
                  <a:pt x="21600" y="21600"/>
                </a:lnTo>
                <a:lnTo>
                  <a:pt x="0" y="21600"/>
                </a:lnTo>
                <a:close/>
              </a:path>
            </a:pathLst>
          </a:custGeom>
          <a:solidFill>
            <a:srgbClr val="FFFFFF"/>
          </a:solidFill>
          <a:ln cap="flat" cmpd="sng" w="12700">
            <a:solidFill>
              <a:schemeClr val="accent3"/>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grpSp>
        <p:nvGrpSpPr>
          <p:cNvPr id="130" name="Google Shape;130;p15"/>
          <p:cNvGrpSpPr/>
          <p:nvPr/>
        </p:nvGrpSpPr>
        <p:grpSpPr>
          <a:xfrm>
            <a:off x="14036038" y="2514598"/>
            <a:ext cx="731400" cy="731400"/>
            <a:chOff x="-1" y="-1"/>
            <a:chExt cx="731400" cy="731400"/>
          </a:xfrm>
        </p:grpSpPr>
        <p:sp>
          <p:nvSpPr>
            <p:cNvPr id="131" name="Google Shape;131;p15"/>
            <p:cNvSpPr/>
            <p:nvPr/>
          </p:nvSpPr>
          <p:spPr>
            <a:xfrm>
              <a:off x="-1" y="-1"/>
              <a:ext cx="731400" cy="7314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15"/>
            <p:cNvSpPr txBox="1"/>
            <p:nvPr/>
          </p:nvSpPr>
          <p:spPr>
            <a:xfrm>
              <a:off x="152828" y="167349"/>
              <a:ext cx="426000" cy="400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2600"/>
                <a:buFont typeface="Helvetica Neue"/>
                <a:buNone/>
              </a:pPr>
              <a:r>
                <a:rPr b="1" i="0" lang="en-US" sz="2600" u="none" cap="none" strike="noStrike">
                  <a:solidFill>
                    <a:srgbClr val="FFFFFF"/>
                  </a:solidFill>
                  <a:latin typeface="Helvetica Neue"/>
                  <a:ea typeface="Helvetica Neue"/>
                  <a:cs typeface="Helvetica Neue"/>
                  <a:sym typeface="Helvetica Neue"/>
                </a:rPr>
                <a:t>4</a:t>
              </a:r>
              <a:endParaRPr b="0" i="0" sz="1400" u="none" cap="none" strike="noStrike">
                <a:solidFill>
                  <a:srgbClr val="000000"/>
                </a:solidFill>
                <a:latin typeface="Arial"/>
                <a:ea typeface="Arial"/>
                <a:cs typeface="Arial"/>
                <a:sym typeface="Arial"/>
              </a:endParaRPr>
            </a:p>
          </p:txBody>
        </p:sp>
      </p:grpSp>
      <p:sp>
        <p:nvSpPr>
          <p:cNvPr id="133" name="Google Shape;133;p15"/>
          <p:cNvSpPr txBox="1"/>
          <p:nvPr/>
        </p:nvSpPr>
        <p:spPr>
          <a:xfrm>
            <a:off x="14036039" y="3520438"/>
            <a:ext cx="31089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2300"/>
              <a:buFont typeface="Helvetica Neue"/>
              <a:buNone/>
            </a:pPr>
            <a:r>
              <a:rPr b="1" i="0" lang="en-US" sz="2300" u="none" cap="none" strike="noStrike">
                <a:solidFill>
                  <a:srgbClr val="04243C"/>
                </a:solidFill>
                <a:latin typeface="Helvetica Neue"/>
                <a:ea typeface="Helvetica Neue"/>
                <a:cs typeface="Helvetica Neue"/>
                <a:sym typeface="Helvetica Neue"/>
              </a:rPr>
              <a:t>Clients are alerted</a:t>
            </a:r>
            <a:endParaRPr b="0" i="0" sz="1400" u="none" cap="none" strike="noStrike">
              <a:solidFill>
                <a:srgbClr val="000000"/>
              </a:solidFill>
              <a:latin typeface="Arial"/>
              <a:ea typeface="Arial"/>
              <a:cs typeface="Arial"/>
              <a:sym typeface="Arial"/>
            </a:endParaRPr>
          </a:p>
        </p:txBody>
      </p:sp>
      <p:sp>
        <p:nvSpPr>
          <p:cNvPr id="134" name="Google Shape;134;p15"/>
          <p:cNvSpPr txBox="1"/>
          <p:nvPr/>
        </p:nvSpPr>
        <p:spPr>
          <a:xfrm>
            <a:off x="14036039" y="4160520"/>
            <a:ext cx="3108900" cy="585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475569"/>
              </a:buClr>
              <a:buSzPts val="1900"/>
              <a:buFont typeface="Helvetica Neue"/>
              <a:buNone/>
            </a:pPr>
            <a:r>
              <a:rPr b="0" i="0" lang="en-US" sz="1900" u="none" cap="none" strike="noStrike">
                <a:solidFill>
                  <a:srgbClr val="475569"/>
                </a:solidFill>
                <a:latin typeface="Helvetica Neue"/>
                <a:ea typeface="Helvetica Neue"/>
                <a:cs typeface="Helvetica Neue"/>
                <a:sym typeface="Helvetica Neue"/>
              </a:rPr>
              <a:t>Every Eventbrite holder is notified</a:t>
            </a:r>
            <a:endParaRPr b="0" i="0" sz="1400" u="none" cap="none" strike="noStrike">
              <a:solidFill>
                <a:srgbClr val="000000"/>
              </a:solidFill>
              <a:latin typeface="Arial"/>
              <a:ea typeface="Arial"/>
              <a:cs typeface="Arial"/>
              <a:sym typeface="Arial"/>
            </a:endParaRPr>
          </a:p>
        </p:txBody>
      </p:sp>
      <p:grpSp>
        <p:nvGrpSpPr>
          <p:cNvPr id="135" name="Google Shape;135;p15"/>
          <p:cNvGrpSpPr/>
          <p:nvPr/>
        </p:nvGrpSpPr>
        <p:grpSpPr>
          <a:xfrm>
            <a:off x="9418319" y="5623559"/>
            <a:ext cx="3749100" cy="548700"/>
            <a:chOff x="0" y="0"/>
            <a:chExt cx="3749100" cy="548700"/>
          </a:xfrm>
        </p:grpSpPr>
        <p:sp>
          <p:nvSpPr>
            <p:cNvPr id="136" name="Google Shape;136;p15"/>
            <p:cNvSpPr/>
            <p:nvPr/>
          </p:nvSpPr>
          <p:spPr>
            <a:xfrm>
              <a:off x="0" y="0"/>
              <a:ext cx="3749100" cy="548700"/>
            </a:xfrm>
            <a:prstGeom prst="roundRect">
              <a:avLst>
                <a:gd fmla="val 18000" name="adj"/>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15"/>
            <p:cNvSpPr txBox="1"/>
            <p:nvPr/>
          </p:nvSpPr>
          <p:spPr>
            <a:xfrm>
              <a:off x="74624" y="144101"/>
              <a:ext cx="3599700" cy="2616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1700"/>
                <a:buFont typeface="Helvetica Neue"/>
                <a:buNone/>
              </a:pPr>
              <a:r>
                <a:rPr b="1" i="0" lang="en-US" sz="1700" u="none" cap="none" strike="noStrike">
                  <a:solidFill>
                    <a:srgbClr val="FFFFFF"/>
                  </a:solidFill>
                  <a:latin typeface="Helvetica Neue"/>
                  <a:ea typeface="Helvetica Neue"/>
                  <a:cs typeface="Helvetica Neue"/>
                  <a:sym typeface="Helvetica Neue"/>
                </a:rPr>
                <a:t>We automate this step</a:t>
              </a:r>
              <a:endParaRPr b="0" i="0" sz="1400" u="none" cap="none" strike="noStrike">
                <a:solidFill>
                  <a:srgbClr val="000000"/>
                </a:solidFill>
                <a:latin typeface="Arial"/>
                <a:ea typeface="Arial"/>
                <a:cs typeface="Arial"/>
                <a:sym typeface="Arial"/>
              </a:endParaRPr>
            </a:p>
          </p:txBody>
        </p:sp>
      </p:grpSp>
      <p:cxnSp>
        <p:nvCxnSpPr>
          <p:cNvPr id="138" name="Google Shape;138;p15"/>
          <p:cNvCxnSpPr/>
          <p:nvPr/>
        </p:nvCxnSpPr>
        <p:spPr>
          <a:xfrm rot="10800000">
            <a:off x="11294110" y="5486461"/>
            <a:ext cx="0" cy="137100"/>
          </a:xfrm>
          <a:prstGeom prst="straightConnector1">
            <a:avLst/>
          </a:prstGeom>
          <a:noFill/>
          <a:ln cap="flat" cmpd="sng" w="25400">
            <a:solidFill>
              <a:schemeClr val="accent1"/>
            </a:solidFill>
            <a:prstDash val="solid"/>
            <a:round/>
            <a:headEnd len="sm" w="sm" type="none"/>
            <a:tailEnd len="sm" w="sm" type="none"/>
          </a:ln>
        </p:spPr>
      </p:cxnSp>
      <p:sp>
        <p:nvSpPr>
          <p:cNvPr id="139" name="Google Shape;139;p15"/>
          <p:cNvSpPr txBox="1"/>
          <p:nvPr/>
        </p:nvSpPr>
        <p:spPr>
          <a:xfrm>
            <a:off x="822959" y="6492240"/>
            <a:ext cx="16642200" cy="323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2100"/>
              <a:buFont typeface="Helvetica Neue"/>
              <a:buNone/>
            </a:pPr>
            <a:r>
              <a:rPr b="1" i="0" lang="en-US" sz="2100" u="none" cap="none" strike="noStrike">
                <a:solidFill>
                  <a:srgbClr val="04243C"/>
                </a:solidFill>
                <a:latin typeface="Helvetica Neue"/>
                <a:ea typeface="Helvetica Neue"/>
                <a:cs typeface="Helvetica Neue"/>
                <a:sym typeface="Helvetica Neue"/>
              </a:rPr>
              <a:t>Five corporate-action types in scope</a:t>
            </a:r>
            <a:endParaRPr b="0" i="0" sz="1400" u="none" cap="none" strike="noStrike">
              <a:solidFill>
                <a:srgbClr val="000000"/>
              </a:solidFill>
              <a:latin typeface="Arial"/>
              <a:ea typeface="Arial"/>
              <a:cs typeface="Arial"/>
              <a:sym typeface="Arial"/>
            </a:endParaRPr>
          </a:p>
        </p:txBody>
      </p:sp>
      <p:sp>
        <p:nvSpPr>
          <p:cNvPr id="140" name="Google Shape;140;p15"/>
          <p:cNvSpPr/>
          <p:nvPr/>
        </p:nvSpPr>
        <p:spPr>
          <a:xfrm>
            <a:off x="822960" y="7086600"/>
            <a:ext cx="3035700" cy="2057400"/>
          </a:xfrm>
          <a:prstGeom prst="roundRect">
            <a:avLst>
              <a:gd fmla="val 12800" name="adj"/>
            </a:avLst>
          </a:prstGeom>
          <a:solidFill>
            <a:srgbClr val="FFFF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141" name="Google Shape;141;p15"/>
          <p:cNvSpPr/>
          <p:nvPr/>
        </p:nvSpPr>
        <p:spPr>
          <a:xfrm>
            <a:off x="822959" y="7086599"/>
            <a:ext cx="3035826" cy="777222"/>
          </a:xfrm>
          <a:custGeom>
            <a:rect b="b" l="l" r="r" t="t"/>
            <a:pathLst>
              <a:path extrusionOk="0" h="21600" w="21600">
                <a:moveTo>
                  <a:pt x="1041" y="0"/>
                </a:moveTo>
                <a:lnTo>
                  <a:pt x="20559" y="0"/>
                </a:lnTo>
                <a:cubicBezTo>
                  <a:pt x="21134" y="0"/>
                  <a:pt x="21600" y="1820"/>
                  <a:pt x="21600" y="4066"/>
                </a:cubicBezTo>
                <a:lnTo>
                  <a:pt x="21600" y="21600"/>
                </a:lnTo>
                <a:lnTo>
                  <a:pt x="0" y="21600"/>
                </a:lnTo>
                <a:lnTo>
                  <a:pt x="0" y="4066"/>
                </a:lnTo>
                <a:cubicBezTo>
                  <a:pt x="0" y="1820"/>
                  <a:pt x="466" y="0"/>
                  <a:pt x="1041" y="0"/>
                </a:cubicBezTo>
                <a:close/>
              </a:path>
            </a:pathLst>
          </a:cu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142" name="Google Shape;142;p15"/>
          <p:cNvSpPr txBox="1"/>
          <p:nvPr/>
        </p:nvSpPr>
        <p:spPr>
          <a:xfrm>
            <a:off x="822959" y="7313988"/>
            <a:ext cx="3035700" cy="323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2100"/>
              <a:buFont typeface="Helvetica Neue"/>
              <a:buNone/>
            </a:pPr>
            <a:r>
              <a:rPr b="1" i="0" lang="en-US" sz="2100" u="none" cap="none" strike="noStrike">
                <a:solidFill>
                  <a:srgbClr val="FFFFFF"/>
                </a:solidFill>
                <a:latin typeface="Helvetica Neue"/>
                <a:ea typeface="Helvetica Neue"/>
                <a:cs typeface="Helvetica Neue"/>
                <a:sym typeface="Helvetica Neue"/>
              </a:rPr>
              <a:t>Merger</a:t>
            </a:r>
            <a:endParaRPr b="0" i="0" sz="1400" u="none" cap="none" strike="noStrike">
              <a:solidFill>
                <a:srgbClr val="000000"/>
              </a:solidFill>
              <a:latin typeface="Arial"/>
              <a:ea typeface="Arial"/>
              <a:cs typeface="Arial"/>
              <a:sym typeface="Arial"/>
            </a:endParaRPr>
          </a:p>
        </p:txBody>
      </p:sp>
      <p:sp>
        <p:nvSpPr>
          <p:cNvPr id="143" name="Google Shape;143;p15"/>
          <p:cNvSpPr txBox="1"/>
          <p:nvPr/>
        </p:nvSpPr>
        <p:spPr>
          <a:xfrm>
            <a:off x="1051560" y="8092440"/>
            <a:ext cx="2578500" cy="554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475569"/>
              </a:buClr>
              <a:buSzPts val="1800"/>
              <a:buFont typeface="Helvetica Neue"/>
              <a:buNone/>
            </a:pPr>
            <a:r>
              <a:rPr b="0" i="0" lang="en-US" sz="1800" u="none" cap="none" strike="noStrike">
                <a:solidFill>
                  <a:srgbClr val="475569"/>
                </a:solidFill>
                <a:latin typeface="Helvetica Neue"/>
                <a:ea typeface="Helvetica Neue"/>
                <a:cs typeface="Helvetica Neue"/>
                <a:sym typeface="Helvetica Neue"/>
              </a:rPr>
              <a:t>One company absorbs another</a:t>
            </a:r>
            <a:endParaRPr b="0" i="0" sz="1400" u="none" cap="none" strike="noStrike">
              <a:solidFill>
                <a:srgbClr val="000000"/>
              </a:solidFill>
              <a:latin typeface="Arial"/>
              <a:ea typeface="Arial"/>
              <a:cs typeface="Arial"/>
              <a:sym typeface="Arial"/>
            </a:endParaRPr>
          </a:p>
        </p:txBody>
      </p:sp>
      <p:sp>
        <p:nvSpPr>
          <p:cNvPr id="144" name="Google Shape;144;p15"/>
          <p:cNvSpPr/>
          <p:nvPr/>
        </p:nvSpPr>
        <p:spPr>
          <a:xfrm>
            <a:off x="4224528" y="7086600"/>
            <a:ext cx="3035700" cy="2057400"/>
          </a:xfrm>
          <a:prstGeom prst="roundRect">
            <a:avLst>
              <a:gd fmla="val 12800" name="adj"/>
            </a:avLst>
          </a:prstGeom>
          <a:solidFill>
            <a:srgbClr val="FFFF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145" name="Google Shape;145;p15"/>
          <p:cNvSpPr/>
          <p:nvPr/>
        </p:nvSpPr>
        <p:spPr>
          <a:xfrm>
            <a:off x="4224528" y="7086599"/>
            <a:ext cx="3035826" cy="777222"/>
          </a:xfrm>
          <a:custGeom>
            <a:rect b="b" l="l" r="r" t="t"/>
            <a:pathLst>
              <a:path extrusionOk="0" h="21600" w="21600">
                <a:moveTo>
                  <a:pt x="1041" y="0"/>
                </a:moveTo>
                <a:lnTo>
                  <a:pt x="20559" y="0"/>
                </a:lnTo>
                <a:cubicBezTo>
                  <a:pt x="21134" y="0"/>
                  <a:pt x="21600" y="1820"/>
                  <a:pt x="21600" y="4066"/>
                </a:cubicBezTo>
                <a:lnTo>
                  <a:pt x="21600" y="21600"/>
                </a:lnTo>
                <a:lnTo>
                  <a:pt x="0" y="21600"/>
                </a:lnTo>
                <a:lnTo>
                  <a:pt x="0" y="4066"/>
                </a:lnTo>
                <a:cubicBezTo>
                  <a:pt x="0" y="1820"/>
                  <a:pt x="466" y="0"/>
                  <a:pt x="1041" y="0"/>
                </a:cubicBezTo>
                <a:close/>
              </a:path>
            </a:pathLst>
          </a:custGeom>
          <a:solidFill>
            <a:srgbClr val="208AA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146" name="Google Shape;146;p15"/>
          <p:cNvSpPr txBox="1"/>
          <p:nvPr/>
        </p:nvSpPr>
        <p:spPr>
          <a:xfrm>
            <a:off x="4224528" y="7313988"/>
            <a:ext cx="3035700" cy="323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2100"/>
              <a:buFont typeface="Helvetica Neue"/>
              <a:buNone/>
            </a:pPr>
            <a:r>
              <a:rPr b="1" i="0" lang="en-US" sz="2100" u="none" cap="none" strike="noStrike">
                <a:solidFill>
                  <a:srgbClr val="FFFFFF"/>
                </a:solidFill>
                <a:latin typeface="Helvetica Neue"/>
                <a:ea typeface="Helvetica Neue"/>
                <a:cs typeface="Helvetica Neue"/>
                <a:sym typeface="Helvetica Neue"/>
              </a:rPr>
              <a:t>Tender offer</a:t>
            </a:r>
            <a:endParaRPr b="0" i="0" sz="1400" u="none" cap="none" strike="noStrike">
              <a:solidFill>
                <a:srgbClr val="000000"/>
              </a:solidFill>
              <a:latin typeface="Arial"/>
              <a:ea typeface="Arial"/>
              <a:cs typeface="Arial"/>
              <a:sym typeface="Arial"/>
            </a:endParaRPr>
          </a:p>
        </p:txBody>
      </p:sp>
      <p:sp>
        <p:nvSpPr>
          <p:cNvPr id="147" name="Google Shape;147;p15"/>
          <p:cNvSpPr txBox="1"/>
          <p:nvPr/>
        </p:nvSpPr>
        <p:spPr>
          <a:xfrm>
            <a:off x="4453128" y="8092440"/>
            <a:ext cx="2578500" cy="554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475569"/>
              </a:buClr>
              <a:buSzPts val="1800"/>
              <a:buFont typeface="Helvetica Neue"/>
              <a:buNone/>
            </a:pPr>
            <a:r>
              <a:rPr b="0" i="0" lang="en-US" sz="1800" u="none" cap="none" strike="noStrike">
                <a:solidFill>
                  <a:srgbClr val="475569"/>
                </a:solidFill>
                <a:latin typeface="Helvetica Neue"/>
                <a:ea typeface="Helvetica Neue"/>
                <a:cs typeface="Helvetica Neue"/>
                <a:sym typeface="Helvetica Neue"/>
              </a:rPr>
              <a:t>Buyer bids for shares directly</a:t>
            </a:r>
            <a:endParaRPr b="0" i="0" sz="1400" u="none" cap="none" strike="noStrike">
              <a:solidFill>
                <a:srgbClr val="000000"/>
              </a:solidFill>
              <a:latin typeface="Arial"/>
              <a:ea typeface="Arial"/>
              <a:cs typeface="Arial"/>
              <a:sym typeface="Arial"/>
            </a:endParaRPr>
          </a:p>
        </p:txBody>
      </p:sp>
      <p:sp>
        <p:nvSpPr>
          <p:cNvPr id="148" name="Google Shape;148;p15"/>
          <p:cNvSpPr/>
          <p:nvPr/>
        </p:nvSpPr>
        <p:spPr>
          <a:xfrm>
            <a:off x="7626095" y="7086600"/>
            <a:ext cx="3035700" cy="2057400"/>
          </a:xfrm>
          <a:prstGeom prst="roundRect">
            <a:avLst>
              <a:gd fmla="val 12800" name="adj"/>
            </a:avLst>
          </a:prstGeom>
          <a:solidFill>
            <a:srgbClr val="FFFF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149" name="Google Shape;149;p15"/>
          <p:cNvSpPr/>
          <p:nvPr/>
        </p:nvSpPr>
        <p:spPr>
          <a:xfrm>
            <a:off x="7626095" y="7086599"/>
            <a:ext cx="3035826" cy="777222"/>
          </a:xfrm>
          <a:custGeom>
            <a:rect b="b" l="l" r="r" t="t"/>
            <a:pathLst>
              <a:path extrusionOk="0" h="21600" w="21600">
                <a:moveTo>
                  <a:pt x="1041" y="0"/>
                </a:moveTo>
                <a:lnTo>
                  <a:pt x="20559" y="0"/>
                </a:lnTo>
                <a:cubicBezTo>
                  <a:pt x="21134" y="0"/>
                  <a:pt x="21600" y="1820"/>
                  <a:pt x="21600" y="4066"/>
                </a:cubicBezTo>
                <a:lnTo>
                  <a:pt x="21600" y="21600"/>
                </a:lnTo>
                <a:lnTo>
                  <a:pt x="0" y="21600"/>
                </a:lnTo>
                <a:lnTo>
                  <a:pt x="0" y="4066"/>
                </a:lnTo>
                <a:cubicBezTo>
                  <a:pt x="0" y="1820"/>
                  <a:pt x="466" y="0"/>
                  <a:pt x="1041" y="0"/>
                </a:cubicBezTo>
                <a:close/>
              </a:path>
            </a:pathLst>
          </a:custGeom>
          <a:solidFill>
            <a:srgbClr val="1678A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150" name="Google Shape;150;p15"/>
          <p:cNvSpPr txBox="1"/>
          <p:nvPr/>
        </p:nvSpPr>
        <p:spPr>
          <a:xfrm>
            <a:off x="7626095" y="7313988"/>
            <a:ext cx="3035700" cy="323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2100"/>
              <a:buFont typeface="Helvetica Neue"/>
              <a:buNone/>
            </a:pPr>
            <a:r>
              <a:rPr b="1" i="0" lang="en-US" sz="2100" u="none" cap="none" strike="noStrike">
                <a:solidFill>
                  <a:srgbClr val="FFFFFF"/>
                </a:solidFill>
                <a:latin typeface="Helvetica Neue"/>
                <a:ea typeface="Helvetica Neue"/>
                <a:cs typeface="Helvetica Neue"/>
                <a:sym typeface="Helvetica Neue"/>
              </a:rPr>
              <a:t>Exchange offer</a:t>
            </a:r>
            <a:endParaRPr b="0" i="0" sz="1400" u="none" cap="none" strike="noStrike">
              <a:solidFill>
                <a:srgbClr val="000000"/>
              </a:solidFill>
              <a:latin typeface="Arial"/>
              <a:ea typeface="Arial"/>
              <a:cs typeface="Arial"/>
              <a:sym typeface="Arial"/>
            </a:endParaRPr>
          </a:p>
        </p:txBody>
      </p:sp>
      <p:sp>
        <p:nvSpPr>
          <p:cNvPr id="151" name="Google Shape;151;p15"/>
          <p:cNvSpPr txBox="1"/>
          <p:nvPr/>
        </p:nvSpPr>
        <p:spPr>
          <a:xfrm>
            <a:off x="7854695" y="8092440"/>
            <a:ext cx="2578500" cy="554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475569"/>
              </a:buClr>
              <a:buSzPts val="1800"/>
              <a:buFont typeface="Helvetica Neue"/>
              <a:buNone/>
            </a:pPr>
            <a:r>
              <a:rPr b="0" i="0" lang="en-US" sz="1800" u="none" cap="none" strike="noStrike">
                <a:solidFill>
                  <a:srgbClr val="475569"/>
                </a:solidFill>
                <a:latin typeface="Helvetica Neue"/>
                <a:ea typeface="Helvetica Neue"/>
                <a:cs typeface="Helvetica Neue"/>
                <a:sym typeface="Helvetica Neue"/>
              </a:rPr>
              <a:t>Swap old securities for new</a:t>
            </a:r>
            <a:endParaRPr b="0" i="0" sz="1400" u="none" cap="none" strike="noStrike">
              <a:solidFill>
                <a:srgbClr val="000000"/>
              </a:solidFill>
              <a:latin typeface="Arial"/>
              <a:ea typeface="Arial"/>
              <a:cs typeface="Arial"/>
              <a:sym typeface="Arial"/>
            </a:endParaRPr>
          </a:p>
        </p:txBody>
      </p:sp>
      <p:sp>
        <p:nvSpPr>
          <p:cNvPr id="152" name="Google Shape;152;p15"/>
          <p:cNvSpPr/>
          <p:nvPr/>
        </p:nvSpPr>
        <p:spPr>
          <a:xfrm>
            <a:off x="11027664" y="7086600"/>
            <a:ext cx="3035700" cy="2057400"/>
          </a:xfrm>
          <a:prstGeom prst="roundRect">
            <a:avLst>
              <a:gd fmla="val 12800" name="adj"/>
            </a:avLst>
          </a:prstGeom>
          <a:solidFill>
            <a:srgbClr val="FFFF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153" name="Google Shape;153;p15"/>
          <p:cNvSpPr/>
          <p:nvPr/>
        </p:nvSpPr>
        <p:spPr>
          <a:xfrm>
            <a:off x="11027664" y="7086599"/>
            <a:ext cx="3035826" cy="777222"/>
          </a:xfrm>
          <a:custGeom>
            <a:rect b="b" l="l" r="r" t="t"/>
            <a:pathLst>
              <a:path extrusionOk="0" h="21600" w="21600">
                <a:moveTo>
                  <a:pt x="1041" y="0"/>
                </a:moveTo>
                <a:lnTo>
                  <a:pt x="20559" y="0"/>
                </a:lnTo>
                <a:cubicBezTo>
                  <a:pt x="21134" y="0"/>
                  <a:pt x="21600" y="1820"/>
                  <a:pt x="21600" y="4066"/>
                </a:cubicBezTo>
                <a:lnTo>
                  <a:pt x="21600" y="21600"/>
                </a:lnTo>
                <a:lnTo>
                  <a:pt x="0" y="21600"/>
                </a:lnTo>
                <a:lnTo>
                  <a:pt x="0" y="4066"/>
                </a:lnTo>
                <a:cubicBezTo>
                  <a:pt x="0" y="1820"/>
                  <a:pt x="466" y="0"/>
                  <a:pt x="1041" y="0"/>
                </a:cubicBezTo>
                <a:close/>
              </a:path>
            </a:pathLst>
          </a:custGeom>
          <a:solidFill>
            <a:srgbClr val="0B65A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154" name="Google Shape;154;p15"/>
          <p:cNvSpPr txBox="1"/>
          <p:nvPr/>
        </p:nvSpPr>
        <p:spPr>
          <a:xfrm>
            <a:off x="11027664" y="7313988"/>
            <a:ext cx="3035700" cy="323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2100"/>
              <a:buFont typeface="Helvetica Neue"/>
              <a:buNone/>
            </a:pPr>
            <a:r>
              <a:rPr b="1" i="0" lang="en-US" sz="2100" u="none" cap="none" strike="noStrike">
                <a:solidFill>
                  <a:srgbClr val="FFFFFF"/>
                </a:solidFill>
                <a:latin typeface="Helvetica Neue"/>
                <a:ea typeface="Helvetica Neue"/>
                <a:cs typeface="Helvetica Neue"/>
                <a:sym typeface="Helvetica Neue"/>
              </a:rPr>
              <a:t>Rights issue</a:t>
            </a:r>
            <a:endParaRPr b="0" i="0" sz="1400" u="none" cap="none" strike="noStrike">
              <a:solidFill>
                <a:srgbClr val="000000"/>
              </a:solidFill>
              <a:latin typeface="Arial"/>
              <a:ea typeface="Arial"/>
              <a:cs typeface="Arial"/>
              <a:sym typeface="Arial"/>
            </a:endParaRPr>
          </a:p>
        </p:txBody>
      </p:sp>
      <p:sp>
        <p:nvSpPr>
          <p:cNvPr id="155" name="Google Shape;155;p15"/>
          <p:cNvSpPr txBox="1"/>
          <p:nvPr/>
        </p:nvSpPr>
        <p:spPr>
          <a:xfrm>
            <a:off x="11256264" y="8092440"/>
            <a:ext cx="2578500" cy="554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475569"/>
              </a:buClr>
              <a:buSzPts val="1800"/>
              <a:buFont typeface="Helvetica Neue"/>
              <a:buNone/>
            </a:pPr>
            <a:r>
              <a:rPr b="0" i="0" lang="en-US" sz="1800" u="none" cap="none" strike="noStrike">
                <a:solidFill>
                  <a:srgbClr val="475569"/>
                </a:solidFill>
                <a:latin typeface="Helvetica Neue"/>
                <a:ea typeface="Helvetica Neue"/>
                <a:cs typeface="Helvetica Neue"/>
                <a:sym typeface="Helvetica Neue"/>
              </a:rPr>
              <a:t>Holders may buy new shares</a:t>
            </a:r>
            <a:endParaRPr b="0" i="0" sz="1400" u="none" cap="none" strike="noStrike">
              <a:solidFill>
                <a:srgbClr val="000000"/>
              </a:solidFill>
              <a:latin typeface="Arial"/>
              <a:ea typeface="Arial"/>
              <a:cs typeface="Arial"/>
              <a:sym typeface="Arial"/>
            </a:endParaRPr>
          </a:p>
        </p:txBody>
      </p:sp>
      <p:sp>
        <p:nvSpPr>
          <p:cNvPr id="156" name="Google Shape;156;p15"/>
          <p:cNvSpPr/>
          <p:nvPr/>
        </p:nvSpPr>
        <p:spPr>
          <a:xfrm>
            <a:off x="14429232" y="7086600"/>
            <a:ext cx="3035700" cy="2057400"/>
          </a:xfrm>
          <a:prstGeom prst="roundRect">
            <a:avLst>
              <a:gd fmla="val 12800" name="adj"/>
            </a:avLst>
          </a:prstGeom>
          <a:solidFill>
            <a:srgbClr val="FFFF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157" name="Google Shape;157;p15"/>
          <p:cNvSpPr/>
          <p:nvPr/>
        </p:nvSpPr>
        <p:spPr>
          <a:xfrm>
            <a:off x="14429232" y="7086599"/>
            <a:ext cx="3035826" cy="777222"/>
          </a:xfrm>
          <a:custGeom>
            <a:rect b="b" l="l" r="r" t="t"/>
            <a:pathLst>
              <a:path extrusionOk="0" h="21600" w="21600">
                <a:moveTo>
                  <a:pt x="1041" y="0"/>
                </a:moveTo>
                <a:lnTo>
                  <a:pt x="20559" y="0"/>
                </a:lnTo>
                <a:cubicBezTo>
                  <a:pt x="21134" y="0"/>
                  <a:pt x="21600" y="1820"/>
                  <a:pt x="21600" y="4066"/>
                </a:cubicBezTo>
                <a:lnTo>
                  <a:pt x="21600" y="21600"/>
                </a:lnTo>
                <a:lnTo>
                  <a:pt x="0" y="21600"/>
                </a:lnTo>
                <a:lnTo>
                  <a:pt x="0" y="4066"/>
                </a:lnTo>
                <a:cubicBezTo>
                  <a:pt x="0" y="1820"/>
                  <a:pt x="466" y="0"/>
                  <a:pt x="1041" y="0"/>
                </a:cubicBezTo>
                <a:close/>
              </a:path>
            </a:pathLst>
          </a:custGeom>
          <a:solidFill>
            <a:srgbClr val="00539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158" name="Google Shape;158;p15"/>
          <p:cNvSpPr txBox="1"/>
          <p:nvPr/>
        </p:nvSpPr>
        <p:spPr>
          <a:xfrm>
            <a:off x="14429232" y="7313988"/>
            <a:ext cx="3035700" cy="323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2100"/>
              <a:buFont typeface="Helvetica Neue"/>
              <a:buNone/>
            </a:pPr>
            <a:r>
              <a:rPr b="1" i="0" lang="en-US" sz="2100" u="none" cap="none" strike="noStrike">
                <a:solidFill>
                  <a:srgbClr val="FFFFFF"/>
                </a:solidFill>
                <a:latin typeface="Helvetica Neue"/>
                <a:ea typeface="Helvetica Neue"/>
                <a:cs typeface="Helvetica Neue"/>
                <a:sym typeface="Helvetica Neue"/>
              </a:rPr>
              <a:t>Conversion</a:t>
            </a:r>
            <a:endParaRPr b="0" i="0" sz="1400" u="none" cap="none" strike="noStrike">
              <a:solidFill>
                <a:srgbClr val="000000"/>
              </a:solidFill>
              <a:latin typeface="Arial"/>
              <a:ea typeface="Arial"/>
              <a:cs typeface="Arial"/>
              <a:sym typeface="Arial"/>
            </a:endParaRPr>
          </a:p>
        </p:txBody>
      </p:sp>
      <p:sp>
        <p:nvSpPr>
          <p:cNvPr id="159" name="Google Shape;159;p15"/>
          <p:cNvSpPr txBox="1"/>
          <p:nvPr/>
        </p:nvSpPr>
        <p:spPr>
          <a:xfrm>
            <a:off x="14657832" y="8092440"/>
            <a:ext cx="25785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475569"/>
              </a:buClr>
              <a:buSzPts val="1800"/>
              <a:buFont typeface="Helvetica Neue"/>
              <a:buNone/>
            </a:pPr>
            <a:r>
              <a:rPr b="0" i="0" lang="en-US" sz="1800" u="none" cap="none" strike="noStrike">
                <a:solidFill>
                  <a:srgbClr val="475569"/>
                </a:solidFill>
                <a:latin typeface="Helvetica Neue"/>
                <a:ea typeface="Helvetica Neue"/>
                <a:cs typeface="Helvetica Neue"/>
                <a:sym typeface="Helvetica Neue"/>
              </a:rPr>
              <a:t>Bonds turn into stock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6"/>
          <p:cNvSpPr txBox="1"/>
          <p:nvPr>
            <p:ph type="title"/>
          </p:nvPr>
        </p:nvSpPr>
        <p:spPr>
          <a:xfrm>
            <a:off x="822960" y="960119"/>
            <a:ext cx="16642200" cy="822900"/>
          </a:xfrm>
          <a:prstGeom prst="rect">
            <a:avLst/>
          </a:prstGeom>
          <a:noFill/>
          <a:ln>
            <a:noFill/>
          </a:ln>
        </p:spPr>
        <p:txBody>
          <a:bodyPr anchorCtr="0" anchor="t" bIns="45675" lIns="45675" spcFirstLastPara="1" rIns="45675" wrap="square" tIns="45675">
            <a:normAutofit/>
          </a:bodyPr>
          <a:lstStyle/>
          <a:p>
            <a:pPr indent="0" lvl="0" marL="0" rtl="0" algn="l">
              <a:lnSpc>
                <a:spcPct val="100000"/>
              </a:lnSpc>
              <a:spcBef>
                <a:spcPts val="0"/>
              </a:spcBef>
              <a:spcAft>
                <a:spcPts val="0"/>
              </a:spcAft>
              <a:buClr>
                <a:srgbClr val="04243C"/>
              </a:buClr>
              <a:buSzPts val="3600"/>
              <a:buFont typeface="Helvetica Neue"/>
              <a:buNone/>
            </a:pPr>
            <a:r>
              <a:rPr b="1" lang="en-US" sz="3600">
                <a:solidFill>
                  <a:srgbClr val="04243C"/>
                </a:solidFill>
                <a:latin typeface="Helvetica Neue"/>
                <a:ea typeface="Helvetica Neue"/>
                <a:cs typeface="Helvetica Neue"/>
                <a:sym typeface="Helvetica Neue"/>
              </a:rPr>
              <a:t>Corporate-action filings can run longer than a novel</a:t>
            </a:r>
            <a:endParaRPr/>
          </a:p>
        </p:txBody>
      </p:sp>
      <p:sp>
        <p:nvSpPr>
          <p:cNvPr id="165" name="Google Shape;165;p16"/>
          <p:cNvSpPr txBox="1"/>
          <p:nvPr>
            <p:ph idx="4294967295" type="sldNum"/>
          </p:nvPr>
        </p:nvSpPr>
        <p:spPr>
          <a:xfrm>
            <a:off x="17276204" y="9646919"/>
            <a:ext cx="188700" cy="276900"/>
          </a:xfrm>
          <a:prstGeom prst="rect">
            <a:avLst/>
          </a:prstGeom>
          <a:noFill/>
          <a:ln>
            <a:noFill/>
          </a:ln>
        </p:spPr>
        <p:txBody>
          <a:bodyPr anchorCtr="0" anchor="t" bIns="45675" lIns="45675" spcFirstLastPara="1" rIns="45675" wrap="square" tIns="45675">
            <a:spAutoFit/>
          </a:bodyPr>
          <a:lstStyle/>
          <a:p>
            <a:pPr indent="0" lvl="0" marL="0" rtl="0" algn="r">
              <a:lnSpc>
                <a:spcPct val="100000"/>
              </a:lnSpc>
              <a:spcBef>
                <a:spcPts val="0"/>
              </a:spcBef>
              <a:spcAft>
                <a:spcPts val="0"/>
              </a:spcAft>
              <a:buClr>
                <a:srgbClr val="475569"/>
              </a:buClr>
              <a:buSzPts val="1200"/>
              <a:buFont typeface="Helvetica Neue"/>
              <a:buNone/>
            </a:pPr>
            <a:fld id="{00000000-1234-1234-1234-123412341234}" type="slidenum">
              <a:rPr lang="en-US" sz="1200">
                <a:solidFill>
                  <a:srgbClr val="475569"/>
                </a:solidFill>
                <a:latin typeface="Helvetica Neue"/>
                <a:ea typeface="Helvetica Neue"/>
                <a:cs typeface="Helvetica Neue"/>
                <a:sym typeface="Helvetica Neue"/>
              </a:rPr>
              <a:t>‹#›</a:t>
            </a:fld>
            <a:endParaRPr/>
          </a:p>
        </p:txBody>
      </p:sp>
      <p:sp>
        <p:nvSpPr>
          <p:cNvPr id="166" name="Google Shape;166;p16"/>
          <p:cNvSpPr/>
          <p:nvPr/>
        </p:nvSpPr>
        <p:spPr>
          <a:xfrm>
            <a:off x="822960" y="2194560"/>
            <a:ext cx="10789800" cy="6949500"/>
          </a:xfrm>
          <a:prstGeom prst="roundRect">
            <a:avLst>
              <a:gd fmla="val 2105" name="adj"/>
            </a:avLst>
          </a:prstGeom>
          <a:solidFill>
            <a:srgbClr val="FFFFFF"/>
          </a:solidFill>
          <a:ln>
            <a:noFill/>
          </a:ln>
          <a:effectLst>
            <a:outerShdw blurRad="203200" rotWithShape="0" dir="5400000" dist="50800">
              <a:srgbClr val="0F172A">
                <a:alpha val="1294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pic>
        <p:nvPicPr>
          <p:cNvPr descr="Google Shape;131;p13" id="167" name="Google Shape;167;p16"/>
          <p:cNvPicPr preferRelativeResize="0"/>
          <p:nvPr/>
        </p:nvPicPr>
        <p:blipFill rotWithShape="1">
          <a:blip r:embed="rId3">
            <a:alphaModFix/>
          </a:blip>
          <a:srcRect b="0" l="0" r="0" t="0"/>
          <a:stretch/>
        </p:blipFill>
        <p:spPr>
          <a:xfrm>
            <a:off x="1097280" y="2468878"/>
            <a:ext cx="10241279" cy="6400800"/>
          </a:xfrm>
          <a:prstGeom prst="rect">
            <a:avLst/>
          </a:prstGeom>
          <a:noFill/>
          <a:ln>
            <a:noFill/>
          </a:ln>
        </p:spPr>
      </p:pic>
      <p:grpSp>
        <p:nvGrpSpPr>
          <p:cNvPr id="168" name="Google Shape;168;p16"/>
          <p:cNvGrpSpPr/>
          <p:nvPr/>
        </p:nvGrpSpPr>
        <p:grpSpPr>
          <a:xfrm>
            <a:off x="822960" y="2194560"/>
            <a:ext cx="10789800" cy="6949500"/>
            <a:chOff x="0" y="0"/>
            <a:chExt cx="10789800" cy="6949500"/>
          </a:xfrm>
        </p:grpSpPr>
        <p:sp>
          <p:nvSpPr>
            <p:cNvPr id="169" name="Google Shape;169;p16"/>
            <p:cNvSpPr/>
            <p:nvPr/>
          </p:nvSpPr>
          <p:spPr>
            <a:xfrm>
              <a:off x="0" y="0"/>
              <a:ext cx="10789800" cy="6949500"/>
            </a:xfrm>
            <a:prstGeom prst="roundRect">
              <a:avLst>
                <a:gd fmla="val 2105" name="adj"/>
              </a:avLst>
            </a:prstGeom>
            <a:solidFill>
              <a:srgbClr val="FFFFFF"/>
            </a:solidFill>
            <a:ln>
              <a:noFill/>
            </a:ln>
            <a:effectLst>
              <a:outerShdw blurRad="203200" rotWithShape="0" dir="5400000" dist="50800">
                <a:srgbClr val="0F172A">
                  <a:alpha val="1294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170" name="Google Shape;170;p16"/>
            <p:cNvSpPr txBox="1"/>
            <p:nvPr/>
          </p:nvSpPr>
          <p:spPr>
            <a:xfrm>
              <a:off x="365759" y="274319"/>
              <a:ext cx="9966900" cy="261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1"/>
                </a:buClr>
                <a:buSzPts val="1700"/>
                <a:buFont typeface="Helvetica Neue"/>
                <a:buNone/>
              </a:pPr>
              <a:r>
                <a:rPr b="1" i="0" lang="en-US" sz="1700" u="none" cap="none" strike="noStrike">
                  <a:solidFill>
                    <a:schemeClr val="accent1"/>
                  </a:solidFill>
                  <a:latin typeface="Helvetica Neue"/>
                  <a:ea typeface="Helvetica Neue"/>
                  <a:cs typeface="Helvetica Neue"/>
                  <a:sym typeface="Helvetica Neue"/>
                </a:rPr>
                <a:t>ONE REAL FILING   </a:t>
              </a:r>
              <a:r>
                <a:rPr b="0" i="0" lang="en-US" sz="1700" u="none" cap="none" strike="noStrike">
                  <a:solidFill>
                    <a:srgbClr val="475569"/>
                  </a:solidFill>
                  <a:latin typeface="Helvetica Neue"/>
                  <a:ea typeface="Helvetica Neue"/>
                  <a:cs typeface="Helvetica Neue"/>
                  <a:sym typeface="Helvetica Neue"/>
                </a:rPr>
                <a:t>Eventbrite merger proxy statement (PREM14A)</a:t>
              </a:r>
              <a:endParaRPr b="0" i="0" sz="1400" u="none" cap="none" strike="noStrike">
                <a:solidFill>
                  <a:srgbClr val="000000"/>
                </a:solidFill>
                <a:latin typeface="Arial"/>
                <a:ea typeface="Arial"/>
                <a:cs typeface="Arial"/>
                <a:sym typeface="Arial"/>
              </a:endParaRPr>
            </a:p>
          </p:txBody>
        </p:sp>
        <p:sp>
          <p:nvSpPr>
            <p:cNvPr id="171" name="Google Shape;171;p16"/>
            <p:cNvSpPr/>
            <p:nvPr/>
          </p:nvSpPr>
          <p:spPr>
            <a:xfrm>
              <a:off x="338328" y="841247"/>
              <a:ext cx="2798100" cy="3604800"/>
            </a:xfrm>
            <a:prstGeom prst="roundRect">
              <a:avLst>
                <a:gd fmla="val 980" name="adj"/>
              </a:avLst>
            </a:prstGeom>
            <a:solidFill>
              <a:srgbClr val="FFFFFF"/>
            </a:solidFill>
            <a:ln cap="flat" cmpd="sng" w="12700">
              <a:solidFill>
                <a:srgbClr val="94A3B8"/>
              </a:solidFill>
              <a:prstDash val="solid"/>
              <a:round/>
              <a:headEnd len="sm" w="sm" type="none"/>
              <a:tailEnd len="sm" w="sm" type="none"/>
            </a:ln>
            <a:effectLst>
              <a:outerShdw blurRad="203200" rotWithShape="0" dir="5400000" dist="50800">
                <a:srgbClr val="0F172A">
                  <a:alpha val="1294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pic>
          <p:nvPicPr>
            <p:cNvPr descr="Google Shape;136;p13" id="172" name="Google Shape;172;p16"/>
            <p:cNvPicPr preferRelativeResize="0"/>
            <p:nvPr/>
          </p:nvPicPr>
          <p:blipFill rotWithShape="1">
            <a:blip r:embed="rId4">
              <a:alphaModFix/>
            </a:blip>
            <a:srcRect b="0" l="0" r="0" t="0"/>
            <a:stretch/>
          </p:blipFill>
          <p:spPr>
            <a:xfrm>
              <a:off x="365760" y="868679"/>
              <a:ext cx="2743199" cy="3550022"/>
            </a:xfrm>
            <a:prstGeom prst="rect">
              <a:avLst/>
            </a:prstGeom>
            <a:noFill/>
            <a:ln>
              <a:noFill/>
            </a:ln>
          </p:spPr>
        </p:pic>
        <p:sp>
          <p:nvSpPr>
            <p:cNvPr id="173" name="Google Shape;173;p16"/>
            <p:cNvSpPr/>
            <p:nvPr/>
          </p:nvSpPr>
          <p:spPr>
            <a:xfrm>
              <a:off x="1527048" y="1252727"/>
              <a:ext cx="3118200" cy="4019100"/>
            </a:xfrm>
            <a:prstGeom prst="roundRect">
              <a:avLst>
                <a:gd fmla="val 879" name="adj"/>
              </a:avLst>
            </a:prstGeom>
            <a:solidFill>
              <a:srgbClr val="FFFFFF"/>
            </a:solidFill>
            <a:ln cap="flat" cmpd="sng" w="12700">
              <a:solidFill>
                <a:srgbClr val="94A3B8"/>
              </a:solidFill>
              <a:prstDash val="solid"/>
              <a:round/>
              <a:headEnd len="sm" w="sm" type="none"/>
              <a:tailEnd len="sm" w="sm" type="none"/>
            </a:ln>
            <a:effectLst>
              <a:outerShdw blurRad="203200" rotWithShape="0" dir="5400000" dist="50800">
                <a:srgbClr val="0F172A">
                  <a:alpha val="1294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pic>
          <p:nvPicPr>
            <p:cNvPr descr="Google Shape;138;p13" id="174" name="Google Shape;174;p16"/>
            <p:cNvPicPr preferRelativeResize="0"/>
            <p:nvPr/>
          </p:nvPicPr>
          <p:blipFill rotWithShape="1">
            <a:blip r:embed="rId5">
              <a:alphaModFix/>
            </a:blip>
            <a:srcRect b="0" l="0" r="0" t="0"/>
            <a:stretch/>
          </p:blipFill>
          <p:spPr>
            <a:xfrm>
              <a:off x="1554480" y="1280159"/>
              <a:ext cx="3063242" cy="3964192"/>
            </a:xfrm>
            <a:prstGeom prst="rect">
              <a:avLst/>
            </a:prstGeom>
            <a:noFill/>
            <a:ln>
              <a:noFill/>
            </a:ln>
          </p:spPr>
        </p:pic>
        <p:sp>
          <p:nvSpPr>
            <p:cNvPr id="175" name="Google Shape;175;p16"/>
            <p:cNvSpPr/>
            <p:nvPr/>
          </p:nvSpPr>
          <p:spPr>
            <a:xfrm>
              <a:off x="5138928" y="841247"/>
              <a:ext cx="5312700" cy="4758600"/>
            </a:xfrm>
            <a:prstGeom prst="roundRect">
              <a:avLst>
                <a:gd fmla="val 576" name="adj"/>
              </a:avLst>
            </a:prstGeom>
            <a:solidFill>
              <a:srgbClr val="FFFFFF"/>
            </a:solidFill>
            <a:ln cap="flat" cmpd="sng" w="12700">
              <a:solidFill>
                <a:srgbClr val="94A3B8"/>
              </a:solidFill>
              <a:prstDash val="solid"/>
              <a:round/>
              <a:headEnd len="sm" w="sm" type="none"/>
              <a:tailEnd len="sm" w="sm" type="none"/>
            </a:ln>
            <a:effectLst>
              <a:outerShdw blurRad="203200" rotWithShape="0" dir="5400000" dist="50800">
                <a:srgbClr val="0F172A">
                  <a:alpha val="1294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pic>
          <p:nvPicPr>
            <p:cNvPr descr="Google Shape;140;p13" id="176" name="Google Shape;176;p16"/>
            <p:cNvPicPr preferRelativeResize="0"/>
            <p:nvPr/>
          </p:nvPicPr>
          <p:blipFill rotWithShape="1">
            <a:blip r:embed="rId6">
              <a:alphaModFix/>
            </a:blip>
            <a:srcRect b="0" l="0" r="0" t="0"/>
            <a:stretch/>
          </p:blipFill>
          <p:spPr>
            <a:xfrm>
              <a:off x="5166360" y="868679"/>
              <a:ext cx="5257801" cy="4703807"/>
            </a:xfrm>
            <a:prstGeom prst="rect">
              <a:avLst/>
            </a:prstGeom>
            <a:noFill/>
            <a:ln>
              <a:noFill/>
            </a:ln>
          </p:spPr>
        </p:pic>
        <p:sp>
          <p:nvSpPr>
            <p:cNvPr id="177" name="Google Shape;177;p16"/>
            <p:cNvSpPr/>
            <p:nvPr/>
          </p:nvSpPr>
          <p:spPr>
            <a:xfrm>
              <a:off x="338328" y="5714999"/>
              <a:ext cx="10067400" cy="706500"/>
            </a:xfrm>
            <a:prstGeom prst="roundRect">
              <a:avLst>
                <a:gd fmla="val 3882" name="adj"/>
              </a:avLst>
            </a:prstGeom>
            <a:solidFill>
              <a:srgbClr val="FFFFFF"/>
            </a:solidFill>
            <a:ln cap="flat" cmpd="sng" w="12700">
              <a:solidFill>
                <a:srgbClr val="94A3B8"/>
              </a:solidFill>
              <a:prstDash val="solid"/>
              <a:round/>
              <a:headEnd len="sm" w="sm" type="none"/>
              <a:tailEnd len="sm" w="sm" type="none"/>
            </a:ln>
            <a:effectLst>
              <a:outerShdw blurRad="203200" rotWithShape="0" dir="5400000" dist="50800">
                <a:srgbClr val="0F172A">
                  <a:alpha val="1294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pic>
          <p:nvPicPr>
            <p:cNvPr descr="Google Shape;142;p13" id="178" name="Google Shape;178;p16"/>
            <p:cNvPicPr preferRelativeResize="0"/>
            <p:nvPr/>
          </p:nvPicPr>
          <p:blipFill rotWithShape="1">
            <a:blip r:embed="rId7">
              <a:alphaModFix/>
            </a:blip>
            <a:srcRect b="0" l="0" r="0" t="0"/>
            <a:stretch/>
          </p:blipFill>
          <p:spPr>
            <a:xfrm>
              <a:off x="365760" y="5742431"/>
              <a:ext cx="10012682" cy="651627"/>
            </a:xfrm>
            <a:prstGeom prst="rect">
              <a:avLst/>
            </a:prstGeom>
            <a:noFill/>
            <a:ln>
              <a:noFill/>
            </a:ln>
          </p:spPr>
        </p:pic>
        <p:sp>
          <p:nvSpPr>
            <p:cNvPr id="179" name="Google Shape;179;p16"/>
            <p:cNvSpPr txBox="1"/>
            <p:nvPr/>
          </p:nvSpPr>
          <p:spPr>
            <a:xfrm>
              <a:off x="365759" y="6492239"/>
              <a:ext cx="10012800" cy="261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475569"/>
                </a:buClr>
                <a:buSzPts val="1700"/>
                <a:buFont typeface="Helvetica Neue"/>
                <a:buNone/>
              </a:pPr>
              <a:r>
                <a:rPr b="1" i="0" lang="en-US" sz="1700" u="none" cap="none" strike="noStrike">
                  <a:solidFill>
                    <a:srgbClr val="475569"/>
                  </a:solidFill>
                  <a:latin typeface="Helvetica Neue"/>
                  <a:ea typeface="Helvetica Neue"/>
                  <a:cs typeface="Helvetica Neue"/>
                  <a:sym typeface="Helvetica Neue"/>
                </a:rPr>
                <a:t>~200 pages</a:t>
              </a:r>
              <a:r>
                <a:rPr b="0" i="0" lang="en-US" sz="1700" u="none" cap="none" strike="noStrike">
                  <a:solidFill>
                    <a:srgbClr val="475569"/>
                  </a:solidFill>
                  <a:latin typeface="Helvetica Neue"/>
                  <a:ea typeface="Helvetica Neue"/>
                  <a:cs typeface="Helvetica Neue"/>
                  <a:sym typeface="Helvetica Neue"/>
                </a:rPr>
                <a:t>  </a:t>
              </a:r>
              <a:endParaRPr b="0" i="0" sz="1400" u="none" cap="none" strike="noStrike">
                <a:solidFill>
                  <a:srgbClr val="000000"/>
                </a:solidFill>
                <a:latin typeface="Arial"/>
                <a:ea typeface="Arial"/>
                <a:cs typeface="Arial"/>
                <a:sym typeface="Arial"/>
              </a:endParaRPr>
            </a:p>
          </p:txBody>
        </p:sp>
      </p:grpSp>
      <p:sp>
        <p:nvSpPr>
          <p:cNvPr id="180" name="Google Shape;180;p16"/>
          <p:cNvSpPr/>
          <p:nvPr/>
        </p:nvSpPr>
        <p:spPr>
          <a:xfrm>
            <a:off x="11887200" y="2194560"/>
            <a:ext cx="5577900" cy="6949500"/>
          </a:xfrm>
          <a:prstGeom prst="roundRect">
            <a:avLst>
              <a:gd fmla="val 2622" name="adj"/>
            </a:avLst>
          </a:prstGeom>
          <a:solidFill>
            <a:srgbClr val="FFFFFF"/>
          </a:solidFill>
          <a:ln>
            <a:noFill/>
          </a:ln>
          <a:effectLst>
            <a:outerShdw blurRad="203200" rotWithShape="0" dir="5400000" dist="50800">
              <a:srgbClr val="0F172A">
                <a:alpha val="1294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181" name="Google Shape;181;p16"/>
          <p:cNvSpPr txBox="1"/>
          <p:nvPr/>
        </p:nvSpPr>
        <p:spPr>
          <a:xfrm>
            <a:off x="12252959" y="2560320"/>
            <a:ext cx="4846200" cy="4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2600"/>
              <a:buFont typeface="Helvetica Neue"/>
              <a:buNone/>
            </a:pPr>
            <a:r>
              <a:rPr b="1" i="0" lang="en-US" sz="2600" u="none" cap="none" strike="noStrike">
                <a:solidFill>
                  <a:srgbClr val="04243C"/>
                </a:solidFill>
                <a:latin typeface="Helvetica Neue"/>
                <a:ea typeface="Helvetica Neue"/>
                <a:cs typeface="Helvetica Neue"/>
                <a:sym typeface="Helvetica Neue"/>
              </a:rPr>
              <a:t>Why it is hard</a:t>
            </a:r>
            <a:endParaRPr b="0" i="0" sz="1400" u="none" cap="none" strike="noStrike">
              <a:solidFill>
                <a:srgbClr val="000000"/>
              </a:solidFill>
              <a:latin typeface="Arial"/>
              <a:ea typeface="Arial"/>
              <a:cs typeface="Arial"/>
              <a:sym typeface="Arial"/>
            </a:endParaRPr>
          </a:p>
        </p:txBody>
      </p:sp>
      <p:sp>
        <p:nvSpPr>
          <p:cNvPr id="182" name="Google Shape;182;p16"/>
          <p:cNvSpPr txBox="1"/>
          <p:nvPr/>
        </p:nvSpPr>
        <p:spPr>
          <a:xfrm>
            <a:off x="12252959" y="3566159"/>
            <a:ext cx="4846200" cy="4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1"/>
              </a:buClr>
              <a:buSzPts val="2600"/>
              <a:buFont typeface="Helvetica Neue"/>
              <a:buNone/>
            </a:pPr>
            <a:r>
              <a:rPr b="1" i="0" lang="en-US" sz="2600" u="none" cap="none" strike="noStrike">
                <a:solidFill>
                  <a:schemeClr val="accent1"/>
                </a:solidFill>
                <a:latin typeface="Helvetica Neue"/>
                <a:ea typeface="Helvetica Neue"/>
                <a:cs typeface="Helvetica Neue"/>
                <a:sym typeface="Helvetica Neue"/>
              </a:rPr>
              <a:t>Long</a:t>
            </a:r>
            <a:endParaRPr b="0" i="0" sz="1400" u="none" cap="none" strike="noStrike">
              <a:solidFill>
                <a:srgbClr val="000000"/>
              </a:solidFill>
              <a:latin typeface="Arial"/>
              <a:ea typeface="Arial"/>
              <a:cs typeface="Arial"/>
              <a:sym typeface="Arial"/>
            </a:endParaRPr>
          </a:p>
        </p:txBody>
      </p:sp>
      <p:sp>
        <p:nvSpPr>
          <p:cNvPr id="183" name="Google Shape;183;p16"/>
          <p:cNvSpPr txBox="1"/>
          <p:nvPr/>
        </p:nvSpPr>
        <p:spPr>
          <a:xfrm>
            <a:off x="12252959" y="4160520"/>
            <a:ext cx="4846200" cy="615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475569"/>
              </a:buClr>
              <a:buSzPts val="2000"/>
              <a:buFont typeface="Helvetica Neue"/>
              <a:buNone/>
            </a:pPr>
            <a:r>
              <a:rPr b="0" i="0" lang="en-US" sz="2000" u="none" cap="none" strike="noStrike">
                <a:solidFill>
                  <a:srgbClr val="475569"/>
                </a:solidFill>
                <a:latin typeface="Helvetica Neue"/>
                <a:ea typeface="Helvetica Neue"/>
                <a:cs typeface="Helvetica Neue"/>
                <a:sym typeface="Helvetica Neue"/>
              </a:rPr>
              <a:t>Terms buried in tables, footnotes and annexes</a:t>
            </a:r>
            <a:endParaRPr b="0" i="0" sz="1400" u="none" cap="none" strike="noStrike">
              <a:solidFill>
                <a:srgbClr val="000000"/>
              </a:solidFill>
              <a:latin typeface="Arial"/>
              <a:ea typeface="Arial"/>
              <a:cs typeface="Arial"/>
              <a:sym typeface="Arial"/>
            </a:endParaRPr>
          </a:p>
        </p:txBody>
      </p:sp>
      <p:sp>
        <p:nvSpPr>
          <p:cNvPr id="184" name="Google Shape;184;p16"/>
          <p:cNvSpPr txBox="1"/>
          <p:nvPr/>
        </p:nvSpPr>
        <p:spPr>
          <a:xfrm>
            <a:off x="12252959" y="5394959"/>
            <a:ext cx="4846200" cy="4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1"/>
              </a:buClr>
              <a:buSzPts val="2600"/>
              <a:buFont typeface="Helvetica Neue"/>
              <a:buNone/>
            </a:pPr>
            <a:r>
              <a:rPr b="1" i="0" lang="en-US" sz="2600" u="none" cap="none" strike="noStrike">
                <a:solidFill>
                  <a:schemeClr val="accent1"/>
                </a:solidFill>
                <a:latin typeface="Helvetica Neue"/>
                <a:ea typeface="Helvetica Neue"/>
                <a:cs typeface="Helvetica Neue"/>
                <a:sym typeface="Helvetica Neue"/>
              </a:rPr>
              <a:t>Changing</a:t>
            </a:r>
            <a:endParaRPr b="0" i="0" sz="1400" u="none" cap="none" strike="noStrike">
              <a:solidFill>
                <a:srgbClr val="000000"/>
              </a:solidFill>
              <a:latin typeface="Arial"/>
              <a:ea typeface="Arial"/>
              <a:cs typeface="Arial"/>
              <a:sym typeface="Arial"/>
            </a:endParaRPr>
          </a:p>
        </p:txBody>
      </p:sp>
      <p:sp>
        <p:nvSpPr>
          <p:cNvPr id="185" name="Google Shape;185;p16"/>
          <p:cNvSpPr txBox="1"/>
          <p:nvPr/>
        </p:nvSpPr>
        <p:spPr>
          <a:xfrm>
            <a:off x="12252959" y="5989320"/>
            <a:ext cx="48462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475569"/>
              </a:buClr>
              <a:buSzPts val="2000"/>
              <a:buFont typeface="Helvetica Neue"/>
              <a:buNone/>
            </a:pPr>
            <a:r>
              <a:rPr b="0" i="0" lang="en-US" sz="2000" u="none" cap="none" strike="noStrike">
                <a:solidFill>
                  <a:srgbClr val="475569"/>
                </a:solidFill>
                <a:latin typeface="Helvetica Neue"/>
                <a:ea typeface="Helvetica Neue"/>
                <a:cs typeface="Helvetica Neue"/>
                <a:sym typeface="Helvetica Neue"/>
              </a:rPr>
              <a:t>Amendments revise prices and dates</a:t>
            </a:r>
            <a:endParaRPr b="0" i="0" sz="1400" u="none" cap="none" strike="noStrike">
              <a:solidFill>
                <a:srgbClr val="000000"/>
              </a:solidFill>
              <a:latin typeface="Arial"/>
              <a:ea typeface="Arial"/>
              <a:cs typeface="Arial"/>
              <a:sym typeface="Arial"/>
            </a:endParaRPr>
          </a:p>
        </p:txBody>
      </p:sp>
      <p:sp>
        <p:nvSpPr>
          <p:cNvPr id="186" name="Google Shape;186;p16"/>
          <p:cNvSpPr txBox="1"/>
          <p:nvPr/>
        </p:nvSpPr>
        <p:spPr>
          <a:xfrm>
            <a:off x="12252959" y="7223759"/>
            <a:ext cx="4846200" cy="4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1"/>
              </a:buClr>
              <a:buSzPts val="2600"/>
              <a:buFont typeface="Helvetica Neue"/>
              <a:buNone/>
            </a:pPr>
            <a:r>
              <a:rPr b="1" i="0" lang="en-US" sz="2600" u="none" cap="none" strike="noStrike">
                <a:solidFill>
                  <a:schemeClr val="accent1"/>
                </a:solidFill>
                <a:latin typeface="Helvetica Neue"/>
                <a:ea typeface="Helvetica Neue"/>
                <a:cs typeface="Helvetica Neue"/>
                <a:sym typeface="Helvetica Neue"/>
              </a:rPr>
              <a:t>Ambiguous</a:t>
            </a:r>
            <a:endParaRPr b="0" i="0" sz="1400" u="none" cap="none" strike="noStrike">
              <a:solidFill>
                <a:srgbClr val="000000"/>
              </a:solidFill>
              <a:latin typeface="Arial"/>
              <a:ea typeface="Arial"/>
              <a:cs typeface="Arial"/>
              <a:sym typeface="Arial"/>
            </a:endParaRPr>
          </a:p>
        </p:txBody>
      </p:sp>
      <p:sp>
        <p:nvSpPr>
          <p:cNvPr id="187" name="Google Shape;187;p16"/>
          <p:cNvSpPr txBox="1"/>
          <p:nvPr/>
        </p:nvSpPr>
        <p:spPr>
          <a:xfrm>
            <a:off x="12252959" y="7818119"/>
            <a:ext cx="4846200" cy="615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475569"/>
              </a:buClr>
              <a:buSzPts val="2000"/>
              <a:buFont typeface="Helvetica Neue"/>
              <a:buNone/>
            </a:pPr>
            <a:r>
              <a:rPr b="0" i="0" lang="en-US" sz="2000" u="none" cap="none" strike="noStrike">
                <a:solidFill>
                  <a:srgbClr val="475569"/>
                </a:solidFill>
                <a:latin typeface="Helvetica Neue"/>
                <a:ea typeface="Helvetica Neue"/>
                <a:cs typeface="Helvetica Neue"/>
                <a:sym typeface="Helvetica Neue"/>
              </a:rPr>
              <a:t>Is "$0.01" the offer, a par value or an old bid?</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600"/>
                                        <p:tgtEl>
                                          <p:spTgt spid="168"/>
                                        </p:tgtEl>
                                      </p:cBhvr>
                                    </p:animEffect>
                                    <p:set>
                                      <p:cBhvr>
                                        <p:cTn dur="1" fill="hold">
                                          <p:stCondLst>
                                            <p:cond delay="600"/>
                                          </p:stCondLst>
                                        </p:cTn>
                                        <p:tgtEl>
                                          <p:spTgt spid="16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7"/>
          <p:cNvSpPr txBox="1"/>
          <p:nvPr>
            <p:ph type="title"/>
          </p:nvPr>
        </p:nvSpPr>
        <p:spPr>
          <a:xfrm>
            <a:off x="822960" y="960119"/>
            <a:ext cx="16642200" cy="822900"/>
          </a:xfrm>
          <a:prstGeom prst="rect">
            <a:avLst/>
          </a:prstGeom>
          <a:noFill/>
          <a:ln>
            <a:noFill/>
          </a:ln>
        </p:spPr>
        <p:txBody>
          <a:bodyPr anchorCtr="0" anchor="t" bIns="45675" lIns="45675" spcFirstLastPara="1" rIns="45675" wrap="square" tIns="45675">
            <a:normAutofit/>
          </a:bodyPr>
          <a:lstStyle/>
          <a:p>
            <a:pPr indent="0" lvl="0" marL="0" rtl="0" algn="l">
              <a:lnSpc>
                <a:spcPct val="100000"/>
              </a:lnSpc>
              <a:spcBef>
                <a:spcPts val="0"/>
              </a:spcBef>
              <a:spcAft>
                <a:spcPts val="0"/>
              </a:spcAft>
              <a:buClr>
                <a:srgbClr val="04243C"/>
              </a:buClr>
              <a:buSzPts val="3600"/>
              <a:buFont typeface="Helvetica Neue"/>
              <a:buNone/>
            </a:pPr>
            <a:r>
              <a:rPr b="1" lang="en-US" sz="3600">
                <a:solidFill>
                  <a:srgbClr val="04243C"/>
                </a:solidFill>
                <a:latin typeface="Helvetica Neue"/>
                <a:ea typeface="Helvetica Neue"/>
                <a:cs typeface="Helvetica Neue"/>
                <a:sym typeface="Helvetica Neue"/>
              </a:rPr>
              <a:t>We broke the problem into four connected parts</a:t>
            </a:r>
            <a:endParaRPr/>
          </a:p>
        </p:txBody>
      </p:sp>
      <p:sp>
        <p:nvSpPr>
          <p:cNvPr id="193" name="Google Shape;193;p17"/>
          <p:cNvSpPr txBox="1"/>
          <p:nvPr>
            <p:ph idx="4294967295" type="sldNum"/>
          </p:nvPr>
        </p:nvSpPr>
        <p:spPr>
          <a:xfrm>
            <a:off x="17276204" y="9646919"/>
            <a:ext cx="188700" cy="276900"/>
          </a:xfrm>
          <a:prstGeom prst="rect">
            <a:avLst/>
          </a:prstGeom>
          <a:noFill/>
          <a:ln>
            <a:noFill/>
          </a:ln>
        </p:spPr>
        <p:txBody>
          <a:bodyPr anchorCtr="0" anchor="t" bIns="45675" lIns="45675" spcFirstLastPara="1" rIns="45675" wrap="square" tIns="45675">
            <a:spAutoFit/>
          </a:bodyPr>
          <a:lstStyle/>
          <a:p>
            <a:pPr indent="0" lvl="0" marL="0" rtl="0" algn="r">
              <a:lnSpc>
                <a:spcPct val="100000"/>
              </a:lnSpc>
              <a:spcBef>
                <a:spcPts val="0"/>
              </a:spcBef>
              <a:spcAft>
                <a:spcPts val="0"/>
              </a:spcAft>
              <a:buClr>
                <a:srgbClr val="475569"/>
              </a:buClr>
              <a:buSzPts val="1200"/>
              <a:buFont typeface="Helvetica Neue"/>
              <a:buNone/>
            </a:pPr>
            <a:fld id="{00000000-1234-1234-1234-123412341234}" type="slidenum">
              <a:rPr lang="en-US" sz="1200">
                <a:solidFill>
                  <a:srgbClr val="475569"/>
                </a:solidFill>
                <a:latin typeface="Helvetica Neue"/>
                <a:ea typeface="Helvetica Neue"/>
                <a:cs typeface="Helvetica Neue"/>
                <a:sym typeface="Helvetica Neue"/>
              </a:rPr>
              <a:t>‹#›</a:t>
            </a:fld>
            <a:endParaRPr/>
          </a:p>
        </p:txBody>
      </p:sp>
      <p:sp>
        <p:nvSpPr>
          <p:cNvPr id="194" name="Google Shape;194;p17"/>
          <p:cNvSpPr/>
          <p:nvPr/>
        </p:nvSpPr>
        <p:spPr>
          <a:xfrm>
            <a:off x="822960" y="2286000"/>
            <a:ext cx="3017400" cy="6035100"/>
          </a:xfrm>
          <a:prstGeom prst="roundRect">
            <a:avLst>
              <a:gd fmla="val 8787" name="adj"/>
            </a:avLst>
          </a:prstGeom>
          <a:solidFill>
            <a:srgbClr val="FFFFFF"/>
          </a:solidFill>
          <a:ln>
            <a:noFill/>
          </a:ln>
          <a:effectLst>
            <a:outerShdw blurRad="203200" rotWithShape="0" dir="5400000" dist="50800">
              <a:srgbClr val="0F172A">
                <a:alpha val="1294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17"/>
          <p:cNvSpPr/>
          <p:nvPr/>
        </p:nvSpPr>
        <p:spPr>
          <a:xfrm>
            <a:off x="822959" y="2285999"/>
            <a:ext cx="3017520" cy="1234440"/>
          </a:xfrm>
          <a:custGeom>
            <a:rect b="b" l="l" r="r" t="t"/>
            <a:pathLst>
              <a:path extrusionOk="0" h="21600" w="21600">
                <a:moveTo>
                  <a:pt x="1898" y="0"/>
                </a:moveTo>
                <a:lnTo>
                  <a:pt x="19702" y="0"/>
                </a:lnTo>
                <a:cubicBezTo>
                  <a:pt x="20750" y="0"/>
                  <a:pt x="21600" y="2077"/>
                  <a:pt x="21600" y="4640"/>
                </a:cubicBezTo>
                <a:lnTo>
                  <a:pt x="21600" y="21600"/>
                </a:lnTo>
                <a:lnTo>
                  <a:pt x="0" y="21600"/>
                </a:lnTo>
                <a:lnTo>
                  <a:pt x="0" y="4640"/>
                </a:lnTo>
                <a:cubicBezTo>
                  <a:pt x="0" y="2077"/>
                  <a:pt x="850" y="0"/>
                  <a:pt x="1898" y="0"/>
                </a:cubicBezTo>
                <a:close/>
              </a:path>
            </a:pathLst>
          </a:cu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17"/>
          <p:cNvSpPr/>
          <p:nvPr/>
        </p:nvSpPr>
        <p:spPr>
          <a:xfrm>
            <a:off x="1051560" y="2532888"/>
            <a:ext cx="731400" cy="731400"/>
          </a:xfrm>
          <a:prstGeom prst="ellipse">
            <a:avLst/>
          </a:prstGeom>
          <a:solidFill>
            <a:srgbClr val="04243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Google Shape;162;p14" id="197" name="Google Shape;197;p17"/>
          <p:cNvPicPr preferRelativeResize="0"/>
          <p:nvPr/>
        </p:nvPicPr>
        <p:blipFill rotWithShape="1">
          <a:blip r:embed="rId3">
            <a:alphaModFix/>
          </a:blip>
          <a:srcRect b="0" l="0" r="0" t="0"/>
          <a:stretch/>
        </p:blipFill>
        <p:spPr>
          <a:xfrm>
            <a:off x="1225296" y="2706623"/>
            <a:ext cx="384049" cy="384049"/>
          </a:xfrm>
          <a:prstGeom prst="rect">
            <a:avLst/>
          </a:prstGeom>
          <a:noFill/>
          <a:ln>
            <a:noFill/>
          </a:ln>
        </p:spPr>
      </p:pic>
      <p:sp>
        <p:nvSpPr>
          <p:cNvPr id="198" name="Google Shape;198;p17"/>
          <p:cNvSpPr txBox="1"/>
          <p:nvPr/>
        </p:nvSpPr>
        <p:spPr>
          <a:xfrm>
            <a:off x="1920239" y="2735822"/>
            <a:ext cx="1828800" cy="338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200"/>
              <a:buFont typeface="Helvetica Neue"/>
              <a:buNone/>
            </a:pPr>
            <a:r>
              <a:rPr b="1" i="0" lang="en-US" sz="2200" u="none" cap="none" strike="noStrike">
                <a:solidFill>
                  <a:srgbClr val="FFFFFF"/>
                </a:solidFill>
                <a:latin typeface="Helvetica Neue"/>
                <a:ea typeface="Helvetica Neue"/>
                <a:cs typeface="Helvetica Neue"/>
                <a:sym typeface="Helvetica Neue"/>
              </a:rPr>
              <a:t>Data</a:t>
            </a:r>
            <a:endParaRPr b="0" i="0" sz="1400" u="none" cap="none" strike="noStrike">
              <a:solidFill>
                <a:srgbClr val="000000"/>
              </a:solidFill>
              <a:latin typeface="Arial"/>
              <a:ea typeface="Arial"/>
              <a:cs typeface="Arial"/>
              <a:sym typeface="Arial"/>
            </a:endParaRPr>
          </a:p>
        </p:txBody>
      </p:sp>
      <p:sp>
        <p:nvSpPr>
          <p:cNvPr id="199" name="Google Shape;199;p17"/>
          <p:cNvSpPr txBox="1"/>
          <p:nvPr/>
        </p:nvSpPr>
        <p:spPr>
          <a:xfrm>
            <a:off x="1097280" y="3840479"/>
            <a:ext cx="2469000" cy="585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475569"/>
              </a:buClr>
              <a:buSzPts val="1900"/>
              <a:buFont typeface="Helvetica Neue"/>
              <a:buNone/>
            </a:pPr>
            <a:r>
              <a:rPr b="0" i="1" lang="en-US" sz="1900" u="none" cap="none" strike="noStrike">
                <a:solidFill>
                  <a:srgbClr val="475569"/>
                </a:solidFill>
                <a:latin typeface="Helvetica Neue"/>
                <a:ea typeface="Helvetica Neue"/>
                <a:cs typeface="Helvetica Neue"/>
                <a:sym typeface="Helvetica Neue"/>
              </a:rPr>
              <a:t>Which filings, and their full text?</a:t>
            </a:r>
            <a:endParaRPr b="0" i="0" sz="1400" u="none" cap="none" strike="noStrike">
              <a:solidFill>
                <a:srgbClr val="000000"/>
              </a:solidFill>
              <a:latin typeface="Arial"/>
              <a:ea typeface="Arial"/>
              <a:cs typeface="Arial"/>
              <a:sym typeface="Arial"/>
            </a:endParaRPr>
          </a:p>
        </p:txBody>
      </p:sp>
      <p:sp>
        <p:nvSpPr>
          <p:cNvPr id="200" name="Google Shape;200;p17"/>
          <p:cNvSpPr txBox="1"/>
          <p:nvPr/>
        </p:nvSpPr>
        <p:spPr>
          <a:xfrm>
            <a:off x="1097280" y="5943599"/>
            <a:ext cx="24690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1"/>
              </a:buClr>
              <a:buSzPts val="1400"/>
              <a:buFont typeface="Helvetica Neue"/>
              <a:buNone/>
            </a:pPr>
            <a:r>
              <a:rPr b="1" i="0" lang="en-US" sz="1400" u="none" cap="none" strike="noStrike">
                <a:solidFill>
                  <a:schemeClr val="accent1"/>
                </a:solidFill>
                <a:latin typeface="Helvetica Neue"/>
                <a:ea typeface="Helvetica Neue"/>
                <a:cs typeface="Helvetica Neue"/>
                <a:sym typeface="Helvetica Neue"/>
              </a:rPr>
              <a:t>HOW WE TACKLE IT</a:t>
            </a:r>
            <a:endParaRPr b="0" i="0" sz="1400" u="none" cap="none" strike="noStrike">
              <a:solidFill>
                <a:srgbClr val="000000"/>
              </a:solidFill>
              <a:latin typeface="Arial"/>
              <a:ea typeface="Arial"/>
              <a:cs typeface="Arial"/>
              <a:sym typeface="Arial"/>
            </a:endParaRPr>
          </a:p>
        </p:txBody>
      </p:sp>
      <p:sp>
        <p:nvSpPr>
          <p:cNvPr id="201" name="Google Shape;201;p17"/>
          <p:cNvSpPr txBox="1"/>
          <p:nvPr/>
        </p:nvSpPr>
        <p:spPr>
          <a:xfrm>
            <a:off x="1097280" y="6355079"/>
            <a:ext cx="24690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2000"/>
              <a:buFont typeface="Helvetica Neue"/>
              <a:buNone/>
            </a:pPr>
            <a:r>
              <a:rPr b="1" i="0" lang="en-US" sz="2000" u="none" cap="none" strike="noStrike">
                <a:solidFill>
                  <a:srgbClr val="04243C"/>
                </a:solidFill>
                <a:latin typeface="Helvetica Neue"/>
                <a:ea typeface="Helvetica Neue"/>
                <a:cs typeface="Helvetica Neue"/>
                <a:sym typeface="Helvetica Neue"/>
              </a:rPr>
              <a:t>Search and load SEC filings for all 5 types</a:t>
            </a:r>
            <a:endParaRPr b="0" i="0" sz="1400" u="none" cap="none" strike="noStrike">
              <a:solidFill>
                <a:srgbClr val="000000"/>
              </a:solidFill>
              <a:latin typeface="Arial"/>
              <a:ea typeface="Arial"/>
              <a:cs typeface="Arial"/>
              <a:sym typeface="Arial"/>
            </a:endParaRPr>
          </a:p>
        </p:txBody>
      </p:sp>
      <p:cxnSp>
        <p:nvCxnSpPr>
          <p:cNvPr id="202" name="Google Shape;202;p17"/>
          <p:cNvCxnSpPr/>
          <p:nvPr/>
        </p:nvCxnSpPr>
        <p:spPr>
          <a:xfrm>
            <a:off x="3886199" y="2903220"/>
            <a:ext cx="292500" cy="0"/>
          </a:xfrm>
          <a:prstGeom prst="straightConnector1">
            <a:avLst/>
          </a:prstGeom>
          <a:noFill/>
          <a:ln cap="flat" cmpd="sng" w="25400">
            <a:solidFill>
              <a:schemeClr val="accent1"/>
            </a:solidFill>
            <a:prstDash val="solid"/>
            <a:round/>
            <a:headEnd len="sm" w="sm" type="none"/>
            <a:tailEnd len="med" w="med" type="triangle"/>
          </a:ln>
        </p:spPr>
      </p:cxnSp>
      <p:sp>
        <p:nvSpPr>
          <p:cNvPr id="203" name="Google Shape;203;p17"/>
          <p:cNvSpPr/>
          <p:nvPr/>
        </p:nvSpPr>
        <p:spPr>
          <a:xfrm>
            <a:off x="4224528" y="2286000"/>
            <a:ext cx="3017400" cy="6035100"/>
          </a:xfrm>
          <a:prstGeom prst="roundRect">
            <a:avLst>
              <a:gd fmla="val 8787" name="adj"/>
            </a:avLst>
          </a:prstGeom>
          <a:solidFill>
            <a:srgbClr val="FFFFFF"/>
          </a:solidFill>
          <a:ln>
            <a:noFill/>
          </a:ln>
          <a:effectLst>
            <a:outerShdw blurRad="203200" rotWithShape="0" dir="5400000" dist="50800">
              <a:srgbClr val="0F172A">
                <a:alpha val="1294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17"/>
          <p:cNvSpPr/>
          <p:nvPr/>
        </p:nvSpPr>
        <p:spPr>
          <a:xfrm>
            <a:off x="4224528" y="2285999"/>
            <a:ext cx="3017520" cy="1234440"/>
          </a:xfrm>
          <a:custGeom>
            <a:rect b="b" l="l" r="r" t="t"/>
            <a:pathLst>
              <a:path extrusionOk="0" h="21600" w="21600">
                <a:moveTo>
                  <a:pt x="1898" y="0"/>
                </a:moveTo>
                <a:lnTo>
                  <a:pt x="19702" y="0"/>
                </a:lnTo>
                <a:cubicBezTo>
                  <a:pt x="20750" y="0"/>
                  <a:pt x="21600" y="2077"/>
                  <a:pt x="21600" y="4640"/>
                </a:cubicBezTo>
                <a:lnTo>
                  <a:pt x="21600" y="21600"/>
                </a:lnTo>
                <a:lnTo>
                  <a:pt x="0" y="21600"/>
                </a:lnTo>
                <a:lnTo>
                  <a:pt x="0" y="4640"/>
                </a:lnTo>
                <a:cubicBezTo>
                  <a:pt x="0" y="2077"/>
                  <a:pt x="850" y="0"/>
                  <a:pt x="1898" y="0"/>
                </a:cubicBezTo>
                <a:close/>
              </a:path>
            </a:pathLst>
          </a:custGeom>
          <a:solidFill>
            <a:srgbClr val="1D84A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17"/>
          <p:cNvSpPr/>
          <p:nvPr/>
        </p:nvSpPr>
        <p:spPr>
          <a:xfrm>
            <a:off x="4453128" y="2532888"/>
            <a:ext cx="731400" cy="731400"/>
          </a:xfrm>
          <a:prstGeom prst="ellipse">
            <a:avLst/>
          </a:prstGeom>
          <a:solidFill>
            <a:srgbClr val="04243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Google Shape;171;p14" id="206" name="Google Shape;206;p17"/>
          <p:cNvPicPr preferRelativeResize="0"/>
          <p:nvPr/>
        </p:nvPicPr>
        <p:blipFill rotWithShape="1">
          <a:blip r:embed="rId4">
            <a:alphaModFix/>
          </a:blip>
          <a:srcRect b="0" l="0" r="0" t="0"/>
          <a:stretch/>
        </p:blipFill>
        <p:spPr>
          <a:xfrm>
            <a:off x="4626864" y="2706623"/>
            <a:ext cx="384049" cy="384049"/>
          </a:xfrm>
          <a:prstGeom prst="rect">
            <a:avLst/>
          </a:prstGeom>
          <a:noFill/>
          <a:ln>
            <a:noFill/>
          </a:ln>
        </p:spPr>
      </p:pic>
      <p:sp>
        <p:nvSpPr>
          <p:cNvPr id="207" name="Google Shape;207;p17"/>
          <p:cNvSpPr txBox="1"/>
          <p:nvPr/>
        </p:nvSpPr>
        <p:spPr>
          <a:xfrm>
            <a:off x="5321808" y="2735822"/>
            <a:ext cx="1828800" cy="338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200"/>
              <a:buFont typeface="Helvetica Neue"/>
              <a:buNone/>
            </a:pPr>
            <a:r>
              <a:rPr b="1" i="0" lang="en-US" sz="2200" u="none" cap="none" strike="noStrike">
                <a:solidFill>
                  <a:srgbClr val="FFFFFF"/>
                </a:solidFill>
                <a:latin typeface="Helvetica Neue"/>
                <a:ea typeface="Helvetica Neue"/>
                <a:cs typeface="Helvetica Neue"/>
                <a:sym typeface="Helvetica Neue"/>
              </a:rPr>
              <a:t>Extraction</a:t>
            </a:r>
            <a:endParaRPr b="0" i="0" sz="1400" u="none" cap="none" strike="noStrike">
              <a:solidFill>
                <a:srgbClr val="000000"/>
              </a:solidFill>
              <a:latin typeface="Arial"/>
              <a:ea typeface="Arial"/>
              <a:cs typeface="Arial"/>
              <a:sym typeface="Arial"/>
            </a:endParaRPr>
          </a:p>
        </p:txBody>
      </p:sp>
      <p:sp>
        <p:nvSpPr>
          <p:cNvPr id="208" name="Google Shape;208;p17"/>
          <p:cNvSpPr txBox="1"/>
          <p:nvPr/>
        </p:nvSpPr>
        <p:spPr>
          <a:xfrm>
            <a:off x="4498847" y="3840479"/>
            <a:ext cx="2469000" cy="585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475569"/>
              </a:buClr>
              <a:buSzPts val="1900"/>
              <a:buFont typeface="Helvetica Neue"/>
              <a:buNone/>
            </a:pPr>
            <a:r>
              <a:rPr b="0" i="1" lang="en-US" sz="1900" u="none" cap="none" strike="noStrike">
                <a:solidFill>
                  <a:srgbClr val="475569"/>
                </a:solidFill>
                <a:latin typeface="Helvetica Neue"/>
                <a:ea typeface="Helvetica Neue"/>
                <a:cs typeface="Helvetica Neue"/>
                <a:sym typeface="Helvetica Neue"/>
              </a:rPr>
              <a:t>Which values, and where?</a:t>
            </a:r>
            <a:endParaRPr b="0" i="0" sz="1400" u="none" cap="none" strike="noStrike">
              <a:solidFill>
                <a:srgbClr val="000000"/>
              </a:solidFill>
              <a:latin typeface="Arial"/>
              <a:ea typeface="Arial"/>
              <a:cs typeface="Arial"/>
              <a:sym typeface="Arial"/>
            </a:endParaRPr>
          </a:p>
        </p:txBody>
      </p:sp>
      <p:sp>
        <p:nvSpPr>
          <p:cNvPr id="209" name="Google Shape;209;p17"/>
          <p:cNvSpPr txBox="1"/>
          <p:nvPr/>
        </p:nvSpPr>
        <p:spPr>
          <a:xfrm>
            <a:off x="4498847" y="5943599"/>
            <a:ext cx="24690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1"/>
              </a:buClr>
              <a:buSzPts val="1400"/>
              <a:buFont typeface="Helvetica Neue"/>
              <a:buNone/>
            </a:pPr>
            <a:r>
              <a:rPr b="1" i="0" lang="en-US" sz="1400" u="none" cap="none" strike="noStrike">
                <a:solidFill>
                  <a:schemeClr val="accent1"/>
                </a:solidFill>
                <a:latin typeface="Helvetica Neue"/>
                <a:ea typeface="Helvetica Neue"/>
                <a:cs typeface="Helvetica Neue"/>
                <a:sym typeface="Helvetica Neue"/>
              </a:rPr>
              <a:t>HOW WE TACKLE IT</a:t>
            </a:r>
            <a:endParaRPr b="0" i="0" sz="1400" u="none" cap="none" strike="noStrike">
              <a:solidFill>
                <a:srgbClr val="000000"/>
              </a:solidFill>
              <a:latin typeface="Arial"/>
              <a:ea typeface="Arial"/>
              <a:cs typeface="Arial"/>
              <a:sym typeface="Arial"/>
            </a:endParaRPr>
          </a:p>
        </p:txBody>
      </p:sp>
      <p:sp>
        <p:nvSpPr>
          <p:cNvPr id="210" name="Google Shape;210;p17"/>
          <p:cNvSpPr txBox="1"/>
          <p:nvPr/>
        </p:nvSpPr>
        <p:spPr>
          <a:xfrm>
            <a:off x="4498847" y="6355079"/>
            <a:ext cx="2469000" cy="615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2000"/>
              <a:buFont typeface="Helvetica Neue"/>
              <a:buNone/>
            </a:pPr>
            <a:r>
              <a:rPr b="1" i="0" lang="en-US" sz="2000" u="none" cap="none" strike="noStrike">
                <a:solidFill>
                  <a:srgbClr val="04243C"/>
                </a:solidFill>
                <a:latin typeface="Helvetica Neue"/>
                <a:ea typeface="Helvetica Neue"/>
                <a:cs typeface="Helvetica Neue"/>
                <a:sym typeface="Helvetica Neue"/>
              </a:rPr>
              <a:t>Pull each value with the quote behind it</a:t>
            </a:r>
            <a:endParaRPr b="0" i="0" sz="1400" u="none" cap="none" strike="noStrike">
              <a:solidFill>
                <a:srgbClr val="000000"/>
              </a:solidFill>
              <a:latin typeface="Arial"/>
              <a:ea typeface="Arial"/>
              <a:cs typeface="Arial"/>
              <a:sym typeface="Arial"/>
            </a:endParaRPr>
          </a:p>
        </p:txBody>
      </p:sp>
      <p:cxnSp>
        <p:nvCxnSpPr>
          <p:cNvPr id="211" name="Google Shape;211;p17"/>
          <p:cNvCxnSpPr/>
          <p:nvPr/>
        </p:nvCxnSpPr>
        <p:spPr>
          <a:xfrm>
            <a:off x="7287768" y="2903220"/>
            <a:ext cx="292500" cy="0"/>
          </a:xfrm>
          <a:prstGeom prst="straightConnector1">
            <a:avLst/>
          </a:prstGeom>
          <a:noFill/>
          <a:ln cap="flat" cmpd="sng" w="25400">
            <a:solidFill>
              <a:schemeClr val="accent1"/>
            </a:solidFill>
            <a:prstDash val="solid"/>
            <a:round/>
            <a:headEnd len="sm" w="sm" type="none"/>
            <a:tailEnd len="med" w="med" type="triangle"/>
          </a:ln>
        </p:spPr>
      </p:cxnSp>
      <p:sp>
        <p:nvSpPr>
          <p:cNvPr id="212" name="Google Shape;212;p17"/>
          <p:cNvSpPr/>
          <p:nvPr/>
        </p:nvSpPr>
        <p:spPr>
          <a:xfrm>
            <a:off x="7626095" y="2286000"/>
            <a:ext cx="3017400" cy="6035100"/>
          </a:xfrm>
          <a:prstGeom prst="roundRect">
            <a:avLst>
              <a:gd fmla="val 8787" name="adj"/>
            </a:avLst>
          </a:prstGeom>
          <a:solidFill>
            <a:srgbClr val="FFFFFF"/>
          </a:solidFill>
          <a:ln>
            <a:noFill/>
          </a:ln>
          <a:effectLst>
            <a:outerShdw blurRad="203200" rotWithShape="0" dir="5400000" dist="50800">
              <a:srgbClr val="0F172A">
                <a:alpha val="1294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17"/>
          <p:cNvSpPr/>
          <p:nvPr/>
        </p:nvSpPr>
        <p:spPr>
          <a:xfrm>
            <a:off x="7626095" y="2285999"/>
            <a:ext cx="3017520" cy="1234440"/>
          </a:xfrm>
          <a:custGeom>
            <a:rect b="b" l="l" r="r" t="t"/>
            <a:pathLst>
              <a:path extrusionOk="0" h="21600" w="21600">
                <a:moveTo>
                  <a:pt x="1898" y="0"/>
                </a:moveTo>
                <a:lnTo>
                  <a:pt x="19702" y="0"/>
                </a:lnTo>
                <a:cubicBezTo>
                  <a:pt x="20750" y="0"/>
                  <a:pt x="21600" y="2077"/>
                  <a:pt x="21600" y="4640"/>
                </a:cubicBezTo>
                <a:lnTo>
                  <a:pt x="21600" y="21600"/>
                </a:lnTo>
                <a:lnTo>
                  <a:pt x="0" y="21600"/>
                </a:lnTo>
                <a:lnTo>
                  <a:pt x="0" y="4640"/>
                </a:lnTo>
                <a:cubicBezTo>
                  <a:pt x="0" y="2077"/>
                  <a:pt x="850" y="0"/>
                  <a:pt x="1898" y="0"/>
                </a:cubicBezTo>
                <a:close/>
              </a:path>
            </a:pathLst>
          </a:custGeom>
          <a:solidFill>
            <a:srgbClr val="0E6BA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17"/>
          <p:cNvSpPr/>
          <p:nvPr/>
        </p:nvSpPr>
        <p:spPr>
          <a:xfrm>
            <a:off x="7854695" y="2532888"/>
            <a:ext cx="731400" cy="731400"/>
          </a:xfrm>
          <a:prstGeom prst="ellipse">
            <a:avLst/>
          </a:prstGeom>
          <a:solidFill>
            <a:srgbClr val="04243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Google Shape;180;p14" id="215" name="Google Shape;215;p17"/>
          <p:cNvPicPr preferRelativeResize="0"/>
          <p:nvPr/>
        </p:nvPicPr>
        <p:blipFill rotWithShape="1">
          <a:blip r:embed="rId5">
            <a:alphaModFix/>
          </a:blip>
          <a:srcRect b="0" l="0" r="0" t="0"/>
          <a:stretch/>
        </p:blipFill>
        <p:spPr>
          <a:xfrm>
            <a:off x="8028430" y="2706623"/>
            <a:ext cx="384049" cy="384049"/>
          </a:xfrm>
          <a:prstGeom prst="rect">
            <a:avLst/>
          </a:prstGeom>
          <a:noFill/>
          <a:ln>
            <a:noFill/>
          </a:ln>
        </p:spPr>
      </p:pic>
      <p:sp>
        <p:nvSpPr>
          <p:cNvPr id="216" name="Google Shape;216;p17"/>
          <p:cNvSpPr txBox="1"/>
          <p:nvPr/>
        </p:nvSpPr>
        <p:spPr>
          <a:xfrm>
            <a:off x="8723376" y="2735822"/>
            <a:ext cx="1828800" cy="338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200"/>
              <a:buFont typeface="Helvetica Neue"/>
              <a:buNone/>
            </a:pPr>
            <a:r>
              <a:rPr b="1" i="0" lang="en-US" sz="2200" u="none" cap="none" strike="noStrike">
                <a:solidFill>
                  <a:srgbClr val="FFFFFF"/>
                </a:solidFill>
                <a:latin typeface="Helvetica Neue"/>
                <a:ea typeface="Helvetica Neue"/>
                <a:cs typeface="Helvetica Neue"/>
                <a:sym typeface="Helvetica Neue"/>
              </a:rPr>
              <a:t>Evaluation</a:t>
            </a:r>
            <a:endParaRPr b="0" i="0" sz="1400" u="none" cap="none" strike="noStrike">
              <a:solidFill>
                <a:srgbClr val="000000"/>
              </a:solidFill>
              <a:latin typeface="Arial"/>
              <a:ea typeface="Arial"/>
              <a:cs typeface="Arial"/>
              <a:sym typeface="Arial"/>
            </a:endParaRPr>
          </a:p>
        </p:txBody>
      </p:sp>
      <p:sp>
        <p:nvSpPr>
          <p:cNvPr id="217" name="Google Shape;217;p17"/>
          <p:cNvSpPr txBox="1"/>
          <p:nvPr/>
        </p:nvSpPr>
        <p:spPr>
          <a:xfrm>
            <a:off x="7900416" y="3840479"/>
            <a:ext cx="2469000" cy="292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475569"/>
              </a:buClr>
              <a:buSzPts val="1900"/>
              <a:buFont typeface="Helvetica Neue"/>
              <a:buNone/>
            </a:pPr>
            <a:r>
              <a:rPr b="0" i="1" lang="en-US" sz="1900" u="none" cap="none" strike="noStrike">
                <a:solidFill>
                  <a:srgbClr val="475569"/>
                </a:solidFill>
                <a:latin typeface="Helvetica Neue"/>
                <a:ea typeface="Helvetica Neue"/>
                <a:cs typeface="Helvetica Neue"/>
                <a:sym typeface="Helvetica Neue"/>
              </a:rPr>
              <a:t>Is each value right?</a:t>
            </a:r>
            <a:endParaRPr b="0" i="0" sz="1400" u="none" cap="none" strike="noStrike">
              <a:solidFill>
                <a:srgbClr val="000000"/>
              </a:solidFill>
              <a:latin typeface="Arial"/>
              <a:ea typeface="Arial"/>
              <a:cs typeface="Arial"/>
              <a:sym typeface="Arial"/>
            </a:endParaRPr>
          </a:p>
        </p:txBody>
      </p:sp>
      <p:sp>
        <p:nvSpPr>
          <p:cNvPr id="218" name="Google Shape;218;p17"/>
          <p:cNvSpPr txBox="1"/>
          <p:nvPr/>
        </p:nvSpPr>
        <p:spPr>
          <a:xfrm>
            <a:off x="7900416" y="5943599"/>
            <a:ext cx="24690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1"/>
              </a:buClr>
              <a:buSzPts val="1400"/>
              <a:buFont typeface="Helvetica Neue"/>
              <a:buNone/>
            </a:pPr>
            <a:r>
              <a:rPr b="1" i="0" lang="en-US" sz="1400" u="none" cap="none" strike="noStrike">
                <a:solidFill>
                  <a:schemeClr val="accent1"/>
                </a:solidFill>
                <a:latin typeface="Helvetica Neue"/>
                <a:ea typeface="Helvetica Neue"/>
                <a:cs typeface="Helvetica Neue"/>
                <a:sym typeface="Helvetica Neue"/>
              </a:rPr>
              <a:t>HOW WE TACKLE IT</a:t>
            </a:r>
            <a:endParaRPr b="0" i="0" sz="1400" u="none" cap="none" strike="noStrike">
              <a:solidFill>
                <a:srgbClr val="000000"/>
              </a:solidFill>
              <a:latin typeface="Arial"/>
              <a:ea typeface="Arial"/>
              <a:cs typeface="Arial"/>
              <a:sym typeface="Arial"/>
            </a:endParaRPr>
          </a:p>
        </p:txBody>
      </p:sp>
      <p:sp>
        <p:nvSpPr>
          <p:cNvPr id="219" name="Google Shape;219;p17"/>
          <p:cNvSpPr txBox="1"/>
          <p:nvPr/>
        </p:nvSpPr>
        <p:spPr>
          <a:xfrm>
            <a:off x="7900416" y="6355079"/>
            <a:ext cx="24690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2000"/>
              <a:buFont typeface="Helvetica Neue"/>
              <a:buNone/>
            </a:pPr>
            <a:r>
              <a:rPr b="1" i="0" lang="en-US" sz="2000" u="none" cap="none" strike="noStrike">
                <a:solidFill>
                  <a:srgbClr val="04243C"/>
                </a:solidFill>
                <a:latin typeface="Helvetica Neue"/>
                <a:ea typeface="Helvetica Neue"/>
                <a:cs typeface="Helvetica Neue"/>
                <a:sym typeface="Helvetica Neue"/>
              </a:rPr>
              <a:t>Compare against a reference set from the same filings</a:t>
            </a:r>
            <a:endParaRPr b="0" i="0" sz="1400" u="none" cap="none" strike="noStrike">
              <a:solidFill>
                <a:srgbClr val="000000"/>
              </a:solidFill>
              <a:latin typeface="Arial"/>
              <a:ea typeface="Arial"/>
              <a:cs typeface="Arial"/>
              <a:sym typeface="Arial"/>
            </a:endParaRPr>
          </a:p>
        </p:txBody>
      </p:sp>
      <p:cxnSp>
        <p:nvCxnSpPr>
          <p:cNvPr id="220" name="Google Shape;220;p17"/>
          <p:cNvCxnSpPr/>
          <p:nvPr/>
        </p:nvCxnSpPr>
        <p:spPr>
          <a:xfrm>
            <a:off x="10689335" y="2903220"/>
            <a:ext cx="292500" cy="0"/>
          </a:xfrm>
          <a:prstGeom prst="straightConnector1">
            <a:avLst/>
          </a:prstGeom>
          <a:noFill/>
          <a:ln cap="flat" cmpd="sng" w="25400">
            <a:solidFill>
              <a:schemeClr val="accent1"/>
            </a:solidFill>
            <a:prstDash val="solid"/>
            <a:round/>
            <a:headEnd len="sm" w="sm" type="none"/>
            <a:tailEnd len="med" w="med" type="triangle"/>
          </a:ln>
        </p:spPr>
      </p:cxnSp>
      <p:sp>
        <p:nvSpPr>
          <p:cNvPr id="221" name="Google Shape;221;p17"/>
          <p:cNvSpPr/>
          <p:nvPr/>
        </p:nvSpPr>
        <p:spPr>
          <a:xfrm>
            <a:off x="11027664" y="2286000"/>
            <a:ext cx="3017400" cy="6035100"/>
          </a:xfrm>
          <a:prstGeom prst="roundRect">
            <a:avLst>
              <a:gd fmla="val 8787" name="adj"/>
            </a:avLst>
          </a:prstGeom>
          <a:solidFill>
            <a:srgbClr val="FFFFFF"/>
          </a:solidFill>
          <a:ln>
            <a:noFill/>
          </a:ln>
          <a:effectLst>
            <a:outerShdw blurRad="203200" rotWithShape="0" dir="5400000" dist="50800">
              <a:srgbClr val="0F172A">
                <a:alpha val="1294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17"/>
          <p:cNvSpPr/>
          <p:nvPr/>
        </p:nvSpPr>
        <p:spPr>
          <a:xfrm>
            <a:off x="11027664" y="2285999"/>
            <a:ext cx="3017520" cy="1234440"/>
          </a:xfrm>
          <a:custGeom>
            <a:rect b="b" l="l" r="r" t="t"/>
            <a:pathLst>
              <a:path extrusionOk="0" h="21600" w="21600">
                <a:moveTo>
                  <a:pt x="1898" y="0"/>
                </a:moveTo>
                <a:lnTo>
                  <a:pt x="19702" y="0"/>
                </a:lnTo>
                <a:cubicBezTo>
                  <a:pt x="20750" y="0"/>
                  <a:pt x="21600" y="2077"/>
                  <a:pt x="21600" y="4640"/>
                </a:cubicBezTo>
                <a:lnTo>
                  <a:pt x="21600" y="21600"/>
                </a:lnTo>
                <a:lnTo>
                  <a:pt x="0" y="21600"/>
                </a:lnTo>
                <a:lnTo>
                  <a:pt x="0" y="4640"/>
                </a:lnTo>
                <a:cubicBezTo>
                  <a:pt x="0" y="2077"/>
                  <a:pt x="850" y="0"/>
                  <a:pt x="1898" y="0"/>
                </a:cubicBezTo>
                <a:close/>
              </a:path>
            </a:pathLst>
          </a:custGeom>
          <a:solidFill>
            <a:srgbClr val="00539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17"/>
          <p:cNvSpPr/>
          <p:nvPr/>
        </p:nvSpPr>
        <p:spPr>
          <a:xfrm>
            <a:off x="11256264" y="2532888"/>
            <a:ext cx="731400" cy="731400"/>
          </a:xfrm>
          <a:prstGeom prst="ellipse">
            <a:avLst/>
          </a:prstGeom>
          <a:solidFill>
            <a:srgbClr val="04243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Google Shape;189;p14" id="224" name="Google Shape;224;p17"/>
          <p:cNvPicPr preferRelativeResize="0"/>
          <p:nvPr/>
        </p:nvPicPr>
        <p:blipFill rotWithShape="1">
          <a:blip r:embed="rId6">
            <a:alphaModFix/>
          </a:blip>
          <a:srcRect b="0" l="0" r="0" t="0"/>
          <a:stretch/>
        </p:blipFill>
        <p:spPr>
          <a:xfrm>
            <a:off x="11430000" y="2706623"/>
            <a:ext cx="384047" cy="384049"/>
          </a:xfrm>
          <a:prstGeom prst="rect">
            <a:avLst/>
          </a:prstGeom>
          <a:noFill/>
          <a:ln>
            <a:noFill/>
          </a:ln>
        </p:spPr>
      </p:pic>
      <p:sp>
        <p:nvSpPr>
          <p:cNvPr id="225" name="Google Shape;225;p17"/>
          <p:cNvSpPr txBox="1"/>
          <p:nvPr/>
        </p:nvSpPr>
        <p:spPr>
          <a:xfrm>
            <a:off x="12124943" y="2735822"/>
            <a:ext cx="1828800" cy="338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200"/>
              <a:buFont typeface="Helvetica Neue"/>
              <a:buNone/>
            </a:pPr>
            <a:r>
              <a:rPr b="1" i="0" lang="en-US" sz="2200" u="none" cap="none" strike="noStrike">
                <a:solidFill>
                  <a:srgbClr val="FFFFFF"/>
                </a:solidFill>
                <a:latin typeface="Helvetica Neue"/>
                <a:ea typeface="Helvetica Neue"/>
                <a:cs typeface="Helvetica Neue"/>
                <a:sym typeface="Helvetica Neue"/>
              </a:rPr>
              <a:t>Value</a:t>
            </a:r>
            <a:endParaRPr b="0" i="0" sz="1400" u="none" cap="none" strike="noStrike">
              <a:solidFill>
                <a:srgbClr val="000000"/>
              </a:solidFill>
              <a:latin typeface="Arial"/>
              <a:ea typeface="Arial"/>
              <a:cs typeface="Arial"/>
              <a:sym typeface="Arial"/>
            </a:endParaRPr>
          </a:p>
        </p:txBody>
      </p:sp>
      <p:sp>
        <p:nvSpPr>
          <p:cNvPr id="226" name="Google Shape;226;p17"/>
          <p:cNvSpPr txBox="1"/>
          <p:nvPr/>
        </p:nvSpPr>
        <p:spPr>
          <a:xfrm>
            <a:off x="11301983" y="3840479"/>
            <a:ext cx="2469000" cy="292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475569"/>
              </a:buClr>
              <a:buSzPts val="1900"/>
              <a:buFont typeface="Helvetica Neue"/>
              <a:buNone/>
            </a:pPr>
            <a:r>
              <a:rPr b="0" i="1" lang="en-US" sz="1900" u="none" cap="none" strike="noStrike">
                <a:solidFill>
                  <a:srgbClr val="475569"/>
                </a:solidFill>
                <a:latin typeface="Helvetica Neue"/>
                <a:ea typeface="Helvetica Neue"/>
                <a:cs typeface="Helvetica Neue"/>
                <a:sym typeface="Helvetica Neue"/>
              </a:rPr>
              <a:t>What does BNY gain?</a:t>
            </a:r>
            <a:endParaRPr b="0" i="0" sz="1400" u="none" cap="none" strike="noStrike">
              <a:solidFill>
                <a:srgbClr val="000000"/>
              </a:solidFill>
              <a:latin typeface="Arial"/>
              <a:ea typeface="Arial"/>
              <a:cs typeface="Arial"/>
              <a:sym typeface="Arial"/>
            </a:endParaRPr>
          </a:p>
        </p:txBody>
      </p:sp>
      <p:sp>
        <p:nvSpPr>
          <p:cNvPr id="227" name="Google Shape;227;p17"/>
          <p:cNvSpPr txBox="1"/>
          <p:nvPr/>
        </p:nvSpPr>
        <p:spPr>
          <a:xfrm>
            <a:off x="11301983" y="5943599"/>
            <a:ext cx="24690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1"/>
              </a:buClr>
              <a:buSzPts val="1400"/>
              <a:buFont typeface="Helvetica Neue"/>
              <a:buNone/>
            </a:pPr>
            <a:r>
              <a:rPr b="1" i="0" lang="en-US" sz="1400" u="none" cap="none" strike="noStrike">
                <a:solidFill>
                  <a:schemeClr val="accent1"/>
                </a:solidFill>
                <a:latin typeface="Helvetica Neue"/>
                <a:ea typeface="Helvetica Neue"/>
                <a:cs typeface="Helvetica Neue"/>
                <a:sym typeface="Helvetica Neue"/>
              </a:rPr>
              <a:t>HOW WE TACKLE IT</a:t>
            </a:r>
            <a:endParaRPr b="0" i="0" sz="1400" u="none" cap="none" strike="noStrike">
              <a:solidFill>
                <a:srgbClr val="000000"/>
              </a:solidFill>
              <a:latin typeface="Arial"/>
              <a:ea typeface="Arial"/>
              <a:cs typeface="Arial"/>
              <a:sym typeface="Arial"/>
            </a:endParaRPr>
          </a:p>
        </p:txBody>
      </p:sp>
      <p:sp>
        <p:nvSpPr>
          <p:cNvPr id="228" name="Google Shape;228;p17"/>
          <p:cNvSpPr txBox="1"/>
          <p:nvPr/>
        </p:nvSpPr>
        <p:spPr>
          <a:xfrm>
            <a:off x="11301983" y="6355079"/>
            <a:ext cx="24690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2000"/>
              <a:buFont typeface="Helvetica Neue"/>
              <a:buNone/>
            </a:pPr>
            <a:r>
              <a:rPr b="1" i="0" lang="en-US" sz="2000" u="none" cap="none" strike="noStrike">
                <a:solidFill>
                  <a:srgbClr val="04243C"/>
                </a:solidFill>
                <a:latin typeface="Helvetica Neue"/>
                <a:ea typeface="Helvetica Neue"/>
                <a:cs typeface="Helvetica Neue"/>
                <a:sym typeface="Helvetica Neue"/>
              </a:rPr>
              <a:t>Turn records into alerts and measure the payoff</a:t>
            </a:r>
            <a:endParaRPr b="0" i="0" sz="1400" u="none" cap="none" strike="noStrike">
              <a:solidFill>
                <a:srgbClr val="000000"/>
              </a:solidFill>
              <a:latin typeface="Arial"/>
              <a:ea typeface="Arial"/>
              <a:cs typeface="Arial"/>
              <a:sym typeface="Arial"/>
            </a:endParaRPr>
          </a:p>
        </p:txBody>
      </p:sp>
      <p:cxnSp>
        <p:nvCxnSpPr>
          <p:cNvPr id="229" name="Google Shape;229;p17"/>
          <p:cNvCxnSpPr/>
          <p:nvPr/>
        </p:nvCxnSpPr>
        <p:spPr>
          <a:xfrm>
            <a:off x="14090904" y="2903220"/>
            <a:ext cx="292500" cy="0"/>
          </a:xfrm>
          <a:prstGeom prst="straightConnector1">
            <a:avLst/>
          </a:prstGeom>
          <a:noFill/>
          <a:ln cap="flat" cmpd="sng" w="25400">
            <a:solidFill>
              <a:schemeClr val="accent1"/>
            </a:solidFill>
            <a:prstDash val="solid"/>
            <a:round/>
            <a:headEnd len="sm" w="sm" type="none"/>
            <a:tailEnd len="med" w="med" type="triangle"/>
          </a:ln>
        </p:spPr>
      </p:cxnSp>
      <p:sp>
        <p:nvSpPr>
          <p:cNvPr id="230" name="Google Shape;230;p17"/>
          <p:cNvSpPr/>
          <p:nvPr/>
        </p:nvSpPr>
        <p:spPr>
          <a:xfrm>
            <a:off x="14429232" y="2286000"/>
            <a:ext cx="3035700" cy="6035100"/>
          </a:xfrm>
          <a:prstGeom prst="roundRect">
            <a:avLst>
              <a:gd fmla="val 8734" name="adj"/>
            </a:avLst>
          </a:prstGeom>
          <a:solidFill>
            <a:srgbClr val="012169"/>
          </a:solidFill>
          <a:ln>
            <a:noFill/>
          </a:ln>
          <a:effectLst>
            <a:outerShdw blurRad="203200" rotWithShape="0" dir="5400000" dist="50800">
              <a:srgbClr val="0F172A">
                <a:alpha val="1294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17"/>
          <p:cNvSpPr txBox="1"/>
          <p:nvPr/>
        </p:nvSpPr>
        <p:spPr>
          <a:xfrm>
            <a:off x="14749271" y="2697479"/>
            <a:ext cx="23958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500"/>
              <a:buFont typeface="Helvetica Neue"/>
              <a:buNone/>
            </a:pPr>
            <a:r>
              <a:rPr b="1" i="0" lang="en-US" sz="1500" u="none" cap="none" strike="noStrike">
                <a:solidFill>
                  <a:schemeClr val="accent2"/>
                </a:solidFill>
                <a:latin typeface="Helvetica Neue"/>
                <a:ea typeface="Helvetica Neue"/>
                <a:cs typeface="Helvetica Neue"/>
                <a:sym typeface="Helvetica Neue"/>
              </a:rPr>
              <a:t>THE GOAL</a:t>
            </a:r>
            <a:endParaRPr b="0" i="0" sz="1400" u="none" cap="none" strike="noStrike">
              <a:solidFill>
                <a:srgbClr val="000000"/>
              </a:solidFill>
              <a:latin typeface="Arial"/>
              <a:ea typeface="Arial"/>
              <a:cs typeface="Arial"/>
              <a:sym typeface="Arial"/>
            </a:endParaRPr>
          </a:p>
        </p:txBody>
      </p:sp>
      <p:sp>
        <p:nvSpPr>
          <p:cNvPr id="232" name="Google Shape;232;p17"/>
          <p:cNvSpPr txBox="1"/>
          <p:nvPr/>
        </p:nvSpPr>
        <p:spPr>
          <a:xfrm>
            <a:off x="14749271" y="3200399"/>
            <a:ext cx="2395800" cy="200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2600"/>
              <a:buFont typeface="Helvetica Neue"/>
              <a:buNone/>
            </a:pPr>
            <a:r>
              <a:rPr b="1" i="0" lang="en-US" sz="2600" u="none" cap="none" strike="noStrike">
                <a:solidFill>
                  <a:srgbClr val="FFFFFF"/>
                </a:solidFill>
                <a:latin typeface="Helvetica Neue"/>
                <a:ea typeface="Helvetica Neue"/>
                <a:cs typeface="Helvetica Neue"/>
                <a:sym typeface="Helvetica Neue"/>
              </a:rPr>
              <a:t>Structured records of every corporate action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8"/>
          <p:cNvSpPr txBox="1"/>
          <p:nvPr>
            <p:ph type="title"/>
          </p:nvPr>
        </p:nvSpPr>
        <p:spPr>
          <a:xfrm>
            <a:off x="822960" y="960119"/>
            <a:ext cx="16642200" cy="822900"/>
          </a:xfrm>
          <a:prstGeom prst="rect">
            <a:avLst/>
          </a:prstGeom>
          <a:noFill/>
          <a:ln>
            <a:noFill/>
          </a:ln>
        </p:spPr>
        <p:txBody>
          <a:bodyPr anchorCtr="0" anchor="t" bIns="45675" lIns="45675" spcFirstLastPara="1" rIns="45675" wrap="square" tIns="45675">
            <a:normAutofit/>
          </a:bodyPr>
          <a:lstStyle/>
          <a:p>
            <a:pPr indent="0" lvl="0" marL="0" rtl="0" algn="l">
              <a:lnSpc>
                <a:spcPct val="100000"/>
              </a:lnSpc>
              <a:spcBef>
                <a:spcPts val="0"/>
              </a:spcBef>
              <a:spcAft>
                <a:spcPts val="0"/>
              </a:spcAft>
              <a:buClr>
                <a:srgbClr val="04243C"/>
              </a:buClr>
              <a:buSzPts val="3600"/>
              <a:buFont typeface="Helvetica Neue"/>
              <a:buNone/>
            </a:pPr>
            <a:r>
              <a:rPr b="1" lang="en-US" sz="3600">
                <a:solidFill>
                  <a:srgbClr val="04243C"/>
                </a:solidFill>
                <a:latin typeface="Helvetica Neue"/>
                <a:ea typeface="Helvetica Neue"/>
                <a:cs typeface="Helvetica Neue"/>
                <a:sym typeface="Helvetica Neue"/>
              </a:rPr>
              <a:t>Our pipeline turns raw filings into one verified record per event</a:t>
            </a:r>
            <a:endParaRPr/>
          </a:p>
        </p:txBody>
      </p:sp>
      <p:sp>
        <p:nvSpPr>
          <p:cNvPr id="238" name="Google Shape;238;p18"/>
          <p:cNvSpPr txBox="1"/>
          <p:nvPr>
            <p:ph idx="4294967295" type="sldNum"/>
          </p:nvPr>
        </p:nvSpPr>
        <p:spPr>
          <a:xfrm>
            <a:off x="17276204" y="9646919"/>
            <a:ext cx="188700" cy="276900"/>
          </a:xfrm>
          <a:prstGeom prst="rect">
            <a:avLst/>
          </a:prstGeom>
          <a:noFill/>
          <a:ln>
            <a:noFill/>
          </a:ln>
        </p:spPr>
        <p:txBody>
          <a:bodyPr anchorCtr="0" anchor="t" bIns="45675" lIns="45675" spcFirstLastPara="1" rIns="45675" wrap="square" tIns="45675">
            <a:spAutoFit/>
          </a:bodyPr>
          <a:lstStyle/>
          <a:p>
            <a:pPr indent="0" lvl="0" marL="0" rtl="0" algn="r">
              <a:lnSpc>
                <a:spcPct val="100000"/>
              </a:lnSpc>
              <a:spcBef>
                <a:spcPts val="0"/>
              </a:spcBef>
              <a:spcAft>
                <a:spcPts val="0"/>
              </a:spcAft>
              <a:buClr>
                <a:srgbClr val="475569"/>
              </a:buClr>
              <a:buSzPts val="1200"/>
              <a:buFont typeface="Helvetica Neue"/>
              <a:buNone/>
            </a:pPr>
            <a:fld id="{00000000-1234-1234-1234-123412341234}" type="slidenum">
              <a:rPr lang="en-US" sz="1200">
                <a:solidFill>
                  <a:srgbClr val="475569"/>
                </a:solidFill>
                <a:latin typeface="Helvetica Neue"/>
                <a:ea typeface="Helvetica Neue"/>
                <a:cs typeface="Helvetica Neue"/>
                <a:sym typeface="Helvetica Neue"/>
              </a:rPr>
              <a:t>‹#›</a:t>
            </a:fld>
            <a:endParaRPr/>
          </a:p>
        </p:txBody>
      </p:sp>
      <p:sp>
        <p:nvSpPr>
          <p:cNvPr id="239" name="Google Shape;239;p18"/>
          <p:cNvSpPr/>
          <p:nvPr/>
        </p:nvSpPr>
        <p:spPr>
          <a:xfrm>
            <a:off x="822960" y="2286000"/>
            <a:ext cx="2285982" cy="1417338"/>
          </a:xfrm>
          <a:custGeom>
            <a:rect b="b" l="l" r="r" t="t"/>
            <a:pathLst>
              <a:path extrusionOk="0" h="21600" w="21600">
                <a:moveTo>
                  <a:pt x="0" y="0"/>
                </a:moveTo>
                <a:lnTo>
                  <a:pt x="14904" y="0"/>
                </a:lnTo>
                <a:lnTo>
                  <a:pt x="21600" y="10800"/>
                </a:lnTo>
                <a:lnTo>
                  <a:pt x="14904" y="21600"/>
                </a:lnTo>
                <a:lnTo>
                  <a:pt x="0" y="21600"/>
                </a:lnTo>
                <a:close/>
              </a:path>
            </a:pathLst>
          </a:cu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240" name="Google Shape;240;p18"/>
          <p:cNvSpPr txBox="1"/>
          <p:nvPr/>
        </p:nvSpPr>
        <p:spPr>
          <a:xfrm>
            <a:off x="960119" y="2731091"/>
            <a:ext cx="1600200" cy="523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1700"/>
              <a:buFont typeface="Helvetica Neue"/>
              <a:buNone/>
            </a:pPr>
            <a:r>
              <a:rPr b="1" i="0" lang="en-US" sz="1700" u="none" cap="none" strike="noStrike">
                <a:solidFill>
                  <a:srgbClr val="FFFFFF"/>
                </a:solidFill>
                <a:latin typeface="Helvetica Neue"/>
                <a:ea typeface="Helvetica Neue"/>
                <a:cs typeface="Helvetica Neue"/>
                <a:sym typeface="Helvetica Neue"/>
              </a:rPr>
              <a:t>SEC</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1700"/>
              <a:buFont typeface="Helvetica Neue"/>
              <a:buNone/>
            </a:pPr>
            <a:r>
              <a:rPr b="1" i="0" lang="en-US" sz="1700" u="none" cap="none" strike="noStrike">
                <a:solidFill>
                  <a:srgbClr val="FFFFFF"/>
                </a:solidFill>
                <a:latin typeface="Helvetica Neue"/>
                <a:ea typeface="Helvetica Neue"/>
                <a:cs typeface="Helvetica Neue"/>
                <a:sym typeface="Helvetica Neue"/>
              </a:rPr>
              <a:t>search</a:t>
            </a:r>
            <a:endParaRPr b="0" i="0" sz="1400" u="none" cap="none" strike="noStrike">
              <a:solidFill>
                <a:srgbClr val="000000"/>
              </a:solidFill>
              <a:latin typeface="Arial"/>
              <a:ea typeface="Arial"/>
              <a:cs typeface="Arial"/>
              <a:sym typeface="Arial"/>
            </a:endParaRPr>
          </a:p>
        </p:txBody>
      </p:sp>
      <p:sp>
        <p:nvSpPr>
          <p:cNvPr id="241" name="Google Shape;241;p18"/>
          <p:cNvSpPr/>
          <p:nvPr/>
        </p:nvSpPr>
        <p:spPr>
          <a:xfrm>
            <a:off x="2871216" y="2286000"/>
            <a:ext cx="2286000" cy="1417200"/>
          </a:xfrm>
          <a:prstGeom prst="chevron">
            <a:avLst>
              <a:gd fmla="val 50000" name="adj"/>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242" name="Google Shape;242;p18"/>
          <p:cNvSpPr txBox="1"/>
          <p:nvPr/>
        </p:nvSpPr>
        <p:spPr>
          <a:xfrm>
            <a:off x="3328415" y="2731091"/>
            <a:ext cx="1600200" cy="523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1700"/>
              <a:buFont typeface="Helvetica Neue"/>
              <a:buNone/>
            </a:pPr>
            <a:r>
              <a:rPr b="1" i="0" lang="en-US" sz="1700" u="none" cap="none" strike="noStrike">
                <a:solidFill>
                  <a:srgbClr val="FFFFFF"/>
                </a:solidFill>
                <a:latin typeface="Helvetica Neue"/>
                <a:ea typeface="Helvetica Neue"/>
                <a:cs typeface="Helvetica Neue"/>
                <a:sym typeface="Helvetica Neue"/>
              </a:rPr>
              <a:t>Download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1700"/>
              <a:buFont typeface="Helvetica Neue"/>
              <a:buNone/>
            </a:pPr>
            <a:r>
              <a:rPr b="1" i="0" lang="en-US" sz="1700" u="none" cap="none" strike="noStrike">
                <a:solidFill>
                  <a:srgbClr val="FFFFFF"/>
                </a:solidFill>
                <a:latin typeface="Helvetica Neue"/>
                <a:ea typeface="Helvetica Neue"/>
                <a:cs typeface="Helvetica Neue"/>
                <a:sym typeface="Helvetica Neue"/>
              </a:rPr>
              <a:t>bundle</a:t>
            </a:r>
            <a:endParaRPr b="0" i="0" sz="1400" u="none" cap="none" strike="noStrike">
              <a:solidFill>
                <a:srgbClr val="000000"/>
              </a:solidFill>
              <a:latin typeface="Arial"/>
              <a:ea typeface="Arial"/>
              <a:cs typeface="Arial"/>
              <a:sym typeface="Arial"/>
            </a:endParaRPr>
          </a:p>
        </p:txBody>
      </p:sp>
      <p:sp>
        <p:nvSpPr>
          <p:cNvPr id="243" name="Google Shape;243;p18"/>
          <p:cNvSpPr/>
          <p:nvPr/>
        </p:nvSpPr>
        <p:spPr>
          <a:xfrm>
            <a:off x="4919471" y="2286000"/>
            <a:ext cx="2286000" cy="1417200"/>
          </a:xfrm>
          <a:prstGeom prst="chevron">
            <a:avLst>
              <a:gd fmla="val 50000" name="adj"/>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244" name="Google Shape;244;p18"/>
          <p:cNvSpPr txBox="1"/>
          <p:nvPr/>
        </p:nvSpPr>
        <p:spPr>
          <a:xfrm>
            <a:off x="5376671" y="2731091"/>
            <a:ext cx="1600200" cy="523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1700"/>
              <a:buFont typeface="Helvetica Neue"/>
              <a:buNone/>
            </a:pPr>
            <a:r>
              <a:rPr b="1" i="0" lang="en-US" sz="1700" u="none" cap="none" strike="noStrike">
                <a:solidFill>
                  <a:srgbClr val="FFFFFF"/>
                </a:solidFill>
                <a:latin typeface="Helvetica Neue"/>
                <a:ea typeface="Helvetica Neue"/>
                <a:cs typeface="Helvetica Neue"/>
                <a:sym typeface="Helvetica Neue"/>
              </a:rPr>
              <a:t>Clean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1700"/>
              <a:buFont typeface="Helvetica Neue"/>
              <a:buNone/>
            </a:pPr>
            <a:r>
              <a:rPr b="1" i="0" lang="en-US" sz="1700" u="none" cap="none" strike="noStrike">
                <a:solidFill>
                  <a:srgbClr val="FFFFFF"/>
                </a:solidFill>
                <a:latin typeface="Helvetica Neue"/>
                <a:ea typeface="Helvetica Neue"/>
                <a:cs typeface="Helvetica Neue"/>
                <a:sym typeface="Helvetica Neue"/>
              </a:rPr>
              <a:t>text</a:t>
            </a:r>
            <a:endParaRPr b="0" i="0" sz="1400" u="none" cap="none" strike="noStrike">
              <a:solidFill>
                <a:srgbClr val="000000"/>
              </a:solidFill>
              <a:latin typeface="Arial"/>
              <a:ea typeface="Arial"/>
              <a:cs typeface="Arial"/>
              <a:sym typeface="Arial"/>
            </a:endParaRPr>
          </a:p>
        </p:txBody>
      </p:sp>
      <p:sp>
        <p:nvSpPr>
          <p:cNvPr id="245" name="Google Shape;245;p18"/>
          <p:cNvSpPr/>
          <p:nvPr/>
        </p:nvSpPr>
        <p:spPr>
          <a:xfrm>
            <a:off x="6967728" y="2286000"/>
            <a:ext cx="2286000" cy="1417200"/>
          </a:xfrm>
          <a:prstGeom prst="chevron">
            <a:avLst>
              <a:gd fmla="val 50000" name="adj"/>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246" name="Google Shape;246;p18"/>
          <p:cNvSpPr txBox="1"/>
          <p:nvPr/>
        </p:nvSpPr>
        <p:spPr>
          <a:xfrm>
            <a:off x="7424928" y="2731091"/>
            <a:ext cx="1600200" cy="523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1700"/>
              <a:buFont typeface="Helvetica Neue"/>
              <a:buNone/>
            </a:pPr>
            <a:r>
              <a:rPr b="1" i="0" lang="en-US" sz="1700" u="none" cap="none" strike="noStrike">
                <a:solidFill>
                  <a:srgbClr val="FFFFFF"/>
                </a:solidFill>
                <a:latin typeface="Helvetica Neue"/>
                <a:ea typeface="Helvetica Neue"/>
                <a:cs typeface="Helvetica Neue"/>
                <a:sym typeface="Helvetica Neue"/>
              </a:rPr>
              <a:t>Extract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1700"/>
              <a:buFont typeface="Helvetica Neue"/>
              <a:buNone/>
            </a:pPr>
            <a:r>
              <a:rPr b="1" i="0" lang="en-US" sz="1700" u="none" cap="none" strike="noStrike">
                <a:solidFill>
                  <a:srgbClr val="FFFFFF"/>
                </a:solidFill>
                <a:latin typeface="Helvetica Neue"/>
                <a:ea typeface="Helvetica Neue"/>
                <a:cs typeface="Helvetica Neue"/>
                <a:sym typeface="Helvetica Neue"/>
              </a:rPr>
              <a:t>candidates</a:t>
            </a:r>
            <a:endParaRPr b="0" i="0" sz="1400" u="none" cap="none" strike="noStrike">
              <a:solidFill>
                <a:srgbClr val="000000"/>
              </a:solidFill>
              <a:latin typeface="Arial"/>
              <a:ea typeface="Arial"/>
              <a:cs typeface="Arial"/>
              <a:sym typeface="Arial"/>
            </a:endParaRPr>
          </a:p>
        </p:txBody>
      </p:sp>
      <p:sp>
        <p:nvSpPr>
          <p:cNvPr id="247" name="Google Shape;247;p18"/>
          <p:cNvSpPr/>
          <p:nvPr/>
        </p:nvSpPr>
        <p:spPr>
          <a:xfrm>
            <a:off x="9015983" y="2286000"/>
            <a:ext cx="2286000" cy="1417200"/>
          </a:xfrm>
          <a:prstGeom prst="chevron">
            <a:avLst>
              <a:gd fmla="val 50000" name="adj"/>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248" name="Google Shape;248;p18"/>
          <p:cNvSpPr txBox="1"/>
          <p:nvPr/>
        </p:nvSpPr>
        <p:spPr>
          <a:xfrm>
            <a:off x="9473183" y="2731091"/>
            <a:ext cx="1600200" cy="523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1700"/>
              <a:buFont typeface="Helvetica Neue"/>
              <a:buNone/>
            </a:pPr>
            <a:r>
              <a:rPr b="1" i="0" lang="en-US" sz="1700" u="none" cap="none" strike="noStrike">
                <a:solidFill>
                  <a:srgbClr val="FFFFFF"/>
                </a:solidFill>
                <a:latin typeface="Helvetica Neue"/>
                <a:ea typeface="Helvetica Neue"/>
                <a:cs typeface="Helvetica Neue"/>
                <a:sym typeface="Helvetica Neue"/>
              </a:rPr>
              <a:t>Concise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1700"/>
              <a:buFont typeface="Helvetica Neue"/>
              <a:buNone/>
            </a:pPr>
            <a:r>
              <a:rPr b="1" i="0" lang="en-US" sz="1700" u="none" cap="none" strike="noStrike">
                <a:solidFill>
                  <a:srgbClr val="FFFFFF"/>
                </a:solidFill>
                <a:latin typeface="Helvetica Neue"/>
                <a:ea typeface="Helvetica Neue"/>
                <a:cs typeface="Helvetica Neue"/>
                <a:sym typeface="Helvetica Neue"/>
              </a:rPr>
              <a:t>record</a:t>
            </a:r>
            <a:endParaRPr b="0" i="0" sz="1400" u="none" cap="none" strike="noStrike">
              <a:solidFill>
                <a:srgbClr val="000000"/>
              </a:solidFill>
              <a:latin typeface="Arial"/>
              <a:ea typeface="Arial"/>
              <a:cs typeface="Arial"/>
              <a:sym typeface="Arial"/>
            </a:endParaRPr>
          </a:p>
        </p:txBody>
      </p:sp>
      <p:sp>
        <p:nvSpPr>
          <p:cNvPr id="249" name="Google Shape;249;p18"/>
          <p:cNvSpPr/>
          <p:nvPr/>
        </p:nvSpPr>
        <p:spPr>
          <a:xfrm>
            <a:off x="11064240" y="2286000"/>
            <a:ext cx="2286000" cy="1417200"/>
          </a:xfrm>
          <a:prstGeom prst="chevron">
            <a:avLst>
              <a:gd fmla="val 50000" name="adj"/>
            </a:avLst>
          </a:prstGeom>
          <a:solidFill>
            <a:srgbClr val="E2E8F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250" name="Google Shape;250;p18"/>
          <p:cNvSpPr txBox="1"/>
          <p:nvPr/>
        </p:nvSpPr>
        <p:spPr>
          <a:xfrm>
            <a:off x="11521440" y="2731091"/>
            <a:ext cx="1600200" cy="523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4243C"/>
              </a:buClr>
              <a:buSzPts val="1700"/>
              <a:buFont typeface="Helvetica Neue"/>
              <a:buNone/>
            </a:pPr>
            <a:r>
              <a:rPr b="1" i="0" lang="en-US" sz="1700" u="none" cap="none" strike="noStrike">
                <a:solidFill>
                  <a:srgbClr val="04243C"/>
                </a:solidFill>
                <a:latin typeface="Helvetica Neue"/>
                <a:ea typeface="Helvetica Neue"/>
                <a:cs typeface="Helvetica Neue"/>
                <a:sym typeface="Helvetica Neue"/>
              </a:rPr>
              <a:t>Reason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4243C"/>
              </a:buClr>
              <a:buSzPts val="1700"/>
              <a:buFont typeface="Helvetica Neue"/>
              <a:buNone/>
            </a:pPr>
            <a:r>
              <a:rPr b="1" i="0" lang="en-US" sz="1700" u="none" cap="none" strike="noStrike">
                <a:solidFill>
                  <a:srgbClr val="04243C"/>
                </a:solidFill>
                <a:latin typeface="Helvetica Neue"/>
                <a:ea typeface="Helvetica Neue"/>
                <a:cs typeface="Helvetica Neue"/>
                <a:sym typeface="Helvetica Neue"/>
              </a:rPr>
              <a:t>verify</a:t>
            </a:r>
            <a:endParaRPr b="0" i="0" sz="1400" u="none" cap="none" strike="noStrike">
              <a:solidFill>
                <a:srgbClr val="000000"/>
              </a:solidFill>
              <a:latin typeface="Arial"/>
              <a:ea typeface="Arial"/>
              <a:cs typeface="Arial"/>
              <a:sym typeface="Arial"/>
            </a:endParaRPr>
          </a:p>
        </p:txBody>
      </p:sp>
      <p:sp>
        <p:nvSpPr>
          <p:cNvPr id="251" name="Google Shape;251;p18"/>
          <p:cNvSpPr/>
          <p:nvPr/>
        </p:nvSpPr>
        <p:spPr>
          <a:xfrm>
            <a:off x="13112495" y="2286000"/>
            <a:ext cx="2286000" cy="1417200"/>
          </a:xfrm>
          <a:prstGeom prst="chevron">
            <a:avLst>
              <a:gd fmla="val 50000" name="adj"/>
            </a:avLst>
          </a:prstGeom>
          <a:solidFill>
            <a:srgbClr val="E2E8F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252" name="Google Shape;252;p18"/>
          <p:cNvSpPr txBox="1"/>
          <p:nvPr/>
        </p:nvSpPr>
        <p:spPr>
          <a:xfrm>
            <a:off x="13569695" y="2731091"/>
            <a:ext cx="1600200" cy="523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4243C"/>
              </a:buClr>
              <a:buSzPts val="1700"/>
              <a:buFont typeface="Helvetica Neue"/>
              <a:buNone/>
            </a:pPr>
            <a:r>
              <a:rPr b="1" i="0" lang="en-US" sz="1700" u="none" cap="none" strike="noStrike">
                <a:solidFill>
                  <a:srgbClr val="04243C"/>
                </a:solidFill>
                <a:latin typeface="Helvetica Neue"/>
                <a:ea typeface="Helvetica Neue"/>
                <a:cs typeface="Helvetica Neue"/>
                <a:sym typeface="Helvetica Neue"/>
              </a:rPr>
              <a:t>Canonical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4243C"/>
              </a:buClr>
              <a:buSzPts val="1700"/>
              <a:buFont typeface="Helvetica Neue"/>
              <a:buNone/>
            </a:pPr>
            <a:r>
              <a:rPr b="1" i="0" lang="en-US" sz="1700" u="none" cap="none" strike="noStrike">
                <a:solidFill>
                  <a:srgbClr val="04243C"/>
                </a:solidFill>
                <a:latin typeface="Helvetica Neue"/>
                <a:ea typeface="Helvetica Neue"/>
                <a:cs typeface="Helvetica Neue"/>
                <a:sym typeface="Helvetica Neue"/>
              </a:rPr>
              <a:t>event</a:t>
            </a:r>
            <a:endParaRPr b="0" i="0" sz="1400" u="none" cap="none" strike="noStrike">
              <a:solidFill>
                <a:srgbClr val="000000"/>
              </a:solidFill>
              <a:latin typeface="Arial"/>
              <a:ea typeface="Arial"/>
              <a:cs typeface="Arial"/>
              <a:sym typeface="Arial"/>
            </a:endParaRPr>
          </a:p>
        </p:txBody>
      </p:sp>
      <p:sp>
        <p:nvSpPr>
          <p:cNvPr id="253" name="Google Shape;253;p18"/>
          <p:cNvSpPr/>
          <p:nvPr/>
        </p:nvSpPr>
        <p:spPr>
          <a:xfrm>
            <a:off x="15160752" y="2286000"/>
            <a:ext cx="2286000" cy="1417200"/>
          </a:xfrm>
          <a:prstGeom prst="chevron">
            <a:avLst>
              <a:gd fmla="val 50000" name="adj"/>
            </a:avLst>
          </a:prstGeom>
          <a:solidFill>
            <a:schemeClr val="accent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254" name="Google Shape;254;p18"/>
          <p:cNvSpPr txBox="1"/>
          <p:nvPr/>
        </p:nvSpPr>
        <p:spPr>
          <a:xfrm>
            <a:off x="15617952" y="2731091"/>
            <a:ext cx="1600200" cy="523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4243C"/>
              </a:buClr>
              <a:buSzPts val="1700"/>
              <a:buFont typeface="Helvetica Neue"/>
              <a:buNone/>
            </a:pPr>
            <a:r>
              <a:rPr b="1" i="0" lang="en-US" sz="1700" u="none" cap="none" strike="noStrike">
                <a:solidFill>
                  <a:srgbClr val="04243C"/>
                </a:solidFill>
                <a:latin typeface="Helvetica Neue"/>
                <a:ea typeface="Helvetica Neue"/>
                <a:cs typeface="Helvetica Neue"/>
                <a:sym typeface="Helvetica Neue"/>
              </a:rPr>
              <a:t>Client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4243C"/>
              </a:buClr>
              <a:buSzPts val="1700"/>
              <a:buFont typeface="Helvetica Neue"/>
              <a:buNone/>
            </a:pPr>
            <a:r>
              <a:rPr b="1" i="0" lang="en-US" sz="1700" u="none" cap="none" strike="noStrike">
                <a:solidFill>
                  <a:srgbClr val="04243C"/>
                </a:solidFill>
                <a:latin typeface="Helvetica Neue"/>
                <a:ea typeface="Helvetica Neue"/>
                <a:cs typeface="Helvetica Neue"/>
                <a:sym typeface="Helvetica Neue"/>
              </a:rPr>
              <a:t>alert</a:t>
            </a:r>
            <a:endParaRPr b="0" i="0" sz="1400" u="none" cap="none" strike="noStrike">
              <a:solidFill>
                <a:srgbClr val="000000"/>
              </a:solidFill>
              <a:latin typeface="Arial"/>
              <a:ea typeface="Arial"/>
              <a:cs typeface="Arial"/>
              <a:sym typeface="Arial"/>
            </a:endParaRPr>
          </a:p>
        </p:txBody>
      </p:sp>
      <p:cxnSp>
        <p:nvCxnSpPr>
          <p:cNvPr id="255" name="Google Shape;255;p18"/>
          <p:cNvCxnSpPr/>
          <p:nvPr/>
        </p:nvCxnSpPr>
        <p:spPr>
          <a:xfrm>
            <a:off x="960119" y="3977638"/>
            <a:ext cx="6108300" cy="0"/>
          </a:xfrm>
          <a:prstGeom prst="straightConnector1">
            <a:avLst/>
          </a:prstGeom>
          <a:noFill/>
          <a:ln cap="flat" cmpd="sng" w="25400">
            <a:solidFill>
              <a:srgbClr val="04243C"/>
            </a:solidFill>
            <a:prstDash val="solid"/>
            <a:round/>
            <a:headEnd len="sm" w="sm" type="none"/>
            <a:tailEnd len="sm" w="sm" type="none"/>
          </a:ln>
        </p:spPr>
      </p:cxnSp>
      <p:cxnSp>
        <p:nvCxnSpPr>
          <p:cNvPr id="256" name="Google Shape;256;p18"/>
          <p:cNvCxnSpPr/>
          <p:nvPr/>
        </p:nvCxnSpPr>
        <p:spPr>
          <a:xfrm>
            <a:off x="960119" y="3840479"/>
            <a:ext cx="0" cy="137100"/>
          </a:xfrm>
          <a:prstGeom prst="straightConnector1">
            <a:avLst/>
          </a:prstGeom>
          <a:noFill/>
          <a:ln cap="flat" cmpd="sng" w="25400">
            <a:solidFill>
              <a:srgbClr val="04243C"/>
            </a:solidFill>
            <a:prstDash val="solid"/>
            <a:round/>
            <a:headEnd len="sm" w="sm" type="none"/>
            <a:tailEnd len="sm" w="sm" type="none"/>
          </a:ln>
        </p:spPr>
      </p:cxnSp>
      <p:cxnSp>
        <p:nvCxnSpPr>
          <p:cNvPr id="257" name="Google Shape;257;p18"/>
          <p:cNvCxnSpPr/>
          <p:nvPr/>
        </p:nvCxnSpPr>
        <p:spPr>
          <a:xfrm>
            <a:off x="7068311" y="3840479"/>
            <a:ext cx="0" cy="137100"/>
          </a:xfrm>
          <a:prstGeom prst="straightConnector1">
            <a:avLst/>
          </a:prstGeom>
          <a:noFill/>
          <a:ln cap="flat" cmpd="sng" w="25400">
            <a:solidFill>
              <a:srgbClr val="04243C"/>
            </a:solidFill>
            <a:prstDash val="solid"/>
            <a:round/>
            <a:headEnd len="sm" w="sm" type="none"/>
            <a:tailEnd len="sm" w="sm" type="none"/>
          </a:ln>
        </p:spPr>
      </p:cxnSp>
      <p:sp>
        <p:nvSpPr>
          <p:cNvPr id="258" name="Google Shape;258;p18"/>
          <p:cNvSpPr txBox="1"/>
          <p:nvPr/>
        </p:nvSpPr>
        <p:spPr>
          <a:xfrm>
            <a:off x="960119" y="4114800"/>
            <a:ext cx="6108300" cy="323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243C"/>
              </a:buClr>
              <a:buSzPts val="2100"/>
              <a:buFont typeface="Helvetica Neue"/>
              <a:buNone/>
            </a:pPr>
            <a:r>
              <a:rPr b="1" i="0" lang="en-US" sz="2100" u="none" cap="none" strike="noStrike">
                <a:solidFill>
                  <a:srgbClr val="04243C"/>
                </a:solidFill>
                <a:latin typeface="Helvetica Neue"/>
                <a:ea typeface="Helvetica Neue"/>
                <a:cs typeface="Helvetica Neue"/>
                <a:sym typeface="Helvetica Neue"/>
              </a:rPr>
              <a:t>Ingest</a:t>
            </a:r>
            <a:endParaRPr b="0" i="0" sz="1400" u="none" cap="none" strike="noStrike">
              <a:solidFill>
                <a:srgbClr val="000000"/>
              </a:solidFill>
              <a:latin typeface="Arial"/>
              <a:ea typeface="Arial"/>
              <a:cs typeface="Arial"/>
              <a:sym typeface="Arial"/>
            </a:endParaRPr>
          </a:p>
        </p:txBody>
      </p:sp>
      <p:sp>
        <p:nvSpPr>
          <p:cNvPr id="259" name="Google Shape;259;p18"/>
          <p:cNvSpPr txBox="1"/>
          <p:nvPr/>
        </p:nvSpPr>
        <p:spPr>
          <a:xfrm>
            <a:off x="960119" y="4571999"/>
            <a:ext cx="6108300" cy="261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475569"/>
              </a:buClr>
              <a:buSzPts val="1700"/>
              <a:buFont typeface="Helvetica Neue"/>
              <a:buNone/>
            </a:pPr>
            <a:r>
              <a:rPr b="0" i="0" lang="en-US" sz="1700" u="none" cap="none" strike="noStrike">
                <a:solidFill>
                  <a:srgbClr val="475569"/>
                </a:solidFill>
                <a:latin typeface="Helvetica Neue"/>
                <a:ea typeface="Helvetica Neue"/>
                <a:cs typeface="Helvetica Neue"/>
                <a:sym typeface="Helvetica Neue"/>
              </a:rPr>
              <a:t>get the full text</a:t>
            </a:r>
            <a:endParaRPr b="0" i="0" sz="1400" u="none" cap="none" strike="noStrike">
              <a:solidFill>
                <a:srgbClr val="000000"/>
              </a:solidFill>
              <a:latin typeface="Arial"/>
              <a:ea typeface="Arial"/>
              <a:cs typeface="Arial"/>
              <a:sym typeface="Arial"/>
            </a:endParaRPr>
          </a:p>
        </p:txBody>
      </p:sp>
      <p:cxnSp>
        <p:nvCxnSpPr>
          <p:cNvPr id="260" name="Google Shape;260;p18"/>
          <p:cNvCxnSpPr/>
          <p:nvPr/>
        </p:nvCxnSpPr>
        <p:spPr>
          <a:xfrm>
            <a:off x="7104888" y="3977638"/>
            <a:ext cx="4059900" cy="0"/>
          </a:xfrm>
          <a:prstGeom prst="straightConnector1">
            <a:avLst/>
          </a:prstGeom>
          <a:noFill/>
          <a:ln cap="flat" cmpd="sng" w="25400">
            <a:solidFill>
              <a:srgbClr val="04243C"/>
            </a:solidFill>
            <a:prstDash val="solid"/>
            <a:round/>
            <a:headEnd len="sm" w="sm" type="none"/>
            <a:tailEnd len="sm" w="sm" type="none"/>
          </a:ln>
        </p:spPr>
      </p:cxnSp>
      <p:cxnSp>
        <p:nvCxnSpPr>
          <p:cNvPr id="261" name="Google Shape;261;p18"/>
          <p:cNvCxnSpPr/>
          <p:nvPr/>
        </p:nvCxnSpPr>
        <p:spPr>
          <a:xfrm>
            <a:off x="7104888" y="3840479"/>
            <a:ext cx="0" cy="137100"/>
          </a:xfrm>
          <a:prstGeom prst="straightConnector1">
            <a:avLst/>
          </a:prstGeom>
          <a:noFill/>
          <a:ln cap="flat" cmpd="sng" w="25400">
            <a:solidFill>
              <a:srgbClr val="04243C"/>
            </a:solidFill>
            <a:prstDash val="solid"/>
            <a:round/>
            <a:headEnd len="sm" w="sm" type="none"/>
            <a:tailEnd len="sm" w="sm" type="none"/>
          </a:ln>
        </p:spPr>
      </p:cxnSp>
      <p:cxnSp>
        <p:nvCxnSpPr>
          <p:cNvPr id="262" name="Google Shape;262;p18"/>
          <p:cNvCxnSpPr/>
          <p:nvPr/>
        </p:nvCxnSpPr>
        <p:spPr>
          <a:xfrm>
            <a:off x="11164823" y="3840479"/>
            <a:ext cx="0" cy="137100"/>
          </a:xfrm>
          <a:prstGeom prst="straightConnector1">
            <a:avLst/>
          </a:prstGeom>
          <a:noFill/>
          <a:ln cap="flat" cmpd="sng" w="25400">
            <a:solidFill>
              <a:srgbClr val="04243C"/>
            </a:solidFill>
            <a:prstDash val="solid"/>
            <a:round/>
            <a:headEnd len="sm" w="sm" type="none"/>
            <a:tailEnd len="sm" w="sm" type="none"/>
          </a:ln>
        </p:spPr>
      </p:cxnSp>
      <p:sp>
        <p:nvSpPr>
          <p:cNvPr id="263" name="Google Shape;263;p18"/>
          <p:cNvSpPr txBox="1"/>
          <p:nvPr/>
        </p:nvSpPr>
        <p:spPr>
          <a:xfrm>
            <a:off x="7104887" y="4114800"/>
            <a:ext cx="4059900" cy="323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243C"/>
              </a:buClr>
              <a:buSzPts val="2100"/>
              <a:buFont typeface="Helvetica Neue"/>
              <a:buNone/>
            </a:pPr>
            <a:r>
              <a:rPr b="1" i="0" lang="en-US" sz="2100" u="none" cap="none" strike="noStrike">
                <a:solidFill>
                  <a:srgbClr val="04243C"/>
                </a:solidFill>
                <a:latin typeface="Helvetica Neue"/>
                <a:ea typeface="Helvetica Neue"/>
                <a:cs typeface="Helvetica Neue"/>
                <a:sym typeface="Helvetica Neue"/>
              </a:rPr>
              <a:t>Extract</a:t>
            </a:r>
            <a:endParaRPr b="0" i="0" sz="1400" u="none" cap="none" strike="noStrike">
              <a:solidFill>
                <a:srgbClr val="000000"/>
              </a:solidFill>
              <a:latin typeface="Arial"/>
              <a:ea typeface="Arial"/>
              <a:cs typeface="Arial"/>
              <a:sym typeface="Arial"/>
            </a:endParaRPr>
          </a:p>
        </p:txBody>
      </p:sp>
      <p:sp>
        <p:nvSpPr>
          <p:cNvPr id="264" name="Google Shape;264;p18"/>
          <p:cNvSpPr txBox="1"/>
          <p:nvPr/>
        </p:nvSpPr>
        <p:spPr>
          <a:xfrm>
            <a:off x="7104887" y="4571999"/>
            <a:ext cx="4059900" cy="261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475569"/>
              </a:buClr>
              <a:buSzPts val="1700"/>
              <a:buFont typeface="Helvetica Neue"/>
              <a:buNone/>
            </a:pPr>
            <a:r>
              <a:rPr b="0" i="0" lang="en-US" sz="1700" u="none" cap="none" strike="noStrike">
                <a:solidFill>
                  <a:srgbClr val="475569"/>
                </a:solidFill>
                <a:latin typeface="Helvetica Neue"/>
                <a:ea typeface="Helvetica Neue"/>
                <a:cs typeface="Helvetica Neue"/>
                <a:sym typeface="Helvetica Neue"/>
              </a:rPr>
              <a:t>values + quotes</a:t>
            </a:r>
            <a:endParaRPr b="0" i="0" sz="1400" u="none" cap="none" strike="noStrike">
              <a:solidFill>
                <a:srgbClr val="000000"/>
              </a:solidFill>
              <a:latin typeface="Arial"/>
              <a:ea typeface="Arial"/>
              <a:cs typeface="Arial"/>
              <a:sym typeface="Arial"/>
            </a:endParaRPr>
          </a:p>
        </p:txBody>
      </p:sp>
      <p:cxnSp>
        <p:nvCxnSpPr>
          <p:cNvPr id="265" name="Google Shape;265;p18"/>
          <p:cNvCxnSpPr/>
          <p:nvPr/>
        </p:nvCxnSpPr>
        <p:spPr>
          <a:xfrm>
            <a:off x="11201400" y="3977638"/>
            <a:ext cx="4059900" cy="0"/>
          </a:xfrm>
          <a:prstGeom prst="straightConnector1">
            <a:avLst/>
          </a:prstGeom>
          <a:noFill/>
          <a:ln cap="flat" cmpd="sng" w="25400">
            <a:solidFill>
              <a:srgbClr val="04243C"/>
            </a:solidFill>
            <a:prstDash val="solid"/>
            <a:round/>
            <a:headEnd len="sm" w="sm" type="none"/>
            <a:tailEnd len="sm" w="sm" type="none"/>
          </a:ln>
        </p:spPr>
      </p:cxnSp>
      <p:cxnSp>
        <p:nvCxnSpPr>
          <p:cNvPr id="266" name="Google Shape;266;p18"/>
          <p:cNvCxnSpPr/>
          <p:nvPr/>
        </p:nvCxnSpPr>
        <p:spPr>
          <a:xfrm>
            <a:off x="11201400" y="3840479"/>
            <a:ext cx="0" cy="137100"/>
          </a:xfrm>
          <a:prstGeom prst="straightConnector1">
            <a:avLst/>
          </a:prstGeom>
          <a:noFill/>
          <a:ln cap="flat" cmpd="sng" w="25400">
            <a:solidFill>
              <a:srgbClr val="04243C"/>
            </a:solidFill>
            <a:prstDash val="solid"/>
            <a:round/>
            <a:headEnd len="sm" w="sm" type="none"/>
            <a:tailEnd len="sm" w="sm" type="none"/>
          </a:ln>
        </p:spPr>
      </p:cxnSp>
      <p:cxnSp>
        <p:nvCxnSpPr>
          <p:cNvPr id="267" name="Google Shape;267;p18"/>
          <p:cNvCxnSpPr/>
          <p:nvPr/>
        </p:nvCxnSpPr>
        <p:spPr>
          <a:xfrm>
            <a:off x="15261336" y="3840479"/>
            <a:ext cx="0" cy="137100"/>
          </a:xfrm>
          <a:prstGeom prst="straightConnector1">
            <a:avLst/>
          </a:prstGeom>
          <a:noFill/>
          <a:ln cap="flat" cmpd="sng" w="25400">
            <a:solidFill>
              <a:srgbClr val="04243C"/>
            </a:solidFill>
            <a:prstDash val="solid"/>
            <a:round/>
            <a:headEnd len="sm" w="sm" type="none"/>
            <a:tailEnd len="sm" w="sm" type="none"/>
          </a:ln>
        </p:spPr>
      </p:cxnSp>
      <p:sp>
        <p:nvSpPr>
          <p:cNvPr id="268" name="Google Shape;268;p18"/>
          <p:cNvSpPr txBox="1"/>
          <p:nvPr/>
        </p:nvSpPr>
        <p:spPr>
          <a:xfrm>
            <a:off x="11201400" y="4114800"/>
            <a:ext cx="4059900" cy="323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243C"/>
              </a:buClr>
              <a:buSzPts val="2100"/>
              <a:buFont typeface="Helvetica Neue"/>
              <a:buNone/>
            </a:pPr>
            <a:r>
              <a:rPr b="1" i="0" lang="en-US" sz="2100" u="none" cap="none" strike="noStrike">
                <a:solidFill>
                  <a:srgbClr val="04243C"/>
                </a:solidFill>
                <a:latin typeface="Helvetica Neue"/>
                <a:ea typeface="Helvetica Neue"/>
                <a:cs typeface="Helvetica Neue"/>
                <a:sym typeface="Helvetica Neue"/>
              </a:rPr>
              <a:t>Resolve</a:t>
            </a:r>
            <a:endParaRPr b="0" i="0" sz="1400" u="none" cap="none" strike="noStrike">
              <a:solidFill>
                <a:srgbClr val="000000"/>
              </a:solidFill>
              <a:latin typeface="Arial"/>
              <a:ea typeface="Arial"/>
              <a:cs typeface="Arial"/>
              <a:sym typeface="Arial"/>
            </a:endParaRPr>
          </a:p>
        </p:txBody>
      </p:sp>
      <p:sp>
        <p:nvSpPr>
          <p:cNvPr id="269" name="Google Shape;269;p18"/>
          <p:cNvSpPr txBox="1"/>
          <p:nvPr/>
        </p:nvSpPr>
        <p:spPr>
          <a:xfrm>
            <a:off x="11201400" y="4571999"/>
            <a:ext cx="4059900" cy="261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475569"/>
              </a:buClr>
              <a:buSzPts val="1700"/>
              <a:buFont typeface="Helvetica Neue"/>
              <a:buNone/>
            </a:pPr>
            <a:r>
              <a:rPr b="0" i="0" lang="en-US" sz="1700" u="none" cap="none" strike="noStrike">
                <a:solidFill>
                  <a:srgbClr val="475569"/>
                </a:solidFill>
                <a:latin typeface="Helvetica Neue"/>
                <a:ea typeface="Helvetica Neue"/>
                <a:cs typeface="Helvetica Neue"/>
                <a:sym typeface="Helvetica Neue"/>
              </a:rPr>
              <a:t>one record per event</a:t>
            </a:r>
            <a:endParaRPr b="0" i="0" sz="1400" u="none" cap="none" strike="noStrike">
              <a:solidFill>
                <a:srgbClr val="000000"/>
              </a:solidFill>
              <a:latin typeface="Arial"/>
              <a:ea typeface="Arial"/>
              <a:cs typeface="Arial"/>
              <a:sym typeface="Arial"/>
            </a:endParaRPr>
          </a:p>
        </p:txBody>
      </p:sp>
      <p:cxnSp>
        <p:nvCxnSpPr>
          <p:cNvPr id="270" name="Google Shape;270;p18"/>
          <p:cNvCxnSpPr/>
          <p:nvPr/>
        </p:nvCxnSpPr>
        <p:spPr>
          <a:xfrm>
            <a:off x="15297912" y="3977638"/>
            <a:ext cx="2011800" cy="0"/>
          </a:xfrm>
          <a:prstGeom prst="straightConnector1">
            <a:avLst/>
          </a:prstGeom>
          <a:noFill/>
          <a:ln cap="flat" cmpd="sng" w="25400">
            <a:solidFill>
              <a:srgbClr val="04243C"/>
            </a:solidFill>
            <a:prstDash val="solid"/>
            <a:round/>
            <a:headEnd len="sm" w="sm" type="none"/>
            <a:tailEnd len="sm" w="sm" type="none"/>
          </a:ln>
        </p:spPr>
      </p:cxnSp>
      <p:cxnSp>
        <p:nvCxnSpPr>
          <p:cNvPr id="271" name="Google Shape;271;p18"/>
          <p:cNvCxnSpPr/>
          <p:nvPr/>
        </p:nvCxnSpPr>
        <p:spPr>
          <a:xfrm>
            <a:off x="15297912" y="3840479"/>
            <a:ext cx="0" cy="137100"/>
          </a:xfrm>
          <a:prstGeom prst="straightConnector1">
            <a:avLst/>
          </a:prstGeom>
          <a:noFill/>
          <a:ln cap="flat" cmpd="sng" w="25400">
            <a:solidFill>
              <a:srgbClr val="04243C"/>
            </a:solidFill>
            <a:prstDash val="solid"/>
            <a:round/>
            <a:headEnd len="sm" w="sm" type="none"/>
            <a:tailEnd len="sm" w="sm" type="none"/>
          </a:ln>
        </p:spPr>
      </p:cxnSp>
      <p:cxnSp>
        <p:nvCxnSpPr>
          <p:cNvPr id="272" name="Google Shape;272;p18"/>
          <p:cNvCxnSpPr/>
          <p:nvPr/>
        </p:nvCxnSpPr>
        <p:spPr>
          <a:xfrm>
            <a:off x="17309591" y="3840479"/>
            <a:ext cx="0" cy="137100"/>
          </a:xfrm>
          <a:prstGeom prst="straightConnector1">
            <a:avLst/>
          </a:prstGeom>
          <a:noFill/>
          <a:ln cap="flat" cmpd="sng" w="25400">
            <a:solidFill>
              <a:srgbClr val="04243C"/>
            </a:solidFill>
            <a:prstDash val="solid"/>
            <a:round/>
            <a:headEnd len="sm" w="sm" type="none"/>
            <a:tailEnd len="sm" w="sm" type="none"/>
          </a:ln>
        </p:spPr>
      </p:cxnSp>
      <p:sp>
        <p:nvSpPr>
          <p:cNvPr id="273" name="Google Shape;273;p18"/>
          <p:cNvSpPr txBox="1"/>
          <p:nvPr/>
        </p:nvSpPr>
        <p:spPr>
          <a:xfrm>
            <a:off x="15297912" y="4114800"/>
            <a:ext cx="2011800" cy="323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243C"/>
              </a:buClr>
              <a:buSzPts val="2100"/>
              <a:buFont typeface="Helvetica Neue"/>
              <a:buNone/>
            </a:pPr>
            <a:r>
              <a:rPr b="1" i="0" lang="en-US" sz="2100" u="none" cap="none" strike="noStrike">
                <a:solidFill>
                  <a:srgbClr val="04243C"/>
                </a:solidFill>
                <a:latin typeface="Helvetica Neue"/>
                <a:ea typeface="Helvetica Neue"/>
                <a:cs typeface="Helvetica Neue"/>
                <a:sym typeface="Helvetica Neue"/>
              </a:rPr>
              <a:t>Deliver</a:t>
            </a:r>
            <a:endParaRPr b="0" i="0" sz="1400" u="none" cap="none" strike="noStrike">
              <a:solidFill>
                <a:srgbClr val="000000"/>
              </a:solidFill>
              <a:latin typeface="Arial"/>
              <a:ea typeface="Arial"/>
              <a:cs typeface="Arial"/>
              <a:sym typeface="Arial"/>
            </a:endParaRPr>
          </a:p>
        </p:txBody>
      </p:sp>
      <p:sp>
        <p:nvSpPr>
          <p:cNvPr id="274" name="Google Shape;274;p18"/>
          <p:cNvSpPr txBox="1"/>
          <p:nvPr/>
        </p:nvSpPr>
        <p:spPr>
          <a:xfrm>
            <a:off x="15297912" y="4571999"/>
            <a:ext cx="2011800" cy="261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475569"/>
              </a:buClr>
              <a:buSzPts val="1700"/>
              <a:buFont typeface="Helvetica Neue"/>
              <a:buNone/>
            </a:pPr>
            <a:r>
              <a:rPr b="0" i="0" lang="en-US" sz="1700" u="none" cap="none" strike="noStrike">
                <a:solidFill>
                  <a:srgbClr val="475569"/>
                </a:solidFill>
                <a:latin typeface="Helvetica Neue"/>
                <a:ea typeface="Helvetica Neue"/>
                <a:cs typeface="Helvetica Neue"/>
                <a:sym typeface="Helvetica Neue"/>
              </a:rPr>
              <a:t>alert clients</a:t>
            </a:r>
            <a:endParaRPr b="0" i="0" sz="1400" u="none" cap="none" strike="noStrike">
              <a:solidFill>
                <a:srgbClr val="000000"/>
              </a:solidFill>
              <a:latin typeface="Arial"/>
              <a:ea typeface="Arial"/>
              <a:cs typeface="Arial"/>
              <a:sym typeface="Arial"/>
            </a:endParaRPr>
          </a:p>
        </p:txBody>
      </p:sp>
      <p:sp>
        <p:nvSpPr>
          <p:cNvPr id="275" name="Google Shape;275;p18"/>
          <p:cNvSpPr/>
          <p:nvPr/>
        </p:nvSpPr>
        <p:spPr>
          <a:xfrm>
            <a:off x="11521440" y="8796528"/>
            <a:ext cx="292500" cy="292500"/>
          </a:xfrm>
          <a:prstGeom prst="roundRect">
            <a:avLst>
              <a:gd fmla="val 18000" name="adj"/>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276" name="Google Shape;276;p18"/>
          <p:cNvSpPr txBox="1"/>
          <p:nvPr/>
        </p:nvSpPr>
        <p:spPr>
          <a:xfrm>
            <a:off x="11932918" y="8826804"/>
            <a:ext cx="16458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475569"/>
              </a:buClr>
              <a:buSzPts val="1600"/>
              <a:buFont typeface="Helvetica Neue"/>
              <a:buNone/>
            </a:pPr>
            <a:r>
              <a:rPr b="0" i="0" lang="en-US" sz="1600" u="none" cap="none" strike="noStrike">
                <a:solidFill>
                  <a:srgbClr val="475569"/>
                </a:solidFill>
                <a:latin typeface="Helvetica Neue"/>
                <a:ea typeface="Helvetica Neue"/>
                <a:cs typeface="Helvetica Neue"/>
                <a:sym typeface="Helvetica Neue"/>
              </a:rPr>
              <a:t>Built</a:t>
            </a:r>
            <a:endParaRPr b="0" i="0" sz="1400" u="none" cap="none" strike="noStrike">
              <a:solidFill>
                <a:srgbClr val="000000"/>
              </a:solidFill>
              <a:latin typeface="Arial"/>
              <a:ea typeface="Arial"/>
              <a:cs typeface="Arial"/>
              <a:sym typeface="Arial"/>
            </a:endParaRPr>
          </a:p>
        </p:txBody>
      </p:sp>
      <p:sp>
        <p:nvSpPr>
          <p:cNvPr id="277" name="Google Shape;277;p18"/>
          <p:cNvSpPr/>
          <p:nvPr/>
        </p:nvSpPr>
        <p:spPr>
          <a:xfrm>
            <a:off x="13533119" y="8796528"/>
            <a:ext cx="292500" cy="292500"/>
          </a:xfrm>
          <a:prstGeom prst="roundRect">
            <a:avLst>
              <a:gd fmla="val 18000" name="adj"/>
            </a:avLst>
          </a:prstGeom>
          <a:solidFill>
            <a:srgbClr val="E2E8F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278" name="Google Shape;278;p18"/>
          <p:cNvSpPr txBox="1"/>
          <p:nvPr/>
        </p:nvSpPr>
        <p:spPr>
          <a:xfrm>
            <a:off x="13944599" y="8826804"/>
            <a:ext cx="16458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475569"/>
              </a:buClr>
              <a:buSzPts val="1600"/>
              <a:buFont typeface="Helvetica Neue"/>
              <a:buNone/>
            </a:pPr>
            <a:r>
              <a:rPr b="0" i="0" lang="en-US" sz="1600" u="none" cap="none" strike="noStrike">
                <a:solidFill>
                  <a:srgbClr val="475569"/>
                </a:solidFill>
                <a:latin typeface="Helvetica Neue"/>
                <a:ea typeface="Helvetica Neue"/>
                <a:cs typeface="Helvetica Neue"/>
                <a:sym typeface="Helvetica Neue"/>
              </a:rPr>
              <a:t>Next</a:t>
            </a:r>
            <a:endParaRPr b="0" i="0" sz="1400" u="none" cap="none" strike="noStrike">
              <a:solidFill>
                <a:srgbClr val="000000"/>
              </a:solidFill>
              <a:latin typeface="Arial"/>
              <a:ea typeface="Arial"/>
              <a:cs typeface="Arial"/>
              <a:sym typeface="Arial"/>
            </a:endParaRPr>
          </a:p>
        </p:txBody>
      </p:sp>
      <p:sp>
        <p:nvSpPr>
          <p:cNvPr id="279" name="Google Shape;279;p18"/>
          <p:cNvSpPr/>
          <p:nvPr/>
        </p:nvSpPr>
        <p:spPr>
          <a:xfrm>
            <a:off x="15544800" y="8796528"/>
            <a:ext cx="292500" cy="292500"/>
          </a:xfrm>
          <a:prstGeom prst="roundRect">
            <a:avLst>
              <a:gd fmla="val 18000" name="adj"/>
            </a:avLst>
          </a:prstGeom>
          <a:solidFill>
            <a:schemeClr val="accent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280" name="Google Shape;280;p18"/>
          <p:cNvSpPr txBox="1"/>
          <p:nvPr/>
        </p:nvSpPr>
        <p:spPr>
          <a:xfrm>
            <a:off x="15956280" y="8826804"/>
            <a:ext cx="16458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475569"/>
              </a:buClr>
              <a:buSzPts val="1600"/>
              <a:buFont typeface="Helvetica Neue"/>
              <a:buNone/>
            </a:pPr>
            <a:r>
              <a:rPr b="0" i="0" lang="en-US" sz="1600" u="none" cap="none" strike="noStrike">
                <a:solidFill>
                  <a:srgbClr val="475569"/>
                </a:solidFill>
                <a:latin typeface="Helvetica Neue"/>
                <a:ea typeface="Helvetica Neue"/>
                <a:cs typeface="Helvetica Neue"/>
                <a:sym typeface="Helvetica Neue"/>
              </a:rPr>
              <a:t>Prototype</a:t>
            </a:r>
            <a:endParaRPr b="0" i="0" sz="1400" u="none" cap="none" strike="noStrike">
              <a:solidFill>
                <a:srgbClr val="000000"/>
              </a:solidFill>
              <a:latin typeface="Arial"/>
              <a:ea typeface="Arial"/>
              <a:cs typeface="Arial"/>
              <a:sym typeface="Arial"/>
            </a:endParaRPr>
          </a:p>
        </p:txBody>
      </p:sp>
      <p:sp>
        <p:nvSpPr>
          <p:cNvPr id="281" name="Google Shape;281;p18"/>
          <p:cNvSpPr txBox="1"/>
          <p:nvPr/>
        </p:nvSpPr>
        <p:spPr>
          <a:xfrm>
            <a:off x="822960" y="5349240"/>
            <a:ext cx="9144000" cy="292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1"/>
              </a:buClr>
              <a:buSzPts val="1900"/>
              <a:buFont typeface="Helvetica Neue"/>
              <a:buNone/>
            </a:pPr>
            <a:r>
              <a:rPr b="1" i="0" lang="en-US" sz="1900" u="none" cap="none" strike="noStrike">
                <a:solidFill>
                  <a:schemeClr val="accent1"/>
                </a:solidFill>
                <a:latin typeface="Helvetica Neue"/>
                <a:ea typeface="Helvetica Neue"/>
                <a:cs typeface="Helvetica Neue"/>
                <a:sym typeface="Helvetica Neue"/>
              </a:rPr>
              <a:t>Example: the Eventbrite merger</a:t>
            </a:r>
            <a:endParaRPr b="0" i="0" sz="1400" u="none" cap="none" strike="noStrike">
              <a:solidFill>
                <a:srgbClr val="000000"/>
              </a:solidFill>
              <a:latin typeface="Arial"/>
              <a:ea typeface="Arial"/>
              <a:cs typeface="Arial"/>
              <a:sym typeface="Arial"/>
            </a:endParaRPr>
          </a:p>
        </p:txBody>
      </p:sp>
      <p:sp>
        <p:nvSpPr>
          <p:cNvPr id="282" name="Google Shape;282;p18"/>
          <p:cNvSpPr/>
          <p:nvPr/>
        </p:nvSpPr>
        <p:spPr>
          <a:xfrm>
            <a:off x="822960" y="5897879"/>
            <a:ext cx="3749058" cy="2606040"/>
          </a:xfrm>
          <a:custGeom>
            <a:rect b="b" l="l" r="r" t="t"/>
            <a:pathLst>
              <a:path extrusionOk="0" h="21600" w="21600">
                <a:moveTo>
                  <a:pt x="0" y="0"/>
                </a:moveTo>
                <a:lnTo>
                  <a:pt x="19493" y="0"/>
                </a:lnTo>
                <a:lnTo>
                  <a:pt x="21600" y="3032"/>
                </a:lnTo>
                <a:lnTo>
                  <a:pt x="21600" y="21600"/>
                </a:lnTo>
                <a:lnTo>
                  <a:pt x="0" y="21600"/>
                </a:lnTo>
                <a:close/>
              </a:path>
            </a:pathLst>
          </a:custGeom>
          <a:solidFill>
            <a:srgbClr val="FFFFFF"/>
          </a:solidFill>
          <a:ln cap="flat" cmpd="sng" w="12700">
            <a:solidFill>
              <a:schemeClr val="accent3"/>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283" name="Google Shape;283;p18"/>
          <p:cNvSpPr txBox="1"/>
          <p:nvPr/>
        </p:nvSpPr>
        <p:spPr>
          <a:xfrm>
            <a:off x="1097280" y="6126479"/>
            <a:ext cx="32004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1"/>
              </a:buClr>
              <a:buSzPts val="1500"/>
              <a:buFont typeface="Helvetica Neue"/>
              <a:buNone/>
            </a:pPr>
            <a:r>
              <a:rPr b="1" i="0" lang="en-US" sz="1500" u="none" cap="none" strike="noStrike">
                <a:solidFill>
                  <a:schemeClr val="accent1"/>
                </a:solidFill>
                <a:latin typeface="Helvetica Neue"/>
                <a:ea typeface="Helvetica Neue"/>
                <a:cs typeface="Helvetica Neue"/>
                <a:sym typeface="Helvetica Neue"/>
              </a:rPr>
              <a:t>RAW FILING</a:t>
            </a:r>
            <a:endParaRPr b="0" i="0" sz="1400" u="none" cap="none" strike="noStrike">
              <a:solidFill>
                <a:srgbClr val="000000"/>
              </a:solidFill>
              <a:latin typeface="Arial"/>
              <a:ea typeface="Arial"/>
              <a:cs typeface="Arial"/>
              <a:sym typeface="Arial"/>
            </a:endParaRPr>
          </a:p>
        </p:txBody>
      </p:sp>
      <p:sp>
        <p:nvSpPr>
          <p:cNvPr id="284" name="Google Shape;284;p18"/>
          <p:cNvSpPr txBox="1"/>
          <p:nvPr/>
        </p:nvSpPr>
        <p:spPr>
          <a:xfrm>
            <a:off x="1097280" y="6629399"/>
            <a:ext cx="3200400" cy="646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2100"/>
              <a:buFont typeface="Helvetica Neue"/>
              <a:buNone/>
            </a:pPr>
            <a:r>
              <a:rPr b="1" i="0" lang="en-US" sz="2100" u="none" cap="none" strike="noStrike">
                <a:solidFill>
                  <a:srgbClr val="04243C"/>
                </a:solidFill>
                <a:latin typeface="Helvetica Neue"/>
                <a:ea typeface="Helvetica Neue"/>
                <a:cs typeface="Helvetica Neue"/>
                <a:sym typeface="Helvetica Neue"/>
              </a:rPr>
              <a:t>816K characters of HTML</a:t>
            </a:r>
            <a:endParaRPr b="0" i="0" sz="1400" u="none" cap="none" strike="noStrike">
              <a:solidFill>
                <a:srgbClr val="000000"/>
              </a:solidFill>
              <a:latin typeface="Arial"/>
              <a:ea typeface="Arial"/>
              <a:cs typeface="Arial"/>
              <a:sym typeface="Arial"/>
            </a:endParaRPr>
          </a:p>
        </p:txBody>
      </p:sp>
      <p:cxnSp>
        <p:nvCxnSpPr>
          <p:cNvPr id="285" name="Google Shape;285;p18"/>
          <p:cNvCxnSpPr/>
          <p:nvPr/>
        </p:nvCxnSpPr>
        <p:spPr>
          <a:xfrm>
            <a:off x="4645152" y="7200900"/>
            <a:ext cx="402300" cy="0"/>
          </a:xfrm>
          <a:prstGeom prst="straightConnector1">
            <a:avLst/>
          </a:prstGeom>
          <a:noFill/>
          <a:ln cap="flat" cmpd="sng" w="25400">
            <a:solidFill>
              <a:schemeClr val="accent1"/>
            </a:solidFill>
            <a:prstDash val="solid"/>
            <a:round/>
            <a:headEnd len="sm" w="sm" type="none"/>
            <a:tailEnd len="med" w="med" type="triangle"/>
          </a:ln>
        </p:spPr>
      </p:cxnSp>
      <p:sp>
        <p:nvSpPr>
          <p:cNvPr id="286" name="Google Shape;286;p18"/>
          <p:cNvSpPr/>
          <p:nvPr/>
        </p:nvSpPr>
        <p:spPr>
          <a:xfrm>
            <a:off x="5120640" y="5897879"/>
            <a:ext cx="3749058" cy="2606040"/>
          </a:xfrm>
          <a:custGeom>
            <a:rect b="b" l="l" r="r" t="t"/>
            <a:pathLst>
              <a:path extrusionOk="0" h="21600" w="21600">
                <a:moveTo>
                  <a:pt x="0" y="0"/>
                </a:moveTo>
                <a:lnTo>
                  <a:pt x="19493" y="0"/>
                </a:lnTo>
                <a:lnTo>
                  <a:pt x="21600" y="3032"/>
                </a:lnTo>
                <a:lnTo>
                  <a:pt x="21600" y="21600"/>
                </a:lnTo>
                <a:lnTo>
                  <a:pt x="0" y="21600"/>
                </a:lnTo>
                <a:close/>
              </a:path>
            </a:pathLst>
          </a:custGeom>
          <a:solidFill>
            <a:srgbClr val="FFFFFF"/>
          </a:solidFill>
          <a:ln cap="flat" cmpd="sng" w="12700">
            <a:solidFill>
              <a:schemeClr val="accent3"/>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287" name="Google Shape;287;p18"/>
          <p:cNvSpPr txBox="1"/>
          <p:nvPr/>
        </p:nvSpPr>
        <p:spPr>
          <a:xfrm>
            <a:off x="5394959" y="6126479"/>
            <a:ext cx="32004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1"/>
              </a:buClr>
              <a:buSzPts val="1500"/>
              <a:buFont typeface="Helvetica Neue"/>
              <a:buNone/>
            </a:pPr>
            <a:r>
              <a:rPr b="1" i="0" lang="en-US" sz="1500" u="none" cap="none" strike="noStrike">
                <a:solidFill>
                  <a:schemeClr val="accent1"/>
                </a:solidFill>
                <a:latin typeface="Helvetica Neue"/>
                <a:ea typeface="Helvetica Neue"/>
                <a:cs typeface="Helvetica Neue"/>
                <a:sym typeface="Helvetica Neue"/>
              </a:rPr>
              <a:t>CANDIDATE</a:t>
            </a:r>
            <a:endParaRPr b="0" i="0" sz="1400" u="none" cap="none" strike="noStrike">
              <a:solidFill>
                <a:srgbClr val="000000"/>
              </a:solidFill>
              <a:latin typeface="Arial"/>
              <a:ea typeface="Arial"/>
              <a:cs typeface="Arial"/>
              <a:sym typeface="Arial"/>
            </a:endParaRPr>
          </a:p>
        </p:txBody>
      </p:sp>
      <p:sp>
        <p:nvSpPr>
          <p:cNvPr id="288" name="Google Shape;288;p18"/>
          <p:cNvSpPr txBox="1"/>
          <p:nvPr/>
        </p:nvSpPr>
        <p:spPr>
          <a:xfrm>
            <a:off x="5394959" y="6629399"/>
            <a:ext cx="3200400" cy="646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2100"/>
              <a:buFont typeface="Helvetica Neue"/>
              <a:buNone/>
            </a:pPr>
            <a:r>
              <a:rPr b="1" i="0" lang="en-US" sz="2100" u="none" cap="none" strike="noStrike">
                <a:solidFill>
                  <a:srgbClr val="04243C"/>
                </a:solidFill>
                <a:latin typeface="Helvetica Neue"/>
                <a:ea typeface="Helvetica Neue"/>
                <a:cs typeface="Helvetica Neue"/>
                <a:sym typeface="Helvetica Neue"/>
              </a:rPr>
              <a:t>"$4.50 in cash … for each share"</a:t>
            </a:r>
            <a:endParaRPr b="0" i="0" sz="1400" u="none" cap="none" strike="noStrike">
              <a:solidFill>
                <a:srgbClr val="000000"/>
              </a:solidFill>
              <a:latin typeface="Arial"/>
              <a:ea typeface="Arial"/>
              <a:cs typeface="Arial"/>
              <a:sym typeface="Arial"/>
            </a:endParaRPr>
          </a:p>
        </p:txBody>
      </p:sp>
      <p:cxnSp>
        <p:nvCxnSpPr>
          <p:cNvPr id="289" name="Google Shape;289;p18"/>
          <p:cNvCxnSpPr/>
          <p:nvPr/>
        </p:nvCxnSpPr>
        <p:spPr>
          <a:xfrm>
            <a:off x="8942831" y="7200900"/>
            <a:ext cx="402300" cy="0"/>
          </a:xfrm>
          <a:prstGeom prst="straightConnector1">
            <a:avLst/>
          </a:prstGeom>
          <a:noFill/>
          <a:ln cap="flat" cmpd="sng" w="25400">
            <a:solidFill>
              <a:schemeClr val="accent1"/>
            </a:solidFill>
            <a:prstDash val="solid"/>
            <a:round/>
            <a:headEnd len="sm" w="sm" type="none"/>
            <a:tailEnd len="med" w="med" type="triangle"/>
          </a:ln>
        </p:spPr>
      </p:cxnSp>
      <p:sp>
        <p:nvSpPr>
          <p:cNvPr id="290" name="Google Shape;290;p18"/>
          <p:cNvSpPr/>
          <p:nvPr/>
        </p:nvSpPr>
        <p:spPr>
          <a:xfrm>
            <a:off x="9418318" y="5897879"/>
            <a:ext cx="3749058" cy="2606040"/>
          </a:xfrm>
          <a:custGeom>
            <a:rect b="b" l="l" r="r" t="t"/>
            <a:pathLst>
              <a:path extrusionOk="0" h="21600" w="21600">
                <a:moveTo>
                  <a:pt x="0" y="0"/>
                </a:moveTo>
                <a:lnTo>
                  <a:pt x="19493" y="0"/>
                </a:lnTo>
                <a:lnTo>
                  <a:pt x="21600" y="3032"/>
                </a:lnTo>
                <a:lnTo>
                  <a:pt x="21600" y="21600"/>
                </a:lnTo>
                <a:lnTo>
                  <a:pt x="0" y="21600"/>
                </a:lnTo>
                <a:close/>
              </a:path>
            </a:pathLst>
          </a:custGeom>
          <a:solidFill>
            <a:srgbClr val="F1F5F9"/>
          </a:solidFill>
          <a:ln cap="flat" cmpd="sng" w="12700">
            <a:solidFill>
              <a:schemeClr val="accent3"/>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291" name="Google Shape;291;p18"/>
          <p:cNvSpPr txBox="1"/>
          <p:nvPr/>
        </p:nvSpPr>
        <p:spPr>
          <a:xfrm>
            <a:off x="9692640" y="6126479"/>
            <a:ext cx="32004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1"/>
              </a:buClr>
              <a:buSzPts val="1500"/>
              <a:buFont typeface="Helvetica Neue"/>
              <a:buNone/>
            </a:pPr>
            <a:r>
              <a:rPr b="1" i="0" lang="en-US" sz="1500" u="none" cap="none" strike="noStrike">
                <a:solidFill>
                  <a:schemeClr val="accent1"/>
                </a:solidFill>
                <a:latin typeface="Helvetica Neue"/>
                <a:ea typeface="Helvetica Neue"/>
                <a:cs typeface="Helvetica Neue"/>
                <a:sym typeface="Helvetica Neue"/>
              </a:rPr>
              <a:t>EVENT RECORD</a:t>
            </a:r>
            <a:endParaRPr b="0" i="0" sz="1400" u="none" cap="none" strike="noStrike">
              <a:solidFill>
                <a:srgbClr val="000000"/>
              </a:solidFill>
              <a:latin typeface="Arial"/>
              <a:ea typeface="Arial"/>
              <a:cs typeface="Arial"/>
              <a:sym typeface="Arial"/>
            </a:endParaRPr>
          </a:p>
        </p:txBody>
      </p:sp>
      <p:sp>
        <p:nvSpPr>
          <p:cNvPr id="292" name="Google Shape;292;p18"/>
          <p:cNvSpPr txBox="1"/>
          <p:nvPr/>
        </p:nvSpPr>
        <p:spPr>
          <a:xfrm>
            <a:off x="9692640" y="6629399"/>
            <a:ext cx="3200400" cy="646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2100"/>
              <a:buFont typeface="Helvetica Neue"/>
              <a:buNone/>
            </a:pPr>
            <a:r>
              <a:rPr b="1" i="0" lang="en-US" sz="2100" u="none" cap="none" strike="noStrike">
                <a:solidFill>
                  <a:srgbClr val="04243C"/>
                </a:solidFill>
                <a:latin typeface="Helvetica Neue"/>
                <a:ea typeface="Helvetica Neue"/>
                <a:cs typeface="Helvetica Neue"/>
                <a:sym typeface="Helvetica Neue"/>
              </a:rPr>
              <a:t>Cash · USD 4.50 · Pending</a:t>
            </a:r>
            <a:endParaRPr b="0" i="0" sz="1400" u="none" cap="none" strike="noStrike">
              <a:solidFill>
                <a:srgbClr val="000000"/>
              </a:solidFill>
              <a:latin typeface="Arial"/>
              <a:ea typeface="Arial"/>
              <a:cs typeface="Arial"/>
              <a:sym typeface="Arial"/>
            </a:endParaRPr>
          </a:p>
        </p:txBody>
      </p:sp>
      <p:cxnSp>
        <p:nvCxnSpPr>
          <p:cNvPr id="293" name="Google Shape;293;p18"/>
          <p:cNvCxnSpPr/>
          <p:nvPr/>
        </p:nvCxnSpPr>
        <p:spPr>
          <a:xfrm>
            <a:off x="13240511" y="7200900"/>
            <a:ext cx="402300" cy="0"/>
          </a:xfrm>
          <a:prstGeom prst="straightConnector1">
            <a:avLst/>
          </a:prstGeom>
          <a:noFill/>
          <a:ln cap="flat" cmpd="sng" w="25400">
            <a:solidFill>
              <a:schemeClr val="accent1"/>
            </a:solidFill>
            <a:prstDash val="solid"/>
            <a:round/>
            <a:headEnd len="sm" w="sm" type="none"/>
            <a:tailEnd len="med" w="med" type="triangle"/>
          </a:ln>
        </p:spPr>
      </p:cxnSp>
      <p:sp>
        <p:nvSpPr>
          <p:cNvPr id="294" name="Google Shape;294;p18"/>
          <p:cNvSpPr/>
          <p:nvPr/>
        </p:nvSpPr>
        <p:spPr>
          <a:xfrm>
            <a:off x="13715998" y="5897879"/>
            <a:ext cx="3749058" cy="2606040"/>
          </a:xfrm>
          <a:custGeom>
            <a:rect b="b" l="l" r="r" t="t"/>
            <a:pathLst>
              <a:path extrusionOk="0" h="21600" w="21600">
                <a:moveTo>
                  <a:pt x="0" y="0"/>
                </a:moveTo>
                <a:lnTo>
                  <a:pt x="19493" y="0"/>
                </a:lnTo>
                <a:lnTo>
                  <a:pt x="21600" y="3032"/>
                </a:lnTo>
                <a:lnTo>
                  <a:pt x="21600" y="21600"/>
                </a:lnTo>
                <a:lnTo>
                  <a:pt x="0" y="21600"/>
                </a:lnTo>
                <a:close/>
              </a:path>
            </a:pathLst>
          </a:custGeom>
          <a:solidFill>
            <a:srgbClr val="F1F5F9"/>
          </a:solidFill>
          <a:ln cap="flat" cmpd="sng" w="12700">
            <a:solidFill>
              <a:schemeClr val="accent3"/>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295" name="Google Shape;295;p18"/>
          <p:cNvSpPr txBox="1"/>
          <p:nvPr/>
        </p:nvSpPr>
        <p:spPr>
          <a:xfrm>
            <a:off x="13990319" y="6126479"/>
            <a:ext cx="32004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1"/>
              </a:buClr>
              <a:buSzPts val="1500"/>
              <a:buFont typeface="Helvetica Neue"/>
              <a:buNone/>
            </a:pPr>
            <a:r>
              <a:rPr b="1" i="0" lang="en-US" sz="1500" u="none" cap="none" strike="noStrike">
                <a:solidFill>
                  <a:schemeClr val="accent1"/>
                </a:solidFill>
                <a:latin typeface="Helvetica Neue"/>
                <a:ea typeface="Helvetica Neue"/>
                <a:cs typeface="Helvetica Neue"/>
                <a:sym typeface="Helvetica Neue"/>
              </a:rPr>
              <a:t>CLIENT ALERT</a:t>
            </a:r>
            <a:endParaRPr b="0" i="0" sz="1400" u="none" cap="none" strike="noStrike">
              <a:solidFill>
                <a:srgbClr val="000000"/>
              </a:solidFill>
              <a:latin typeface="Arial"/>
              <a:ea typeface="Arial"/>
              <a:cs typeface="Arial"/>
              <a:sym typeface="Arial"/>
            </a:endParaRPr>
          </a:p>
        </p:txBody>
      </p:sp>
      <p:sp>
        <p:nvSpPr>
          <p:cNvPr id="296" name="Google Shape;296;p18"/>
          <p:cNvSpPr txBox="1"/>
          <p:nvPr/>
        </p:nvSpPr>
        <p:spPr>
          <a:xfrm>
            <a:off x="13990319" y="6629399"/>
            <a:ext cx="3200400" cy="646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2100"/>
              <a:buFont typeface="Helvetica Neue"/>
              <a:buNone/>
            </a:pPr>
            <a:r>
              <a:rPr b="1" i="0" lang="en-US" sz="2100" u="none" cap="none" strike="noStrike">
                <a:solidFill>
                  <a:srgbClr val="04243C"/>
                </a:solidFill>
                <a:latin typeface="Helvetica Neue"/>
                <a:ea typeface="Helvetica Neue"/>
                <a:cs typeface="Helvetica Neue"/>
                <a:sym typeface="Helvetica Neue"/>
              </a:rPr>
              <a:t>"Eventbrite: $4.50 cash merger"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9"/>
          <p:cNvSpPr txBox="1"/>
          <p:nvPr>
            <p:ph type="title"/>
          </p:nvPr>
        </p:nvSpPr>
        <p:spPr>
          <a:xfrm>
            <a:off x="822960" y="960119"/>
            <a:ext cx="16642200" cy="822900"/>
          </a:xfrm>
          <a:prstGeom prst="rect">
            <a:avLst/>
          </a:prstGeom>
          <a:noFill/>
          <a:ln>
            <a:noFill/>
          </a:ln>
        </p:spPr>
        <p:txBody>
          <a:bodyPr anchorCtr="0" anchor="t" bIns="45675" lIns="45675" spcFirstLastPara="1" rIns="45675" wrap="square" tIns="45675">
            <a:normAutofit/>
          </a:bodyPr>
          <a:lstStyle/>
          <a:p>
            <a:pPr indent="0" lvl="0" marL="0" rtl="0" algn="l">
              <a:lnSpc>
                <a:spcPct val="100000"/>
              </a:lnSpc>
              <a:spcBef>
                <a:spcPts val="0"/>
              </a:spcBef>
              <a:spcAft>
                <a:spcPts val="0"/>
              </a:spcAft>
              <a:buClr>
                <a:srgbClr val="04243C"/>
              </a:buClr>
              <a:buSzPts val="3600"/>
              <a:buFont typeface="Helvetica Neue"/>
              <a:buNone/>
            </a:pPr>
            <a:r>
              <a:rPr b="1" lang="en-US" sz="3600">
                <a:solidFill>
                  <a:srgbClr val="04243C"/>
                </a:solidFill>
                <a:latin typeface="Helvetica Neue"/>
                <a:ea typeface="Helvetica Neue"/>
                <a:cs typeface="Helvetica Neue"/>
                <a:sym typeface="Helvetica Neue"/>
              </a:rPr>
              <a:t>Each extraction method fails differently, so we combine them</a:t>
            </a:r>
            <a:endParaRPr/>
          </a:p>
        </p:txBody>
      </p:sp>
      <p:sp>
        <p:nvSpPr>
          <p:cNvPr id="302" name="Google Shape;302;p19"/>
          <p:cNvSpPr txBox="1"/>
          <p:nvPr>
            <p:ph idx="4294967295" type="sldNum"/>
          </p:nvPr>
        </p:nvSpPr>
        <p:spPr>
          <a:xfrm>
            <a:off x="17276204" y="9646919"/>
            <a:ext cx="188700" cy="276900"/>
          </a:xfrm>
          <a:prstGeom prst="rect">
            <a:avLst/>
          </a:prstGeom>
          <a:noFill/>
          <a:ln>
            <a:noFill/>
          </a:ln>
        </p:spPr>
        <p:txBody>
          <a:bodyPr anchorCtr="0" anchor="t" bIns="45675" lIns="45675" spcFirstLastPara="1" rIns="45675" wrap="square" tIns="45675">
            <a:spAutoFit/>
          </a:bodyPr>
          <a:lstStyle/>
          <a:p>
            <a:pPr indent="0" lvl="0" marL="0" rtl="0" algn="r">
              <a:lnSpc>
                <a:spcPct val="100000"/>
              </a:lnSpc>
              <a:spcBef>
                <a:spcPts val="0"/>
              </a:spcBef>
              <a:spcAft>
                <a:spcPts val="0"/>
              </a:spcAft>
              <a:buClr>
                <a:srgbClr val="475569"/>
              </a:buClr>
              <a:buSzPts val="1200"/>
              <a:buFont typeface="Helvetica Neue"/>
              <a:buNone/>
            </a:pPr>
            <a:fld id="{00000000-1234-1234-1234-123412341234}" type="slidenum">
              <a:rPr lang="en-US" sz="1200">
                <a:solidFill>
                  <a:srgbClr val="475569"/>
                </a:solidFill>
                <a:latin typeface="Helvetica Neue"/>
                <a:ea typeface="Helvetica Neue"/>
                <a:cs typeface="Helvetica Neue"/>
                <a:sym typeface="Helvetica Neue"/>
              </a:rPr>
              <a:t>‹#›</a:t>
            </a:fld>
            <a:endParaRPr/>
          </a:p>
        </p:txBody>
      </p:sp>
      <p:sp>
        <p:nvSpPr>
          <p:cNvPr id="303" name="Google Shape;303;p19"/>
          <p:cNvSpPr/>
          <p:nvPr/>
        </p:nvSpPr>
        <p:spPr>
          <a:xfrm>
            <a:off x="822960" y="2194560"/>
            <a:ext cx="3749100" cy="5257800"/>
          </a:xfrm>
          <a:prstGeom prst="roundRect">
            <a:avLst>
              <a:gd fmla="val 10975" name="adj"/>
            </a:avLst>
          </a:prstGeom>
          <a:solidFill>
            <a:srgbClr val="FFFFFF"/>
          </a:solidFill>
          <a:ln cap="flat" cmpd="sng" w="19050">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grpSp>
        <p:nvGrpSpPr>
          <p:cNvPr id="304" name="Google Shape;304;p19"/>
          <p:cNvGrpSpPr/>
          <p:nvPr/>
        </p:nvGrpSpPr>
        <p:grpSpPr>
          <a:xfrm>
            <a:off x="1143000" y="2514600"/>
            <a:ext cx="685800" cy="685800"/>
            <a:chOff x="0" y="0"/>
            <a:chExt cx="685800" cy="685800"/>
          </a:xfrm>
        </p:grpSpPr>
        <p:sp>
          <p:nvSpPr>
            <p:cNvPr id="305" name="Google Shape;305;p19"/>
            <p:cNvSpPr/>
            <p:nvPr/>
          </p:nvSpPr>
          <p:spPr>
            <a:xfrm>
              <a:off x="0" y="0"/>
              <a:ext cx="685800" cy="6858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19"/>
            <p:cNvSpPr txBox="1"/>
            <p:nvPr/>
          </p:nvSpPr>
          <p:spPr>
            <a:xfrm>
              <a:off x="146132" y="163170"/>
              <a:ext cx="393600" cy="3693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2400"/>
                <a:buFont typeface="Helvetica Neue"/>
                <a:buNone/>
              </a:pPr>
              <a:r>
                <a:rPr b="1" i="0" lang="en-US" sz="2400" u="none" cap="none" strike="noStrike">
                  <a:solidFill>
                    <a:srgbClr val="FFFFFF"/>
                  </a:solidFill>
                  <a:latin typeface="Helvetica Neue"/>
                  <a:ea typeface="Helvetica Neue"/>
                  <a:cs typeface="Helvetica Neue"/>
                  <a:sym typeface="Helvetica Neue"/>
                </a:rPr>
                <a:t>1</a:t>
              </a:r>
              <a:endParaRPr b="0" i="0" sz="1400" u="none" cap="none" strike="noStrike">
                <a:solidFill>
                  <a:srgbClr val="000000"/>
                </a:solidFill>
                <a:latin typeface="Arial"/>
                <a:ea typeface="Arial"/>
                <a:cs typeface="Arial"/>
                <a:sym typeface="Arial"/>
              </a:endParaRPr>
            </a:p>
          </p:txBody>
        </p:sp>
      </p:grpSp>
      <p:sp>
        <p:nvSpPr>
          <p:cNvPr id="307" name="Google Shape;307;p19"/>
          <p:cNvSpPr txBox="1"/>
          <p:nvPr/>
        </p:nvSpPr>
        <p:spPr>
          <a:xfrm>
            <a:off x="2011679" y="2468878"/>
            <a:ext cx="23775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2300"/>
              <a:buFont typeface="Helvetica Neue"/>
              <a:buNone/>
            </a:pPr>
            <a:r>
              <a:rPr b="1" i="0" lang="en-US" sz="2300" u="none" cap="none" strike="noStrike">
                <a:solidFill>
                  <a:srgbClr val="04243C"/>
                </a:solidFill>
                <a:latin typeface="Helvetica Neue"/>
                <a:ea typeface="Helvetica Neue"/>
                <a:cs typeface="Helvetica Neue"/>
                <a:sym typeface="Helvetica Neue"/>
              </a:rPr>
              <a:t>Keyword rules</a:t>
            </a:r>
            <a:endParaRPr b="0" i="0" sz="1400" u="none" cap="none" strike="noStrike">
              <a:solidFill>
                <a:srgbClr val="000000"/>
              </a:solidFill>
              <a:latin typeface="Arial"/>
              <a:ea typeface="Arial"/>
              <a:cs typeface="Arial"/>
              <a:sym typeface="Arial"/>
            </a:endParaRPr>
          </a:p>
        </p:txBody>
      </p:sp>
      <p:sp>
        <p:nvSpPr>
          <p:cNvPr id="308" name="Google Shape;308;p19"/>
          <p:cNvSpPr txBox="1"/>
          <p:nvPr/>
        </p:nvSpPr>
        <p:spPr>
          <a:xfrm>
            <a:off x="2011679" y="2944367"/>
            <a:ext cx="23775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475569"/>
              </a:buClr>
              <a:buSzPts val="1600"/>
              <a:buFont typeface="Helvetica Neue"/>
              <a:buNone/>
            </a:pPr>
            <a:r>
              <a:rPr b="0" i="0" lang="en-US" sz="1600" u="none" cap="none" strike="noStrike">
                <a:solidFill>
                  <a:srgbClr val="475569"/>
                </a:solidFill>
                <a:latin typeface="Helvetica Neue"/>
                <a:ea typeface="Helvetica Neue"/>
                <a:cs typeface="Helvetica Neue"/>
                <a:sym typeface="Helvetica Neue"/>
              </a:rPr>
              <a:t>pattern matching</a:t>
            </a:r>
            <a:endParaRPr b="0" i="0" sz="1400" u="none" cap="none" strike="noStrike">
              <a:solidFill>
                <a:srgbClr val="000000"/>
              </a:solidFill>
              <a:latin typeface="Arial"/>
              <a:ea typeface="Arial"/>
              <a:cs typeface="Arial"/>
              <a:sym typeface="Arial"/>
            </a:endParaRPr>
          </a:p>
        </p:txBody>
      </p:sp>
      <p:sp>
        <p:nvSpPr>
          <p:cNvPr id="309" name="Google Shape;309;p19"/>
          <p:cNvSpPr txBox="1"/>
          <p:nvPr/>
        </p:nvSpPr>
        <p:spPr>
          <a:xfrm>
            <a:off x="1142999" y="3611879"/>
            <a:ext cx="31089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1"/>
              </a:buClr>
              <a:buSzPts val="1400"/>
              <a:buFont typeface="Helvetica Neue"/>
              <a:buNone/>
            </a:pPr>
            <a:r>
              <a:rPr b="1" i="0" lang="en-US" sz="1400" u="none" cap="none" strike="noStrike">
                <a:solidFill>
                  <a:schemeClr val="accent1"/>
                </a:solidFill>
                <a:latin typeface="Helvetica Neue"/>
                <a:ea typeface="Helvetica Neue"/>
                <a:cs typeface="Helvetica Neue"/>
                <a:sym typeface="Helvetica Neue"/>
              </a:rPr>
              <a:t>GOOD AT</a:t>
            </a:r>
            <a:endParaRPr b="0" i="0" sz="1400" u="none" cap="none" strike="noStrike">
              <a:solidFill>
                <a:srgbClr val="000000"/>
              </a:solidFill>
              <a:latin typeface="Arial"/>
              <a:ea typeface="Arial"/>
              <a:cs typeface="Arial"/>
              <a:sym typeface="Arial"/>
            </a:endParaRPr>
          </a:p>
        </p:txBody>
      </p:sp>
      <p:sp>
        <p:nvSpPr>
          <p:cNvPr id="310" name="Google Shape;310;p19"/>
          <p:cNvSpPr txBox="1"/>
          <p:nvPr/>
        </p:nvSpPr>
        <p:spPr>
          <a:xfrm>
            <a:off x="1142999" y="3977638"/>
            <a:ext cx="3108900" cy="585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1900"/>
              <a:buFont typeface="Helvetica Neue"/>
              <a:buNone/>
            </a:pPr>
            <a:r>
              <a:rPr b="0" i="0" lang="en-US" sz="1900" u="none" cap="none" strike="noStrike">
                <a:solidFill>
                  <a:srgbClr val="04243C"/>
                </a:solidFill>
                <a:latin typeface="Helvetica Neue"/>
                <a:ea typeface="Helvetica Neue"/>
                <a:cs typeface="Helvetica Neue"/>
                <a:sym typeface="Helvetica Neue"/>
              </a:rPr>
              <a:t>Exact formats, e.g. CUSIP check digits</a:t>
            </a:r>
            <a:endParaRPr b="0" i="0" sz="1400" u="none" cap="none" strike="noStrike">
              <a:solidFill>
                <a:srgbClr val="000000"/>
              </a:solidFill>
              <a:latin typeface="Arial"/>
              <a:ea typeface="Arial"/>
              <a:cs typeface="Arial"/>
              <a:sym typeface="Arial"/>
            </a:endParaRPr>
          </a:p>
        </p:txBody>
      </p:sp>
      <p:sp>
        <p:nvSpPr>
          <p:cNvPr id="311" name="Google Shape;311;p19"/>
          <p:cNvSpPr txBox="1"/>
          <p:nvPr/>
        </p:nvSpPr>
        <p:spPr>
          <a:xfrm>
            <a:off x="1142999" y="4937759"/>
            <a:ext cx="31089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6"/>
              </a:buClr>
              <a:buSzPts val="1400"/>
              <a:buFont typeface="Helvetica Neue"/>
              <a:buNone/>
            </a:pPr>
            <a:r>
              <a:rPr b="1" i="0" lang="en-US" sz="1400" u="none" cap="none" strike="noStrike">
                <a:solidFill>
                  <a:schemeClr val="accent6"/>
                </a:solidFill>
                <a:latin typeface="Helvetica Neue"/>
                <a:ea typeface="Helvetica Neue"/>
                <a:cs typeface="Helvetica Neue"/>
                <a:sym typeface="Helvetica Neue"/>
              </a:rPr>
              <a:t>STRUGGLES WITH</a:t>
            </a:r>
            <a:endParaRPr b="0" i="0" sz="1400" u="none" cap="none" strike="noStrike">
              <a:solidFill>
                <a:srgbClr val="000000"/>
              </a:solidFill>
              <a:latin typeface="Arial"/>
              <a:ea typeface="Arial"/>
              <a:cs typeface="Arial"/>
              <a:sym typeface="Arial"/>
            </a:endParaRPr>
          </a:p>
        </p:txBody>
      </p:sp>
      <p:sp>
        <p:nvSpPr>
          <p:cNvPr id="312" name="Google Shape;312;p19"/>
          <p:cNvSpPr txBox="1"/>
          <p:nvPr/>
        </p:nvSpPr>
        <p:spPr>
          <a:xfrm>
            <a:off x="1142999" y="5303520"/>
            <a:ext cx="3108900" cy="585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1900"/>
              <a:buFont typeface="Helvetica Neue"/>
              <a:buNone/>
            </a:pPr>
            <a:r>
              <a:rPr b="0" i="0" lang="en-US" sz="1900" u="none" cap="none" strike="noStrike">
                <a:solidFill>
                  <a:srgbClr val="04243C"/>
                </a:solidFill>
                <a:latin typeface="Helvetica Neue"/>
                <a:ea typeface="Helvetica Neue"/>
                <a:cs typeface="Helvetica Neue"/>
                <a:sym typeface="Helvetica Neue"/>
              </a:rPr>
              <a:t>9,299 "$" matches, only 354 deal terms</a:t>
            </a:r>
            <a:endParaRPr b="0" i="0" sz="1400" u="none" cap="none" strike="noStrike">
              <a:solidFill>
                <a:srgbClr val="000000"/>
              </a:solidFill>
              <a:latin typeface="Arial"/>
              <a:ea typeface="Arial"/>
              <a:cs typeface="Arial"/>
              <a:sym typeface="Arial"/>
            </a:endParaRPr>
          </a:p>
        </p:txBody>
      </p:sp>
      <p:grpSp>
        <p:nvGrpSpPr>
          <p:cNvPr id="313" name="Google Shape;313;p19"/>
          <p:cNvGrpSpPr/>
          <p:nvPr/>
        </p:nvGrpSpPr>
        <p:grpSpPr>
          <a:xfrm>
            <a:off x="1143000" y="6492240"/>
            <a:ext cx="3108900" cy="640200"/>
            <a:chOff x="0" y="0"/>
            <a:chExt cx="3108900" cy="640200"/>
          </a:xfrm>
        </p:grpSpPr>
        <p:sp>
          <p:nvSpPr>
            <p:cNvPr id="314" name="Google Shape;314;p19"/>
            <p:cNvSpPr/>
            <p:nvPr/>
          </p:nvSpPr>
          <p:spPr>
            <a:xfrm>
              <a:off x="0" y="0"/>
              <a:ext cx="3108900" cy="640200"/>
            </a:xfrm>
            <a:prstGeom prst="roundRect">
              <a:avLst>
                <a:gd fmla="val 18000" name="adj"/>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19"/>
            <p:cNvSpPr txBox="1"/>
            <p:nvPr/>
          </p:nvSpPr>
          <p:spPr>
            <a:xfrm>
              <a:off x="79444" y="189821"/>
              <a:ext cx="2950200" cy="2616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1700"/>
                <a:buFont typeface="Helvetica Neue"/>
                <a:buNone/>
              </a:pPr>
              <a:r>
                <a:rPr b="1" i="0" lang="en-US" sz="1700" u="none" cap="none" strike="noStrike">
                  <a:solidFill>
                    <a:srgbClr val="FFFFFF"/>
                  </a:solidFill>
                  <a:latin typeface="Helvetica Neue"/>
                  <a:ea typeface="Helvetica Neue"/>
                  <a:cs typeface="Helvetica Neue"/>
                  <a:sym typeface="Helvetica Neue"/>
                </a:rPr>
                <a:t>Validate IDs</a:t>
              </a:r>
              <a:endParaRPr b="0" i="0" sz="1400" u="none" cap="none" strike="noStrike">
                <a:solidFill>
                  <a:srgbClr val="000000"/>
                </a:solidFill>
                <a:latin typeface="Arial"/>
                <a:ea typeface="Arial"/>
                <a:cs typeface="Arial"/>
                <a:sym typeface="Arial"/>
              </a:endParaRPr>
            </a:p>
          </p:txBody>
        </p:sp>
      </p:grpSp>
      <p:cxnSp>
        <p:nvCxnSpPr>
          <p:cNvPr id="316" name="Google Shape;316;p19"/>
          <p:cNvCxnSpPr/>
          <p:nvPr/>
        </p:nvCxnSpPr>
        <p:spPr>
          <a:xfrm>
            <a:off x="4645152" y="4823459"/>
            <a:ext cx="402300" cy="0"/>
          </a:xfrm>
          <a:prstGeom prst="straightConnector1">
            <a:avLst/>
          </a:prstGeom>
          <a:noFill/>
          <a:ln cap="flat" cmpd="sng" w="25400">
            <a:solidFill>
              <a:schemeClr val="accent1"/>
            </a:solidFill>
            <a:prstDash val="solid"/>
            <a:round/>
            <a:headEnd len="sm" w="sm" type="none"/>
            <a:tailEnd len="med" w="med" type="triangle"/>
          </a:ln>
        </p:spPr>
      </p:cxnSp>
      <p:sp>
        <p:nvSpPr>
          <p:cNvPr id="317" name="Google Shape;317;p19"/>
          <p:cNvSpPr/>
          <p:nvPr/>
        </p:nvSpPr>
        <p:spPr>
          <a:xfrm>
            <a:off x="5120640" y="2194560"/>
            <a:ext cx="3749100" cy="5257800"/>
          </a:xfrm>
          <a:prstGeom prst="roundRect">
            <a:avLst>
              <a:gd fmla="val 10975" name="adj"/>
            </a:avLst>
          </a:prstGeom>
          <a:solidFill>
            <a:srgbClr val="FFFFFF"/>
          </a:solidFill>
          <a:ln cap="flat" cmpd="sng" w="19050">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grpSp>
        <p:nvGrpSpPr>
          <p:cNvPr id="318" name="Google Shape;318;p19"/>
          <p:cNvGrpSpPr/>
          <p:nvPr/>
        </p:nvGrpSpPr>
        <p:grpSpPr>
          <a:xfrm>
            <a:off x="5440679" y="2514600"/>
            <a:ext cx="685800" cy="685800"/>
            <a:chOff x="0" y="0"/>
            <a:chExt cx="685800" cy="685800"/>
          </a:xfrm>
        </p:grpSpPr>
        <p:sp>
          <p:nvSpPr>
            <p:cNvPr id="319" name="Google Shape;319;p19"/>
            <p:cNvSpPr/>
            <p:nvPr/>
          </p:nvSpPr>
          <p:spPr>
            <a:xfrm>
              <a:off x="0" y="0"/>
              <a:ext cx="685800" cy="6858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19"/>
            <p:cNvSpPr txBox="1"/>
            <p:nvPr/>
          </p:nvSpPr>
          <p:spPr>
            <a:xfrm>
              <a:off x="146132" y="163170"/>
              <a:ext cx="393600" cy="3693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2400"/>
                <a:buFont typeface="Helvetica Neue"/>
                <a:buNone/>
              </a:pPr>
              <a:r>
                <a:rPr b="1" i="0" lang="en-US" sz="2400" u="none" cap="none" strike="noStrike">
                  <a:solidFill>
                    <a:srgbClr val="FFFFFF"/>
                  </a:solidFill>
                  <a:latin typeface="Helvetica Neue"/>
                  <a:ea typeface="Helvetica Neue"/>
                  <a:cs typeface="Helvetica Neue"/>
                  <a:sym typeface="Helvetica Neue"/>
                </a:rPr>
                <a:t>2</a:t>
              </a:r>
              <a:endParaRPr b="0" i="0" sz="1400" u="none" cap="none" strike="noStrike">
                <a:solidFill>
                  <a:srgbClr val="000000"/>
                </a:solidFill>
                <a:latin typeface="Arial"/>
                <a:ea typeface="Arial"/>
                <a:cs typeface="Arial"/>
                <a:sym typeface="Arial"/>
              </a:endParaRPr>
            </a:p>
          </p:txBody>
        </p:sp>
      </p:grpSp>
      <p:sp>
        <p:nvSpPr>
          <p:cNvPr id="321" name="Google Shape;321;p19"/>
          <p:cNvSpPr txBox="1"/>
          <p:nvPr/>
        </p:nvSpPr>
        <p:spPr>
          <a:xfrm>
            <a:off x="6309359" y="2468878"/>
            <a:ext cx="23775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2300"/>
              <a:buFont typeface="Helvetica Neue"/>
              <a:buNone/>
            </a:pPr>
            <a:r>
              <a:rPr b="1" i="0" lang="en-US" sz="2300" u="none" cap="none" strike="noStrike">
                <a:solidFill>
                  <a:srgbClr val="04243C"/>
                </a:solidFill>
                <a:latin typeface="Helvetica Neue"/>
                <a:ea typeface="Helvetica Neue"/>
                <a:cs typeface="Helvetica Neue"/>
                <a:sym typeface="Helvetica Neue"/>
              </a:rPr>
              <a:t>GLiNER</a:t>
            </a:r>
            <a:endParaRPr b="0" i="0" sz="1400" u="none" cap="none" strike="noStrike">
              <a:solidFill>
                <a:srgbClr val="000000"/>
              </a:solidFill>
              <a:latin typeface="Arial"/>
              <a:ea typeface="Arial"/>
              <a:cs typeface="Arial"/>
              <a:sym typeface="Arial"/>
            </a:endParaRPr>
          </a:p>
        </p:txBody>
      </p:sp>
      <p:sp>
        <p:nvSpPr>
          <p:cNvPr id="322" name="Google Shape;322;p19"/>
          <p:cNvSpPr txBox="1"/>
          <p:nvPr/>
        </p:nvSpPr>
        <p:spPr>
          <a:xfrm>
            <a:off x="6309359" y="2944367"/>
            <a:ext cx="23775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475569"/>
              </a:buClr>
              <a:buSzPts val="1600"/>
              <a:buFont typeface="Helvetica Neue"/>
              <a:buNone/>
            </a:pPr>
            <a:r>
              <a:rPr b="0" i="0" lang="en-US" sz="1600" u="none" cap="none" strike="noStrike">
                <a:solidFill>
                  <a:srgbClr val="475569"/>
                </a:solidFill>
                <a:latin typeface="Helvetica Neue"/>
                <a:ea typeface="Helvetica Neue"/>
                <a:cs typeface="Helvetica Neue"/>
                <a:sym typeface="Helvetica Neue"/>
              </a:rPr>
              <a:t>small entity model</a:t>
            </a:r>
            <a:endParaRPr b="0" i="0" sz="1400" u="none" cap="none" strike="noStrike">
              <a:solidFill>
                <a:srgbClr val="000000"/>
              </a:solidFill>
              <a:latin typeface="Arial"/>
              <a:ea typeface="Arial"/>
              <a:cs typeface="Arial"/>
              <a:sym typeface="Arial"/>
            </a:endParaRPr>
          </a:p>
        </p:txBody>
      </p:sp>
      <p:sp>
        <p:nvSpPr>
          <p:cNvPr id="323" name="Google Shape;323;p19"/>
          <p:cNvSpPr txBox="1"/>
          <p:nvPr/>
        </p:nvSpPr>
        <p:spPr>
          <a:xfrm>
            <a:off x="5440679" y="3611879"/>
            <a:ext cx="31089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1"/>
              </a:buClr>
              <a:buSzPts val="1400"/>
              <a:buFont typeface="Helvetica Neue"/>
              <a:buNone/>
            </a:pPr>
            <a:r>
              <a:rPr b="1" i="0" lang="en-US" sz="1400" u="none" cap="none" strike="noStrike">
                <a:solidFill>
                  <a:schemeClr val="accent1"/>
                </a:solidFill>
                <a:latin typeface="Helvetica Neue"/>
                <a:ea typeface="Helvetica Neue"/>
                <a:cs typeface="Helvetica Neue"/>
                <a:sym typeface="Helvetica Neue"/>
              </a:rPr>
              <a:t>GOOD AT</a:t>
            </a:r>
            <a:endParaRPr b="0" i="0" sz="1400" u="none" cap="none" strike="noStrike">
              <a:solidFill>
                <a:srgbClr val="000000"/>
              </a:solidFill>
              <a:latin typeface="Arial"/>
              <a:ea typeface="Arial"/>
              <a:cs typeface="Arial"/>
              <a:sym typeface="Arial"/>
            </a:endParaRPr>
          </a:p>
        </p:txBody>
      </p:sp>
      <p:sp>
        <p:nvSpPr>
          <p:cNvPr id="324" name="Google Shape;324;p19"/>
          <p:cNvSpPr txBox="1"/>
          <p:nvPr/>
        </p:nvSpPr>
        <p:spPr>
          <a:xfrm>
            <a:off x="5440679" y="3977638"/>
            <a:ext cx="3108900" cy="585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1900"/>
              <a:buFont typeface="Helvetica Neue"/>
              <a:buNone/>
            </a:pPr>
            <a:r>
              <a:rPr b="0" i="0" lang="en-US" sz="1900" u="none" cap="none" strike="noStrike">
                <a:solidFill>
                  <a:srgbClr val="04243C"/>
                </a:solidFill>
                <a:latin typeface="Helvetica Neue"/>
                <a:ea typeface="Helvetica Neue"/>
                <a:cs typeface="Helvetica Neue"/>
                <a:sym typeface="Helvetica Neue"/>
              </a:rPr>
              <a:t>Fast, runs locally, exact text spans</a:t>
            </a:r>
            <a:endParaRPr b="0" i="0" sz="1400" u="none" cap="none" strike="noStrike">
              <a:solidFill>
                <a:srgbClr val="000000"/>
              </a:solidFill>
              <a:latin typeface="Arial"/>
              <a:ea typeface="Arial"/>
              <a:cs typeface="Arial"/>
              <a:sym typeface="Arial"/>
            </a:endParaRPr>
          </a:p>
        </p:txBody>
      </p:sp>
      <p:sp>
        <p:nvSpPr>
          <p:cNvPr id="325" name="Google Shape;325;p19"/>
          <p:cNvSpPr txBox="1"/>
          <p:nvPr/>
        </p:nvSpPr>
        <p:spPr>
          <a:xfrm>
            <a:off x="5440679" y="4937759"/>
            <a:ext cx="31089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6"/>
              </a:buClr>
              <a:buSzPts val="1400"/>
              <a:buFont typeface="Helvetica Neue"/>
              <a:buNone/>
            </a:pPr>
            <a:r>
              <a:rPr b="1" i="0" lang="en-US" sz="1400" u="none" cap="none" strike="noStrike">
                <a:solidFill>
                  <a:schemeClr val="accent6"/>
                </a:solidFill>
                <a:latin typeface="Helvetica Neue"/>
                <a:ea typeface="Helvetica Neue"/>
                <a:cs typeface="Helvetica Neue"/>
                <a:sym typeface="Helvetica Neue"/>
              </a:rPr>
              <a:t>STRUGGLES WITH</a:t>
            </a:r>
            <a:endParaRPr b="0" i="0" sz="1400" u="none" cap="none" strike="noStrike">
              <a:solidFill>
                <a:srgbClr val="000000"/>
              </a:solidFill>
              <a:latin typeface="Arial"/>
              <a:ea typeface="Arial"/>
              <a:cs typeface="Arial"/>
              <a:sym typeface="Arial"/>
            </a:endParaRPr>
          </a:p>
        </p:txBody>
      </p:sp>
      <p:sp>
        <p:nvSpPr>
          <p:cNvPr id="326" name="Google Shape;326;p19"/>
          <p:cNvSpPr txBox="1"/>
          <p:nvPr/>
        </p:nvSpPr>
        <p:spPr>
          <a:xfrm>
            <a:off x="5440679" y="5303520"/>
            <a:ext cx="3108900" cy="585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1900"/>
              <a:buFont typeface="Helvetica Neue"/>
              <a:buNone/>
            </a:pPr>
            <a:r>
              <a:rPr b="0" i="0" lang="en-US" sz="1900" u="none" cap="none" strike="noStrike">
                <a:solidFill>
                  <a:srgbClr val="04243C"/>
                </a:solidFill>
                <a:latin typeface="Helvetica Neue"/>
                <a:ea typeface="Helvetica Neue"/>
                <a:cs typeface="Helvetica Neue"/>
                <a:sym typeface="Helvetica Neue"/>
              </a:rPr>
              <a:t>Picks headings ("Offer Price") over values</a:t>
            </a:r>
            <a:endParaRPr b="0" i="0" sz="1400" u="none" cap="none" strike="noStrike">
              <a:solidFill>
                <a:srgbClr val="000000"/>
              </a:solidFill>
              <a:latin typeface="Arial"/>
              <a:ea typeface="Arial"/>
              <a:cs typeface="Arial"/>
              <a:sym typeface="Arial"/>
            </a:endParaRPr>
          </a:p>
        </p:txBody>
      </p:sp>
      <p:grpSp>
        <p:nvGrpSpPr>
          <p:cNvPr id="327" name="Google Shape;327;p19"/>
          <p:cNvGrpSpPr/>
          <p:nvPr/>
        </p:nvGrpSpPr>
        <p:grpSpPr>
          <a:xfrm>
            <a:off x="5440679" y="6492240"/>
            <a:ext cx="3108900" cy="640200"/>
            <a:chOff x="0" y="0"/>
            <a:chExt cx="3108900" cy="640200"/>
          </a:xfrm>
        </p:grpSpPr>
        <p:sp>
          <p:nvSpPr>
            <p:cNvPr id="328" name="Google Shape;328;p19"/>
            <p:cNvSpPr/>
            <p:nvPr/>
          </p:nvSpPr>
          <p:spPr>
            <a:xfrm>
              <a:off x="0" y="0"/>
              <a:ext cx="3108900" cy="640200"/>
            </a:xfrm>
            <a:prstGeom prst="roundRect">
              <a:avLst>
                <a:gd fmla="val 18000" name="adj"/>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19"/>
            <p:cNvSpPr txBox="1"/>
            <p:nvPr/>
          </p:nvSpPr>
          <p:spPr>
            <a:xfrm>
              <a:off x="79444" y="189821"/>
              <a:ext cx="2950200" cy="2616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1700"/>
                <a:buFont typeface="Helvetica Neue"/>
                <a:buNone/>
              </a:pPr>
              <a:r>
                <a:rPr b="1" i="0" lang="en-US" sz="1700" u="none" cap="none" strike="noStrike">
                  <a:solidFill>
                    <a:srgbClr val="FFFFFF"/>
                  </a:solidFill>
                  <a:latin typeface="Helvetica Neue"/>
                  <a:ea typeface="Helvetica Neue"/>
                  <a:cs typeface="Helvetica Neue"/>
                  <a:sym typeface="Helvetica Neue"/>
                </a:rPr>
                <a:t>Propose candidates</a:t>
              </a:r>
              <a:endParaRPr b="0" i="0" sz="1400" u="none" cap="none" strike="noStrike">
                <a:solidFill>
                  <a:srgbClr val="000000"/>
                </a:solidFill>
                <a:latin typeface="Arial"/>
                <a:ea typeface="Arial"/>
                <a:cs typeface="Arial"/>
                <a:sym typeface="Arial"/>
              </a:endParaRPr>
            </a:p>
          </p:txBody>
        </p:sp>
      </p:grpSp>
      <p:cxnSp>
        <p:nvCxnSpPr>
          <p:cNvPr id="330" name="Google Shape;330;p19"/>
          <p:cNvCxnSpPr/>
          <p:nvPr/>
        </p:nvCxnSpPr>
        <p:spPr>
          <a:xfrm>
            <a:off x="8942831" y="4823459"/>
            <a:ext cx="402300" cy="0"/>
          </a:xfrm>
          <a:prstGeom prst="straightConnector1">
            <a:avLst/>
          </a:prstGeom>
          <a:noFill/>
          <a:ln cap="flat" cmpd="sng" w="25400">
            <a:solidFill>
              <a:schemeClr val="accent1"/>
            </a:solidFill>
            <a:prstDash val="solid"/>
            <a:round/>
            <a:headEnd len="sm" w="sm" type="none"/>
            <a:tailEnd len="med" w="med" type="triangle"/>
          </a:ln>
        </p:spPr>
      </p:cxnSp>
      <p:sp>
        <p:nvSpPr>
          <p:cNvPr id="331" name="Google Shape;331;p19"/>
          <p:cNvSpPr/>
          <p:nvPr/>
        </p:nvSpPr>
        <p:spPr>
          <a:xfrm>
            <a:off x="9418318" y="2194560"/>
            <a:ext cx="3749100" cy="5257800"/>
          </a:xfrm>
          <a:prstGeom prst="roundRect">
            <a:avLst>
              <a:gd fmla="val 10975" name="adj"/>
            </a:avLst>
          </a:prstGeom>
          <a:solidFill>
            <a:srgbClr val="FFFFFF"/>
          </a:solidFill>
          <a:ln cap="flat" cmpd="sng" w="19050">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grpSp>
        <p:nvGrpSpPr>
          <p:cNvPr id="332" name="Google Shape;332;p19"/>
          <p:cNvGrpSpPr/>
          <p:nvPr/>
        </p:nvGrpSpPr>
        <p:grpSpPr>
          <a:xfrm>
            <a:off x="9738359" y="2514600"/>
            <a:ext cx="685800" cy="685800"/>
            <a:chOff x="0" y="0"/>
            <a:chExt cx="685800" cy="685800"/>
          </a:xfrm>
        </p:grpSpPr>
        <p:sp>
          <p:nvSpPr>
            <p:cNvPr id="333" name="Google Shape;333;p19"/>
            <p:cNvSpPr/>
            <p:nvPr/>
          </p:nvSpPr>
          <p:spPr>
            <a:xfrm>
              <a:off x="0" y="0"/>
              <a:ext cx="685800" cy="6858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19"/>
            <p:cNvSpPr txBox="1"/>
            <p:nvPr/>
          </p:nvSpPr>
          <p:spPr>
            <a:xfrm>
              <a:off x="146132" y="163170"/>
              <a:ext cx="393600" cy="3693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2400"/>
                <a:buFont typeface="Helvetica Neue"/>
                <a:buNone/>
              </a:pPr>
              <a:r>
                <a:rPr b="1" i="0" lang="en-US" sz="2400" u="none" cap="none" strike="noStrike">
                  <a:solidFill>
                    <a:srgbClr val="FFFFFF"/>
                  </a:solidFill>
                  <a:latin typeface="Helvetica Neue"/>
                  <a:ea typeface="Helvetica Neue"/>
                  <a:cs typeface="Helvetica Neue"/>
                  <a:sym typeface="Helvetica Neue"/>
                </a:rPr>
                <a:t>3</a:t>
              </a:r>
              <a:endParaRPr b="0" i="0" sz="1400" u="none" cap="none" strike="noStrike">
                <a:solidFill>
                  <a:srgbClr val="000000"/>
                </a:solidFill>
                <a:latin typeface="Arial"/>
                <a:ea typeface="Arial"/>
                <a:cs typeface="Arial"/>
                <a:sym typeface="Arial"/>
              </a:endParaRPr>
            </a:p>
          </p:txBody>
        </p:sp>
      </p:grpSp>
      <p:sp>
        <p:nvSpPr>
          <p:cNvPr id="335" name="Google Shape;335;p19"/>
          <p:cNvSpPr txBox="1"/>
          <p:nvPr/>
        </p:nvSpPr>
        <p:spPr>
          <a:xfrm>
            <a:off x="10607040" y="2468878"/>
            <a:ext cx="23775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2300"/>
              <a:buFont typeface="Helvetica Neue"/>
              <a:buNone/>
            </a:pPr>
            <a:r>
              <a:rPr b="1" i="0" lang="en-US" sz="2300" u="none" cap="none" strike="noStrike">
                <a:solidFill>
                  <a:srgbClr val="04243C"/>
                </a:solidFill>
                <a:latin typeface="Helvetica Neue"/>
                <a:ea typeface="Helvetica Neue"/>
                <a:cs typeface="Helvetica Neue"/>
                <a:sym typeface="Helvetica Neue"/>
              </a:rPr>
              <a:t>LLM</a:t>
            </a:r>
            <a:endParaRPr b="0" i="0" sz="1400" u="none" cap="none" strike="noStrike">
              <a:solidFill>
                <a:srgbClr val="000000"/>
              </a:solidFill>
              <a:latin typeface="Arial"/>
              <a:ea typeface="Arial"/>
              <a:cs typeface="Arial"/>
              <a:sym typeface="Arial"/>
            </a:endParaRPr>
          </a:p>
        </p:txBody>
      </p:sp>
      <p:sp>
        <p:nvSpPr>
          <p:cNvPr id="336" name="Google Shape;336;p19"/>
          <p:cNvSpPr txBox="1"/>
          <p:nvPr/>
        </p:nvSpPr>
        <p:spPr>
          <a:xfrm>
            <a:off x="10607040" y="2944367"/>
            <a:ext cx="23775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475569"/>
              </a:buClr>
              <a:buSzPts val="1600"/>
              <a:buFont typeface="Helvetica Neue"/>
              <a:buNone/>
            </a:pPr>
            <a:r>
              <a:rPr b="0" i="0" lang="en-US" sz="1600" u="none" cap="none" strike="noStrike">
                <a:solidFill>
                  <a:srgbClr val="475569"/>
                </a:solidFill>
                <a:latin typeface="Helvetica Neue"/>
                <a:ea typeface="Helvetica Neue"/>
                <a:cs typeface="Helvetica Neue"/>
                <a:sym typeface="Helvetica Neue"/>
              </a:rPr>
              <a:t>large language model</a:t>
            </a:r>
            <a:endParaRPr b="0" i="0" sz="1400" u="none" cap="none" strike="noStrike">
              <a:solidFill>
                <a:srgbClr val="000000"/>
              </a:solidFill>
              <a:latin typeface="Arial"/>
              <a:ea typeface="Arial"/>
              <a:cs typeface="Arial"/>
              <a:sym typeface="Arial"/>
            </a:endParaRPr>
          </a:p>
        </p:txBody>
      </p:sp>
      <p:sp>
        <p:nvSpPr>
          <p:cNvPr id="337" name="Google Shape;337;p19"/>
          <p:cNvSpPr txBox="1"/>
          <p:nvPr/>
        </p:nvSpPr>
        <p:spPr>
          <a:xfrm>
            <a:off x="9738359" y="3611879"/>
            <a:ext cx="31089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1"/>
              </a:buClr>
              <a:buSzPts val="1400"/>
              <a:buFont typeface="Helvetica Neue"/>
              <a:buNone/>
            </a:pPr>
            <a:r>
              <a:rPr b="1" i="0" lang="en-US" sz="1400" u="none" cap="none" strike="noStrike">
                <a:solidFill>
                  <a:schemeClr val="accent1"/>
                </a:solidFill>
                <a:latin typeface="Helvetica Neue"/>
                <a:ea typeface="Helvetica Neue"/>
                <a:cs typeface="Helvetica Neue"/>
                <a:sym typeface="Helvetica Neue"/>
              </a:rPr>
              <a:t>GOOD AT</a:t>
            </a:r>
            <a:endParaRPr b="0" i="0" sz="1400" u="none" cap="none" strike="noStrike">
              <a:solidFill>
                <a:srgbClr val="000000"/>
              </a:solidFill>
              <a:latin typeface="Arial"/>
              <a:ea typeface="Arial"/>
              <a:cs typeface="Arial"/>
              <a:sym typeface="Arial"/>
            </a:endParaRPr>
          </a:p>
        </p:txBody>
      </p:sp>
      <p:sp>
        <p:nvSpPr>
          <p:cNvPr id="338" name="Google Shape;338;p19"/>
          <p:cNvSpPr txBox="1"/>
          <p:nvPr/>
        </p:nvSpPr>
        <p:spPr>
          <a:xfrm>
            <a:off x="9738359" y="3977638"/>
            <a:ext cx="3108900" cy="585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1900"/>
              <a:buFont typeface="Helvetica Neue"/>
              <a:buNone/>
            </a:pPr>
            <a:r>
              <a:rPr b="0" i="0" lang="en-US" sz="1900" u="none" cap="none" strike="noStrike">
                <a:solidFill>
                  <a:srgbClr val="04243C"/>
                </a:solidFill>
                <a:latin typeface="Helvetica Neue"/>
                <a:ea typeface="Helvetica Neue"/>
                <a:cs typeface="Helvetica Neue"/>
                <a:sym typeface="Helvetica Neue"/>
              </a:rPr>
              <a:t>Reads context and complex terms</a:t>
            </a:r>
            <a:endParaRPr b="0" i="0" sz="1400" u="none" cap="none" strike="noStrike">
              <a:solidFill>
                <a:srgbClr val="000000"/>
              </a:solidFill>
              <a:latin typeface="Arial"/>
              <a:ea typeface="Arial"/>
              <a:cs typeface="Arial"/>
              <a:sym typeface="Arial"/>
            </a:endParaRPr>
          </a:p>
        </p:txBody>
      </p:sp>
      <p:sp>
        <p:nvSpPr>
          <p:cNvPr id="339" name="Google Shape;339;p19"/>
          <p:cNvSpPr txBox="1"/>
          <p:nvPr/>
        </p:nvSpPr>
        <p:spPr>
          <a:xfrm>
            <a:off x="9738359" y="4937759"/>
            <a:ext cx="31089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6"/>
              </a:buClr>
              <a:buSzPts val="1400"/>
              <a:buFont typeface="Helvetica Neue"/>
              <a:buNone/>
            </a:pPr>
            <a:r>
              <a:rPr b="1" i="0" lang="en-US" sz="1400" u="none" cap="none" strike="noStrike">
                <a:solidFill>
                  <a:schemeClr val="accent6"/>
                </a:solidFill>
                <a:latin typeface="Helvetica Neue"/>
                <a:ea typeface="Helvetica Neue"/>
                <a:cs typeface="Helvetica Neue"/>
                <a:sym typeface="Helvetica Neue"/>
              </a:rPr>
              <a:t>STRUGGLES WITH</a:t>
            </a:r>
            <a:endParaRPr b="0" i="0" sz="1400" u="none" cap="none" strike="noStrike">
              <a:solidFill>
                <a:srgbClr val="000000"/>
              </a:solidFill>
              <a:latin typeface="Arial"/>
              <a:ea typeface="Arial"/>
              <a:cs typeface="Arial"/>
              <a:sym typeface="Arial"/>
            </a:endParaRPr>
          </a:p>
        </p:txBody>
      </p:sp>
      <p:sp>
        <p:nvSpPr>
          <p:cNvPr id="340" name="Google Shape;340;p19"/>
          <p:cNvSpPr txBox="1"/>
          <p:nvPr/>
        </p:nvSpPr>
        <p:spPr>
          <a:xfrm>
            <a:off x="9738359" y="5303520"/>
            <a:ext cx="3108900" cy="585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1900"/>
              <a:buFont typeface="Helvetica Neue"/>
              <a:buNone/>
            </a:pPr>
            <a:r>
              <a:rPr b="0" i="0" lang="en-US" sz="1900" u="none" cap="none" strike="noStrike">
                <a:solidFill>
                  <a:srgbClr val="04243C"/>
                </a:solidFill>
                <a:latin typeface="Helvetica Neue"/>
                <a:ea typeface="Helvetica Neue"/>
                <a:cs typeface="Helvetica Neue"/>
                <a:sym typeface="Helvetica Neue"/>
              </a:rPr>
              <a:t>Slow; the longest filings time out</a:t>
            </a:r>
            <a:endParaRPr b="0" i="0" sz="1400" u="none" cap="none" strike="noStrike">
              <a:solidFill>
                <a:srgbClr val="000000"/>
              </a:solidFill>
              <a:latin typeface="Arial"/>
              <a:ea typeface="Arial"/>
              <a:cs typeface="Arial"/>
              <a:sym typeface="Arial"/>
            </a:endParaRPr>
          </a:p>
        </p:txBody>
      </p:sp>
      <p:grpSp>
        <p:nvGrpSpPr>
          <p:cNvPr id="341" name="Google Shape;341;p19"/>
          <p:cNvGrpSpPr/>
          <p:nvPr/>
        </p:nvGrpSpPr>
        <p:grpSpPr>
          <a:xfrm>
            <a:off x="9738359" y="6492240"/>
            <a:ext cx="3108900" cy="640200"/>
            <a:chOff x="0" y="0"/>
            <a:chExt cx="3108900" cy="640200"/>
          </a:xfrm>
        </p:grpSpPr>
        <p:sp>
          <p:nvSpPr>
            <p:cNvPr id="342" name="Google Shape;342;p19"/>
            <p:cNvSpPr/>
            <p:nvPr/>
          </p:nvSpPr>
          <p:spPr>
            <a:xfrm>
              <a:off x="0" y="0"/>
              <a:ext cx="3108900" cy="640200"/>
            </a:xfrm>
            <a:prstGeom prst="roundRect">
              <a:avLst>
                <a:gd fmla="val 18000" name="adj"/>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19"/>
            <p:cNvSpPr txBox="1"/>
            <p:nvPr/>
          </p:nvSpPr>
          <p:spPr>
            <a:xfrm>
              <a:off x="79444" y="189821"/>
              <a:ext cx="2950200" cy="2616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1700"/>
                <a:buFont typeface="Helvetica Neue"/>
                <a:buNone/>
              </a:pPr>
              <a:r>
                <a:rPr b="1" i="0" lang="en-US" sz="1700" u="none" cap="none" strike="noStrike">
                  <a:solidFill>
                    <a:srgbClr val="FFFFFF"/>
                  </a:solidFill>
                  <a:latin typeface="Helvetica Neue"/>
                  <a:ea typeface="Helvetica Neue"/>
                  <a:cs typeface="Helvetica Neue"/>
                  <a:sym typeface="Helvetica Neue"/>
                </a:rPr>
                <a:t>Reason + reference set</a:t>
              </a:r>
              <a:endParaRPr b="0" i="0" sz="1400" u="none" cap="none" strike="noStrike">
                <a:solidFill>
                  <a:srgbClr val="000000"/>
                </a:solidFill>
                <a:latin typeface="Arial"/>
                <a:ea typeface="Arial"/>
                <a:cs typeface="Arial"/>
                <a:sym typeface="Arial"/>
              </a:endParaRPr>
            </a:p>
          </p:txBody>
        </p:sp>
      </p:grpSp>
      <p:cxnSp>
        <p:nvCxnSpPr>
          <p:cNvPr id="344" name="Google Shape;344;p19"/>
          <p:cNvCxnSpPr/>
          <p:nvPr/>
        </p:nvCxnSpPr>
        <p:spPr>
          <a:xfrm>
            <a:off x="13240511" y="4823459"/>
            <a:ext cx="402300" cy="0"/>
          </a:xfrm>
          <a:prstGeom prst="straightConnector1">
            <a:avLst/>
          </a:prstGeom>
          <a:noFill/>
          <a:ln cap="flat" cmpd="sng" w="25400">
            <a:solidFill>
              <a:schemeClr val="accent1"/>
            </a:solidFill>
            <a:prstDash val="solid"/>
            <a:round/>
            <a:headEnd len="sm" w="sm" type="none"/>
            <a:tailEnd len="med" w="med" type="triangle"/>
          </a:ln>
        </p:spPr>
      </p:cxnSp>
      <p:sp>
        <p:nvSpPr>
          <p:cNvPr id="345" name="Google Shape;345;p19"/>
          <p:cNvSpPr/>
          <p:nvPr/>
        </p:nvSpPr>
        <p:spPr>
          <a:xfrm>
            <a:off x="13715998" y="2194560"/>
            <a:ext cx="3749100" cy="5257800"/>
          </a:xfrm>
          <a:prstGeom prst="roundRect">
            <a:avLst>
              <a:gd fmla="val 10975" name="adj"/>
            </a:avLst>
          </a:prstGeom>
          <a:solidFill>
            <a:srgbClr val="FFFFFF"/>
          </a:solidFill>
          <a:ln cap="flat" cmpd="sng" w="19050">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grpSp>
        <p:nvGrpSpPr>
          <p:cNvPr id="346" name="Google Shape;346;p19"/>
          <p:cNvGrpSpPr/>
          <p:nvPr/>
        </p:nvGrpSpPr>
        <p:grpSpPr>
          <a:xfrm>
            <a:off x="14036039" y="2514600"/>
            <a:ext cx="685800" cy="685800"/>
            <a:chOff x="0" y="0"/>
            <a:chExt cx="685800" cy="685800"/>
          </a:xfrm>
        </p:grpSpPr>
        <p:sp>
          <p:nvSpPr>
            <p:cNvPr id="347" name="Google Shape;347;p19"/>
            <p:cNvSpPr/>
            <p:nvPr/>
          </p:nvSpPr>
          <p:spPr>
            <a:xfrm>
              <a:off x="0" y="0"/>
              <a:ext cx="685800" cy="6858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19"/>
            <p:cNvSpPr txBox="1"/>
            <p:nvPr/>
          </p:nvSpPr>
          <p:spPr>
            <a:xfrm>
              <a:off x="146132" y="163170"/>
              <a:ext cx="393600" cy="3693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2400"/>
                <a:buFont typeface="Helvetica Neue"/>
                <a:buNone/>
              </a:pPr>
              <a:r>
                <a:rPr b="1" i="0" lang="en-US" sz="2400" u="none" cap="none" strike="noStrike">
                  <a:solidFill>
                    <a:srgbClr val="FFFFFF"/>
                  </a:solidFill>
                  <a:latin typeface="Helvetica Neue"/>
                  <a:ea typeface="Helvetica Neue"/>
                  <a:cs typeface="Helvetica Neue"/>
                  <a:sym typeface="Helvetica Neue"/>
                </a:rPr>
                <a:t>4</a:t>
              </a:r>
              <a:endParaRPr b="0" i="0" sz="1400" u="none" cap="none" strike="noStrike">
                <a:solidFill>
                  <a:srgbClr val="000000"/>
                </a:solidFill>
                <a:latin typeface="Arial"/>
                <a:ea typeface="Arial"/>
                <a:cs typeface="Arial"/>
                <a:sym typeface="Arial"/>
              </a:endParaRPr>
            </a:p>
          </p:txBody>
        </p:sp>
      </p:grpSp>
      <p:sp>
        <p:nvSpPr>
          <p:cNvPr id="349" name="Google Shape;349;p19"/>
          <p:cNvSpPr txBox="1"/>
          <p:nvPr/>
        </p:nvSpPr>
        <p:spPr>
          <a:xfrm>
            <a:off x="14904719" y="2468878"/>
            <a:ext cx="23775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2300"/>
              <a:buFont typeface="Helvetica Neue"/>
              <a:buNone/>
            </a:pPr>
            <a:r>
              <a:rPr b="1" i="0" lang="en-US" sz="2300" u="none" cap="none" strike="noStrike">
                <a:solidFill>
                  <a:srgbClr val="04243C"/>
                </a:solidFill>
                <a:latin typeface="Helvetica Neue"/>
                <a:ea typeface="Helvetica Neue"/>
                <a:cs typeface="Helvetica Neue"/>
                <a:sym typeface="Helvetica Neue"/>
              </a:rPr>
              <a:t>Human review</a:t>
            </a:r>
            <a:endParaRPr b="0" i="0" sz="1400" u="none" cap="none" strike="noStrike">
              <a:solidFill>
                <a:srgbClr val="000000"/>
              </a:solidFill>
              <a:latin typeface="Arial"/>
              <a:ea typeface="Arial"/>
              <a:cs typeface="Arial"/>
              <a:sym typeface="Arial"/>
            </a:endParaRPr>
          </a:p>
        </p:txBody>
      </p:sp>
      <p:sp>
        <p:nvSpPr>
          <p:cNvPr id="350" name="Google Shape;350;p19"/>
          <p:cNvSpPr txBox="1"/>
          <p:nvPr/>
        </p:nvSpPr>
        <p:spPr>
          <a:xfrm>
            <a:off x="14904719" y="2944367"/>
            <a:ext cx="23775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475569"/>
              </a:buClr>
              <a:buSzPts val="1600"/>
              <a:buFont typeface="Helvetica Neue"/>
              <a:buNone/>
            </a:pPr>
            <a:r>
              <a:rPr b="0" i="0" lang="en-US" sz="1600" u="none" cap="none" strike="noStrike">
                <a:solidFill>
                  <a:srgbClr val="475569"/>
                </a:solidFill>
                <a:latin typeface="Helvetica Neue"/>
                <a:ea typeface="Helvetica Neue"/>
                <a:cs typeface="Helvetica Neue"/>
                <a:sym typeface="Helvetica Neue"/>
              </a:rPr>
              <a:t>team members</a:t>
            </a:r>
            <a:endParaRPr b="0" i="0" sz="1400" u="none" cap="none" strike="noStrike">
              <a:solidFill>
                <a:srgbClr val="000000"/>
              </a:solidFill>
              <a:latin typeface="Arial"/>
              <a:ea typeface="Arial"/>
              <a:cs typeface="Arial"/>
              <a:sym typeface="Arial"/>
            </a:endParaRPr>
          </a:p>
        </p:txBody>
      </p:sp>
      <p:sp>
        <p:nvSpPr>
          <p:cNvPr id="351" name="Google Shape;351;p19"/>
          <p:cNvSpPr txBox="1"/>
          <p:nvPr/>
        </p:nvSpPr>
        <p:spPr>
          <a:xfrm>
            <a:off x="14036039" y="3611879"/>
            <a:ext cx="31089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1"/>
              </a:buClr>
              <a:buSzPts val="1400"/>
              <a:buFont typeface="Helvetica Neue"/>
              <a:buNone/>
            </a:pPr>
            <a:r>
              <a:rPr b="1" i="0" lang="en-US" sz="1400" u="none" cap="none" strike="noStrike">
                <a:solidFill>
                  <a:schemeClr val="accent1"/>
                </a:solidFill>
                <a:latin typeface="Helvetica Neue"/>
                <a:ea typeface="Helvetica Neue"/>
                <a:cs typeface="Helvetica Neue"/>
                <a:sym typeface="Helvetica Neue"/>
              </a:rPr>
              <a:t>GOOD AT</a:t>
            </a:r>
            <a:endParaRPr b="0" i="0" sz="1400" u="none" cap="none" strike="noStrike">
              <a:solidFill>
                <a:srgbClr val="000000"/>
              </a:solidFill>
              <a:latin typeface="Arial"/>
              <a:ea typeface="Arial"/>
              <a:cs typeface="Arial"/>
              <a:sym typeface="Arial"/>
            </a:endParaRPr>
          </a:p>
        </p:txBody>
      </p:sp>
      <p:sp>
        <p:nvSpPr>
          <p:cNvPr id="352" name="Google Shape;352;p19"/>
          <p:cNvSpPr txBox="1"/>
          <p:nvPr/>
        </p:nvSpPr>
        <p:spPr>
          <a:xfrm>
            <a:off x="14036039" y="3977638"/>
            <a:ext cx="3108900" cy="292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1900"/>
              <a:buFont typeface="Helvetica Neue"/>
              <a:buNone/>
            </a:pPr>
            <a:r>
              <a:rPr b="0" i="0" lang="en-US" sz="1900" u="none" cap="none" strike="noStrike">
                <a:solidFill>
                  <a:srgbClr val="04243C"/>
                </a:solidFill>
                <a:latin typeface="Helvetica Neue"/>
                <a:ea typeface="Helvetica Neue"/>
                <a:cs typeface="Helvetica Neue"/>
                <a:sym typeface="Helvetica Neue"/>
              </a:rPr>
              <a:t>The ground truth</a:t>
            </a:r>
            <a:endParaRPr b="0" i="0" sz="1400" u="none" cap="none" strike="noStrike">
              <a:solidFill>
                <a:srgbClr val="000000"/>
              </a:solidFill>
              <a:latin typeface="Arial"/>
              <a:ea typeface="Arial"/>
              <a:cs typeface="Arial"/>
              <a:sym typeface="Arial"/>
            </a:endParaRPr>
          </a:p>
        </p:txBody>
      </p:sp>
      <p:sp>
        <p:nvSpPr>
          <p:cNvPr id="353" name="Google Shape;353;p19"/>
          <p:cNvSpPr txBox="1"/>
          <p:nvPr/>
        </p:nvSpPr>
        <p:spPr>
          <a:xfrm>
            <a:off x="14036039" y="4937759"/>
            <a:ext cx="31089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6"/>
              </a:buClr>
              <a:buSzPts val="1400"/>
              <a:buFont typeface="Helvetica Neue"/>
              <a:buNone/>
            </a:pPr>
            <a:r>
              <a:rPr b="1" i="0" lang="en-US" sz="1400" u="none" cap="none" strike="noStrike">
                <a:solidFill>
                  <a:schemeClr val="accent6"/>
                </a:solidFill>
                <a:latin typeface="Helvetica Neue"/>
                <a:ea typeface="Helvetica Neue"/>
                <a:cs typeface="Helvetica Neue"/>
                <a:sym typeface="Helvetica Neue"/>
              </a:rPr>
              <a:t>STRUGGLES WITH</a:t>
            </a:r>
            <a:endParaRPr b="0" i="0" sz="1400" u="none" cap="none" strike="noStrike">
              <a:solidFill>
                <a:srgbClr val="000000"/>
              </a:solidFill>
              <a:latin typeface="Arial"/>
              <a:ea typeface="Arial"/>
              <a:cs typeface="Arial"/>
              <a:sym typeface="Arial"/>
            </a:endParaRPr>
          </a:p>
        </p:txBody>
      </p:sp>
      <p:sp>
        <p:nvSpPr>
          <p:cNvPr id="354" name="Google Shape;354;p19"/>
          <p:cNvSpPr txBox="1"/>
          <p:nvPr/>
        </p:nvSpPr>
        <p:spPr>
          <a:xfrm>
            <a:off x="14036039" y="5303520"/>
            <a:ext cx="3108900" cy="585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1900"/>
              <a:buFont typeface="Helvetica Neue"/>
              <a:buNone/>
            </a:pPr>
            <a:r>
              <a:rPr b="0" i="0" lang="en-US" sz="1900" u="none" cap="none" strike="noStrike">
                <a:solidFill>
                  <a:srgbClr val="04243C"/>
                </a:solidFill>
                <a:latin typeface="Helvetica Neue"/>
                <a:ea typeface="Helvetica Neue"/>
                <a:cs typeface="Helvetica Neue"/>
                <a:sym typeface="Helvetica Neue"/>
              </a:rPr>
              <a:t>Does not scale to thousands of filings</a:t>
            </a:r>
            <a:endParaRPr b="0" i="0" sz="1400" u="none" cap="none" strike="noStrike">
              <a:solidFill>
                <a:srgbClr val="000000"/>
              </a:solidFill>
              <a:latin typeface="Arial"/>
              <a:ea typeface="Arial"/>
              <a:cs typeface="Arial"/>
              <a:sym typeface="Arial"/>
            </a:endParaRPr>
          </a:p>
        </p:txBody>
      </p:sp>
      <p:grpSp>
        <p:nvGrpSpPr>
          <p:cNvPr id="355" name="Google Shape;355;p19"/>
          <p:cNvGrpSpPr/>
          <p:nvPr/>
        </p:nvGrpSpPr>
        <p:grpSpPr>
          <a:xfrm>
            <a:off x="14036039" y="6492240"/>
            <a:ext cx="3108900" cy="640200"/>
            <a:chOff x="0" y="0"/>
            <a:chExt cx="3108900" cy="640200"/>
          </a:xfrm>
        </p:grpSpPr>
        <p:sp>
          <p:nvSpPr>
            <p:cNvPr id="356" name="Google Shape;356;p19"/>
            <p:cNvSpPr/>
            <p:nvPr/>
          </p:nvSpPr>
          <p:spPr>
            <a:xfrm>
              <a:off x="0" y="0"/>
              <a:ext cx="3108900" cy="640200"/>
            </a:xfrm>
            <a:prstGeom prst="roundRect">
              <a:avLst>
                <a:gd fmla="val 18000" name="adj"/>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19"/>
            <p:cNvSpPr txBox="1"/>
            <p:nvPr/>
          </p:nvSpPr>
          <p:spPr>
            <a:xfrm>
              <a:off x="79444" y="189821"/>
              <a:ext cx="2950200" cy="2616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1700"/>
                <a:buFont typeface="Helvetica Neue"/>
                <a:buNone/>
              </a:pPr>
              <a:r>
                <a:rPr b="1" i="0" lang="en-US" sz="1700" u="none" cap="none" strike="noStrike">
                  <a:solidFill>
                    <a:srgbClr val="FFFFFF"/>
                  </a:solidFill>
                  <a:latin typeface="Helvetica Neue"/>
                  <a:ea typeface="Helvetica Neue"/>
                  <a:cs typeface="Helvetica Neue"/>
                  <a:sym typeface="Helvetica Neue"/>
                </a:rPr>
                <a:t>Verify a sample</a:t>
              </a:r>
              <a:endParaRPr b="0" i="0" sz="1400" u="none" cap="none" strike="noStrike">
                <a:solidFill>
                  <a:srgbClr val="000000"/>
                </a:solidFill>
                <a:latin typeface="Arial"/>
                <a:ea typeface="Arial"/>
                <a:cs typeface="Arial"/>
                <a:sym typeface="Arial"/>
              </a:endParaRPr>
            </a:p>
          </p:txBody>
        </p:sp>
      </p:grpSp>
      <p:cxnSp>
        <p:nvCxnSpPr>
          <p:cNvPr id="358" name="Google Shape;358;p19"/>
          <p:cNvCxnSpPr/>
          <p:nvPr/>
        </p:nvCxnSpPr>
        <p:spPr>
          <a:xfrm>
            <a:off x="822959" y="8092440"/>
            <a:ext cx="16642200" cy="0"/>
          </a:xfrm>
          <a:prstGeom prst="straightConnector1">
            <a:avLst/>
          </a:prstGeom>
          <a:noFill/>
          <a:ln cap="flat" cmpd="sng" w="31750">
            <a:solidFill>
              <a:srgbClr val="475569"/>
            </a:solidFill>
            <a:prstDash val="solid"/>
            <a:round/>
            <a:headEnd len="med" w="med" type="triangle"/>
            <a:tailEnd len="med" w="med" type="triangle"/>
          </a:ln>
        </p:spPr>
      </p:cxnSp>
      <p:sp>
        <p:nvSpPr>
          <p:cNvPr id="359" name="Google Shape;359;p19"/>
          <p:cNvSpPr txBox="1"/>
          <p:nvPr/>
        </p:nvSpPr>
        <p:spPr>
          <a:xfrm>
            <a:off x="822960" y="8321040"/>
            <a:ext cx="6400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475569"/>
              </a:buClr>
              <a:buSzPts val="1800"/>
              <a:buFont typeface="Helvetica Neue"/>
              <a:buNone/>
            </a:pPr>
            <a:r>
              <a:rPr b="1" i="0" lang="en-US" sz="1800" u="none" cap="none" strike="noStrike">
                <a:solidFill>
                  <a:srgbClr val="475569"/>
                </a:solidFill>
                <a:latin typeface="Helvetica Neue"/>
                <a:ea typeface="Helvetica Neue"/>
                <a:cs typeface="Helvetica Neue"/>
                <a:sym typeface="Helvetica Neue"/>
              </a:rPr>
              <a:t>Cheaper  ·  faster  ·  more literal</a:t>
            </a:r>
            <a:endParaRPr b="0" i="0" sz="1400" u="none" cap="none" strike="noStrike">
              <a:solidFill>
                <a:srgbClr val="000000"/>
              </a:solidFill>
              <a:latin typeface="Arial"/>
              <a:ea typeface="Arial"/>
              <a:cs typeface="Arial"/>
              <a:sym typeface="Arial"/>
            </a:endParaRPr>
          </a:p>
        </p:txBody>
      </p:sp>
      <p:sp>
        <p:nvSpPr>
          <p:cNvPr id="360" name="Google Shape;360;p19"/>
          <p:cNvSpPr txBox="1"/>
          <p:nvPr/>
        </p:nvSpPr>
        <p:spPr>
          <a:xfrm>
            <a:off x="11064240" y="8321040"/>
            <a:ext cx="6400800" cy="277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475569"/>
              </a:buClr>
              <a:buSzPts val="1800"/>
              <a:buFont typeface="Helvetica Neue"/>
              <a:buNone/>
            </a:pPr>
            <a:r>
              <a:rPr b="1" i="0" lang="en-US" sz="1800" u="none" cap="none" strike="noStrike">
                <a:solidFill>
                  <a:srgbClr val="475569"/>
                </a:solidFill>
                <a:latin typeface="Helvetica Neue"/>
                <a:ea typeface="Helvetica Neue"/>
                <a:cs typeface="Helvetica Neue"/>
                <a:sym typeface="Helvetica Neue"/>
              </a:rPr>
              <a:t>Costlier  ·  slower  ·  understands context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0"/>
          <p:cNvSpPr txBox="1"/>
          <p:nvPr>
            <p:ph type="title"/>
          </p:nvPr>
        </p:nvSpPr>
        <p:spPr>
          <a:xfrm>
            <a:off x="822960" y="960119"/>
            <a:ext cx="16642200" cy="822900"/>
          </a:xfrm>
          <a:prstGeom prst="rect">
            <a:avLst/>
          </a:prstGeom>
          <a:noFill/>
          <a:ln>
            <a:noFill/>
          </a:ln>
        </p:spPr>
        <p:txBody>
          <a:bodyPr anchorCtr="0" anchor="t" bIns="45675" lIns="45675" spcFirstLastPara="1" rIns="45675" wrap="square" tIns="45675">
            <a:normAutofit/>
          </a:bodyPr>
          <a:lstStyle/>
          <a:p>
            <a:pPr indent="0" lvl="0" marL="0" rtl="0" algn="l">
              <a:lnSpc>
                <a:spcPct val="100000"/>
              </a:lnSpc>
              <a:spcBef>
                <a:spcPts val="0"/>
              </a:spcBef>
              <a:spcAft>
                <a:spcPts val="0"/>
              </a:spcAft>
              <a:buClr>
                <a:srgbClr val="04243C"/>
              </a:buClr>
              <a:buSzPts val="3600"/>
              <a:buFont typeface="Helvetica Neue"/>
              <a:buNone/>
            </a:pPr>
            <a:r>
              <a:rPr b="1" lang="en-US" sz="3600">
                <a:solidFill>
                  <a:srgbClr val="04243C"/>
                </a:solidFill>
                <a:latin typeface="Helvetica Neue"/>
                <a:ea typeface="Helvetica Neue"/>
                <a:cs typeface="Helvetica Neue"/>
                <a:sym typeface="Helvetica Neue"/>
              </a:rPr>
              <a:t>No labelled data exists, so we build our own from SEC filings</a:t>
            </a:r>
            <a:endParaRPr/>
          </a:p>
        </p:txBody>
      </p:sp>
      <p:sp>
        <p:nvSpPr>
          <p:cNvPr id="366" name="Google Shape;366;p20"/>
          <p:cNvSpPr txBox="1"/>
          <p:nvPr>
            <p:ph idx="4294967295" type="sldNum"/>
          </p:nvPr>
        </p:nvSpPr>
        <p:spPr>
          <a:xfrm>
            <a:off x="17276204" y="9646919"/>
            <a:ext cx="188700" cy="276900"/>
          </a:xfrm>
          <a:prstGeom prst="rect">
            <a:avLst/>
          </a:prstGeom>
          <a:noFill/>
          <a:ln>
            <a:noFill/>
          </a:ln>
        </p:spPr>
        <p:txBody>
          <a:bodyPr anchorCtr="0" anchor="t" bIns="45675" lIns="45675" spcFirstLastPara="1" rIns="45675" wrap="square" tIns="45675">
            <a:spAutoFit/>
          </a:bodyPr>
          <a:lstStyle/>
          <a:p>
            <a:pPr indent="0" lvl="0" marL="0" rtl="0" algn="r">
              <a:lnSpc>
                <a:spcPct val="100000"/>
              </a:lnSpc>
              <a:spcBef>
                <a:spcPts val="0"/>
              </a:spcBef>
              <a:spcAft>
                <a:spcPts val="0"/>
              </a:spcAft>
              <a:buClr>
                <a:srgbClr val="475569"/>
              </a:buClr>
              <a:buSzPts val="1200"/>
              <a:buFont typeface="Helvetica Neue"/>
              <a:buNone/>
            </a:pPr>
            <a:fld id="{00000000-1234-1234-1234-123412341234}" type="slidenum">
              <a:rPr lang="en-US" sz="1200">
                <a:solidFill>
                  <a:srgbClr val="475569"/>
                </a:solidFill>
                <a:latin typeface="Helvetica Neue"/>
                <a:ea typeface="Helvetica Neue"/>
                <a:cs typeface="Helvetica Neue"/>
                <a:sym typeface="Helvetica Neue"/>
              </a:rPr>
              <a:t>‹#›</a:t>
            </a:fld>
            <a:endParaRPr/>
          </a:p>
        </p:txBody>
      </p:sp>
      <p:cxnSp>
        <p:nvCxnSpPr>
          <p:cNvPr id="367" name="Google Shape;367;p20"/>
          <p:cNvCxnSpPr/>
          <p:nvPr/>
        </p:nvCxnSpPr>
        <p:spPr>
          <a:xfrm>
            <a:off x="1508761" y="3017520"/>
            <a:ext cx="0" cy="4572000"/>
          </a:xfrm>
          <a:prstGeom prst="straightConnector1">
            <a:avLst/>
          </a:prstGeom>
          <a:noFill/>
          <a:ln cap="flat" cmpd="sng" w="38100">
            <a:solidFill>
              <a:schemeClr val="accent2"/>
            </a:solidFill>
            <a:prstDash val="solid"/>
            <a:round/>
            <a:headEnd len="sm" w="sm" type="none"/>
            <a:tailEnd len="sm" w="sm" type="none"/>
          </a:ln>
        </p:spPr>
      </p:cxnSp>
      <p:sp>
        <p:nvSpPr>
          <p:cNvPr id="368" name="Google Shape;368;p20"/>
          <p:cNvSpPr/>
          <p:nvPr/>
        </p:nvSpPr>
        <p:spPr>
          <a:xfrm>
            <a:off x="2514600" y="2331720"/>
            <a:ext cx="14950500" cy="1828800"/>
          </a:xfrm>
          <a:prstGeom prst="roundRect">
            <a:avLst>
              <a:gd fmla="val 9000" name="adj"/>
            </a:avLst>
          </a:prstGeom>
          <a:solidFill>
            <a:srgbClr val="FFFFFF"/>
          </a:solidFill>
          <a:ln>
            <a:noFill/>
          </a:ln>
          <a:effectLst>
            <a:outerShdw blurRad="203200" rotWithShape="0" dir="5400000" dist="50800">
              <a:srgbClr val="0F172A">
                <a:alpha val="1294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20"/>
          <p:cNvSpPr/>
          <p:nvPr/>
        </p:nvSpPr>
        <p:spPr>
          <a:xfrm>
            <a:off x="822960" y="2560320"/>
            <a:ext cx="1371600" cy="13716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Google Shape;323;p17" id="370" name="Google Shape;370;p20"/>
          <p:cNvPicPr preferRelativeResize="0"/>
          <p:nvPr/>
        </p:nvPicPr>
        <p:blipFill rotWithShape="1">
          <a:blip r:embed="rId3">
            <a:alphaModFix/>
          </a:blip>
          <a:srcRect b="0" l="0" r="0" t="0"/>
          <a:stretch/>
        </p:blipFill>
        <p:spPr>
          <a:xfrm>
            <a:off x="1161288" y="2898648"/>
            <a:ext cx="694945" cy="694945"/>
          </a:xfrm>
          <a:prstGeom prst="rect">
            <a:avLst/>
          </a:prstGeom>
          <a:noFill/>
          <a:ln>
            <a:noFill/>
          </a:ln>
        </p:spPr>
      </p:pic>
      <p:sp>
        <p:nvSpPr>
          <p:cNvPr id="371" name="Google Shape;371;p20"/>
          <p:cNvSpPr txBox="1"/>
          <p:nvPr/>
        </p:nvSpPr>
        <p:spPr>
          <a:xfrm>
            <a:off x="2926080" y="2606038"/>
            <a:ext cx="141276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2400"/>
              <a:buFont typeface="Helvetica Neue"/>
              <a:buNone/>
            </a:pPr>
            <a:r>
              <a:rPr b="1" i="0" lang="en-US" sz="2400" u="none" cap="none" strike="noStrike">
                <a:solidFill>
                  <a:srgbClr val="04243C"/>
                </a:solidFill>
                <a:latin typeface="Helvetica Neue"/>
                <a:ea typeface="Helvetica Neue"/>
                <a:cs typeface="Helvetica Neue"/>
                <a:sym typeface="Helvetica Neue"/>
              </a:rPr>
              <a:t>Search</a:t>
            </a:r>
            <a:endParaRPr b="0" i="0" sz="1400" u="none" cap="none" strike="noStrike">
              <a:solidFill>
                <a:srgbClr val="000000"/>
              </a:solidFill>
              <a:latin typeface="Arial"/>
              <a:ea typeface="Arial"/>
              <a:cs typeface="Arial"/>
              <a:sym typeface="Arial"/>
            </a:endParaRPr>
          </a:p>
        </p:txBody>
      </p:sp>
      <p:sp>
        <p:nvSpPr>
          <p:cNvPr id="372" name="Google Shape;372;p20"/>
          <p:cNvSpPr txBox="1"/>
          <p:nvPr/>
        </p:nvSpPr>
        <p:spPr>
          <a:xfrm>
            <a:off x="2926080" y="3200400"/>
            <a:ext cx="14127600" cy="292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475569"/>
              </a:buClr>
              <a:buSzPts val="1900"/>
              <a:buFont typeface="Helvetica Neue"/>
              <a:buNone/>
            </a:pPr>
            <a:r>
              <a:rPr b="0" i="0" lang="en-US" sz="1900" u="none" cap="none" strike="noStrike">
                <a:solidFill>
                  <a:srgbClr val="475569"/>
                </a:solidFill>
                <a:latin typeface="Helvetica Neue"/>
                <a:ea typeface="Helvetica Neue"/>
                <a:cs typeface="Helvetica Neue"/>
                <a:sym typeface="Helvetica Neue"/>
              </a:rPr>
              <a:t>SEC filings by form, keyword and date, for all 5 action types</a:t>
            </a:r>
            <a:endParaRPr b="0" i="0" sz="1400" u="none" cap="none" strike="noStrike">
              <a:solidFill>
                <a:srgbClr val="000000"/>
              </a:solidFill>
              <a:latin typeface="Arial"/>
              <a:ea typeface="Arial"/>
              <a:cs typeface="Arial"/>
              <a:sym typeface="Arial"/>
            </a:endParaRPr>
          </a:p>
        </p:txBody>
      </p:sp>
      <p:sp>
        <p:nvSpPr>
          <p:cNvPr id="373" name="Google Shape;373;p20"/>
          <p:cNvSpPr/>
          <p:nvPr/>
        </p:nvSpPr>
        <p:spPr>
          <a:xfrm>
            <a:off x="2514600" y="4617720"/>
            <a:ext cx="14950500" cy="1828800"/>
          </a:xfrm>
          <a:prstGeom prst="roundRect">
            <a:avLst>
              <a:gd fmla="val 9000" name="adj"/>
            </a:avLst>
          </a:prstGeom>
          <a:solidFill>
            <a:srgbClr val="FFFFFF"/>
          </a:solidFill>
          <a:ln>
            <a:noFill/>
          </a:ln>
          <a:effectLst>
            <a:outerShdw blurRad="203200" rotWithShape="0" dir="5400000" dist="50800">
              <a:srgbClr val="0F172A">
                <a:alpha val="1294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20"/>
          <p:cNvSpPr/>
          <p:nvPr/>
        </p:nvSpPr>
        <p:spPr>
          <a:xfrm>
            <a:off x="822960" y="4846320"/>
            <a:ext cx="1371600" cy="13716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Google Shape;328;p17" id="375" name="Google Shape;375;p20"/>
          <p:cNvPicPr preferRelativeResize="0"/>
          <p:nvPr/>
        </p:nvPicPr>
        <p:blipFill rotWithShape="1">
          <a:blip r:embed="rId4">
            <a:alphaModFix/>
          </a:blip>
          <a:srcRect b="0" l="0" r="0" t="0"/>
          <a:stretch/>
        </p:blipFill>
        <p:spPr>
          <a:xfrm>
            <a:off x="1161288" y="5184647"/>
            <a:ext cx="694945" cy="694945"/>
          </a:xfrm>
          <a:prstGeom prst="rect">
            <a:avLst/>
          </a:prstGeom>
          <a:noFill/>
          <a:ln>
            <a:noFill/>
          </a:ln>
        </p:spPr>
      </p:pic>
      <p:sp>
        <p:nvSpPr>
          <p:cNvPr id="376" name="Google Shape;376;p20"/>
          <p:cNvSpPr txBox="1"/>
          <p:nvPr/>
        </p:nvSpPr>
        <p:spPr>
          <a:xfrm>
            <a:off x="2926080" y="4892040"/>
            <a:ext cx="141276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2400"/>
              <a:buFont typeface="Helvetica Neue"/>
              <a:buNone/>
            </a:pPr>
            <a:r>
              <a:rPr b="1" i="0" lang="en-US" sz="2400" u="none" cap="none" strike="noStrike">
                <a:solidFill>
                  <a:srgbClr val="04243C"/>
                </a:solidFill>
                <a:latin typeface="Helvetica Neue"/>
                <a:ea typeface="Helvetica Neue"/>
                <a:cs typeface="Helvetica Neue"/>
                <a:sym typeface="Helvetica Neue"/>
              </a:rPr>
              <a:t>Download</a:t>
            </a:r>
            <a:endParaRPr b="0" i="0" sz="1400" u="none" cap="none" strike="noStrike">
              <a:solidFill>
                <a:srgbClr val="000000"/>
              </a:solidFill>
              <a:latin typeface="Arial"/>
              <a:ea typeface="Arial"/>
              <a:cs typeface="Arial"/>
              <a:sym typeface="Arial"/>
            </a:endParaRPr>
          </a:p>
        </p:txBody>
      </p:sp>
      <p:sp>
        <p:nvSpPr>
          <p:cNvPr id="377" name="Google Shape;377;p20"/>
          <p:cNvSpPr txBox="1"/>
          <p:nvPr/>
        </p:nvSpPr>
        <p:spPr>
          <a:xfrm>
            <a:off x="2926080" y="5486400"/>
            <a:ext cx="14127600" cy="292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475569"/>
              </a:buClr>
              <a:buSzPts val="1900"/>
              <a:buFont typeface="Helvetica Neue"/>
              <a:buNone/>
            </a:pPr>
            <a:r>
              <a:rPr b="0" i="0" lang="en-US" sz="1900" u="none" cap="none" strike="noStrike">
                <a:solidFill>
                  <a:srgbClr val="475569"/>
                </a:solidFill>
                <a:latin typeface="Helvetica Neue"/>
                <a:ea typeface="Helvetica Neue"/>
                <a:cs typeface="Helvetica Neue"/>
                <a:sym typeface="Helvetica Neue"/>
              </a:rPr>
              <a:t>Each filing plus its exhibits, cleaned into readable text</a:t>
            </a:r>
            <a:endParaRPr b="0" i="0" sz="1400" u="none" cap="none" strike="noStrike">
              <a:solidFill>
                <a:srgbClr val="000000"/>
              </a:solidFill>
              <a:latin typeface="Arial"/>
              <a:ea typeface="Arial"/>
              <a:cs typeface="Arial"/>
              <a:sym typeface="Arial"/>
            </a:endParaRPr>
          </a:p>
        </p:txBody>
      </p:sp>
      <p:sp>
        <p:nvSpPr>
          <p:cNvPr id="378" name="Google Shape;378;p20"/>
          <p:cNvSpPr/>
          <p:nvPr/>
        </p:nvSpPr>
        <p:spPr>
          <a:xfrm>
            <a:off x="2514600" y="6903719"/>
            <a:ext cx="14950500" cy="1828800"/>
          </a:xfrm>
          <a:prstGeom prst="roundRect">
            <a:avLst>
              <a:gd fmla="val 9000" name="adj"/>
            </a:avLst>
          </a:prstGeom>
          <a:solidFill>
            <a:srgbClr val="FFFFFF"/>
          </a:solidFill>
          <a:ln>
            <a:noFill/>
          </a:ln>
          <a:effectLst>
            <a:outerShdw blurRad="203200" rotWithShape="0" dir="5400000" dist="50800">
              <a:srgbClr val="0F172A">
                <a:alpha val="1294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20"/>
          <p:cNvSpPr/>
          <p:nvPr/>
        </p:nvSpPr>
        <p:spPr>
          <a:xfrm>
            <a:off x="822960" y="7132319"/>
            <a:ext cx="1371600" cy="13716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Google Shape;333;p17" id="380" name="Google Shape;380;p20"/>
          <p:cNvPicPr preferRelativeResize="0"/>
          <p:nvPr/>
        </p:nvPicPr>
        <p:blipFill rotWithShape="1">
          <a:blip r:embed="rId5">
            <a:alphaModFix/>
          </a:blip>
          <a:srcRect b="0" l="0" r="0" t="0"/>
          <a:stretch/>
        </p:blipFill>
        <p:spPr>
          <a:xfrm>
            <a:off x="1161288" y="7470647"/>
            <a:ext cx="694945" cy="694945"/>
          </a:xfrm>
          <a:prstGeom prst="rect">
            <a:avLst/>
          </a:prstGeom>
          <a:noFill/>
          <a:ln>
            <a:noFill/>
          </a:ln>
        </p:spPr>
      </p:pic>
      <p:sp>
        <p:nvSpPr>
          <p:cNvPr id="381" name="Google Shape;381;p20"/>
          <p:cNvSpPr txBox="1"/>
          <p:nvPr/>
        </p:nvSpPr>
        <p:spPr>
          <a:xfrm>
            <a:off x="2926080" y="7178040"/>
            <a:ext cx="141276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2400"/>
              <a:buFont typeface="Helvetica Neue"/>
              <a:buNone/>
            </a:pPr>
            <a:r>
              <a:rPr b="1" i="0" lang="en-US" sz="2400" u="none" cap="none" strike="noStrike">
                <a:solidFill>
                  <a:srgbClr val="04243C"/>
                </a:solidFill>
                <a:latin typeface="Helvetica Neue"/>
                <a:ea typeface="Helvetica Neue"/>
                <a:cs typeface="Helvetica Neue"/>
                <a:sym typeface="Helvetica Neue"/>
              </a:rPr>
              <a:t>Label</a:t>
            </a:r>
            <a:endParaRPr b="0" i="0" sz="1400" u="none" cap="none" strike="noStrike">
              <a:solidFill>
                <a:srgbClr val="000000"/>
              </a:solidFill>
              <a:latin typeface="Arial"/>
              <a:ea typeface="Arial"/>
              <a:cs typeface="Arial"/>
              <a:sym typeface="Arial"/>
            </a:endParaRPr>
          </a:p>
        </p:txBody>
      </p:sp>
      <p:sp>
        <p:nvSpPr>
          <p:cNvPr id="382" name="Google Shape;382;p20"/>
          <p:cNvSpPr txBox="1"/>
          <p:nvPr/>
        </p:nvSpPr>
        <p:spPr>
          <a:xfrm>
            <a:off x="2926080" y="7772400"/>
            <a:ext cx="14127600" cy="292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475569"/>
              </a:buClr>
              <a:buSzPts val="1900"/>
              <a:buFont typeface="Helvetica Neue"/>
              <a:buNone/>
            </a:pPr>
            <a:r>
              <a:rPr b="0" i="0" lang="en-US" sz="1900" u="none" cap="none" strike="noStrike">
                <a:solidFill>
                  <a:srgbClr val="475569"/>
                </a:solidFill>
                <a:latin typeface="Helvetica Neue"/>
                <a:ea typeface="Helvetica Neue"/>
                <a:cs typeface="Helvetica Neue"/>
                <a:sym typeface="Helvetica Neue"/>
              </a:rPr>
              <a:t>An LLM pulls each field with the quote behind it: 571 records so far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21"/>
          <p:cNvSpPr txBox="1"/>
          <p:nvPr>
            <p:ph type="title"/>
          </p:nvPr>
        </p:nvSpPr>
        <p:spPr>
          <a:xfrm>
            <a:off x="822960" y="960119"/>
            <a:ext cx="16642200" cy="822900"/>
          </a:xfrm>
          <a:prstGeom prst="rect">
            <a:avLst/>
          </a:prstGeom>
          <a:noFill/>
          <a:ln>
            <a:noFill/>
          </a:ln>
        </p:spPr>
        <p:txBody>
          <a:bodyPr anchorCtr="0" anchor="t" bIns="45675" lIns="45675" spcFirstLastPara="1" rIns="45675" wrap="square" tIns="45675">
            <a:normAutofit/>
          </a:bodyPr>
          <a:lstStyle/>
          <a:p>
            <a:pPr indent="0" lvl="0" marL="0" rtl="0" algn="l">
              <a:lnSpc>
                <a:spcPct val="100000"/>
              </a:lnSpc>
              <a:spcBef>
                <a:spcPts val="0"/>
              </a:spcBef>
              <a:spcAft>
                <a:spcPts val="0"/>
              </a:spcAft>
              <a:buClr>
                <a:srgbClr val="04243C"/>
              </a:buClr>
              <a:buSzPts val="3600"/>
              <a:buFont typeface="Helvetica Neue"/>
              <a:buNone/>
            </a:pPr>
            <a:r>
              <a:rPr b="1" lang="en-US" sz="3600">
                <a:solidFill>
                  <a:srgbClr val="04243C"/>
                </a:solidFill>
                <a:latin typeface="Helvetica Neue"/>
                <a:ea typeface="Helvetica Neue"/>
                <a:cs typeface="Helvetica Neue"/>
                <a:sym typeface="Helvetica Neue"/>
              </a:rPr>
              <a:t>Every extracted value carries the exact quote that supports it</a:t>
            </a:r>
            <a:endParaRPr/>
          </a:p>
        </p:txBody>
      </p:sp>
      <p:sp>
        <p:nvSpPr>
          <p:cNvPr id="388" name="Google Shape;388;p21"/>
          <p:cNvSpPr txBox="1"/>
          <p:nvPr>
            <p:ph idx="4294967295" type="sldNum"/>
          </p:nvPr>
        </p:nvSpPr>
        <p:spPr>
          <a:xfrm>
            <a:off x="17276204" y="9646919"/>
            <a:ext cx="188700" cy="276900"/>
          </a:xfrm>
          <a:prstGeom prst="rect">
            <a:avLst/>
          </a:prstGeom>
          <a:noFill/>
          <a:ln>
            <a:noFill/>
          </a:ln>
        </p:spPr>
        <p:txBody>
          <a:bodyPr anchorCtr="0" anchor="t" bIns="45675" lIns="45675" spcFirstLastPara="1" rIns="45675" wrap="square" tIns="45675">
            <a:spAutoFit/>
          </a:bodyPr>
          <a:lstStyle/>
          <a:p>
            <a:pPr indent="0" lvl="0" marL="0" rtl="0" algn="r">
              <a:lnSpc>
                <a:spcPct val="100000"/>
              </a:lnSpc>
              <a:spcBef>
                <a:spcPts val="0"/>
              </a:spcBef>
              <a:spcAft>
                <a:spcPts val="0"/>
              </a:spcAft>
              <a:buClr>
                <a:srgbClr val="475569"/>
              </a:buClr>
              <a:buSzPts val="1200"/>
              <a:buFont typeface="Helvetica Neue"/>
              <a:buNone/>
            </a:pPr>
            <a:fld id="{00000000-1234-1234-1234-123412341234}" type="slidenum">
              <a:rPr lang="en-US" sz="1200">
                <a:solidFill>
                  <a:srgbClr val="475569"/>
                </a:solidFill>
                <a:latin typeface="Helvetica Neue"/>
                <a:ea typeface="Helvetica Neue"/>
                <a:cs typeface="Helvetica Neue"/>
                <a:sym typeface="Helvetica Neue"/>
              </a:rPr>
              <a:t>‹#›</a:t>
            </a:fld>
            <a:endParaRPr/>
          </a:p>
        </p:txBody>
      </p:sp>
      <p:sp>
        <p:nvSpPr>
          <p:cNvPr id="389" name="Google Shape;389;p21"/>
          <p:cNvSpPr/>
          <p:nvPr/>
        </p:nvSpPr>
        <p:spPr>
          <a:xfrm>
            <a:off x="822960" y="2194560"/>
            <a:ext cx="7863900" cy="6949500"/>
          </a:xfrm>
          <a:prstGeom prst="roundRect">
            <a:avLst>
              <a:gd fmla="val 2105" name="adj"/>
            </a:avLst>
          </a:prstGeom>
          <a:solidFill>
            <a:srgbClr val="F1F5F9"/>
          </a:solidFill>
          <a:ln>
            <a:noFill/>
          </a:ln>
          <a:effectLst>
            <a:outerShdw blurRad="203200" rotWithShape="0" dir="5400000" dist="50800">
              <a:srgbClr val="0F172A">
                <a:alpha val="1294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390" name="Google Shape;390;p21"/>
          <p:cNvSpPr txBox="1"/>
          <p:nvPr/>
        </p:nvSpPr>
        <p:spPr>
          <a:xfrm>
            <a:off x="1280159" y="2560320"/>
            <a:ext cx="69495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1"/>
              </a:buClr>
              <a:buSzPts val="1500"/>
              <a:buFont typeface="Helvetica Neue"/>
              <a:buNone/>
            </a:pPr>
            <a:r>
              <a:rPr b="1" i="0" lang="en-US" sz="1500" u="none" cap="none" strike="noStrike">
                <a:solidFill>
                  <a:schemeClr val="accent1"/>
                </a:solidFill>
                <a:latin typeface="Helvetica Neue"/>
                <a:ea typeface="Helvetica Neue"/>
                <a:cs typeface="Helvetica Neue"/>
                <a:sym typeface="Helvetica Neue"/>
              </a:rPr>
              <a:t>FROM THE FILING</a:t>
            </a:r>
            <a:endParaRPr b="0" i="0" sz="1400" u="none" cap="none" strike="noStrike">
              <a:solidFill>
                <a:srgbClr val="000000"/>
              </a:solidFill>
              <a:latin typeface="Arial"/>
              <a:ea typeface="Arial"/>
              <a:cs typeface="Arial"/>
              <a:sym typeface="Arial"/>
            </a:endParaRPr>
          </a:p>
        </p:txBody>
      </p:sp>
      <p:sp>
        <p:nvSpPr>
          <p:cNvPr id="391" name="Google Shape;391;p21"/>
          <p:cNvSpPr txBox="1"/>
          <p:nvPr/>
        </p:nvSpPr>
        <p:spPr>
          <a:xfrm>
            <a:off x="1280159" y="3063239"/>
            <a:ext cx="69495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475569"/>
              </a:buClr>
              <a:buSzPts val="1600"/>
              <a:buFont typeface="Helvetica Neue"/>
              <a:buNone/>
            </a:pPr>
            <a:r>
              <a:rPr b="0" i="0" lang="en-US" sz="1600" u="none" cap="none" strike="noStrike">
                <a:solidFill>
                  <a:srgbClr val="475569"/>
                </a:solidFill>
                <a:latin typeface="Helvetica Neue"/>
                <a:ea typeface="Helvetica Neue"/>
                <a:cs typeface="Helvetica Neue"/>
                <a:sym typeface="Helvetica Neue"/>
              </a:rPr>
              <a:t>Eventbrite proxy statement, letter to stockholders</a:t>
            </a:r>
            <a:endParaRPr b="0" i="0" sz="1400" u="none" cap="none" strike="noStrike">
              <a:solidFill>
                <a:srgbClr val="000000"/>
              </a:solidFill>
              <a:latin typeface="Arial"/>
              <a:ea typeface="Arial"/>
              <a:cs typeface="Arial"/>
              <a:sym typeface="Arial"/>
            </a:endParaRPr>
          </a:p>
        </p:txBody>
      </p:sp>
      <p:sp>
        <p:nvSpPr>
          <p:cNvPr id="392" name="Google Shape;392;p21"/>
          <p:cNvSpPr txBox="1"/>
          <p:nvPr/>
        </p:nvSpPr>
        <p:spPr>
          <a:xfrm>
            <a:off x="1280159" y="5076074"/>
            <a:ext cx="6949500" cy="1569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4243C"/>
              </a:buClr>
              <a:buSzPts val="3400"/>
              <a:buFont typeface="Helvetica Neue"/>
              <a:buNone/>
            </a:pPr>
            <a:r>
              <a:rPr b="0" i="1" lang="en-US" sz="3400" u="none" cap="none" strike="noStrike">
                <a:solidFill>
                  <a:srgbClr val="04243C"/>
                </a:solidFill>
                <a:latin typeface="Helvetica Neue"/>
                <a:ea typeface="Helvetica Neue"/>
                <a:cs typeface="Helvetica Neue"/>
                <a:sym typeface="Helvetica Neue"/>
              </a:rPr>
              <a:t>"If the merger is completed, you will be entitled to receive </a:t>
            </a:r>
            <a:r>
              <a:rPr b="1" i="1" lang="en-US" sz="3400" u="none" cap="none" strike="noStrike">
                <a:solidFill>
                  <a:schemeClr val="accent1"/>
                </a:solidFill>
                <a:latin typeface="Helvetica Neue"/>
                <a:ea typeface="Helvetica Neue"/>
                <a:cs typeface="Helvetica Neue"/>
                <a:sym typeface="Helvetica Neue"/>
              </a:rPr>
              <a:t>$4.50 in cash</a:t>
            </a:r>
            <a:r>
              <a:rPr b="0" i="1" lang="en-US" sz="3400" u="none" cap="none" strike="noStrike">
                <a:solidFill>
                  <a:srgbClr val="04243C"/>
                </a:solidFill>
                <a:latin typeface="Helvetica Neue"/>
                <a:ea typeface="Helvetica Neue"/>
                <a:cs typeface="Helvetica Neue"/>
                <a:sym typeface="Helvetica Neue"/>
              </a:rPr>
              <a:t> … for each share that you own…"</a:t>
            </a:r>
            <a:endParaRPr b="0" i="0" sz="1400" u="none" cap="none" strike="noStrike">
              <a:solidFill>
                <a:srgbClr val="000000"/>
              </a:solidFill>
              <a:latin typeface="Arial"/>
              <a:ea typeface="Arial"/>
              <a:cs typeface="Arial"/>
              <a:sym typeface="Arial"/>
            </a:endParaRPr>
          </a:p>
        </p:txBody>
      </p:sp>
      <p:sp>
        <p:nvSpPr>
          <p:cNvPr id="393" name="Google Shape;393;p21"/>
          <p:cNvSpPr txBox="1"/>
          <p:nvPr/>
        </p:nvSpPr>
        <p:spPr>
          <a:xfrm>
            <a:off x="1280159" y="8229599"/>
            <a:ext cx="69495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475569"/>
              </a:buClr>
              <a:buSzPts val="1600"/>
              <a:buFont typeface="Helvetica Neue"/>
              <a:buNone/>
            </a:pPr>
            <a:r>
              <a:rPr b="0" i="0" lang="en-US" sz="1600" u="none" cap="none" strike="noStrike">
                <a:solidFill>
                  <a:srgbClr val="475569"/>
                </a:solidFill>
                <a:latin typeface="Helvetica Neue"/>
                <a:ea typeface="Helvetica Neue"/>
                <a:cs typeface="Helvetica Neue"/>
                <a:sym typeface="Helvetica Neue"/>
              </a:rPr>
              <a:t>+ 2 more supporting quotes for this record</a:t>
            </a:r>
            <a:endParaRPr b="0" i="0" sz="1400" u="none" cap="none" strike="noStrike">
              <a:solidFill>
                <a:srgbClr val="000000"/>
              </a:solidFill>
              <a:latin typeface="Arial"/>
              <a:ea typeface="Arial"/>
              <a:cs typeface="Arial"/>
              <a:sym typeface="Arial"/>
            </a:endParaRPr>
          </a:p>
        </p:txBody>
      </p:sp>
      <p:cxnSp>
        <p:nvCxnSpPr>
          <p:cNvPr id="394" name="Google Shape;394;p21"/>
          <p:cNvCxnSpPr/>
          <p:nvPr/>
        </p:nvCxnSpPr>
        <p:spPr>
          <a:xfrm>
            <a:off x="8823959" y="5669279"/>
            <a:ext cx="731400" cy="0"/>
          </a:xfrm>
          <a:prstGeom prst="straightConnector1">
            <a:avLst/>
          </a:prstGeom>
          <a:noFill/>
          <a:ln cap="flat" cmpd="sng" w="38100">
            <a:solidFill>
              <a:schemeClr val="accent1"/>
            </a:solidFill>
            <a:prstDash val="solid"/>
            <a:round/>
            <a:headEnd len="sm" w="sm" type="none"/>
            <a:tailEnd len="med" w="med" type="triangle"/>
          </a:ln>
        </p:spPr>
      </p:cxnSp>
      <p:sp>
        <p:nvSpPr>
          <p:cNvPr id="395" name="Google Shape;395;p21"/>
          <p:cNvSpPr/>
          <p:nvPr/>
        </p:nvSpPr>
        <p:spPr>
          <a:xfrm>
            <a:off x="9692640" y="2194560"/>
            <a:ext cx="7772400" cy="6949500"/>
          </a:xfrm>
          <a:prstGeom prst="roundRect">
            <a:avLst>
              <a:gd fmla="val 2105" name="adj"/>
            </a:avLst>
          </a:prstGeom>
          <a:solidFill>
            <a:srgbClr val="FFFFFF"/>
          </a:solidFill>
          <a:ln>
            <a:noFill/>
          </a:ln>
          <a:effectLst>
            <a:outerShdw blurRad="203200" rotWithShape="0" dir="5400000" dist="50800">
              <a:srgbClr val="0F172A">
                <a:alpha val="1294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396" name="Google Shape;396;p21"/>
          <p:cNvSpPr txBox="1"/>
          <p:nvPr/>
        </p:nvSpPr>
        <p:spPr>
          <a:xfrm>
            <a:off x="10149840" y="2560320"/>
            <a:ext cx="68580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1"/>
              </a:buClr>
              <a:buSzPts val="1500"/>
              <a:buFont typeface="Helvetica Neue"/>
              <a:buNone/>
            </a:pPr>
            <a:r>
              <a:rPr b="1" i="0" lang="en-US" sz="1500" u="none" cap="none" strike="noStrike">
                <a:solidFill>
                  <a:schemeClr val="accent1"/>
                </a:solidFill>
                <a:latin typeface="Helvetica Neue"/>
                <a:ea typeface="Helvetica Neue"/>
                <a:cs typeface="Helvetica Neue"/>
                <a:sym typeface="Helvetica Neue"/>
              </a:rPr>
              <a:t>STRUCTURED RECORD</a:t>
            </a:r>
            <a:endParaRPr b="0" i="0" sz="1400" u="none" cap="none" strike="noStrike">
              <a:solidFill>
                <a:srgbClr val="000000"/>
              </a:solidFill>
              <a:latin typeface="Arial"/>
              <a:ea typeface="Arial"/>
              <a:cs typeface="Arial"/>
              <a:sym typeface="Arial"/>
            </a:endParaRPr>
          </a:p>
        </p:txBody>
      </p:sp>
      <p:sp>
        <p:nvSpPr>
          <p:cNvPr id="397" name="Google Shape;397;p21"/>
          <p:cNvSpPr txBox="1"/>
          <p:nvPr/>
        </p:nvSpPr>
        <p:spPr>
          <a:xfrm>
            <a:off x="10149840" y="3332048"/>
            <a:ext cx="2469000" cy="292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475569"/>
              </a:buClr>
              <a:buSzPts val="1900"/>
              <a:buFont typeface="Helvetica Neue"/>
              <a:buNone/>
            </a:pPr>
            <a:r>
              <a:rPr b="0" i="0" lang="en-US" sz="1900" u="none" cap="none" strike="noStrike">
                <a:solidFill>
                  <a:srgbClr val="475569"/>
                </a:solidFill>
                <a:latin typeface="Helvetica Neue"/>
                <a:ea typeface="Helvetica Neue"/>
                <a:cs typeface="Helvetica Neue"/>
                <a:sym typeface="Helvetica Neue"/>
              </a:rPr>
              <a:t>Acquirer</a:t>
            </a:r>
            <a:endParaRPr b="0" i="0" sz="1400" u="none" cap="none" strike="noStrike">
              <a:solidFill>
                <a:srgbClr val="000000"/>
              </a:solidFill>
              <a:latin typeface="Arial"/>
              <a:ea typeface="Arial"/>
              <a:cs typeface="Arial"/>
              <a:sym typeface="Arial"/>
            </a:endParaRPr>
          </a:p>
        </p:txBody>
      </p:sp>
      <p:sp>
        <p:nvSpPr>
          <p:cNvPr id="398" name="Google Shape;398;p21"/>
          <p:cNvSpPr txBox="1"/>
          <p:nvPr/>
        </p:nvSpPr>
        <p:spPr>
          <a:xfrm>
            <a:off x="12527280" y="3313488"/>
            <a:ext cx="3474600" cy="32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4243C"/>
              </a:buClr>
              <a:buSzPts val="2100"/>
              <a:buFont typeface="Helvetica Neue"/>
              <a:buNone/>
            </a:pPr>
            <a:r>
              <a:rPr b="1" i="0" lang="en-US" sz="2100" u="none" cap="none" strike="noStrike">
                <a:solidFill>
                  <a:srgbClr val="04243C"/>
                </a:solidFill>
                <a:latin typeface="Helvetica Neue"/>
                <a:ea typeface="Helvetica Neue"/>
                <a:cs typeface="Helvetica Neue"/>
                <a:sym typeface="Helvetica Neue"/>
              </a:rPr>
              <a:t>Bending Spoons US Inc.</a:t>
            </a:r>
            <a:endParaRPr b="0" i="0" sz="1400" u="none" cap="none" strike="noStrike">
              <a:solidFill>
                <a:srgbClr val="000000"/>
              </a:solidFill>
              <a:latin typeface="Arial"/>
              <a:ea typeface="Arial"/>
              <a:cs typeface="Arial"/>
              <a:sym typeface="Arial"/>
            </a:endParaRPr>
          </a:p>
        </p:txBody>
      </p:sp>
      <p:grpSp>
        <p:nvGrpSpPr>
          <p:cNvPr id="399" name="Google Shape;399;p21"/>
          <p:cNvGrpSpPr/>
          <p:nvPr/>
        </p:nvGrpSpPr>
        <p:grpSpPr>
          <a:xfrm>
            <a:off x="16093439" y="3291840"/>
            <a:ext cx="914400" cy="384000"/>
            <a:chOff x="0" y="0"/>
            <a:chExt cx="914400" cy="384000"/>
          </a:xfrm>
        </p:grpSpPr>
        <p:sp>
          <p:nvSpPr>
            <p:cNvPr id="400" name="Google Shape;400;p21"/>
            <p:cNvSpPr/>
            <p:nvPr/>
          </p:nvSpPr>
          <p:spPr>
            <a:xfrm>
              <a:off x="0" y="0"/>
              <a:ext cx="914400" cy="384000"/>
            </a:xfrm>
            <a:prstGeom prst="roundRect">
              <a:avLst>
                <a:gd fmla="val 18000" name="adj"/>
              </a:avLst>
            </a:prstGeom>
            <a:solidFill>
              <a:schemeClr val="accent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21"/>
            <p:cNvSpPr txBox="1"/>
            <p:nvPr/>
          </p:nvSpPr>
          <p:spPr>
            <a:xfrm>
              <a:off x="65946" y="92818"/>
              <a:ext cx="7824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chemeClr val="accent1"/>
                </a:buClr>
                <a:buSzPts val="1300"/>
                <a:buFont typeface="Helvetica Neue"/>
                <a:buNone/>
              </a:pPr>
              <a:r>
                <a:rPr b="1" i="0" lang="en-US" sz="1300" u="none" cap="none" strike="noStrike">
                  <a:solidFill>
                    <a:schemeClr val="accent1"/>
                  </a:solidFill>
                  <a:latin typeface="Helvetica Neue"/>
                  <a:ea typeface="Helvetica Neue"/>
                  <a:cs typeface="Helvetica Neue"/>
                  <a:sym typeface="Helvetica Neue"/>
                </a:rPr>
                <a:t>5 / 5</a:t>
              </a:r>
              <a:endParaRPr b="0" i="0" sz="1400" u="none" cap="none" strike="noStrike">
                <a:solidFill>
                  <a:srgbClr val="000000"/>
                </a:solidFill>
                <a:latin typeface="Arial"/>
                <a:ea typeface="Arial"/>
                <a:cs typeface="Arial"/>
                <a:sym typeface="Arial"/>
              </a:endParaRPr>
            </a:p>
          </p:txBody>
        </p:sp>
      </p:grpSp>
      <p:cxnSp>
        <p:nvCxnSpPr>
          <p:cNvPr id="402" name="Google Shape;402;p21"/>
          <p:cNvCxnSpPr/>
          <p:nvPr/>
        </p:nvCxnSpPr>
        <p:spPr>
          <a:xfrm>
            <a:off x="10149840" y="3959352"/>
            <a:ext cx="6858000" cy="0"/>
          </a:xfrm>
          <a:prstGeom prst="straightConnector1">
            <a:avLst/>
          </a:prstGeom>
          <a:noFill/>
          <a:ln cap="flat" cmpd="sng" w="12700">
            <a:solidFill>
              <a:srgbClr val="E2E8F0"/>
            </a:solidFill>
            <a:prstDash val="solid"/>
            <a:round/>
            <a:headEnd len="sm" w="sm" type="none"/>
            <a:tailEnd len="sm" w="sm" type="none"/>
          </a:ln>
        </p:spPr>
      </p:cxnSp>
      <p:sp>
        <p:nvSpPr>
          <p:cNvPr id="403" name="Google Shape;403;p21"/>
          <p:cNvSpPr txBox="1"/>
          <p:nvPr/>
        </p:nvSpPr>
        <p:spPr>
          <a:xfrm>
            <a:off x="10149840" y="4200728"/>
            <a:ext cx="2469000" cy="292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475569"/>
              </a:buClr>
              <a:buSzPts val="1900"/>
              <a:buFont typeface="Helvetica Neue"/>
              <a:buNone/>
            </a:pPr>
            <a:r>
              <a:rPr b="0" i="0" lang="en-US" sz="1900" u="none" cap="none" strike="noStrike">
                <a:solidFill>
                  <a:srgbClr val="475569"/>
                </a:solidFill>
                <a:latin typeface="Helvetica Neue"/>
                <a:ea typeface="Helvetica Neue"/>
                <a:cs typeface="Helvetica Neue"/>
                <a:sym typeface="Helvetica Neue"/>
              </a:rPr>
              <a:t>Target</a:t>
            </a:r>
            <a:endParaRPr b="0" i="0" sz="1400" u="none" cap="none" strike="noStrike">
              <a:solidFill>
                <a:srgbClr val="000000"/>
              </a:solidFill>
              <a:latin typeface="Arial"/>
              <a:ea typeface="Arial"/>
              <a:cs typeface="Arial"/>
              <a:sym typeface="Arial"/>
            </a:endParaRPr>
          </a:p>
        </p:txBody>
      </p:sp>
      <p:sp>
        <p:nvSpPr>
          <p:cNvPr id="404" name="Google Shape;404;p21"/>
          <p:cNvSpPr txBox="1"/>
          <p:nvPr/>
        </p:nvSpPr>
        <p:spPr>
          <a:xfrm>
            <a:off x="12527280" y="4182168"/>
            <a:ext cx="3474600" cy="32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4243C"/>
              </a:buClr>
              <a:buSzPts val="2100"/>
              <a:buFont typeface="Helvetica Neue"/>
              <a:buNone/>
            </a:pPr>
            <a:r>
              <a:rPr b="1" i="0" lang="en-US" sz="2100" u="none" cap="none" strike="noStrike">
                <a:solidFill>
                  <a:srgbClr val="04243C"/>
                </a:solidFill>
                <a:latin typeface="Helvetica Neue"/>
                <a:ea typeface="Helvetica Neue"/>
                <a:cs typeface="Helvetica Neue"/>
                <a:sym typeface="Helvetica Neue"/>
              </a:rPr>
              <a:t>Eventbrite, Inc.</a:t>
            </a:r>
            <a:endParaRPr b="0" i="0" sz="1400" u="none" cap="none" strike="noStrike">
              <a:solidFill>
                <a:srgbClr val="000000"/>
              </a:solidFill>
              <a:latin typeface="Arial"/>
              <a:ea typeface="Arial"/>
              <a:cs typeface="Arial"/>
              <a:sym typeface="Arial"/>
            </a:endParaRPr>
          </a:p>
        </p:txBody>
      </p:sp>
      <p:grpSp>
        <p:nvGrpSpPr>
          <p:cNvPr id="405" name="Google Shape;405;p21"/>
          <p:cNvGrpSpPr/>
          <p:nvPr/>
        </p:nvGrpSpPr>
        <p:grpSpPr>
          <a:xfrm>
            <a:off x="16093439" y="4160520"/>
            <a:ext cx="914400" cy="384000"/>
            <a:chOff x="0" y="0"/>
            <a:chExt cx="914400" cy="384000"/>
          </a:xfrm>
        </p:grpSpPr>
        <p:sp>
          <p:nvSpPr>
            <p:cNvPr id="406" name="Google Shape;406;p21"/>
            <p:cNvSpPr/>
            <p:nvPr/>
          </p:nvSpPr>
          <p:spPr>
            <a:xfrm>
              <a:off x="0" y="0"/>
              <a:ext cx="914400" cy="384000"/>
            </a:xfrm>
            <a:prstGeom prst="roundRect">
              <a:avLst>
                <a:gd fmla="val 18000" name="adj"/>
              </a:avLst>
            </a:prstGeom>
            <a:solidFill>
              <a:schemeClr val="accent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21"/>
            <p:cNvSpPr txBox="1"/>
            <p:nvPr/>
          </p:nvSpPr>
          <p:spPr>
            <a:xfrm>
              <a:off x="65946" y="92818"/>
              <a:ext cx="7824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chemeClr val="accent1"/>
                </a:buClr>
                <a:buSzPts val="1300"/>
                <a:buFont typeface="Helvetica Neue"/>
                <a:buNone/>
              </a:pPr>
              <a:r>
                <a:rPr b="1" i="0" lang="en-US" sz="1300" u="none" cap="none" strike="noStrike">
                  <a:solidFill>
                    <a:schemeClr val="accent1"/>
                  </a:solidFill>
                  <a:latin typeface="Helvetica Neue"/>
                  <a:ea typeface="Helvetica Neue"/>
                  <a:cs typeface="Helvetica Neue"/>
                  <a:sym typeface="Helvetica Neue"/>
                </a:rPr>
                <a:t>5 / 5</a:t>
              </a:r>
              <a:endParaRPr b="0" i="0" sz="1400" u="none" cap="none" strike="noStrike">
                <a:solidFill>
                  <a:srgbClr val="000000"/>
                </a:solidFill>
                <a:latin typeface="Arial"/>
                <a:ea typeface="Arial"/>
                <a:cs typeface="Arial"/>
                <a:sym typeface="Arial"/>
              </a:endParaRPr>
            </a:p>
          </p:txBody>
        </p:sp>
      </p:grpSp>
      <p:cxnSp>
        <p:nvCxnSpPr>
          <p:cNvPr id="408" name="Google Shape;408;p21"/>
          <p:cNvCxnSpPr/>
          <p:nvPr/>
        </p:nvCxnSpPr>
        <p:spPr>
          <a:xfrm>
            <a:off x="10149840" y="4828032"/>
            <a:ext cx="6858000" cy="0"/>
          </a:xfrm>
          <a:prstGeom prst="straightConnector1">
            <a:avLst/>
          </a:prstGeom>
          <a:noFill/>
          <a:ln cap="flat" cmpd="sng" w="12700">
            <a:solidFill>
              <a:srgbClr val="E2E8F0"/>
            </a:solidFill>
            <a:prstDash val="solid"/>
            <a:round/>
            <a:headEnd len="sm" w="sm" type="none"/>
            <a:tailEnd len="sm" w="sm" type="none"/>
          </a:ln>
        </p:spPr>
      </p:cxnSp>
      <p:sp>
        <p:nvSpPr>
          <p:cNvPr id="409" name="Google Shape;409;p21"/>
          <p:cNvSpPr txBox="1"/>
          <p:nvPr/>
        </p:nvSpPr>
        <p:spPr>
          <a:xfrm>
            <a:off x="10149840" y="5069408"/>
            <a:ext cx="2469000" cy="292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475569"/>
              </a:buClr>
              <a:buSzPts val="1900"/>
              <a:buFont typeface="Helvetica Neue"/>
              <a:buNone/>
            </a:pPr>
            <a:r>
              <a:rPr b="0" i="0" lang="en-US" sz="1900" u="none" cap="none" strike="noStrike">
                <a:solidFill>
                  <a:srgbClr val="475569"/>
                </a:solidFill>
                <a:latin typeface="Helvetica Neue"/>
                <a:ea typeface="Helvetica Neue"/>
                <a:cs typeface="Helvetica Neue"/>
                <a:sym typeface="Helvetica Neue"/>
              </a:rPr>
              <a:t>Consideration</a:t>
            </a:r>
            <a:endParaRPr b="0" i="0" sz="1400" u="none" cap="none" strike="noStrike">
              <a:solidFill>
                <a:srgbClr val="000000"/>
              </a:solidFill>
              <a:latin typeface="Arial"/>
              <a:ea typeface="Arial"/>
              <a:cs typeface="Arial"/>
              <a:sym typeface="Arial"/>
            </a:endParaRPr>
          </a:p>
        </p:txBody>
      </p:sp>
      <p:sp>
        <p:nvSpPr>
          <p:cNvPr id="410" name="Google Shape;410;p21"/>
          <p:cNvSpPr txBox="1"/>
          <p:nvPr/>
        </p:nvSpPr>
        <p:spPr>
          <a:xfrm>
            <a:off x="12527280" y="5050847"/>
            <a:ext cx="3474600" cy="32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4243C"/>
              </a:buClr>
              <a:buSzPts val="2100"/>
              <a:buFont typeface="Helvetica Neue"/>
              <a:buNone/>
            </a:pPr>
            <a:r>
              <a:rPr b="1" i="0" lang="en-US" sz="2100" u="none" cap="none" strike="noStrike">
                <a:solidFill>
                  <a:srgbClr val="04243C"/>
                </a:solidFill>
                <a:latin typeface="Helvetica Neue"/>
                <a:ea typeface="Helvetica Neue"/>
                <a:cs typeface="Helvetica Neue"/>
                <a:sym typeface="Helvetica Neue"/>
              </a:rPr>
              <a:t>Cash</a:t>
            </a:r>
            <a:endParaRPr b="0" i="0" sz="1400" u="none" cap="none" strike="noStrike">
              <a:solidFill>
                <a:srgbClr val="000000"/>
              </a:solidFill>
              <a:latin typeface="Arial"/>
              <a:ea typeface="Arial"/>
              <a:cs typeface="Arial"/>
              <a:sym typeface="Arial"/>
            </a:endParaRPr>
          </a:p>
        </p:txBody>
      </p:sp>
      <p:grpSp>
        <p:nvGrpSpPr>
          <p:cNvPr id="411" name="Google Shape;411;p21"/>
          <p:cNvGrpSpPr/>
          <p:nvPr/>
        </p:nvGrpSpPr>
        <p:grpSpPr>
          <a:xfrm>
            <a:off x="16093439" y="5029200"/>
            <a:ext cx="914400" cy="384000"/>
            <a:chOff x="0" y="0"/>
            <a:chExt cx="914400" cy="384000"/>
          </a:xfrm>
        </p:grpSpPr>
        <p:sp>
          <p:nvSpPr>
            <p:cNvPr id="412" name="Google Shape;412;p21"/>
            <p:cNvSpPr/>
            <p:nvPr/>
          </p:nvSpPr>
          <p:spPr>
            <a:xfrm>
              <a:off x="0" y="0"/>
              <a:ext cx="914400" cy="384000"/>
            </a:xfrm>
            <a:prstGeom prst="roundRect">
              <a:avLst>
                <a:gd fmla="val 18000" name="adj"/>
              </a:avLst>
            </a:prstGeom>
            <a:solidFill>
              <a:schemeClr val="accent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21"/>
            <p:cNvSpPr txBox="1"/>
            <p:nvPr/>
          </p:nvSpPr>
          <p:spPr>
            <a:xfrm>
              <a:off x="65946" y="92818"/>
              <a:ext cx="7824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chemeClr val="accent1"/>
                </a:buClr>
                <a:buSzPts val="1300"/>
                <a:buFont typeface="Helvetica Neue"/>
                <a:buNone/>
              </a:pPr>
              <a:r>
                <a:rPr b="1" i="0" lang="en-US" sz="1300" u="none" cap="none" strike="noStrike">
                  <a:solidFill>
                    <a:schemeClr val="accent1"/>
                  </a:solidFill>
                  <a:latin typeface="Helvetica Neue"/>
                  <a:ea typeface="Helvetica Neue"/>
                  <a:cs typeface="Helvetica Neue"/>
                  <a:sym typeface="Helvetica Neue"/>
                </a:rPr>
                <a:t>5 / 5</a:t>
              </a:r>
              <a:endParaRPr b="0" i="0" sz="1400" u="none" cap="none" strike="noStrike">
                <a:solidFill>
                  <a:srgbClr val="000000"/>
                </a:solidFill>
                <a:latin typeface="Arial"/>
                <a:ea typeface="Arial"/>
                <a:cs typeface="Arial"/>
                <a:sym typeface="Arial"/>
              </a:endParaRPr>
            </a:p>
          </p:txBody>
        </p:sp>
      </p:grpSp>
      <p:cxnSp>
        <p:nvCxnSpPr>
          <p:cNvPr id="414" name="Google Shape;414;p21"/>
          <p:cNvCxnSpPr/>
          <p:nvPr/>
        </p:nvCxnSpPr>
        <p:spPr>
          <a:xfrm>
            <a:off x="10149840" y="5696711"/>
            <a:ext cx="6858000" cy="0"/>
          </a:xfrm>
          <a:prstGeom prst="straightConnector1">
            <a:avLst/>
          </a:prstGeom>
          <a:noFill/>
          <a:ln cap="flat" cmpd="sng" w="12700">
            <a:solidFill>
              <a:srgbClr val="E2E8F0"/>
            </a:solidFill>
            <a:prstDash val="solid"/>
            <a:round/>
            <a:headEnd len="sm" w="sm" type="none"/>
            <a:tailEnd len="sm" w="sm" type="none"/>
          </a:ln>
        </p:spPr>
      </p:cxnSp>
      <p:sp>
        <p:nvSpPr>
          <p:cNvPr id="415" name="Google Shape;415;p21"/>
          <p:cNvSpPr txBox="1"/>
          <p:nvPr/>
        </p:nvSpPr>
        <p:spPr>
          <a:xfrm>
            <a:off x="10149840" y="5938088"/>
            <a:ext cx="2469000" cy="292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475569"/>
              </a:buClr>
              <a:buSzPts val="1900"/>
              <a:buFont typeface="Helvetica Neue"/>
              <a:buNone/>
            </a:pPr>
            <a:r>
              <a:rPr b="0" i="0" lang="en-US" sz="1900" u="none" cap="none" strike="noStrike">
                <a:solidFill>
                  <a:srgbClr val="475569"/>
                </a:solidFill>
                <a:latin typeface="Helvetica Neue"/>
                <a:ea typeface="Helvetica Neue"/>
                <a:cs typeface="Helvetica Neue"/>
                <a:sym typeface="Helvetica Neue"/>
              </a:rPr>
              <a:t>Cash per share</a:t>
            </a:r>
            <a:endParaRPr b="0" i="0" sz="1400" u="none" cap="none" strike="noStrike">
              <a:solidFill>
                <a:srgbClr val="000000"/>
              </a:solidFill>
              <a:latin typeface="Arial"/>
              <a:ea typeface="Arial"/>
              <a:cs typeface="Arial"/>
              <a:sym typeface="Arial"/>
            </a:endParaRPr>
          </a:p>
        </p:txBody>
      </p:sp>
      <p:sp>
        <p:nvSpPr>
          <p:cNvPr id="416" name="Google Shape;416;p21"/>
          <p:cNvSpPr txBox="1"/>
          <p:nvPr/>
        </p:nvSpPr>
        <p:spPr>
          <a:xfrm>
            <a:off x="12527280" y="5919528"/>
            <a:ext cx="3474600" cy="32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4243C"/>
              </a:buClr>
              <a:buSzPts val="2100"/>
              <a:buFont typeface="Helvetica Neue"/>
              <a:buNone/>
            </a:pPr>
            <a:r>
              <a:rPr b="1" i="0" lang="en-US" sz="2100" u="none" cap="none" strike="noStrike">
                <a:solidFill>
                  <a:srgbClr val="04243C"/>
                </a:solidFill>
                <a:latin typeface="Helvetica Neue"/>
                <a:ea typeface="Helvetica Neue"/>
                <a:cs typeface="Helvetica Neue"/>
                <a:sym typeface="Helvetica Neue"/>
              </a:rPr>
              <a:t>USD 4.50</a:t>
            </a:r>
            <a:endParaRPr b="0" i="0" sz="1400" u="none" cap="none" strike="noStrike">
              <a:solidFill>
                <a:srgbClr val="000000"/>
              </a:solidFill>
              <a:latin typeface="Arial"/>
              <a:ea typeface="Arial"/>
              <a:cs typeface="Arial"/>
              <a:sym typeface="Arial"/>
            </a:endParaRPr>
          </a:p>
        </p:txBody>
      </p:sp>
      <p:grpSp>
        <p:nvGrpSpPr>
          <p:cNvPr id="417" name="Google Shape;417;p21"/>
          <p:cNvGrpSpPr/>
          <p:nvPr/>
        </p:nvGrpSpPr>
        <p:grpSpPr>
          <a:xfrm>
            <a:off x="16093439" y="5897879"/>
            <a:ext cx="914400" cy="384000"/>
            <a:chOff x="0" y="0"/>
            <a:chExt cx="914400" cy="384000"/>
          </a:xfrm>
        </p:grpSpPr>
        <p:sp>
          <p:nvSpPr>
            <p:cNvPr id="418" name="Google Shape;418;p21"/>
            <p:cNvSpPr/>
            <p:nvPr/>
          </p:nvSpPr>
          <p:spPr>
            <a:xfrm>
              <a:off x="0" y="0"/>
              <a:ext cx="914400" cy="384000"/>
            </a:xfrm>
            <a:prstGeom prst="roundRect">
              <a:avLst>
                <a:gd fmla="val 18000" name="adj"/>
              </a:avLst>
            </a:prstGeom>
            <a:solidFill>
              <a:schemeClr val="accent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21"/>
            <p:cNvSpPr txBox="1"/>
            <p:nvPr/>
          </p:nvSpPr>
          <p:spPr>
            <a:xfrm>
              <a:off x="65946" y="92818"/>
              <a:ext cx="7824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chemeClr val="accent1"/>
                </a:buClr>
                <a:buSzPts val="1300"/>
                <a:buFont typeface="Helvetica Neue"/>
                <a:buNone/>
              </a:pPr>
              <a:r>
                <a:rPr b="1" i="0" lang="en-US" sz="1300" u="none" cap="none" strike="noStrike">
                  <a:solidFill>
                    <a:schemeClr val="accent1"/>
                  </a:solidFill>
                  <a:latin typeface="Helvetica Neue"/>
                  <a:ea typeface="Helvetica Neue"/>
                  <a:cs typeface="Helvetica Neue"/>
                  <a:sym typeface="Helvetica Neue"/>
                </a:rPr>
                <a:t>5 / 5</a:t>
              </a:r>
              <a:endParaRPr b="0" i="0" sz="1400" u="none" cap="none" strike="noStrike">
                <a:solidFill>
                  <a:srgbClr val="000000"/>
                </a:solidFill>
                <a:latin typeface="Arial"/>
                <a:ea typeface="Arial"/>
                <a:cs typeface="Arial"/>
                <a:sym typeface="Arial"/>
              </a:endParaRPr>
            </a:p>
          </p:txBody>
        </p:sp>
      </p:grpSp>
      <p:cxnSp>
        <p:nvCxnSpPr>
          <p:cNvPr id="420" name="Google Shape;420;p21"/>
          <p:cNvCxnSpPr/>
          <p:nvPr/>
        </p:nvCxnSpPr>
        <p:spPr>
          <a:xfrm>
            <a:off x="10149840" y="6565392"/>
            <a:ext cx="6858000" cy="0"/>
          </a:xfrm>
          <a:prstGeom prst="straightConnector1">
            <a:avLst/>
          </a:prstGeom>
          <a:noFill/>
          <a:ln cap="flat" cmpd="sng" w="12700">
            <a:solidFill>
              <a:srgbClr val="E2E8F0"/>
            </a:solidFill>
            <a:prstDash val="solid"/>
            <a:round/>
            <a:headEnd len="sm" w="sm" type="none"/>
            <a:tailEnd len="sm" w="sm" type="none"/>
          </a:ln>
        </p:spPr>
      </p:cxnSp>
      <p:sp>
        <p:nvSpPr>
          <p:cNvPr id="421" name="Google Shape;421;p21"/>
          <p:cNvSpPr txBox="1"/>
          <p:nvPr/>
        </p:nvSpPr>
        <p:spPr>
          <a:xfrm>
            <a:off x="10149840" y="6806767"/>
            <a:ext cx="2469000" cy="292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475569"/>
              </a:buClr>
              <a:buSzPts val="1900"/>
              <a:buFont typeface="Helvetica Neue"/>
              <a:buNone/>
            </a:pPr>
            <a:r>
              <a:rPr b="0" i="0" lang="en-US" sz="1900" u="none" cap="none" strike="noStrike">
                <a:solidFill>
                  <a:srgbClr val="475569"/>
                </a:solidFill>
                <a:latin typeface="Helvetica Neue"/>
                <a:ea typeface="Helvetica Neue"/>
                <a:cs typeface="Helvetica Neue"/>
                <a:sym typeface="Helvetica Neue"/>
              </a:rPr>
              <a:t>Status</a:t>
            </a:r>
            <a:endParaRPr b="0" i="0" sz="1400" u="none" cap="none" strike="noStrike">
              <a:solidFill>
                <a:srgbClr val="000000"/>
              </a:solidFill>
              <a:latin typeface="Arial"/>
              <a:ea typeface="Arial"/>
              <a:cs typeface="Arial"/>
              <a:sym typeface="Arial"/>
            </a:endParaRPr>
          </a:p>
        </p:txBody>
      </p:sp>
      <p:sp>
        <p:nvSpPr>
          <p:cNvPr id="422" name="Google Shape;422;p21"/>
          <p:cNvSpPr txBox="1"/>
          <p:nvPr/>
        </p:nvSpPr>
        <p:spPr>
          <a:xfrm>
            <a:off x="12527280" y="6788207"/>
            <a:ext cx="3474600" cy="32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4243C"/>
              </a:buClr>
              <a:buSzPts val="2100"/>
              <a:buFont typeface="Helvetica Neue"/>
              <a:buNone/>
            </a:pPr>
            <a:r>
              <a:rPr b="1" i="0" lang="en-US" sz="2100" u="none" cap="none" strike="noStrike">
                <a:solidFill>
                  <a:srgbClr val="04243C"/>
                </a:solidFill>
                <a:latin typeface="Helvetica Neue"/>
                <a:ea typeface="Helvetica Neue"/>
                <a:cs typeface="Helvetica Neue"/>
                <a:sym typeface="Helvetica Neue"/>
              </a:rPr>
              <a:t>Pending</a:t>
            </a:r>
            <a:endParaRPr b="0" i="0" sz="1400" u="none" cap="none" strike="noStrike">
              <a:solidFill>
                <a:srgbClr val="000000"/>
              </a:solidFill>
              <a:latin typeface="Arial"/>
              <a:ea typeface="Arial"/>
              <a:cs typeface="Arial"/>
              <a:sym typeface="Arial"/>
            </a:endParaRPr>
          </a:p>
        </p:txBody>
      </p:sp>
      <p:grpSp>
        <p:nvGrpSpPr>
          <p:cNvPr id="423" name="Google Shape;423;p21"/>
          <p:cNvGrpSpPr/>
          <p:nvPr/>
        </p:nvGrpSpPr>
        <p:grpSpPr>
          <a:xfrm>
            <a:off x="16093439" y="6766559"/>
            <a:ext cx="914400" cy="384000"/>
            <a:chOff x="0" y="0"/>
            <a:chExt cx="914400" cy="384000"/>
          </a:xfrm>
        </p:grpSpPr>
        <p:sp>
          <p:nvSpPr>
            <p:cNvPr id="424" name="Google Shape;424;p21"/>
            <p:cNvSpPr/>
            <p:nvPr/>
          </p:nvSpPr>
          <p:spPr>
            <a:xfrm>
              <a:off x="0" y="0"/>
              <a:ext cx="914400" cy="384000"/>
            </a:xfrm>
            <a:prstGeom prst="roundRect">
              <a:avLst>
                <a:gd fmla="val 18000" name="adj"/>
              </a:avLst>
            </a:prstGeom>
            <a:solidFill>
              <a:schemeClr val="accent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21"/>
            <p:cNvSpPr txBox="1"/>
            <p:nvPr/>
          </p:nvSpPr>
          <p:spPr>
            <a:xfrm>
              <a:off x="65946" y="92818"/>
              <a:ext cx="7824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chemeClr val="accent1"/>
                </a:buClr>
                <a:buSzPts val="1300"/>
                <a:buFont typeface="Helvetica Neue"/>
                <a:buNone/>
              </a:pPr>
              <a:r>
                <a:rPr b="1" i="0" lang="en-US" sz="1300" u="none" cap="none" strike="noStrike">
                  <a:solidFill>
                    <a:schemeClr val="accent1"/>
                  </a:solidFill>
                  <a:latin typeface="Helvetica Neue"/>
                  <a:ea typeface="Helvetica Neue"/>
                  <a:cs typeface="Helvetica Neue"/>
                  <a:sym typeface="Helvetica Neue"/>
                </a:rPr>
                <a:t>5 / 5</a:t>
              </a:r>
              <a:endParaRPr b="0" i="0" sz="1400" u="none" cap="none" strike="noStrike">
                <a:solidFill>
                  <a:srgbClr val="000000"/>
                </a:solidFill>
                <a:latin typeface="Arial"/>
                <a:ea typeface="Arial"/>
                <a:cs typeface="Arial"/>
                <a:sym typeface="Arial"/>
              </a:endParaRPr>
            </a:p>
          </p:txBody>
        </p:sp>
      </p:grpSp>
      <p:cxnSp>
        <p:nvCxnSpPr>
          <p:cNvPr id="426" name="Google Shape;426;p21"/>
          <p:cNvCxnSpPr/>
          <p:nvPr/>
        </p:nvCxnSpPr>
        <p:spPr>
          <a:xfrm>
            <a:off x="10149840" y="7434071"/>
            <a:ext cx="6858000" cy="0"/>
          </a:xfrm>
          <a:prstGeom prst="straightConnector1">
            <a:avLst/>
          </a:prstGeom>
          <a:noFill/>
          <a:ln cap="flat" cmpd="sng" w="12700">
            <a:solidFill>
              <a:srgbClr val="E2E8F0"/>
            </a:solidFill>
            <a:prstDash val="solid"/>
            <a:round/>
            <a:headEnd len="sm" w="sm" type="none"/>
            <a:tailEnd len="sm" w="sm" type="none"/>
          </a:ln>
        </p:spPr>
      </p:cxnSp>
      <p:sp>
        <p:nvSpPr>
          <p:cNvPr id="427" name="Google Shape;427;p21"/>
          <p:cNvSpPr txBox="1"/>
          <p:nvPr/>
        </p:nvSpPr>
        <p:spPr>
          <a:xfrm>
            <a:off x="10149840" y="7675448"/>
            <a:ext cx="2469000" cy="292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475569"/>
              </a:buClr>
              <a:buSzPts val="1900"/>
              <a:buFont typeface="Helvetica Neue"/>
              <a:buNone/>
            </a:pPr>
            <a:r>
              <a:rPr b="0" i="0" lang="en-US" sz="1900" u="none" cap="none" strike="noStrike">
                <a:solidFill>
                  <a:srgbClr val="475569"/>
                </a:solidFill>
                <a:latin typeface="Helvetica Neue"/>
                <a:ea typeface="Helvetica Neue"/>
                <a:cs typeface="Helvetica Neue"/>
                <a:sym typeface="Helvetica Neue"/>
              </a:rPr>
              <a:t>Holder choice</a:t>
            </a:r>
            <a:endParaRPr b="0" i="0" sz="1400" u="none" cap="none" strike="noStrike">
              <a:solidFill>
                <a:srgbClr val="000000"/>
              </a:solidFill>
              <a:latin typeface="Arial"/>
              <a:ea typeface="Arial"/>
              <a:cs typeface="Arial"/>
              <a:sym typeface="Arial"/>
            </a:endParaRPr>
          </a:p>
        </p:txBody>
      </p:sp>
      <p:sp>
        <p:nvSpPr>
          <p:cNvPr id="428" name="Google Shape;428;p21"/>
          <p:cNvSpPr txBox="1"/>
          <p:nvPr/>
        </p:nvSpPr>
        <p:spPr>
          <a:xfrm>
            <a:off x="12527280" y="7656888"/>
            <a:ext cx="3474600" cy="32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4243C"/>
              </a:buClr>
              <a:buSzPts val="2100"/>
              <a:buFont typeface="Helvetica Neue"/>
              <a:buNone/>
            </a:pPr>
            <a:r>
              <a:rPr b="1" i="0" lang="en-US" sz="2100" u="none" cap="none" strike="noStrike">
                <a:solidFill>
                  <a:srgbClr val="04243C"/>
                </a:solidFill>
                <a:latin typeface="Helvetica Neue"/>
                <a:ea typeface="Helvetica Neue"/>
                <a:cs typeface="Helvetica Neue"/>
                <a:sym typeface="Helvetica Neue"/>
              </a:rPr>
              <a:t>None</a:t>
            </a:r>
            <a:endParaRPr b="0" i="0" sz="1400" u="none" cap="none" strike="noStrike">
              <a:solidFill>
                <a:srgbClr val="000000"/>
              </a:solidFill>
              <a:latin typeface="Arial"/>
              <a:ea typeface="Arial"/>
              <a:cs typeface="Arial"/>
              <a:sym typeface="Arial"/>
            </a:endParaRPr>
          </a:p>
        </p:txBody>
      </p:sp>
      <p:grpSp>
        <p:nvGrpSpPr>
          <p:cNvPr id="429" name="Google Shape;429;p21"/>
          <p:cNvGrpSpPr/>
          <p:nvPr/>
        </p:nvGrpSpPr>
        <p:grpSpPr>
          <a:xfrm>
            <a:off x="16093439" y="7635240"/>
            <a:ext cx="914400" cy="384000"/>
            <a:chOff x="0" y="0"/>
            <a:chExt cx="914400" cy="384000"/>
          </a:xfrm>
        </p:grpSpPr>
        <p:sp>
          <p:nvSpPr>
            <p:cNvPr id="430" name="Google Shape;430;p21"/>
            <p:cNvSpPr/>
            <p:nvPr/>
          </p:nvSpPr>
          <p:spPr>
            <a:xfrm>
              <a:off x="0" y="0"/>
              <a:ext cx="914400" cy="384000"/>
            </a:xfrm>
            <a:prstGeom prst="roundRect">
              <a:avLst>
                <a:gd fmla="val 18000" name="adj"/>
              </a:avLst>
            </a:prstGeom>
            <a:solidFill>
              <a:schemeClr val="accent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21"/>
            <p:cNvSpPr txBox="1"/>
            <p:nvPr/>
          </p:nvSpPr>
          <p:spPr>
            <a:xfrm>
              <a:off x="65946" y="92818"/>
              <a:ext cx="7824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chemeClr val="accent1"/>
                </a:buClr>
                <a:buSzPts val="1300"/>
                <a:buFont typeface="Helvetica Neue"/>
                <a:buNone/>
              </a:pPr>
              <a:r>
                <a:rPr b="1" i="0" lang="en-US" sz="1300" u="none" cap="none" strike="noStrike">
                  <a:solidFill>
                    <a:schemeClr val="accent1"/>
                  </a:solidFill>
                  <a:latin typeface="Helvetica Neue"/>
                  <a:ea typeface="Helvetica Neue"/>
                  <a:cs typeface="Helvetica Neue"/>
                  <a:sym typeface="Helvetica Neue"/>
                </a:rPr>
                <a:t>5 / 5</a:t>
              </a:r>
              <a:endParaRPr b="0" i="0" sz="1400" u="none" cap="none" strike="noStrike">
                <a:solidFill>
                  <a:srgbClr val="000000"/>
                </a:solidFill>
                <a:latin typeface="Arial"/>
                <a:ea typeface="Arial"/>
                <a:cs typeface="Arial"/>
                <a:sym typeface="Arial"/>
              </a:endParaRPr>
            </a:p>
          </p:txBody>
        </p:sp>
      </p:grpSp>
      <p:sp>
        <p:nvSpPr>
          <p:cNvPr id="432" name="Google Shape;432;p21"/>
          <p:cNvSpPr txBox="1"/>
          <p:nvPr/>
        </p:nvSpPr>
        <p:spPr>
          <a:xfrm>
            <a:off x="10149840" y="8503919"/>
            <a:ext cx="68580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475569"/>
              </a:buClr>
              <a:buSzPts val="1500"/>
              <a:buFont typeface="Helvetica Neue"/>
              <a:buNone/>
            </a:pPr>
            <a:r>
              <a:rPr b="0" i="1" lang="en-US" sz="1500" u="none" cap="none" strike="noStrike">
                <a:solidFill>
                  <a:srgbClr val="475569"/>
                </a:solidFill>
                <a:latin typeface="Helvetica Neue"/>
                <a:ea typeface="Helvetica Neue"/>
                <a:cs typeface="Helvetica Neue"/>
                <a:sym typeface="Helvetica Neue"/>
              </a:rPr>
              <a:t>5 / 5 = quote directly supports the value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22"/>
          <p:cNvSpPr txBox="1"/>
          <p:nvPr>
            <p:ph type="title"/>
          </p:nvPr>
        </p:nvSpPr>
        <p:spPr>
          <a:xfrm>
            <a:off x="822960" y="960119"/>
            <a:ext cx="16642200" cy="822900"/>
          </a:xfrm>
          <a:prstGeom prst="rect">
            <a:avLst/>
          </a:prstGeom>
          <a:noFill/>
          <a:ln>
            <a:noFill/>
          </a:ln>
        </p:spPr>
        <p:txBody>
          <a:bodyPr anchorCtr="0" anchor="t" bIns="45675" lIns="45675" spcFirstLastPara="1" rIns="45675" wrap="square" tIns="45675">
            <a:normAutofit/>
          </a:bodyPr>
          <a:lstStyle/>
          <a:p>
            <a:pPr indent="0" lvl="0" marL="0" rtl="0" algn="l">
              <a:lnSpc>
                <a:spcPct val="100000"/>
              </a:lnSpc>
              <a:spcBef>
                <a:spcPts val="0"/>
              </a:spcBef>
              <a:spcAft>
                <a:spcPts val="0"/>
              </a:spcAft>
              <a:buClr>
                <a:srgbClr val="04243C"/>
              </a:buClr>
              <a:buSzPts val="3600"/>
              <a:buFont typeface="Helvetica Neue"/>
              <a:buNone/>
            </a:pPr>
            <a:r>
              <a:rPr b="1" lang="en-US" sz="3600">
                <a:solidFill>
                  <a:srgbClr val="04243C"/>
                </a:solidFill>
                <a:latin typeface="Helvetica Neue"/>
                <a:ea typeface="Helvetica Neue"/>
                <a:cs typeface="Helvetica Neue"/>
                <a:sym typeface="Helvetica Neue"/>
              </a:rPr>
              <a:t>We aim for LLM-level accuracy at lower cost, and check it two ways</a:t>
            </a:r>
            <a:endParaRPr/>
          </a:p>
        </p:txBody>
      </p:sp>
      <p:sp>
        <p:nvSpPr>
          <p:cNvPr id="438" name="Google Shape;438;p22"/>
          <p:cNvSpPr txBox="1"/>
          <p:nvPr>
            <p:ph idx="4294967295" type="sldNum"/>
          </p:nvPr>
        </p:nvSpPr>
        <p:spPr>
          <a:xfrm>
            <a:off x="17191470" y="9646919"/>
            <a:ext cx="273600" cy="276900"/>
          </a:xfrm>
          <a:prstGeom prst="rect">
            <a:avLst/>
          </a:prstGeom>
          <a:noFill/>
          <a:ln>
            <a:noFill/>
          </a:ln>
        </p:spPr>
        <p:txBody>
          <a:bodyPr anchorCtr="0" anchor="t" bIns="45675" lIns="45675" spcFirstLastPara="1" rIns="45675" wrap="square" tIns="45675">
            <a:spAutoFit/>
          </a:bodyPr>
          <a:lstStyle/>
          <a:p>
            <a:pPr indent="0" lvl="0" marL="0" rtl="0" algn="r">
              <a:lnSpc>
                <a:spcPct val="100000"/>
              </a:lnSpc>
              <a:spcBef>
                <a:spcPts val="0"/>
              </a:spcBef>
              <a:spcAft>
                <a:spcPts val="0"/>
              </a:spcAft>
              <a:buClr>
                <a:srgbClr val="475569"/>
              </a:buClr>
              <a:buSzPts val="1200"/>
              <a:buFont typeface="Helvetica Neue"/>
              <a:buNone/>
            </a:pPr>
            <a:fld id="{00000000-1234-1234-1234-123412341234}" type="slidenum">
              <a:rPr lang="en-US" sz="1200">
                <a:solidFill>
                  <a:srgbClr val="475569"/>
                </a:solidFill>
                <a:latin typeface="Helvetica Neue"/>
                <a:ea typeface="Helvetica Neue"/>
                <a:cs typeface="Helvetica Neue"/>
                <a:sym typeface="Helvetica Neue"/>
              </a:rPr>
              <a:t>‹#›</a:t>
            </a:fld>
            <a:endParaRPr/>
          </a:p>
        </p:txBody>
      </p:sp>
      <p:sp>
        <p:nvSpPr>
          <p:cNvPr id="439" name="Google Shape;439;p22"/>
          <p:cNvSpPr/>
          <p:nvPr/>
        </p:nvSpPr>
        <p:spPr>
          <a:xfrm>
            <a:off x="822960" y="2194560"/>
            <a:ext cx="10744200" cy="3291900"/>
          </a:xfrm>
          <a:prstGeom prst="roundRect">
            <a:avLst>
              <a:gd fmla="val 7999" name="adj"/>
            </a:avLst>
          </a:prstGeom>
          <a:solidFill>
            <a:srgbClr val="F1F5F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grpSp>
        <p:nvGrpSpPr>
          <p:cNvPr id="440" name="Google Shape;440;p22"/>
          <p:cNvGrpSpPr/>
          <p:nvPr/>
        </p:nvGrpSpPr>
        <p:grpSpPr>
          <a:xfrm>
            <a:off x="1143000" y="2423160"/>
            <a:ext cx="548700" cy="548700"/>
            <a:chOff x="0" y="0"/>
            <a:chExt cx="548700" cy="548700"/>
          </a:xfrm>
        </p:grpSpPr>
        <p:sp>
          <p:nvSpPr>
            <p:cNvPr id="441" name="Google Shape;441;p22"/>
            <p:cNvSpPr/>
            <p:nvPr/>
          </p:nvSpPr>
          <p:spPr>
            <a:xfrm>
              <a:off x="0" y="0"/>
              <a:ext cx="548700" cy="5487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22"/>
            <p:cNvSpPr txBox="1"/>
            <p:nvPr/>
          </p:nvSpPr>
          <p:spPr>
            <a:xfrm>
              <a:off x="126054" y="131615"/>
              <a:ext cx="296700" cy="27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1800"/>
                <a:buFont typeface="Helvetica Neue"/>
                <a:buNone/>
              </a:pPr>
              <a:r>
                <a:rPr b="1" i="0" lang="en-US" sz="1800" u="none" cap="none" strike="noStrike">
                  <a:solidFill>
                    <a:srgbClr val="FFFFFF"/>
                  </a:solidFill>
                  <a:latin typeface="Helvetica Neue"/>
                  <a:ea typeface="Helvetica Neue"/>
                  <a:cs typeface="Helvetica Neue"/>
                  <a:sym typeface="Helvetica Neue"/>
                </a:rPr>
                <a:t>1</a:t>
              </a:r>
              <a:endParaRPr b="0" i="0" sz="1400" u="none" cap="none" strike="noStrike">
                <a:solidFill>
                  <a:srgbClr val="000000"/>
                </a:solidFill>
                <a:latin typeface="Arial"/>
                <a:ea typeface="Arial"/>
                <a:cs typeface="Arial"/>
                <a:sym typeface="Arial"/>
              </a:endParaRPr>
            </a:p>
          </p:txBody>
        </p:sp>
      </p:grpSp>
      <p:sp>
        <p:nvSpPr>
          <p:cNvPr id="443" name="Google Shape;443;p22"/>
          <p:cNvSpPr txBox="1"/>
          <p:nvPr/>
        </p:nvSpPr>
        <p:spPr>
          <a:xfrm>
            <a:off x="1874518" y="2420509"/>
            <a:ext cx="8686800" cy="292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accent1"/>
              </a:buClr>
              <a:buSzPts val="1900"/>
              <a:buFont typeface="Helvetica Neue"/>
              <a:buNone/>
            </a:pPr>
            <a:r>
              <a:rPr b="1" i="0" lang="en-US" sz="1900" u="none" cap="none" strike="noStrike">
                <a:solidFill>
                  <a:schemeClr val="accent1"/>
                </a:solidFill>
                <a:latin typeface="Helvetica Neue"/>
                <a:ea typeface="Helvetica Neue"/>
                <a:cs typeface="Helvetica Neue"/>
                <a:sym typeface="Helvetica Neue"/>
              </a:rPr>
              <a:t>BEFORE DEPLOYMENT</a:t>
            </a:r>
            <a:r>
              <a:rPr b="0" i="0" lang="en-US" sz="1900" u="none" cap="none" strike="noStrike">
                <a:solidFill>
                  <a:srgbClr val="04243C"/>
                </a:solidFill>
                <a:latin typeface="Helvetica Neue"/>
                <a:ea typeface="Helvetica Neue"/>
                <a:cs typeface="Helvetica Neue"/>
                <a:sym typeface="Helvetica Neue"/>
              </a:rPr>
              <a:t>   benchmark</a:t>
            </a:r>
            <a:endParaRPr b="0" i="0" sz="1400" u="none" cap="none" strike="noStrike">
              <a:solidFill>
                <a:srgbClr val="000000"/>
              </a:solidFill>
              <a:latin typeface="Arial"/>
              <a:ea typeface="Arial"/>
              <a:cs typeface="Arial"/>
              <a:sym typeface="Arial"/>
            </a:endParaRPr>
          </a:p>
        </p:txBody>
      </p:sp>
      <p:sp>
        <p:nvSpPr>
          <p:cNvPr id="444" name="Google Shape;444;p22"/>
          <p:cNvSpPr/>
          <p:nvPr/>
        </p:nvSpPr>
        <p:spPr>
          <a:xfrm>
            <a:off x="1143000" y="3200400"/>
            <a:ext cx="2286000" cy="1965900"/>
          </a:xfrm>
          <a:prstGeom prst="roundRect">
            <a:avLst>
              <a:gd fmla="val 5581" name="adj"/>
            </a:avLst>
          </a:prstGeom>
          <a:solidFill>
            <a:srgbClr val="FFFFFF"/>
          </a:solidFill>
          <a:ln cap="flat" cmpd="sng" w="12700">
            <a:solidFill>
              <a:schemeClr val="accent3"/>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445" name="Google Shape;445;p22"/>
          <p:cNvSpPr txBox="1"/>
          <p:nvPr/>
        </p:nvSpPr>
        <p:spPr>
          <a:xfrm>
            <a:off x="1325880" y="3383279"/>
            <a:ext cx="1920300" cy="292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1900"/>
              <a:buFont typeface="Helvetica Neue"/>
              <a:buNone/>
            </a:pPr>
            <a:r>
              <a:rPr b="1" i="0" lang="en-US" sz="1900" u="none" cap="none" strike="noStrike">
                <a:solidFill>
                  <a:srgbClr val="04243C"/>
                </a:solidFill>
                <a:latin typeface="Helvetica Neue"/>
                <a:ea typeface="Helvetica Neue"/>
                <a:cs typeface="Helvetica Neue"/>
                <a:sym typeface="Helvetica Neue"/>
              </a:rPr>
              <a:t>SEC filings</a:t>
            </a:r>
            <a:endParaRPr b="0" i="0" sz="1400" u="none" cap="none" strike="noStrike">
              <a:solidFill>
                <a:srgbClr val="000000"/>
              </a:solidFill>
              <a:latin typeface="Arial"/>
              <a:ea typeface="Arial"/>
              <a:cs typeface="Arial"/>
              <a:sym typeface="Arial"/>
            </a:endParaRPr>
          </a:p>
        </p:txBody>
      </p:sp>
      <p:sp>
        <p:nvSpPr>
          <p:cNvPr id="446" name="Google Shape;446;p22"/>
          <p:cNvSpPr txBox="1"/>
          <p:nvPr/>
        </p:nvSpPr>
        <p:spPr>
          <a:xfrm>
            <a:off x="1325880" y="4251959"/>
            <a:ext cx="19203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475569"/>
              </a:buClr>
              <a:buSzPts val="1500"/>
              <a:buFont typeface="Helvetica Neue"/>
              <a:buNone/>
            </a:pPr>
            <a:r>
              <a:rPr b="0" i="0" lang="en-US" sz="1500" u="none" cap="none" strike="noStrike">
                <a:solidFill>
                  <a:srgbClr val="475569"/>
                </a:solidFill>
                <a:latin typeface="Helvetica Neue"/>
                <a:ea typeface="Helvetica Neue"/>
                <a:cs typeface="Helvetica Neue"/>
                <a:sym typeface="Helvetica Neue"/>
              </a:rPr>
              <a:t>sampled across forms</a:t>
            </a:r>
            <a:endParaRPr b="0" i="0" sz="1400" u="none" cap="none" strike="noStrike">
              <a:solidFill>
                <a:srgbClr val="000000"/>
              </a:solidFill>
              <a:latin typeface="Arial"/>
              <a:ea typeface="Arial"/>
              <a:cs typeface="Arial"/>
              <a:sym typeface="Arial"/>
            </a:endParaRPr>
          </a:p>
        </p:txBody>
      </p:sp>
      <p:cxnSp>
        <p:nvCxnSpPr>
          <p:cNvPr id="447" name="Google Shape;447;p22"/>
          <p:cNvCxnSpPr/>
          <p:nvPr/>
        </p:nvCxnSpPr>
        <p:spPr>
          <a:xfrm>
            <a:off x="3465576" y="4183379"/>
            <a:ext cx="265200" cy="0"/>
          </a:xfrm>
          <a:prstGeom prst="straightConnector1">
            <a:avLst/>
          </a:prstGeom>
          <a:noFill/>
          <a:ln cap="flat" cmpd="sng" w="25400">
            <a:solidFill>
              <a:schemeClr val="accent1"/>
            </a:solidFill>
            <a:prstDash val="solid"/>
            <a:round/>
            <a:headEnd len="sm" w="sm" type="none"/>
            <a:tailEnd len="med" w="med" type="triangle"/>
          </a:ln>
        </p:spPr>
      </p:cxnSp>
      <p:sp>
        <p:nvSpPr>
          <p:cNvPr id="448" name="Google Shape;448;p22"/>
          <p:cNvSpPr/>
          <p:nvPr/>
        </p:nvSpPr>
        <p:spPr>
          <a:xfrm>
            <a:off x="3767328" y="3200400"/>
            <a:ext cx="2286000" cy="1965900"/>
          </a:xfrm>
          <a:prstGeom prst="roundRect">
            <a:avLst>
              <a:gd fmla="val 5581" name="adj"/>
            </a:avLst>
          </a:prstGeom>
          <a:solidFill>
            <a:srgbClr val="FFFFFF"/>
          </a:solidFill>
          <a:ln cap="flat" cmpd="sng" w="12700">
            <a:solidFill>
              <a:schemeClr val="accent3"/>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449" name="Google Shape;449;p22"/>
          <p:cNvSpPr txBox="1"/>
          <p:nvPr/>
        </p:nvSpPr>
        <p:spPr>
          <a:xfrm>
            <a:off x="3950208" y="3383279"/>
            <a:ext cx="1920300" cy="585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1900"/>
              <a:buFont typeface="Helvetica Neue"/>
              <a:buNone/>
            </a:pPr>
            <a:r>
              <a:rPr b="1" i="0" lang="en-US" sz="1900" u="none" cap="none" strike="noStrike">
                <a:solidFill>
                  <a:srgbClr val="04243C"/>
                </a:solidFill>
                <a:latin typeface="Helvetica Neue"/>
                <a:ea typeface="Helvetica Neue"/>
                <a:cs typeface="Helvetica Neue"/>
                <a:sym typeface="Helvetica Neue"/>
              </a:rPr>
              <a:t>LLM reference set</a:t>
            </a:r>
            <a:endParaRPr b="0" i="0" sz="1400" u="none" cap="none" strike="noStrike">
              <a:solidFill>
                <a:srgbClr val="000000"/>
              </a:solidFill>
              <a:latin typeface="Arial"/>
              <a:ea typeface="Arial"/>
              <a:cs typeface="Arial"/>
              <a:sym typeface="Arial"/>
            </a:endParaRPr>
          </a:p>
        </p:txBody>
      </p:sp>
      <p:sp>
        <p:nvSpPr>
          <p:cNvPr id="450" name="Google Shape;450;p22"/>
          <p:cNvSpPr txBox="1"/>
          <p:nvPr/>
        </p:nvSpPr>
        <p:spPr>
          <a:xfrm>
            <a:off x="3950208" y="4251959"/>
            <a:ext cx="19203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475569"/>
              </a:buClr>
              <a:buSzPts val="1500"/>
              <a:buFont typeface="Helvetica Neue"/>
              <a:buNone/>
            </a:pPr>
            <a:r>
              <a:rPr b="0" i="0" lang="en-US" sz="1500" u="none" cap="none" strike="noStrike">
                <a:solidFill>
                  <a:srgbClr val="475569"/>
                </a:solidFill>
                <a:latin typeface="Helvetica Neue"/>
                <a:ea typeface="Helvetica Neue"/>
                <a:cs typeface="Helvetica Neue"/>
                <a:sym typeface="Helvetica Neue"/>
              </a:rPr>
              <a:t>+ human spot checks</a:t>
            </a:r>
            <a:endParaRPr b="0" i="0" sz="1400" u="none" cap="none" strike="noStrike">
              <a:solidFill>
                <a:srgbClr val="000000"/>
              </a:solidFill>
              <a:latin typeface="Arial"/>
              <a:ea typeface="Arial"/>
              <a:cs typeface="Arial"/>
              <a:sym typeface="Arial"/>
            </a:endParaRPr>
          </a:p>
        </p:txBody>
      </p:sp>
      <p:cxnSp>
        <p:nvCxnSpPr>
          <p:cNvPr id="451" name="Google Shape;451;p22"/>
          <p:cNvCxnSpPr/>
          <p:nvPr/>
        </p:nvCxnSpPr>
        <p:spPr>
          <a:xfrm>
            <a:off x="6089903" y="4183379"/>
            <a:ext cx="265200" cy="0"/>
          </a:xfrm>
          <a:prstGeom prst="straightConnector1">
            <a:avLst/>
          </a:prstGeom>
          <a:noFill/>
          <a:ln cap="flat" cmpd="sng" w="25400">
            <a:solidFill>
              <a:schemeClr val="accent1"/>
            </a:solidFill>
            <a:prstDash val="solid"/>
            <a:round/>
            <a:headEnd len="sm" w="sm" type="none"/>
            <a:tailEnd len="med" w="med" type="triangle"/>
          </a:ln>
        </p:spPr>
      </p:cxnSp>
      <p:sp>
        <p:nvSpPr>
          <p:cNvPr id="452" name="Google Shape;452;p22"/>
          <p:cNvSpPr/>
          <p:nvPr/>
        </p:nvSpPr>
        <p:spPr>
          <a:xfrm>
            <a:off x="6391655" y="3200400"/>
            <a:ext cx="2286000" cy="1965900"/>
          </a:xfrm>
          <a:prstGeom prst="roundRect">
            <a:avLst>
              <a:gd fmla="val 5581" name="adj"/>
            </a:avLst>
          </a:prstGeom>
          <a:solidFill>
            <a:srgbClr val="FFFFFF"/>
          </a:solidFill>
          <a:ln cap="flat" cmpd="sng" w="12700">
            <a:solidFill>
              <a:schemeClr val="accent3"/>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453" name="Google Shape;453;p22"/>
          <p:cNvSpPr txBox="1"/>
          <p:nvPr/>
        </p:nvSpPr>
        <p:spPr>
          <a:xfrm>
            <a:off x="6574535" y="3383279"/>
            <a:ext cx="1920300" cy="292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1900"/>
              <a:buFont typeface="Helvetica Neue"/>
              <a:buNone/>
            </a:pPr>
            <a:r>
              <a:rPr b="1" i="0" lang="en-US" sz="1900" u="none" cap="none" strike="noStrike">
                <a:solidFill>
                  <a:srgbClr val="04243C"/>
                </a:solidFill>
                <a:latin typeface="Helvetica Neue"/>
                <a:ea typeface="Helvetica Neue"/>
                <a:cs typeface="Helvetica Neue"/>
                <a:sym typeface="Helvetica Neue"/>
              </a:rPr>
              <a:t>Our pipeline</a:t>
            </a:r>
            <a:endParaRPr b="0" i="0" sz="1400" u="none" cap="none" strike="noStrike">
              <a:solidFill>
                <a:srgbClr val="000000"/>
              </a:solidFill>
              <a:latin typeface="Arial"/>
              <a:ea typeface="Arial"/>
              <a:cs typeface="Arial"/>
              <a:sym typeface="Arial"/>
            </a:endParaRPr>
          </a:p>
        </p:txBody>
      </p:sp>
      <p:sp>
        <p:nvSpPr>
          <p:cNvPr id="454" name="Google Shape;454;p22"/>
          <p:cNvSpPr txBox="1"/>
          <p:nvPr/>
        </p:nvSpPr>
        <p:spPr>
          <a:xfrm>
            <a:off x="6574535" y="4251959"/>
            <a:ext cx="19203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475569"/>
              </a:buClr>
              <a:buSzPts val="1500"/>
              <a:buFont typeface="Helvetica Neue"/>
              <a:buNone/>
            </a:pPr>
            <a:r>
              <a:rPr b="0" i="0" lang="en-US" sz="1500" u="none" cap="none" strike="noStrike">
                <a:solidFill>
                  <a:srgbClr val="475569"/>
                </a:solidFill>
                <a:latin typeface="Helvetica Neue"/>
                <a:ea typeface="Helvetica Neue"/>
                <a:cs typeface="Helvetica Neue"/>
                <a:sym typeface="Helvetica Neue"/>
              </a:rPr>
              <a:t>rules + GLiNER learn from it</a:t>
            </a:r>
            <a:endParaRPr b="0" i="0" sz="1400" u="none" cap="none" strike="noStrike">
              <a:solidFill>
                <a:srgbClr val="000000"/>
              </a:solidFill>
              <a:latin typeface="Arial"/>
              <a:ea typeface="Arial"/>
              <a:cs typeface="Arial"/>
              <a:sym typeface="Arial"/>
            </a:endParaRPr>
          </a:p>
        </p:txBody>
      </p:sp>
      <p:cxnSp>
        <p:nvCxnSpPr>
          <p:cNvPr id="455" name="Google Shape;455;p22"/>
          <p:cNvCxnSpPr/>
          <p:nvPr/>
        </p:nvCxnSpPr>
        <p:spPr>
          <a:xfrm>
            <a:off x="8714231" y="4183379"/>
            <a:ext cx="265200" cy="0"/>
          </a:xfrm>
          <a:prstGeom prst="straightConnector1">
            <a:avLst/>
          </a:prstGeom>
          <a:noFill/>
          <a:ln cap="flat" cmpd="sng" w="25400">
            <a:solidFill>
              <a:schemeClr val="accent1"/>
            </a:solidFill>
            <a:prstDash val="solid"/>
            <a:round/>
            <a:headEnd len="sm" w="sm" type="none"/>
            <a:tailEnd len="med" w="med" type="triangle"/>
          </a:ln>
        </p:spPr>
      </p:cxnSp>
      <p:sp>
        <p:nvSpPr>
          <p:cNvPr id="456" name="Google Shape;456;p22"/>
          <p:cNvSpPr/>
          <p:nvPr/>
        </p:nvSpPr>
        <p:spPr>
          <a:xfrm>
            <a:off x="9015983" y="3200400"/>
            <a:ext cx="2286000" cy="1965900"/>
          </a:xfrm>
          <a:prstGeom prst="roundRect">
            <a:avLst>
              <a:gd fmla="val 5581" name="adj"/>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457" name="Google Shape;457;p22"/>
          <p:cNvSpPr txBox="1"/>
          <p:nvPr/>
        </p:nvSpPr>
        <p:spPr>
          <a:xfrm>
            <a:off x="9198863" y="3383279"/>
            <a:ext cx="1920300" cy="585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1900"/>
              <a:buFont typeface="Helvetica Neue"/>
              <a:buNone/>
            </a:pPr>
            <a:r>
              <a:rPr b="1" i="0" lang="en-US" sz="1900" u="none" cap="none" strike="noStrike">
                <a:solidFill>
                  <a:srgbClr val="FFFFFF"/>
                </a:solidFill>
                <a:latin typeface="Helvetica Neue"/>
                <a:ea typeface="Helvetica Neue"/>
                <a:cs typeface="Helvetica Neue"/>
                <a:sym typeface="Helvetica Neue"/>
              </a:rPr>
              <a:t>Compare field by field</a:t>
            </a:r>
            <a:endParaRPr b="0" i="0" sz="1400" u="none" cap="none" strike="noStrike">
              <a:solidFill>
                <a:srgbClr val="000000"/>
              </a:solidFill>
              <a:latin typeface="Arial"/>
              <a:ea typeface="Arial"/>
              <a:cs typeface="Arial"/>
              <a:sym typeface="Arial"/>
            </a:endParaRPr>
          </a:p>
        </p:txBody>
      </p:sp>
      <p:sp>
        <p:nvSpPr>
          <p:cNvPr id="458" name="Google Shape;458;p22"/>
          <p:cNvSpPr txBox="1"/>
          <p:nvPr/>
        </p:nvSpPr>
        <p:spPr>
          <a:xfrm>
            <a:off x="9198863" y="4251959"/>
            <a:ext cx="19203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500"/>
              <a:buFont typeface="Helvetica Neue"/>
              <a:buNone/>
            </a:pPr>
            <a:r>
              <a:rPr b="0" i="0" lang="en-US" sz="1500" u="none" cap="none" strike="noStrike">
                <a:solidFill>
                  <a:schemeClr val="accent2"/>
                </a:solidFill>
                <a:latin typeface="Helvetica Neue"/>
                <a:ea typeface="Helvetica Neue"/>
                <a:cs typeface="Helvetica Neue"/>
                <a:sym typeface="Helvetica Neue"/>
              </a:rPr>
              <a:t>accuracy · completeness</a:t>
            </a:r>
            <a:endParaRPr b="0" i="0" sz="1400" u="none" cap="none" strike="noStrike">
              <a:solidFill>
                <a:srgbClr val="000000"/>
              </a:solidFill>
              <a:latin typeface="Arial"/>
              <a:ea typeface="Arial"/>
              <a:cs typeface="Arial"/>
              <a:sym typeface="Arial"/>
            </a:endParaRPr>
          </a:p>
        </p:txBody>
      </p:sp>
      <p:sp>
        <p:nvSpPr>
          <p:cNvPr id="459" name="Google Shape;459;p22"/>
          <p:cNvSpPr/>
          <p:nvPr/>
        </p:nvSpPr>
        <p:spPr>
          <a:xfrm>
            <a:off x="822960" y="5760720"/>
            <a:ext cx="10744200" cy="3291900"/>
          </a:xfrm>
          <a:prstGeom prst="roundRect">
            <a:avLst>
              <a:gd fmla="val 7999" name="adj"/>
            </a:avLst>
          </a:prstGeom>
          <a:solidFill>
            <a:srgbClr val="F1F5F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grpSp>
        <p:nvGrpSpPr>
          <p:cNvPr id="460" name="Google Shape;460;p22"/>
          <p:cNvGrpSpPr/>
          <p:nvPr/>
        </p:nvGrpSpPr>
        <p:grpSpPr>
          <a:xfrm>
            <a:off x="1143000" y="5989320"/>
            <a:ext cx="548700" cy="548700"/>
            <a:chOff x="0" y="0"/>
            <a:chExt cx="548700" cy="548700"/>
          </a:xfrm>
        </p:grpSpPr>
        <p:sp>
          <p:nvSpPr>
            <p:cNvPr id="461" name="Google Shape;461;p22"/>
            <p:cNvSpPr/>
            <p:nvPr/>
          </p:nvSpPr>
          <p:spPr>
            <a:xfrm>
              <a:off x="0" y="0"/>
              <a:ext cx="548700" cy="5487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22"/>
            <p:cNvSpPr txBox="1"/>
            <p:nvPr/>
          </p:nvSpPr>
          <p:spPr>
            <a:xfrm>
              <a:off x="126054" y="131615"/>
              <a:ext cx="296700" cy="27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1800"/>
                <a:buFont typeface="Helvetica Neue"/>
                <a:buNone/>
              </a:pPr>
              <a:r>
                <a:rPr b="1" i="0" lang="en-US" sz="1800" u="none" cap="none" strike="noStrike">
                  <a:solidFill>
                    <a:srgbClr val="FFFFFF"/>
                  </a:solidFill>
                  <a:latin typeface="Helvetica Neue"/>
                  <a:ea typeface="Helvetica Neue"/>
                  <a:cs typeface="Helvetica Neue"/>
                  <a:sym typeface="Helvetica Neue"/>
                </a:rPr>
                <a:t>2</a:t>
              </a:r>
              <a:endParaRPr b="0" i="0" sz="1400" u="none" cap="none" strike="noStrike">
                <a:solidFill>
                  <a:srgbClr val="000000"/>
                </a:solidFill>
                <a:latin typeface="Arial"/>
                <a:ea typeface="Arial"/>
                <a:cs typeface="Arial"/>
                <a:sym typeface="Arial"/>
              </a:endParaRPr>
            </a:p>
          </p:txBody>
        </p:sp>
      </p:grpSp>
      <p:sp>
        <p:nvSpPr>
          <p:cNvPr id="463" name="Google Shape;463;p22"/>
          <p:cNvSpPr txBox="1"/>
          <p:nvPr/>
        </p:nvSpPr>
        <p:spPr>
          <a:xfrm>
            <a:off x="1874518" y="5986669"/>
            <a:ext cx="8686800" cy="292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accent1"/>
              </a:buClr>
              <a:buSzPts val="1900"/>
              <a:buFont typeface="Helvetica Neue"/>
              <a:buNone/>
            </a:pPr>
            <a:r>
              <a:rPr b="1" i="0" lang="en-US" sz="1900" u="none" cap="none" strike="noStrike">
                <a:solidFill>
                  <a:schemeClr val="accent1"/>
                </a:solidFill>
                <a:latin typeface="Helvetica Neue"/>
                <a:ea typeface="Helvetica Neue"/>
                <a:cs typeface="Helvetica Neue"/>
                <a:sym typeface="Helvetica Neue"/>
              </a:rPr>
              <a:t>AFTER DEPLOYMENT</a:t>
            </a:r>
            <a:r>
              <a:rPr b="0" i="0" lang="en-US" sz="1900" u="none" cap="none" strike="noStrike">
                <a:solidFill>
                  <a:srgbClr val="04243C"/>
                </a:solidFill>
                <a:latin typeface="Helvetica Neue"/>
                <a:ea typeface="Helvetica Neue"/>
                <a:cs typeface="Helvetica Neue"/>
                <a:sym typeface="Helvetica Neue"/>
              </a:rPr>
              <a:t>   continuous checks</a:t>
            </a:r>
            <a:endParaRPr b="0" i="0" sz="1400" u="none" cap="none" strike="noStrike">
              <a:solidFill>
                <a:srgbClr val="000000"/>
              </a:solidFill>
              <a:latin typeface="Arial"/>
              <a:ea typeface="Arial"/>
              <a:cs typeface="Arial"/>
              <a:sym typeface="Arial"/>
            </a:endParaRPr>
          </a:p>
        </p:txBody>
      </p:sp>
      <p:sp>
        <p:nvSpPr>
          <p:cNvPr id="464" name="Google Shape;464;p22"/>
          <p:cNvSpPr/>
          <p:nvPr/>
        </p:nvSpPr>
        <p:spPr>
          <a:xfrm>
            <a:off x="1143000" y="6766559"/>
            <a:ext cx="2286000" cy="1965900"/>
          </a:xfrm>
          <a:prstGeom prst="roundRect">
            <a:avLst>
              <a:gd fmla="val 5581" name="adj"/>
            </a:avLst>
          </a:prstGeom>
          <a:solidFill>
            <a:srgbClr val="FFFFFF"/>
          </a:solidFill>
          <a:ln cap="flat" cmpd="sng" w="12700">
            <a:solidFill>
              <a:schemeClr val="accent3"/>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465" name="Google Shape;465;p22"/>
          <p:cNvSpPr txBox="1"/>
          <p:nvPr/>
        </p:nvSpPr>
        <p:spPr>
          <a:xfrm>
            <a:off x="1325880" y="6949440"/>
            <a:ext cx="1920300" cy="292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1900"/>
              <a:buFont typeface="Helvetica Neue"/>
              <a:buNone/>
            </a:pPr>
            <a:r>
              <a:rPr b="1" i="0" lang="en-US" sz="1900" u="none" cap="none" strike="noStrike">
                <a:solidFill>
                  <a:srgbClr val="04243C"/>
                </a:solidFill>
                <a:latin typeface="Helvetica Neue"/>
                <a:ea typeface="Helvetica Neue"/>
                <a:cs typeface="Helvetica Neue"/>
                <a:sym typeface="Helvetica Neue"/>
              </a:rPr>
              <a:t>Live outputs</a:t>
            </a:r>
            <a:endParaRPr b="0" i="0" sz="1400" u="none" cap="none" strike="noStrike">
              <a:solidFill>
                <a:srgbClr val="000000"/>
              </a:solidFill>
              <a:latin typeface="Arial"/>
              <a:ea typeface="Arial"/>
              <a:cs typeface="Arial"/>
              <a:sym typeface="Arial"/>
            </a:endParaRPr>
          </a:p>
        </p:txBody>
      </p:sp>
      <p:sp>
        <p:nvSpPr>
          <p:cNvPr id="466" name="Google Shape;466;p22"/>
          <p:cNvSpPr txBox="1"/>
          <p:nvPr/>
        </p:nvSpPr>
        <p:spPr>
          <a:xfrm>
            <a:off x="1325880" y="7818119"/>
            <a:ext cx="19203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475569"/>
              </a:buClr>
              <a:buSzPts val="1500"/>
              <a:buFont typeface="Helvetica Neue"/>
              <a:buNone/>
            </a:pPr>
            <a:r>
              <a:rPr b="0" i="0" lang="en-US" sz="1500" u="none" cap="none" strike="noStrike">
                <a:solidFill>
                  <a:srgbClr val="475569"/>
                </a:solidFill>
                <a:latin typeface="Helvetica Neue"/>
                <a:ea typeface="Helvetica Neue"/>
                <a:cs typeface="Helvetica Neue"/>
                <a:sym typeface="Helvetica Neue"/>
              </a:rPr>
              <a:t>new filings as they arrive</a:t>
            </a:r>
            <a:endParaRPr b="0" i="0" sz="1400" u="none" cap="none" strike="noStrike">
              <a:solidFill>
                <a:srgbClr val="000000"/>
              </a:solidFill>
              <a:latin typeface="Arial"/>
              <a:ea typeface="Arial"/>
              <a:cs typeface="Arial"/>
              <a:sym typeface="Arial"/>
            </a:endParaRPr>
          </a:p>
        </p:txBody>
      </p:sp>
      <p:cxnSp>
        <p:nvCxnSpPr>
          <p:cNvPr id="467" name="Google Shape;467;p22"/>
          <p:cNvCxnSpPr/>
          <p:nvPr/>
        </p:nvCxnSpPr>
        <p:spPr>
          <a:xfrm>
            <a:off x="3465576" y="7749540"/>
            <a:ext cx="265200" cy="0"/>
          </a:xfrm>
          <a:prstGeom prst="straightConnector1">
            <a:avLst/>
          </a:prstGeom>
          <a:noFill/>
          <a:ln cap="flat" cmpd="sng" w="25400">
            <a:solidFill>
              <a:schemeClr val="accent1"/>
            </a:solidFill>
            <a:prstDash val="solid"/>
            <a:round/>
            <a:headEnd len="sm" w="sm" type="none"/>
            <a:tailEnd len="med" w="med" type="triangle"/>
          </a:ln>
        </p:spPr>
      </p:cxnSp>
      <p:sp>
        <p:nvSpPr>
          <p:cNvPr id="468" name="Google Shape;468;p22"/>
          <p:cNvSpPr/>
          <p:nvPr/>
        </p:nvSpPr>
        <p:spPr>
          <a:xfrm>
            <a:off x="3767328" y="6766559"/>
            <a:ext cx="2286000" cy="1965900"/>
          </a:xfrm>
          <a:prstGeom prst="roundRect">
            <a:avLst>
              <a:gd fmla="val 5581" name="adj"/>
            </a:avLst>
          </a:prstGeom>
          <a:solidFill>
            <a:srgbClr val="FFFFFF"/>
          </a:solidFill>
          <a:ln cap="flat" cmpd="sng" w="12700">
            <a:solidFill>
              <a:schemeClr val="accent3"/>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469" name="Google Shape;469;p22"/>
          <p:cNvSpPr txBox="1"/>
          <p:nvPr/>
        </p:nvSpPr>
        <p:spPr>
          <a:xfrm>
            <a:off x="3950208" y="6949440"/>
            <a:ext cx="1920300" cy="585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1900"/>
              <a:buFont typeface="Helvetica Neue"/>
              <a:buNone/>
            </a:pPr>
            <a:r>
              <a:rPr b="1" i="0" lang="en-US" sz="1900" u="none" cap="none" strike="noStrike">
                <a:solidFill>
                  <a:srgbClr val="04243C"/>
                </a:solidFill>
                <a:latin typeface="Helvetica Neue"/>
                <a:ea typeface="Helvetica Neue"/>
                <a:cs typeface="Helvetica Neue"/>
                <a:sym typeface="Helvetica Neue"/>
              </a:rPr>
              <a:t>Stratified sample</a:t>
            </a:r>
            <a:endParaRPr b="0" i="0" sz="1400" u="none" cap="none" strike="noStrike">
              <a:solidFill>
                <a:srgbClr val="000000"/>
              </a:solidFill>
              <a:latin typeface="Arial"/>
              <a:ea typeface="Arial"/>
              <a:cs typeface="Arial"/>
              <a:sym typeface="Arial"/>
            </a:endParaRPr>
          </a:p>
        </p:txBody>
      </p:sp>
      <p:sp>
        <p:nvSpPr>
          <p:cNvPr id="470" name="Google Shape;470;p22"/>
          <p:cNvSpPr txBox="1"/>
          <p:nvPr/>
        </p:nvSpPr>
        <p:spPr>
          <a:xfrm>
            <a:off x="3950208" y="7818119"/>
            <a:ext cx="19203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475569"/>
              </a:buClr>
              <a:buSzPts val="1500"/>
              <a:buFont typeface="Helvetica Neue"/>
              <a:buNone/>
            </a:pPr>
            <a:r>
              <a:rPr b="0" i="0" lang="en-US" sz="1500" u="none" cap="none" strike="noStrike">
                <a:solidFill>
                  <a:srgbClr val="475569"/>
                </a:solidFill>
                <a:latin typeface="Helvetica Neue"/>
                <a:ea typeface="Helvetica Neue"/>
                <a:cs typeface="Helvetica Neue"/>
                <a:sym typeface="Helvetica Neue"/>
              </a:rPr>
              <a:t>across event + filing types</a:t>
            </a:r>
            <a:endParaRPr b="0" i="0" sz="1400" u="none" cap="none" strike="noStrike">
              <a:solidFill>
                <a:srgbClr val="000000"/>
              </a:solidFill>
              <a:latin typeface="Arial"/>
              <a:ea typeface="Arial"/>
              <a:cs typeface="Arial"/>
              <a:sym typeface="Arial"/>
            </a:endParaRPr>
          </a:p>
        </p:txBody>
      </p:sp>
      <p:cxnSp>
        <p:nvCxnSpPr>
          <p:cNvPr id="471" name="Google Shape;471;p22"/>
          <p:cNvCxnSpPr/>
          <p:nvPr/>
        </p:nvCxnSpPr>
        <p:spPr>
          <a:xfrm>
            <a:off x="6089903" y="7749540"/>
            <a:ext cx="265200" cy="0"/>
          </a:xfrm>
          <a:prstGeom prst="straightConnector1">
            <a:avLst/>
          </a:prstGeom>
          <a:noFill/>
          <a:ln cap="flat" cmpd="sng" w="25400">
            <a:solidFill>
              <a:schemeClr val="accent1"/>
            </a:solidFill>
            <a:prstDash val="solid"/>
            <a:round/>
            <a:headEnd len="sm" w="sm" type="none"/>
            <a:tailEnd len="med" w="med" type="triangle"/>
          </a:ln>
        </p:spPr>
      </p:cxnSp>
      <p:sp>
        <p:nvSpPr>
          <p:cNvPr id="472" name="Google Shape;472;p22"/>
          <p:cNvSpPr/>
          <p:nvPr/>
        </p:nvSpPr>
        <p:spPr>
          <a:xfrm>
            <a:off x="6391655" y="6766559"/>
            <a:ext cx="2286000" cy="1965900"/>
          </a:xfrm>
          <a:prstGeom prst="roundRect">
            <a:avLst>
              <a:gd fmla="val 5581" name="adj"/>
            </a:avLst>
          </a:prstGeom>
          <a:solidFill>
            <a:srgbClr val="FFFFFF"/>
          </a:solidFill>
          <a:ln cap="flat" cmpd="sng" w="12700">
            <a:solidFill>
              <a:schemeClr val="accent3"/>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473" name="Google Shape;473;p22"/>
          <p:cNvSpPr txBox="1"/>
          <p:nvPr/>
        </p:nvSpPr>
        <p:spPr>
          <a:xfrm>
            <a:off x="6574535" y="6949440"/>
            <a:ext cx="1920300" cy="585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1900"/>
              <a:buFont typeface="Helvetica Neue"/>
              <a:buNone/>
            </a:pPr>
            <a:r>
              <a:rPr b="1" i="0" lang="en-US" sz="1900" u="none" cap="none" strike="noStrike">
                <a:solidFill>
                  <a:srgbClr val="04243C"/>
                </a:solidFill>
                <a:latin typeface="Helvetica Neue"/>
                <a:ea typeface="Helvetica Neue"/>
                <a:cs typeface="Helvetica Neue"/>
                <a:sym typeface="Helvetica Neue"/>
              </a:rPr>
              <a:t>Backward LLM check</a:t>
            </a:r>
            <a:endParaRPr b="0" i="0" sz="1400" u="none" cap="none" strike="noStrike">
              <a:solidFill>
                <a:srgbClr val="000000"/>
              </a:solidFill>
              <a:latin typeface="Arial"/>
              <a:ea typeface="Arial"/>
              <a:cs typeface="Arial"/>
              <a:sym typeface="Arial"/>
            </a:endParaRPr>
          </a:p>
        </p:txBody>
      </p:sp>
      <p:sp>
        <p:nvSpPr>
          <p:cNvPr id="474" name="Google Shape;474;p22"/>
          <p:cNvSpPr txBox="1"/>
          <p:nvPr/>
        </p:nvSpPr>
        <p:spPr>
          <a:xfrm>
            <a:off x="6574535" y="7818119"/>
            <a:ext cx="19203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475569"/>
              </a:buClr>
              <a:buSzPts val="1500"/>
              <a:buFont typeface="Helvetica Neue"/>
              <a:buNone/>
            </a:pPr>
            <a:r>
              <a:rPr b="0" i="0" lang="en-US" sz="1500" u="none" cap="none" strike="noStrike">
                <a:solidFill>
                  <a:srgbClr val="475569"/>
                </a:solidFill>
                <a:latin typeface="Helvetica Neue"/>
                <a:ea typeface="Helvetica Neue"/>
                <a:cs typeface="Helvetica Neue"/>
                <a:sym typeface="Helvetica Neue"/>
              </a:rPr>
              <a:t>"Is this value in the filing?"</a:t>
            </a:r>
            <a:endParaRPr b="0" i="0" sz="1400" u="none" cap="none" strike="noStrike">
              <a:solidFill>
                <a:srgbClr val="000000"/>
              </a:solidFill>
              <a:latin typeface="Arial"/>
              <a:ea typeface="Arial"/>
              <a:cs typeface="Arial"/>
              <a:sym typeface="Arial"/>
            </a:endParaRPr>
          </a:p>
        </p:txBody>
      </p:sp>
      <p:cxnSp>
        <p:nvCxnSpPr>
          <p:cNvPr id="475" name="Google Shape;475;p22"/>
          <p:cNvCxnSpPr/>
          <p:nvPr/>
        </p:nvCxnSpPr>
        <p:spPr>
          <a:xfrm>
            <a:off x="8714231" y="7749540"/>
            <a:ext cx="265200" cy="0"/>
          </a:xfrm>
          <a:prstGeom prst="straightConnector1">
            <a:avLst/>
          </a:prstGeom>
          <a:noFill/>
          <a:ln cap="flat" cmpd="sng" w="25400">
            <a:solidFill>
              <a:schemeClr val="accent1"/>
            </a:solidFill>
            <a:prstDash val="solid"/>
            <a:round/>
            <a:headEnd len="sm" w="sm" type="none"/>
            <a:tailEnd len="med" w="med" type="triangle"/>
          </a:ln>
        </p:spPr>
      </p:cxnSp>
      <p:sp>
        <p:nvSpPr>
          <p:cNvPr id="476" name="Google Shape;476;p22"/>
          <p:cNvSpPr/>
          <p:nvPr/>
        </p:nvSpPr>
        <p:spPr>
          <a:xfrm>
            <a:off x="9015983" y="6766559"/>
            <a:ext cx="2286000" cy="1965900"/>
          </a:xfrm>
          <a:prstGeom prst="roundRect">
            <a:avLst>
              <a:gd fmla="val 5581" name="adj"/>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477" name="Google Shape;477;p22"/>
          <p:cNvSpPr txBox="1"/>
          <p:nvPr/>
        </p:nvSpPr>
        <p:spPr>
          <a:xfrm>
            <a:off x="9198863" y="6949440"/>
            <a:ext cx="1920300" cy="585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1900"/>
              <a:buFont typeface="Helvetica Neue"/>
              <a:buNone/>
            </a:pPr>
            <a:r>
              <a:rPr b="1" i="0" lang="en-US" sz="1900" u="none" cap="none" strike="noStrike">
                <a:solidFill>
                  <a:srgbClr val="FFFFFF"/>
                </a:solidFill>
                <a:latin typeface="Helvetica Neue"/>
                <a:ea typeface="Helvetica Neue"/>
                <a:cs typeface="Helvetica Neue"/>
                <a:sym typeface="Helvetica Neue"/>
              </a:rPr>
              <a:t>Confidence score</a:t>
            </a:r>
            <a:endParaRPr b="0" i="0" sz="1400" u="none" cap="none" strike="noStrike">
              <a:solidFill>
                <a:srgbClr val="000000"/>
              </a:solidFill>
              <a:latin typeface="Arial"/>
              <a:ea typeface="Arial"/>
              <a:cs typeface="Arial"/>
              <a:sym typeface="Arial"/>
            </a:endParaRPr>
          </a:p>
        </p:txBody>
      </p:sp>
      <p:sp>
        <p:nvSpPr>
          <p:cNvPr id="478" name="Google Shape;478;p22"/>
          <p:cNvSpPr txBox="1"/>
          <p:nvPr/>
        </p:nvSpPr>
        <p:spPr>
          <a:xfrm>
            <a:off x="9198863" y="7818119"/>
            <a:ext cx="19203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500"/>
              <a:buFont typeface="Helvetica Neue"/>
              <a:buNone/>
            </a:pPr>
            <a:r>
              <a:rPr b="0" i="0" lang="en-US" sz="1500" u="none" cap="none" strike="noStrike">
                <a:solidFill>
                  <a:schemeClr val="accent2"/>
                </a:solidFill>
                <a:latin typeface="Helvetica Neue"/>
                <a:ea typeface="Helvetica Neue"/>
                <a:cs typeface="Helvetica Neue"/>
                <a:sym typeface="Helvetica Neue"/>
              </a:rPr>
              <a:t>low → human review</a:t>
            </a:r>
            <a:endParaRPr b="0" i="0" sz="1400" u="none" cap="none" strike="noStrike">
              <a:solidFill>
                <a:srgbClr val="000000"/>
              </a:solidFill>
              <a:latin typeface="Arial"/>
              <a:ea typeface="Arial"/>
              <a:cs typeface="Arial"/>
              <a:sym typeface="Arial"/>
            </a:endParaRPr>
          </a:p>
        </p:txBody>
      </p:sp>
      <p:sp>
        <p:nvSpPr>
          <p:cNvPr id="479" name="Google Shape;479;p22"/>
          <p:cNvSpPr/>
          <p:nvPr/>
        </p:nvSpPr>
        <p:spPr>
          <a:xfrm>
            <a:off x="11887200" y="2194560"/>
            <a:ext cx="5577900" cy="6949500"/>
          </a:xfrm>
          <a:prstGeom prst="roundRect">
            <a:avLst>
              <a:gd fmla="val 4721" name="adj"/>
            </a:avLst>
          </a:prstGeom>
          <a:solidFill>
            <a:srgbClr val="FFFF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480" name="Google Shape;480;p22"/>
          <p:cNvSpPr txBox="1"/>
          <p:nvPr/>
        </p:nvSpPr>
        <p:spPr>
          <a:xfrm>
            <a:off x="12252959" y="2468879"/>
            <a:ext cx="48462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2400"/>
              <a:buFont typeface="Helvetica Neue"/>
              <a:buNone/>
            </a:pPr>
            <a:r>
              <a:rPr b="1" i="0" lang="en-US" sz="2400" u="none" cap="none" strike="noStrike">
                <a:solidFill>
                  <a:srgbClr val="04243C"/>
                </a:solidFill>
                <a:latin typeface="Helvetica Neue"/>
                <a:ea typeface="Helvetica Neue"/>
                <a:cs typeface="Helvetica Neue"/>
                <a:sym typeface="Helvetica Neue"/>
              </a:rPr>
              <a:t>The goal</a:t>
            </a:r>
            <a:endParaRPr b="0" i="0" sz="1400" u="none" cap="none" strike="noStrike">
              <a:solidFill>
                <a:srgbClr val="000000"/>
              </a:solidFill>
              <a:latin typeface="Arial"/>
              <a:ea typeface="Arial"/>
              <a:cs typeface="Arial"/>
              <a:sym typeface="Arial"/>
            </a:endParaRPr>
          </a:p>
        </p:txBody>
      </p:sp>
      <p:sp>
        <p:nvSpPr>
          <p:cNvPr id="481" name="Google Shape;481;p22"/>
          <p:cNvSpPr txBox="1"/>
          <p:nvPr/>
        </p:nvSpPr>
        <p:spPr>
          <a:xfrm>
            <a:off x="12252959" y="3017520"/>
            <a:ext cx="48462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475569"/>
              </a:buClr>
              <a:buSzPts val="1800"/>
              <a:buFont typeface="Helvetica Neue"/>
              <a:buNone/>
            </a:pPr>
            <a:r>
              <a:rPr b="0" i="0" lang="en-US" sz="1800" u="none" cap="none" strike="noStrike">
                <a:solidFill>
                  <a:srgbClr val="475569"/>
                </a:solidFill>
                <a:latin typeface="Helvetica Neue"/>
                <a:ea typeface="Helvetica Neue"/>
                <a:cs typeface="Helvetica Neue"/>
                <a:sym typeface="Helvetica Neue"/>
              </a:rPr>
              <a:t>LLM-level accuracy at a fraction of the cost</a:t>
            </a:r>
            <a:endParaRPr b="0" i="0" sz="1400" u="none" cap="none" strike="noStrike">
              <a:solidFill>
                <a:srgbClr val="000000"/>
              </a:solidFill>
              <a:latin typeface="Arial"/>
              <a:ea typeface="Arial"/>
              <a:cs typeface="Arial"/>
              <a:sym typeface="Arial"/>
            </a:endParaRPr>
          </a:p>
        </p:txBody>
      </p:sp>
      <p:cxnSp>
        <p:nvCxnSpPr>
          <p:cNvPr id="482" name="Google Shape;482;p22"/>
          <p:cNvCxnSpPr/>
          <p:nvPr/>
        </p:nvCxnSpPr>
        <p:spPr>
          <a:xfrm rot="10800000">
            <a:off x="12574269" y="4069141"/>
            <a:ext cx="0" cy="4023300"/>
          </a:xfrm>
          <a:prstGeom prst="straightConnector1">
            <a:avLst/>
          </a:prstGeom>
          <a:noFill/>
          <a:ln cap="flat" cmpd="sng" w="25400">
            <a:solidFill>
              <a:srgbClr val="475569"/>
            </a:solidFill>
            <a:prstDash val="solid"/>
            <a:round/>
            <a:headEnd len="sm" w="sm" type="none"/>
            <a:tailEnd len="med" w="med" type="triangle"/>
          </a:ln>
        </p:spPr>
      </p:cxnSp>
      <p:cxnSp>
        <p:nvCxnSpPr>
          <p:cNvPr id="483" name="Google Shape;483;p22"/>
          <p:cNvCxnSpPr/>
          <p:nvPr/>
        </p:nvCxnSpPr>
        <p:spPr>
          <a:xfrm>
            <a:off x="12573000" y="8092440"/>
            <a:ext cx="4572000" cy="0"/>
          </a:xfrm>
          <a:prstGeom prst="straightConnector1">
            <a:avLst/>
          </a:prstGeom>
          <a:noFill/>
          <a:ln cap="flat" cmpd="sng" w="25400">
            <a:solidFill>
              <a:srgbClr val="475569"/>
            </a:solidFill>
            <a:prstDash val="solid"/>
            <a:round/>
            <a:headEnd len="sm" w="sm" type="none"/>
            <a:tailEnd len="med" w="med" type="triangle"/>
          </a:ln>
        </p:spPr>
      </p:cxnSp>
      <p:sp>
        <p:nvSpPr>
          <p:cNvPr id="484" name="Google Shape;484;p22"/>
          <p:cNvSpPr txBox="1"/>
          <p:nvPr/>
        </p:nvSpPr>
        <p:spPr>
          <a:xfrm>
            <a:off x="12682728" y="4023359"/>
            <a:ext cx="18288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475569"/>
              </a:buClr>
              <a:buSzPts val="1500"/>
              <a:buFont typeface="Helvetica Neue"/>
              <a:buNone/>
            </a:pPr>
            <a:r>
              <a:rPr b="1" i="0" lang="en-US" sz="1500" u="none" cap="none" strike="noStrike">
                <a:solidFill>
                  <a:srgbClr val="475569"/>
                </a:solidFill>
                <a:latin typeface="Helvetica Neue"/>
                <a:ea typeface="Helvetica Neue"/>
                <a:cs typeface="Helvetica Neue"/>
                <a:sym typeface="Helvetica Neue"/>
              </a:rPr>
              <a:t>Accuracy</a:t>
            </a:r>
            <a:endParaRPr b="0" i="0" sz="1400" u="none" cap="none" strike="noStrike">
              <a:solidFill>
                <a:srgbClr val="000000"/>
              </a:solidFill>
              <a:latin typeface="Arial"/>
              <a:ea typeface="Arial"/>
              <a:cs typeface="Arial"/>
              <a:sym typeface="Arial"/>
            </a:endParaRPr>
          </a:p>
        </p:txBody>
      </p:sp>
      <p:sp>
        <p:nvSpPr>
          <p:cNvPr id="485" name="Google Shape;485;p22"/>
          <p:cNvSpPr txBox="1"/>
          <p:nvPr/>
        </p:nvSpPr>
        <p:spPr>
          <a:xfrm>
            <a:off x="14218919" y="8183878"/>
            <a:ext cx="2926200" cy="2310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475569"/>
              </a:buClr>
              <a:buSzPts val="1500"/>
              <a:buFont typeface="Helvetica Neue"/>
              <a:buNone/>
            </a:pPr>
            <a:r>
              <a:rPr b="1" i="0" lang="en-US" sz="1500" u="none" cap="none" strike="noStrike">
                <a:solidFill>
                  <a:srgbClr val="475569"/>
                </a:solidFill>
                <a:latin typeface="Helvetica Neue"/>
                <a:ea typeface="Helvetica Neue"/>
                <a:cs typeface="Helvetica Neue"/>
                <a:sym typeface="Helvetica Neue"/>
              </a:rPr>
              <a:t>Cost + latency</a:t>
            </a:r>
            <a:endParaRPr b="0" i="0" sz="1400" u="none" cap="none" strike="noStrike">
              <a:solidFill>
                <a:srgbClr val="000000"/>
              </a:solidFill>
              <a:latin typeface="Arial"/>
              <a:ea typeface="Arial"/>
              <a:cs typeface="Arial"/>
              <a:sym typeface="Arial"/>
            </a:endParaRPr>
          </a:p>
        </p:txBody>
      </p:sp>
      <p:sp>
        <p:nvSpPr>
          <p:cNvPr id="486" name="Google Shape;486;p22"/>
          <p:cNvSpPr/>
          <p:nvPr/>
        </p:nvSpPr>
        <p:spPr>
          <a:xfrm>
            <a:off x="16230599" y="4571999"/>
            <a:ext cx="384000" cy="384000"/>
          </a:xfrm>
          <a:prstGeom prst="ellipse">
            <a:avLst/>
          </a:prstGeom>
          <a:solidFill>
            <a:srgbClr val="04243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487" name="Google Shape;487;p22"/>
          <p:cNvSpPr txBox="1"/>
          <p:nvPr/>
        </p:nvSpPr>
        <p:spPr>
          <a:xfrm>
            <a:off x="14950439" y="5074920"/>
            <a:ext cx="2377500" cy="461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243C"/>
              </a:buClr>
              <a:buSzPts val="1500"/>
              <a:buFont typeface="Helvetica Neue"/>
              <a:buNone/>
            </a:pPr>
            <a:r>
              <a:rPr b="0" i="0" lang="en-US" sz="1500" u="none" cap="none" strike="noStrike">
                <a:solidFill>
                  <a:srgbClr val="04243C"/>
                </a:solidFill>
                <a:latin typeface="Helvetica Neue"/>
                <a:ea typeface="Helvetica Neue"/>
                <a:cs typeface="Helvetica Neue"/>
                <a:sym typeface="Helvetica Neue"/>
              </a:rPr>
              <a:t>LLM reads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4243C"/>
              </a:buClr>
              <a:buSzPts val="1500"/>
              <a:buFont typeface="Helvetica Neue"/>
              <a:buNone/>
            </a:pPr>
            <a:r>
              <a:rPr b="0" i="0" lang="en-US" sz="1500" u="none" cap="none" strike="noStrike">
                <a:solidFill>
                  <a:srgbClr val="04243C"/>
                </a:solidFill>
                <a:latin typeface="Helvetica Neue"/>
                <a:ea typeface="Helvetica Neue"/>
                <a:cs typeface="Helvetica Neue"/>
                <a:sym typeface="Helvetica Neue"/>
              </a:rPr>
              <a:t>every filing</a:t>
            </a:r>
            <a:endParaRPr b="0" i="0" sz="1400" u="none" cap="none" strike="noStrike">
              <a:solidFill>
                <a:srgbClr val="000000"/>
              </a:solidFill>
              <a:latin typeface="Arial"/>
              <a:ea typeface="Arial"/>
              <a:cs typeface="Arial"/>
              <a:sym typeface="Arial"/>
            </a:endParaRPr>
          </a:p>
        </p:txBody>
      </p:sp>
      <p:sp>
        <p:nvSpPr>
          <p:cNvPr id="488" name="Google Shape;488;p22"/>
          <p:cNvSpPr/>
          <p:nvPr/>
        </p:nvSpPr>
        <p:spPr>
          <a:xfrm>
            <a:off x="13578839" y="6720840"/>
            <a:ext cx="384000" cy="384000"/>
          </a:xfrm>
          <a:prstGeom prst="ellipse">
            <a:avLst/>
          </a:prstGeom>
          <a:solidFill>
            <a:schemeClr val="accent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489" name="Google Shape;489;p22"/>
          <p:cNvSpPr txBox="1"/>
          <p:nvPr/>
        </p:nvSpPr>
        <p:spPr>
          <a:xfrm>
            <a:off x="14081760" y="6712769"/>
            <a:ext cx="23775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475569"/>
              </a:buClr>
              <a:buSzPts val="1500"/>
              <a:buFont typeface="Helvetica Neue"/>
              <a:buNone/>
            </a:pPr>
            <a:r>
              <a:rPr b="0" i="0" lang="en-US" sz="1500" u="none" cap="none" strike="noStrike">
                <a:solidFill>
                  <a:srgbClr val="475569"/>
                </a:solidFill>
                <a:latin typeface="Helvetica Neue"/>
                <a:ea typeface="Helvetica Neue"/>
                <a:cs typeface="Helvetica Neue"/>
                <a:sym typeface="Helvetica Neue"/>
              </a:rPr>
              <a:t>Pipeline today</a:t>
            </a:r>
            <a:endParaRPr b="0" i="0" sz="1400" u="none" cap="none" strike="noStrike">
              <a:solidFill>
                <a:srgbClr val="000000"/>
              </a:solidFill>
              <a:latin typeface="Arial"/>
              <a:ea typeface="Arial"/>
              <a:cs typeface="Arial"/>
              <a:sym typeface="Arial"/>
            </a:endParaRPr>
          </a:p>
        </p:txBody>
      </p:sp>
      <p:sp>
        <p:nvSpPr>
          <p:cNvPr id="490" name="Google Shape;490;p22"/>
          <p:cNvSpPr/>
          <p:nvPr/>
        </p:nvSpPr>
        <p:spPr>
          <a:xfrm>
            <a:off x="13368528" y="4416552"/>
            <a:ext cx="685800" cy="685800"/>
          </a:xfrm>
          <a:prstGeom prst="star5">
            <a:avLst>
              <a:gd fmla="val 19098" name="adj"/>
              <a:gd fmla="val 105146" name="hf"/>
              <a:gd fmla="val 110557" name="vf"/>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491" name="Google Shape;491;p22"/>
          <p:cNvSpPr txBox="1"/>
          <p:nvPr/>
        </p:nvSpPr>
        <p:spPr>
          <a:xfrm>
            <a:off x="12755880" y="5166359"/>
            <a:ext cx="1920300" cy="246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accent1"/>
              </a:buClr>
              <a:buSzPts val="1600"/>
              <a:buFont typeface="Helvetica Neue"/>
              <a:buNone/>
            </a:pPr>
            <a:r>
              <a:rPr b="1" i="0" lang="en-US" sz="1600" u="none" cap="none" strike="noStrike">
                <a:solidFill>
                  <a:schemeClr val="accent1"/>
                </a:solidFill>
                <a:latin typeface="Helvetica Neue"/>
                <a:ea typeface="Helvetica Neue"/>
                <a:cs typeface="Helvetica Neue"/>
                <a:sym typeface="Helvetica Neue"/>
              </a:rPr>
              <a:t>Our target</a:t>
            </a:r>
            <a:endParaRPr b="0" i="0" sz="1400" u="none" cap="none" strike="noStrike">
              <a:solidFill>
                <a:srgbClr val="000000"/>
              </a:solidFill>
              <a:latin typeface="Arial"/>
              <a:ea typeface="Arial"/>
              <a:cs typeface="Arial"/>
              <a:sym typeface="Arial"/>
            </a:endParaRPr>
          </a:p>
        </p:txBody>
      </p:sp>
      <p:cxnSp>
        <p:nvCxnSpPr>
          <p:cNvPr id="492" name="Google Shape;492;p22"/>
          <p:cNvCxnSpPr/>
          <p:nvPr/>
        </p:nvCxnSpPr>
        <p:spPr>
          <a:xfrm rot="10800000">
            <a:off x="13715965" y="5623620"/>
            <a:ext cx="54900" cy="1051500"/>
          </a:xfrm>
          <a:prstGeom prst="straightConnector1">
            <a:avLst/>
          </a:prstGeom>
          <a:noFill/>
          <a:ln cap="flat" cmpd="sng" w="31750">
            <a:solidFill>
              <a:schemeClr val="accent1"/>
            </a:solidFill>
            <a:prstDash val="dash"/>
            <a:round/>
            <a:headEnd len="sm" w="sm"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23"/>
          <p:cNvSpPr txBox="1"/>
          <p:nvPr>
            <p:ph type="title"/>
          </p:nvPr>
        </p:nvSpPr>
        <p:spPr>
          <a:xfrm>
            <a:off x="822960" y="960119"/>
            <a:ext cx="16642200" cy="822900"/>
          </a:xfrm>
          <a:prstGeom prst="rect">
            <a:avLst/>
          </a:prstGeom>
          <a:noFill/>
          <a:ln>
            <a:noFill/>
          </a:ln>
        </p:spPr>
        <p:txBody>
          <a:bodyPr anchorCtr="0" anchor="t" bIns="45675" lIns="45675" spcFirstLastPara="1" rIns="45675" wrap="square" tIns="45675">
            <a:normAutofit/>
          </a:bodyPr>
          <a:lstStyle/>
          <a:p>
            <a:pPr indent="0" lvl="0" marL="0" rtl="0" algn="l">
              <a:lnSpc>
                <a:spcPct val="100000"/>
              </a:lnSpc>
              <a:spcBef>
                <a:spcPts val="0"/>
              </a:spcBef>
              <a:spcAft>
                <a:spcPts val="0"/>
              </a:spcAft>
              <a:buClr>
                <a:srgbClr val="04243C"/>
              </a:buClr>
              <a:buSzPts val="3600"/>
              <a:buFont typeface="Helvetica Neue"/>
              <a:buNone/>
            </a:pPr>
            <a:r>
              <a:rPr b="1" lang="en-US" sz="3600">
                <a:solidFill>
                  <a:srgbClr val="04243C"/>
                </a:solidFill>
                <a:latin typeface="Helvetica Neue"/>
                <a:ea typeface="Helvetica Neue"/>
                <a:cs typeface="Helvetica Neue"/>
                <a:sym typeface="Helvetica Neue"/>
              </a:rPr>
              <a:t>Demo: extracted records power a filings monitor and client alerts</a:t>
            </a:r>
            <a:endParaRPr/>
          </a:p>
        </p:txBody>
      </p:sp>
      <p:sp>
        <p:nvSpPr>
          <p:cNvPr id="498" name="Google Shape;498;p23"/>
          <p:cNvSpPr txBox="1"/>
          <p:nvPr>
            <p:ph idx="4294967295" type="sldNum"/>
          </p:nvPr>
        </p:nvSpPr>
        <p:spPr>
          <a:xfrm>
            <a:off x="17191470" y="9646919"/>
            <a:ext cx="273600" cy="276900"/>
          </a:xfrm>
          <a:prstGeom prst="rect">
            <a:avLst/>
          </a:prstGeom>
          <a:noFill/>
          <a:ln>
            <a:noFill/>
          </a:ln>
        </p:spPr>
        <p:txBody>
          <a:bodyPr anchorCtr="0" anchor="t" bIns="45675" lIns="45675" spcFirstLastPara="1" rIns="45675" wrap="square" tIns="45675">
            <a:spAutoFit/>
          </a:bodyPr>
          <a:lstStyle/>
          <a:p>
            <a:pPr indent="0" lvl="0" marL="0" rtl="0" algn="r">
              <a:lnSpc>
                <a:spcPct val="100000"/>
              </a:lnSpc>
              <a:spcBef>
                <a:spcPts val="0"/>
              </a:spcBef>
              <a:spcAft>
                <a:spcPts val="0"/>
              </a:spcAft>
              <a:buClr>
                <a:srgbClr val="475569"/>
              </a:buClr>
              <a:buSzPts val="1200"/>
              <a:buFont typeface="Helvetica Neue"/>
              <a:buNone/>
            </a:pPr>
            <a:fld id="{00000000-1234-1234-1234-123412341234}" type="slidenum">
              <a:rPr lang="en-US" sz="1200">
                <a:solidFill>
                  <a:srgbClr val="475569"/>
                </a:solidFill>
                <a:latin typeface="Helvetica Neue"/>
                <a:ea typeface="Helvetica Neue"/>
                <a:cs typeface="Helvetica Neue"/>
                <a:sym typeface="Helvetica Neue"/>
              </a:rPr>
              <a:t>‹#›</a:t>
            </a:fld>
            <a:endParaRPr/>
          </a:p>
        </p:txBody>
      </p:sp>
      <p:sp>
        <p:nvSpPr>
          <p:cNvPr id="499" name="Google Shape;499;p23"/>
          <p:cNvSpPr/>
          <p:nvPr/>
        </p:nvSpPr>
        <p:spPr>
          <a:xfrm>
            <a:off x="2721731" y="2148839"/>
            <a:ext cx="12844500" cy="7041000"/>
          </a:xfrm>
          <a:prstGeom prst="roundRect">
            <a:avLst>
              <a:gd fmla="val 389" name="adj"/>
            </a:avLst>
          </a:prstGeom>
          <a:solidFill>
            <a:srgbClr val="FFFFFF"/>
          </a:solidFill>
          <a:ln cap="flat" cmpd="sng" w="12700">
            <a:solidFill>
              <a:schemeClr val="accent3"/>
            </a:solidFill>
            <a:prstDash val="solid"/>
            <a:round/>
            <a:headEnd len="sm" w="sm" type="none"/>
            <a:tailEnd len="sm" w="sm" type="none"/>
          </a:ln>
          <a:effectLst>
            <a:outerShdw blurRad="203200" rotWithShape="0" dir="5400000" dist="50800">
              <a:srgbClr val="0F172A">
                <a:alpha val="1294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pic>
        <p:nvPicPr>
          <p:cNvPr descr="Google Shape;609;p22" id="500" name="Google Shape;500;p23"/>
          <p:cNvPicPr preferRelativeResize="0"/>
          <p:nvPr/>
        </p:nvPicPr>
        <p:blipFill rotWithShape="1">
          <a:blip r:embed="rId3">
            <a:alphaModFix/>
          </a:blip>
          <a:srcRect b="0" l="0" r="0" t="0"/>
          <a:stretch/>
        </p:blipFill>
        <p:spPr>
          <a:xfrm>
            <a:off x="2767452" y="2194560"/>
            <a:ext cx="12753096" cy="694944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24"/>
          <p:cNvSpPr txBox="1"/>
          <p:nvPr>
            <p:ph type="title"/>
          </p:nvPr>
        </p:nvSpPr>
        <p:spPr>
          <a:xfrm>
            <a:off x="822960" y="960119"/>
            <a:ext cx="16642200" cy="822900"/>
          </a:xfrm>
          <a:prstGeom prst="rect">
            <a:avLst/>
          </a:prstGeom>
          <a:noFill/>
          <a:ln>
            <a:noFill/>
          </a:ln>
        </p:spPr>
        <p:txBody>
          <a:bodyPr anchorCtr="0" anchor="t" bIns="45675" lIns="45675" spcFirstLastPara="1" rIns="45675" wrap="square" tIns="45675">
            <a:normAutofit/>
          </a:bodyPr>
          <a:lstStyle/>
          <a:p>
            <a:pPr indent="0" lvl="0" marL="0" rtl="0" algn="l">
              <a:lnSpc>
                <a:spcPct val="100000"/>
              </a:lnSpc>
              <a:spcBef>
                <a:spcPts val="0"/>
              </a:spcBef>
              <a:spcAft>
                <a:spcPts val="0"/>
              </a:spcAft>
              <a:buClr>
                <a:srgbClr val="04243C"/>
              </a:buClr>
              <a:buSzPts val="3600"/>
              <a:buFont typeface="Helvetica Neue"/>
              <a:buNone/>
            </a:pPr>
            <a:r>
              <a:rPr b="1" lang="en-US" sz="3600">
                <a:solidFill>
                  <a:srgbClr val="04243C"/>
                </a:solidFill>
                <a:latin typeface="Helvetica Neue"/>
                <a:ea typeface="Helvetica Neue"/>
                <a:cs typeface="Helvetica Neue"/>
                <a:sym typeface="Helvetica Neue"/>
              </a:rPr>
              <a:t>Four limitations bound what we can claim today</a:t>
            </a:r>
            <a:endParaRPr/>
          </a:p>
        </p:txBody>
      </p:sp>
      <p:sp>
        <p:nvSpPr>
          <p:cNvPr id="506" name="Google Shape;506;p24"/>
          <p:cNvSpPr txBox="1"/>
          <p:nvPr>
            <p:ph idx="4294967295" type="sldNum"/>
          </p:nvPr>
        </p:nvSpPr>
        <p:spPr>
          <a:xfrm>
            <a:off x="17191470" y="9646919"/>
            <a:ext cx="273600" cy="276900"/>
          </a:xfrm>
          <a:prstGeom prst="rect">
            <a:avLst/>
          </a:prstGeom>
          <a:noFill/>
          <a:ln>
            <a:noFill/>
          </a:ln>
        </p:spPr>
        <p:txBody>
          <a:bodyPr anchorCtr="0" anchor="t" bIns="45675" lIns="45675" spcFirstLastPara="1" rIns="45675" wrap="square" tIns="45675">
            <a:spAutoFit/>
          </a:bodyPr>
          <a:lstStyle/>
          <a:p>
            <a:pPr indent="0" lvl="0" marL="0" rtl="0" algn="r">
              <a:lnSpc>
                <a:spcPct val="100000"/>
              </a:lnSpc>
              <a:spcBef>
                <a:spcPts val="0"/>
              </a:spcBef>
              <a:spcAft>
                <a:spcPts val="0"/>
              </a:spcAft>
              <a:buClr>
                <a:srgbClr val="475569"/>
              </a:buClr>
              <a:buSzPts val="1200"/>
              <a:buFont typeface="Helvetica Neue"/>
              <a:buNone/>
            </a:pPr>
            <a:fld id="{00000000-1234-1234-1234-123412341234}" type="slidenum">
              <a:rPr lang="en-US" sz="1200">
                <a:solidFill>
                  <a:srgbClr val="475569"/>
                </a:solidFill>
                <a:latin typeface="Helvetica Neue"/>
                <a:ea typeface="Helvetica Neue"/>
                <a:cs typeface="Helvetica Neue"/>
                <a:sym typeface="Helvetica Neue"/>
              </a:rPr>
              <a:t>‹#›</a:t>
            </a:fld>
            <a:endParaRPr/>
          </a:p>
        </p:txBody>
      </p:sp>
      <p:sp>
        <p:nvSpPr>
          <p:cNvPr id="507" name="Google Shape;507;p24"/>
          <p:cNvSpPr/>
          <p:nvPr/>
        </p:nvSpPr>
        <p:spPr>
          <a:xfrm>
            <a:off x="822960" y="2194559"/>
            <a:ext cx="8138178" cy="3291840"/>
          </a:xfrm>
          <a:custGeom>
            <a:rect b="b" l="l" r="r" t="t"/>
            <a:pathLst>
              <a:path extrusionOk="0" h="21600" w="21600">
                <a:moveTo>
                  <a:pt x="0" y="0"/>
                </a:moveTo>
                <a:lnTo>
                  <a:pt x="20629" y="0"/>
                </a:lnTo>
                <a:lnTo>
                  <a:pt x="21600" y="2400"/>
                </a:lnTo>
                <a:lnTo>
                  <a:pt x="21600" y="21600"/>
                </a:lnTo>
                <a:lnTo>
                  <a:pt x="0" y="21600"/>
                </a:lnTo>
                <a:close/>
              </a:path>
            </a:pathLst>
          </a:custGeom>
          <a:solidFill>
            <a:srgbClr val="FFFFFF"/>
          </a:solidFill>
          <a:ln cap="flat" cmpd="sng" w="12700">
            <a:solidFill>
              <a:schemeClr val="accent3"/>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grpSp>
        <p:nvGrpSpPr>
          <p:cNvPr id="508" name="Google Shape;508;p24"/>
          <p:cNvGrpSpPr/>
          <p:nvPr/>
        </p:nvGrpSpPr>
        <p:grpSpPr>
          <a:xfrm>
            <a:off x="1188719" y="2953512"/>
            <a:ext cx="685800" cy="685800"/>
            <a:chOff x="0" y="0"/>
            <a:chExt cx="685800" cy="685800"/>
          </a:xfrm>
        </p:grpSpPr>
        <p:sp>
          <p:nvSpPr>
            <p:cNvPr id="509" name="Google Shape;509;p24"/>
            <p:cNvSpPr/>
            <p:nvPr/>
          </p:nvSpPr>
          <p:spPr>
            <a:xfrm>
              <a:off x="0" y="0"/>
              <a:ext cx="685800" cy="685800"/>
            </a:xfrm>
            <a:prstGeom prst="ellipse">
              <a:avLst/>
            </a:prstGeom>
            <a:solidFill>
              <a:schemeClr val="accent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24"/>
            <p:cNvSpPr txBox="1"/>
            <p:nvPr/>
          </p:nvSpPr>
          <p:spPr>
            <a:xfrm>
              <a:off x="146132" y="175502"/>
              <a:ext cx="393600" cy="3387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chemeClr val="accent1"/>
                </a:buClr>
                <a:buSzPts val="2200"/>
                <a:buFont typeface="Helvetica Neue"/>
                <a:buNone/>
              </a:pPr>
              <a:r>
                <a:rPr b="1" i="0" lang="en-US" sz="2200" u="none" cap="none" strike="noStrike">
                  <a:solidFill>
                    <a:schemeClr val="accent1"/>
                  </a:solidFill>
                  <a:latin typeface="Helvetica Neue"/>
                  <a:ea typeface="Helvetica Neue"/>
                  <a:cs typeface="Helvetica Neue"/>
                  <a:sym typeface="Helvetica Neue"/>
                </a:rPr>
                <a:t>1</a:t>
              </a:r>
              <a:endParaRPr b="0" i="0" sz="1400" u="none" cap="none" strike="noStrike">
                <a:solidFill>
                  <a:srgbClr val="000000"/>
                </a:solidFill>
                <a:latin typeface="Arial"/>
                <a:ea typeface="Arial"/>
                <a:cs typeface="Arial"/>
                <a:sym typeface="Arial"/>
              </a:endParaRPr>
            </a:p>
          </p:txBody>
        </p:sp>
      </p:grpSp>
      <p:sp>
        <p:nvSpPr>
          <p:cNvPr id="511" name="Google Shape;511;p24"/>
          <p:cNvSpPr txBox="1"/>
          <p:nvPr/>
        </p:nvSpPr>
        <p:spPr>
          <a:xfrm>
            <a:off x="2148839" y="3112110"/>
            <a:ext cx="6446400" cy="369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4243C"/>
              </a:buClr>
              <a:buSzPts val="2400"/>
              <a:buFont typeface="Helvetica Neue"/>
              <a:buNone/>
            </a:pPr>
            <a:r>
              <a:rPr b="1" i="0" lang="en-US" sz="2400" u="none" cap="none" strike="noStrike">
                <a:solidFill>
                  <a:srgbClr val="04243C"/>
                </a:solidFill>
                <a:latin typeface="Helvetica Neue"/>
                <a:ea typeface="Helvetica Neue"/>
                <a:cs typeface="Helvetica Neue"/>
                <a:sym typeface="Helvetica Neue"/>
              </a:rPr>
              <a:t>No independent ground truth</a:t>
            </a:r>
            <a:endParaRPr b="0" i="0" sz="1400" u="none" cap="none" strike="noStrike">
              <a:solidFill>
                <a:srgbClr val="000000"/>
              </a:solidFill>
              <a:latin typeface="Arial"/>
              <a:ea typeface="Arial"/>
              <a:cs typeface="Arial"/>
              <a:sym typeface="Arial"/>
            </a:endParaRPr>
          </a:p>
        </p:txBody>
      </p:sp>
      <p:grpSp>
        <p:nvGrpSpPr>
          <p:cNvPr id="512" name="Google Shape;512;p24"/>
          <p:cNvGrpSpPr/>
          <p:nvPr/>
        </p:nvGrpSpPr>
        <p:grpSpPr>
          <a:xfrm>
            <a:off x="2148839" y="4069079"/>
            <a:ext cx="5852100" cy="594300"/>
            <a:chOff x="0" y="0"/>
            <a:chExt cx="5852100" cy="594300"/>
          </a:xfrm>
        </p:grpSpPr>
        <p:sp>
          <p:nvSpPr>
            <p:cNvPr id="513" name="Google Shape;513;p24"/>
            <p:cNvSpPr/>
            <p:nvPr/>
          </p:nvSpPr>
          <p:spPr>
            <a:xfrm>
              <a:off x="0" y="0"/>
              <a:ext cx="5852100" cy="594300"/>
            </a:xfrm>
            <a:prstGeom prst="roundRect">
              <a:avLst>
                <a:gd fmla="val 18000" name="adj"/>
              </a:avLst>
            </a:prstGeom>
            <a:solidFill>
              <a:schemeClr val="accent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24"/>
            <p:cNvSpPr txBox="1"/>
            <p:nvPr/>
          </p:nvSpPr>
          <p:spPr>
            <a:xfrm>
              <a:off x="77034" y="166961"/>
              <a:ext cx="5698200" cy="2616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4243C"/>
                </a:buClr>
                <a:buSzPts val="1700"/>
                <a:buFont typeface="Helvetica Neue"/>
                <a:buNone/>
              </a:pPr>
              <a:r>
                <a:rPr b="1" i="0" lang="en-US" sz="1700" u="none" cap="none" strike="noStrike">
                  <a:solidFill>
                    <a:srgbClr val="04243C"/>
                  </a:solidFill>
                  <a:latin typeface="Helvetica Neue"/>
                  <a:ea typeface="Helvetica Neue"/>
                  <a:cs typeface="Helvetica Neue"/>
                  <a:sym typeface="Helvetica Neue"/>
                </a:rPr>
                <a:t>Next: human review of a sample</a:t>
              </a:r>
              <a:endParaRPr b="0" i="0" sz="1400" u="none" cap="none" strike="noStrike">
                <a:solidFill>
                  <a:srgbClr val="000000"/>
                </a:solidFill>
                <a:latin typeface="Arial"/>
                <a:ea typeface="Arial"/>
                <a:cs typeface="Arial"/>
                <a:sym typeface="Arial"/>
              </a:endParaRPr>
            </a:p>
          </p:txBody>
        </p:sp>
      </p:grpSp>
      <p:sp>
        <p:nvSpPr>
          <p:cNvPr id="515" name="Google Shape;515;p24"/>
          <p:cNvSpPr/>
          <p:nvPr/>
        </p:nvSpPr>
        <p:spPr>
          <a:xfrm>
            <a:off x="9326880" y="2194559"/>
            <a:ext cx="8138178" cy="3291840"/>
          </a:xfrm>
          <a:custGeom>
            <a:rect b="b" l="l" r="r" t="t"/>
            <a:pathLst>
              <a:path extrusionOk="0" h="21600" w="21600">
                <a:moveTo>
                  <a:pt x="0" y="0"/>
                </a:moveTo>
                <a:lnTo>
                  <a:pt x="20629" y="0"/>
                </a:lnTo>
                <a:lnTo>
                  <a:pt x="21600" y="2400"/>
                </a:lnTo>
                <a:lnTo>
                  <a:pt x="21600" y="21600"/>
                </a:lnTo>
                <a:lnTo>
                  <a:pt x="0" y="21600"/>
                </a:lnTo>
                <a:close/>
              </a:path>
            </a:pathLst>
          </a:custGeom>
          <a:solidFill>
            <a:srgbClr val="FFFFFF"/>
          </a:solidFill>
          <a:ln cap="flat" cmpd="sng" w="12700">
            <a:solidFill>
              <a:schemeClr val="accent3"/>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grpSp>
        <p:nvGrpSpPr>
          <p:cNvPr id="516" name="Google Shape;516;p24"/>
          <p:cNvGrpSpPr/>
          <p:nvPr/>
        </p:nvGrpSpPr>
        <p:grpSpPr>
          <a:xfrm>
            <a:off x="9692640" y="2953512"/>
            <a:ext cx="685800" cy="685800"/>
            <a:chOff x="0" y="0"/>
            <a:chExt cx="685800" cy="685800"/>
          </a:xfrm>
        </p:grpSpPr>
        <p:sp>
          <p:nvSpPr>
            <p:cNvPr id="517" name="Google Shape;517;p24"/>
            <p:cNvSpPr/>
            <p:nvPr/>
          </p:nvSpPr>
          <p:spPr>
            <a:xfrm>
              <a:off x="0" y="0"/>
              <a:ext cx="685800" cy="685800"/>
            </a:xfrm>
            <a:prstGeom prst="ellipse">
              <a:avLst/>
            </a:prstGeom>
            <a:solidFill>
              <a:schemeClr val="accent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24"/>
            <p:cNvSpPr txBox="1"/>
            <p:nvPr/>
          </p:nvSpPr>
          <p:spPr>
            <a:xfrm>
              <a:off x="146132" y="175502"/>
              <a:ext cx="393600" cy="3387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chemeClr val="accent1"/>
                </a:buClr>
                <a:buSzPts val="2200"/>
                <a:buFont typeface="Helvetica Neue"/>
                <a:buNone/>
              </a:pPr>
              <a:r>
                <a:rPr b="1" i="0" lang="en-US" sz="2200" u="none" cap="none" strike="noStrike">
                  <a:solidFill>
                    <a:schemeClr val="accent1"/>
                  </a:solidFill>
                  <a:latin typeface="Helvetica Neue"/>
                  <a:ea typeface="Helvetica Neue"/>
                  <a:cs typeface="Helvetica Neue"/>
                  <a:sym typeface="Helvetica Neue"/>
                </a:rPr>
                <a:t>2</a:t>
              </a:r>
              <a:endParaRPr b="0" i="0" sz="1400" u="none" cap="none" strike="noStrike">
                <a:solidFill>
                  <a:srgbClr val="000000"/>
                </a:solidFill>
                <a:latin typeface="Arial"/>
                <a:ea typeface="Arial"/>
                <a:cs typeface="Arial"/>
                <a:sym typeface="Arial"/>
              </a:endParaRPr>
            </a:p>
          </p:txBody>
        </p:sp>
      </p:grpSp>
      <p:sp>
        <p:nvSpPr>
          <p:cNvPr id="519" name="Google Shape;519;p24"/>
          <p:cNvSpPr txBox="1"/>
          <p:nvPr/>
        </p:nvSpPr>
        <p:spPr>
          <a:xfrm>
            <a:off x="10652759" y="3112110"/>
            <a:ext cx="6446400" cy="369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4243C"/>
              </a:buClr>
              <a:buSzPts val="2400"/>
              <a:buFont typeface="Helvetica Neue"/>
              <a:buNone/>
            </a:pPr>
            <a:r>
              <a:rPr b="1" i="0" lang="en-US" sz="2400" u="none" cap="none" strike="noStrike">
                <a:solidFill>
                  <a:srgbClr val="04243C"/>
                </a:solidFill>
                <a:latin typeface="Helvetica Neue"/>
                <a:ea typeface="Helvetica Neue"/>
                <a:cs typeface="Helvetica Neue"/>
                <a:sym typeface="Helvetica Neue"/>
              </a:rPr>
              <a:t>Only part of the scope is built</a:t>
            </a:r>
            <a:endParaRPr b="0" i="0" sz="1400" u="none" cap="none" strike="noStrike">
              <a:solidFill>
                <a:srgbClr val="000000"/>
              </a:solidFill>
              <a:latin typeface="Arial"/>
              <a:ea typeface="Arial"/>
              <a:cs typeface="Arial"/>
              <a:sym typeface="Arial"/>
            </a:endParaRPr>
          </a:p>
        </p:txBody>
      </p:sp>
      <p:grpSp>
        <p:nvGrpSpPr>
          <p:cNvPr id="520" name="Google Shape;520;p24"/>
          <p:cNvGrpSpPr/>
          <p:nvPr/>
        </p:nvGrpSpPr>
        <p:grpSpPr>
          <a:xfrm>
            <a:off x="10652759" y="4069079"/>
            <a:ext cx="5852100" cy="594300"/>
            <a:chOff x="0" y="0"/>
            <a:chExt cx="5852100" cy="594300"/>
          </a:xfrm>
        </p:grpSpPr>
        <p:sp>
          <p:nvSpPr>
            <p:cNvPr id="521" name="Google Shape;521;p24"/>
            <p:cNvSpPr/>
            <p:nvPr/>
          </p:nvSpPr>
          <p:spPr>
            <a:xfrm>
              <a:off x="0" y="0"/>
              <a:ext cx="5852100" cy="594300"/>
            </a:xfrm>
            <a:prstGeom prst="roundRect">
              <a:avLst>
                <a:gd fmla="val 18000" name="adj"/>
              </a:avLst>
            </a:prstGeom>
            <a:solidFill>
              <a:schemeClr val="accent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24"/>
            <p:cNvSpPr txBox="1"/>
            <p:nvPr/>
          </p:nvSpPr>
          <p:spPr>
            <a:xfrm>
              <a:off x="77034" y="166961"/>
              <a:ext cx="5698200" cy="2616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4243C"/>
                </a:buClr>
                <a:buSzPts val="1700"/>
                <a:buFont typeface="Helvetica Neue"/>
                <a:buNone/>
              </a:pPr>
              <a:r>
                <a:rPr b="1" i="0" lang="en-US" sz="1700" u="none" cap="none" strike="noStrike">
                  <a:solidFill>
                    <a:srgbClr val="04243C"/>
                  </a:solidFill>
                  <a:latin typeface="Helvetica Neue"/>
                  <a:ea typeface="Helvetica Neue"/>
                  <a:cs typeface="Helvetica Neue"/>
                  <a:sym typeface="Helvetica Neue"/>
                </a:rPr>
                <a:t>Next: all five types</a:t>
              </a:r>
              <a:endParaRPr b="0" i="0" sz="1400" u="none" cap="none" strike="noStrike">
                <a:solidFill>
                  <a:srgbClr val="000000"/>
                </a:solidFill>
                <a:latin typeface="Arial"/>
                <a:ea typeface="Arial"/>
                <a:cs typeface="Arial"/>
                <a:sym typeface="Arial"/>
              </a:endParaRPr>
            </a:p>
          </p:txBody>
        </p:sp>
      </p:grpSp>
      <p:sp>
        <p:nvSpPr>
          <p:cNvPr id="523" name="Google Shape;523;p24"/>
          <p:cNvSpPr/>
          <p:nvPr/>
        </p:nvSpPr>
        <p:spPr>
          <a:xfrm>
            <a:off x="822960" y="5852159"/>
            <a:ext cx="8138178" cy="3291840"/>
          </a:xfrm>
          <a:custGeom>
            <a:rect b="b" l="l" r="r" t="t"/>
            <a:pathLst>
              <a:path extrusionOk="0" h="21600" w="21600">
                <a:moveTo>
                  <a:pt x="0" y="0"/>
                </a:moveTo>
                <a:lnTo>
                  <a:pt x="20629" y="0"/>
                </a:lnTo>
                <a:lnTo>
                  <a:pt x="21600" y="2400"/>
                </a:lnTo>
                <a:lnTo>
                  <a:pt x="21600" y="21600"/>
                </a:lnTo>
                <a:lnTo>
                  <a:pt x="0" y="21600"/>
                </a:lnTo>
                <a:close/>
              </a:path>
            </a:pathLst>
          </a:custGeom>
          <a:solidFill>
            <a:srgbClr val="FFFFFF"/>
          </a:solidFill>
          <a:ln cap="flat" cmpd="sng" w="12700">
            <a:solidFill>
              <a:schemeClr val="accent3"/>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grpSp>
        <p:nvGrpSpPr>
          <p:cNvPr id="524" name="Google Shape;524;p24"/>
          <p:cNvGrpSpPr/>
          <p:nvPr/>
        </p:nvGrpSpPr>
        <p:grpSpPr>
          <a:xfrm>
            <a:off x="1188719" y="6611112"/>
            <a:ext cx="685800" cy="685800"/>
            <a:chOff x="0" y="0"/>
            <a:chExt cx="685800" cy="685800"/>
          </a:xfrm>
        </p:grpSpPr>
        <p:sp>
          <p:nvSpPr>
            <p:cNvPr id="525" name="Google Shape;525;p24"/>
            <p:cNvSpPr/>
            <p:nvPr/>
          </p:nvSpPr>
          <p:spPr>
            <a:xfrm>
              <a:off x="0" y="0"/>
              <a:ext cx="685800" cy="685800"/>
            </a:xfrm>
            <a:prstGeom prst="ellipse">
              <a:avLst/>
            </a:prstGeom>
            <a:solidFill>
              <a:schemeClr val="accent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24"/>
            <p:cNvSpPr txBox="1"/>
            <p:nvPr/>
          </p:nvSpPr>
          <p:spPr>
            <a:xfrm>
              <a:off x="146132" y="175502"/>
              <a:ext cx="393600" cy="3387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chemeClr val="accent1"/>
                </a:buClr>
                <a:buSzPts val="2200"/>
                <a:buFont typeface="Helvetica Neue"/>
                <a:buNone/>
              </a:pPr>
              <a:r>
                <a:rPr b="1" i="0" lang="en-US" sz="2200" u="none" cap="none" strike="noStrike">
                  <a:solidFill>
                    <a:schemeClr val="accent1"/>
                  </a:solidFill>
                  <a:latin typeface="Helvetica Neue"/>
                  <a:ea typeface="Helvetica Neue"/>
                  <a:cs typeface="Helvetica Neue"/>
                  <a:sym typeface="Helvetica Neue"/>
                </a:rPr>
                <a:t>3</a:t>
              </a:r>
              <a:endParaRPr b="0" i="0" sz="1400" u="none" cap="none" strike="noStrike">
                <a:solidFill>
                  <a:srgbClr val="000000"/>
                </a:solidFill>
                <a:latin typeface="Arial"/>
                <a:ea typeface="Arial"/>
                <a:cs typeface="Arial"/>
                <a:sym typeface="Arial"/>
              </a:endParaRPr>
            </a:p>
          </p:txBody>
        </p:sp>
      </p:grpSp>
      <p:sp>
        <p:nvSpPr>
          <p:cNvPr id="527" name="Google Shape;527;p24"/>
          <p:cNvSpPr txBox="1"/>
          <p:nvPr/>
        </p:nvSpPr>
        <p:spPr>
          <a:xfrm>
            <a:off x="2148839" y="6769710"/>
            <a:ext cx="6446400" cy="369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4243C"/>
              </a:buClr>
              <a:buSzPts val="2400"/>
              <a:buFont typeface="Helvetica Neue"/>
              <a:buNone/>
            </a:pPr>
            <a:r>
              <a:rPr b="1" i="0" lang="en-US" sz="2400" u="none" cap="none" strike="noStrike">
                <a:solidFill>
                  <a:srgbClr val="04243C"/>
                </a:solidFill>
                <a:latin typeface="Helvetica Neue"/>
                <a:ea typeface="Helvetica Neue"/>
                <a:cs typeface="Helvetica Neue"/>
                <a:sym typeface="Helvetica Neue"/>
              </a:rPr>
              <a:t>A filing is not an event</a:t>
            </a:r>
            <a:endParaRPr b="0" i="0" sz="1400" u="none" cap="none" strike="noStrike">
              <a:solidFill>
                <a:srgbClr val="000000"/>
              </a:solidFill>
              <a:latin typeface="Arial"/>
              <a:ea typeface="Arial"/>
              <a:cs typeface="Arial"/>
              <a:sym typeface="Arial"/>
            </a:endParaRPr>
          </a:p>
        </p:txBody>
      </p:sp>
      <p:grpSp>
        <p:nvGrpSpPr>
          <p:cNvPr id="528" name="Google Shape;528;p24"/>
          <p:cNvGrpSpPr/>
          <p:nvPr/>
        </p:nvGrpSpPr>
        <p:grpSpPr>
          <a:xfrm>
            <a:off x="2148839" y="7726678"/>
            <a:ext cx="5852100" cy="594300"/>
            <a:chOff x="0" y="0"/>
            <a:chExt cx="5852100" cy="594300"/>
          </a:xfrm>
        </p:grpSpPr>
        <p:sp>
          <p:nvSpPr>
            <p:cNvPr id="529" name="Google Shape;529;p24"/>
            <p:cNvSpPr/>
            <p:nvPr/>
          </p:nvSpPr>
          <p:spPr>
            <a:xfrm>
              <a:off x="0" y="0"/>
              <a:ext cx="5852100" cy="594300"/>
            </a:xfrm>
            <a:prstGeom prst="roundRect">
              <a:avLst>
                <a:gd fmla="val 18000" name="adj"/>
              </a:avLst>
            </a:prstGeom>
            <a:solidFill>
              <a:schemeClr val="accent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24"/>
            <p:cNvSpPr txBox="1"/>
            <p:nvPr/>
          </p:nvSpPr>
          <p:spPr>
            <a:xfrm>
              <a:off x="77034" y="166961"/>
              <a:ext cx="5698200" cy="2616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4243C"/>
                </a:buClr>
                <a:buSzPts val="1700"/>
                <a:buFont typeface="Helvetica Neue"/>
                <a:buNone/>
              </a:pPr>
              <a:r>
                <a:rPr b="1" i="0" lang="en-US" sz="1700" u="none" cap="none" strike="noStrike">
                  <a:solidFill>
                    <a:srgbClr val="04243C"/>
                  </a:solidFill>
                  <a:latin typeface="Helvetica Neue"/>
                  <a:ea typeface="Helvetica Neue"/>
                  <a:cs typeface="Helvetica Neue"/>
                  <a:sym typeface="Helvetica Neue"/>
                </a:rPr>
                <a:t>Next: event tracking</a:t>
              </a:r>
              <a:endParaRPr b="0" i="0" sz="1400" u="none" cap="none" strike="noStrike">
                <a:solidFill>
                  <a:srgbClr val="000000"/>
                </a:solidFill>
                <a:latin typeface="Arial"/>
                <a:ea typeface="Arial"/>
                <a:cs typeface="Arial"/>
                <a:sym typeface="Arial"/>
              </a:endParaRPr>
            </a:p>
          </p:txBody>
        </p:sp>
      </p:grpSp>
      <p:sp>
        <p:nvSpPr>
          <p:cNvPr id="531" name="Google Shape;531;p24"/>
          <p:cNvSpPr/>
          <p:nvPr/>
        </p:nvSpPr>
        <p:spPr>
          <a:xfrm>
            <a:off x="9326880" y="5852159"/>
            <a:ext cx="8138178" cy="3291840"/>
          </a:xfrm>
          <a:custGeom>
            <a:rect b="b" l="l" r="r" t="t"/>
            <a:pathLst>
              <a:path extrusionOk="0" h="21600" w="21600">
                <a:moveTo>
                  <a:pt x="0" y="0"/>
                </a:moveTo>
                <a:lnTo>
                  <a:pt x="20629" y="0"/>
                </a:lnTo>
                <a:lnTo>
                  <a:pt x="21600" y="2400"/>
                </a:lnTo>
                <a:lnTo>
                  <a:pt x="21600" y="21600"/>
                </a:lnTo>
                <a:lnTo>
                  <a:pt x="0" y="21600"/>
                </a:lnTo>
                <a:close/>
              </a:path>
            </a:pathLst>
          </a:custGeom>
          <a:solidFill>
            <a:srgbClr val="FFFFFF"/>
          </a:solidFill>
          <a:ln cap="flat" cmpd="sng" w="12700">
            <a:solidFill>
              <a:schemeClr val="accent3"/>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grpSp>
        <p:nvGrpSpPr>
          <p:cNvPr id="532" name="Google Shape;532;p24"/>
          <p:cNvGrpSpPr/>
          <p:nvPr/>
        </p:nvGrpSpPr>
        <p:grpSpPr>
          <a:xfrm>
            <a:off x="9692640" y="6611112"/>
            <a:ext cx="685800" cy="685800"/>
            <a:chOff x="0" y="0"/>
            <a:chExt cx="685800" cy="685800"/>
          </a:xfrm>
        </p:grpSpPr>
        <p:sp>
          <p:nvSpPr>
            <p:cNvPr id="533" name="Google Shape;533;p24"/>
            <p:cNvSpPr/>
            <p:nvPr/>
          </p:nvSpPr>
          <p:spPr>
            <a:xfrm>
              <a:off x="0" y="0"/>
              <a:ext cx="685800" cy="685800"/>
            </a:xfrm>
            <a:prstGeom prst="ellipse">
              <a:avLst/>
            </a:prstGeom>
            <a:solidFill>
              <a:schemeClr val="accent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24"/>
            <p:cNvSpPr txBox="1"/>
            <p:nvPr/>
          </p:nvSpPr>
          <p:spPr>
            <a:xfrm>
              <a:off x="146132" y="175502"/>
              <a:ext cx="393600" cy="3387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chemeClr val="accent1"/>
                </a:buClr>
                <a:buSzPts val="2200"/>
                <a:buFont typeface="Helvetica Neue"/>
                <a:buNone/>
              </a:pPr>
              <a:r>
                <a:rPr b="1" i="0" lang="en-US" sz="2200" u="none" cap="none" strike="noStrike">
                  <a:solidFill>
                    <a:schemeClr val="accent1"/>
                  </a:solidFill>
                  <a:latin typeface="Helvetica Neue"/>
                  <a:ea typeface="Helvetica Neue"/>
                  <a:cs typeface="Helvetica Neue"/>
                  <a:sym typeface="Helvetica Neue"/>
                </a:rPr>
                <a:t>4</a:t>
              </a:r>
              <a:endParaRPr b="0" i="0" sz="1400" u="none" cap="none" strike="noStrike">
                <a:solidFill>
                  <a:srgbClr val="000000"/>
                </a:solidFill>
                <a:latin typeface="Arial"/>
                <a:ea typeface="Arial"/>
                <a:cs typeface="Arial"/>
                <a:sym typeface="Arial"/>
              </a:endParaRPr>
            </a:p>
          </p:txBody>
        </p:sp>
      </p:grpSp>
      <p:sp>
        <p:nvSpPr>
          <p:cNvPr id="535" name="Google Shape;535;p24"/>
          <p:cNvSpPr txBox="1"/>
          <p:nvPr/>
        </p:nvSpPr>
        <p:spPr>
          <a:xfrm>
            <a:off x="10652759" y="6769710"/>
            <a:ext cx="6446400" cy="369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4243C"/>
              </a:buClr>
              <a:buSzPts val="2400"/>
              <a:buFont typeface="Helvetica Neue"/>
              <a:buNone/>
            </a:pPr>
            <a:r>
              <a:rPr b="1" i="0" lang="en-US" sz="2400" u="none" cap="none" strike="noStrike">
                <a:solidFill>
                  <a:srgbClr val="04243C"/>
                </a:solidFill>
                <a:latin typeface="Helvetica Neue"/>
                <a:ea typeface="Helvetica Neue"/>
                <a:cs typeface="Helvetica Neue"/>
                <a:sym typeface="Helvetica Neue"/>
              </a:rPr>
              <a:t>Limited view of BNY's process</a:t>
            </a:r>
            <a:endParaRPr b="0" i="0" sz="1400" u="none" cap="none" strike="noStrike">
              <a:solidFill>
                <a:srgbClr val="000000"/>
              </a:solidFill>
              <a:latin typeface="Arial"/>
              <a:ea typeface="Arial"/>
              <a:cs typeface="Arial"/>
              <a:sym typeface="Arial"/>
            </a:endParaRPr>
          </a:p>
        </p:txBody>
      </p:sp>
      <p:grpSp>
        <p:nvGrpSpPr>
          <p:cNvPr id="536" name="Google Shape;536;p24"/>
          <p:cNvGrpSpPr/>
          <p:nvPr/>
        </p:nvGrpSpPr>
        <p:grpSpPr>
          <a:xfrm>
            <a:off x="10652759" y="7726678"/>
            <a:ext cx="5852100" cy="594300"/>
            <a:chOff x="0" y="0"/>
            <a:chExt cx="5852100" cy="594300"/>
          </a:xfrm>
        </p:grpSpPr>
        <p:sp>
          <p:nvSpPr>
            <p:cNvPr id="537" name="Google Shape;537;p24"/>
            <p:cNvSpPr/>
            <p:nvPr/>
          </p:nvSpPr>
          <p:spPr>
            <a:xfrm>
              <a:off x="0" y="0"/>
              <a:ext cx="5852100" cy="594300"/>
            </a:xfrm>
            <a:prstGeom prst="roundRect">
              <a:avLst>
                <a:gd fmla="val 18000" name="adj"/>
              </a:avLst>
            </a:prstGeom>
            <a:solidFill>
              <a:schemeClr val="accent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24"/>
            <p:cNvSpPr txBox="1"/>
            <p:nvPr/>
          </p:nvSpPr>
          <p:spPr>
            <a:xfrm>
              <a:off x="77034" y="166961"/>
              <a:ext cx="5698200" cy="2616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4243C"/>
                </a:buClr>
                <a:buSzPts val="1700"/>
                <a:buFont typeface="Helvetica Neue"/>
                <a:buNone/>
              </a:pPr>
              <a:r>
                <a:rPr b="1" i="0" lang="en-US" sz="1700" u="none" cap="none" strike="noStrike">
                  <a:solidFill>
                    <a:srgbClr val="04243C"/>
                  </a:solidFill>
                  <a:latin typeface="Helvetica Neue"/>
                  <a:ea typeface="Helvetica Neue"/>
                  <a:cs typeface="Helvetica Neue"/>
                  <a:sym typeface="Helvetica Neue"/>
                </a:rPr>
                <a:t>Next: check with BNY experts</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25"/>
          <p:cNvSpPr txBox="1"/>
          <p:nvPr>
            <p:ph type="title"/>
          </p:nvPr>
        </p:nvSpPr>
        <p:spPr>
          <a:xfrm>
            <a:off x="822960" y="960119"/>
            <a:ext cx="16642200" cy="822900"/>
          </a:xfrm>
          <a:prstGeom prst="rect">
            <a:avLst/>
          </a:prstGeom>
          <a:noFill/>
          <a:ln>
            <a:noFill/>
          </a:ln>
        </p:spPr>
        <p:txBody>
          <a:bodyPr anchorCtr="0" anchor="t" bIns="45675" lIns="45675" spcFirstLastPara="1" rIns="45675" wrap="square" tIns="45675">
            <a:normAutofit/>
          </a:bodyPr>
          <a:lstStyle/>
          <a:p>
            <a:pPr indent="0" lvl="0" marL="0" rtl="0" algn="l">
              <a:lnSpc>
                <a:spcPct val="100000"/>
              </a:lnSpc>
              <a:spcBef>
                <a:spcPts val="0"/>
              </a:spcBef>
              <a:spcAft>
                <a:spcPts val="0"/>
              </a:spcAft>
              <a:buClr>
                <a:srgbClr val="04243C"/>
              </a:buClr>
              <a:buSzPts val="3600"/>
              <a:buFont typeface="Helvetica Neue"/>
              <a:buNone/>
            </a:pPr>
            <a:r>
              <a:rPr b="1" lang="en-US" sz="3600">
                <a:solidFill>
                  <a:srgbClr val="04243C"/>
                </a:solidFill>
                <a:latin typeface="Helvetica Neue"/>
                <a:ea typeface="Helvetica Neue"/>
                <a:cs typeface="Helvetica Neue"/>
                <a:sym typeface="Helvetica Neue"/>
              </a:rPr>
              <a:t>Next: verify, track events over time, and build downstream tasks</a:t>
            </a:r>
            <a:endParaRPr/>
          </a:p>
        </p:txBody>
      </p:sp>
      <p:sp>
        <p:nvSpPr>
          <p:cNvPr id="544" name="Google Shape;544;p25"/>
          <p:cNvSpPr txBox="1"/>
          <p:nvPr>
            <p:ph idx="4294967295" type="sldNum"/>
          </p:nvPr>
        </p:nvSpPr>
        <p:spPr>
          <a:xfrm>
            <a:off x="17191470" y="9646919"/>
            <a:ext cx="273600" cy="276900"/>
          </a:xfrm>
          <a:prstGeom prst="rect">
            <a:avLst/>
          </a:prstGeom>
          <a:noFill/>
          <a:ln>
            <a:noFill/>
          </a:ln>
        </p:spPr>
        <p:txBody>
          <a:bodyPr anchorCtr="0" anchor="t" bIns="45675" lIns="45675" spcFirstLastPara="1" rIns="45675" wrap="square" tIns="45675">
            <a:spAutoFit/>
          </a:bodyPr>
          <a:lstStyle/>
          <a:p>
            <a:pPr indent="0" lvl="0" marL="0" rtl="0" algn="r">
              <a:lnSpc>
                <a:spcPct val="100000"/>
              </a:lnSpc>
              <a:spcBef>
                <a:spcPts val="0"/>
              </a:spcBef>
              <a:spcAft>
                <a:spcPts val="0"/>
              </a:spcAft>
              <a:buClr>
                <a:srgbClr val="475569"/>
              </a:buClr>
              <a:buSzPts val="1200"/>
              <a:buFont typeface="Helvetica Neue"/>
              <a:buNone/>
            </a:pPr>
            <a:fld id="{00000000-1234-1234-1234-123412341234}" type="slidenum">
              <a:rPr lang="en-US" sz="1200">
                <a:solidFill>
                  <a:srgbClr val="475569"/>
                </a:solidFill>
                <a:latin typeface="Helvetica Neue"/>
                <a:ea typeface="Helvetica Neue"/>
                <a:cs typeface="Helvetica Neue"/>
                <a:sym typeface="Helvetica Neue"/>
              </a:rPr>
              <a:t>‹#›</a:t>
            </a:fld>
            <a:endParaRPr/>
          </a:p>
        </p:txBody>
      </p:sp>
      <p:sp>
        <p:nvSpPr>
          <p:cNvPr id="545" name="Google Shape;545;p25"/>
          <p:cNvSpPr/>
          <p:nvPr/>
        </p:nvSpPr>
        <p:spPr>
          <a:xfrm>
            <a:off x="822960" y="2194560"/>
            <a:ext cx="4572000" cy="6309300"/>
          </a:xfrm>
          <a:prstGeom prst="roundRect">
            <a:avLst>
              <a:gd fmla="val 3200" name="adj"/>
            </a:avLst>
          </a:prstGeom>
          <a:solidFill>
            <a:srgbClr val="FFFFFF"/>
          </a:solidFill>
          <a:ln>
            <a:noFill/>
          </a:ln>
          <a:effectLst>
            <a:outerShdw blurRad="203200" rotWithShape="0" dir="5400000" dist="50800">
              <a:srgbClr val="0F172A">
                <a:alpha val="1294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546" name="Google Shape;546;p25"/>
          <p:cNvSpPr/>
          <p:nvPr/>
        </p:nvSpPr>
        <p:spPr>
          <a:xfrm>
            <a:off x="1143000" y="2468879"/>
            <a:ext cx="914400" cy="9144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pic>
        <p:nvPicPr>
          <p:cNvPr descr="Google Shape;646;p24" id="547" name="Google Shape;547;p25"/>
          <p:cNvPicPr preferRelativeResize="0"/>
          <p:nvPr/>
        </p:nvPicPr>
        <p:blipFill rotWithShape="1">
          <a:blip r:embed="rId3">
            <a:alphaModFix/>
          </a:blip>
          <a:srcRect b="0" l="0" r="0" t="0"/>
          <a:stretch/>
        </p:blipFill>
        <p:spPr>
          <a:xfrm>
            <a:off x="1362455" y="2688335"/>
            <a:ext cx="475489" cy="475489"/>
          </a:xfrm>
          <a:prstGeom prst="rect">
            <a:avLst/>
          </a:prstGeom>
          <a:noFill/>
          <a:ln>
            <a:noFill/>
          </a:ln>
        </p:spPr>
      </p:pic>
      <p:sp>
        <p:nvSpPr>
          <p:cNvPr id="548" name="Google Shape;548;p25"/>
          <p:cNvSpPr txBox="1"/>
          <p:nvPr/>
        </p:nvSpPr>
        <p:spPr>
          <a:xfrm>
            <a:off x="2240279" y="2752516"/>
            <a:ext cx="2926200" cy="354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4243C"/>
              </a:buClr>
              <a:buSzPts val="2300"/>
              <a:buFont typeface="Helvetica Neue"/>
              <a:buNone/>
            </a:pPr>
            <a:r>
              <a:rPr b="1" i="0" lang="en-US" sz="2300" u="none" cap="none" strike="noStrike">
                <a:solidFill>
                  <a:srgbClr val="04243C"/>
                </a:solidFill>
                <a:latin typeface="Helvetica Neue"/>
                <a:ea typeface="Helvetica Neue"/>
                <a:cs typeface="Helvetica Neue"/>
                <a:sym typeface="Helvetica Neue"/>
              </a:rPr>
              <a:t>Verify + expand</a:t>
            </a:r>
            <a:endParaRPr b="0" i="0" sz="1400" u="none" cap="none" strike="noStrike">
              <a:solidFill>
                <a:srgbClr val="000000"/>
              </a:solidFill>
              <a:latin typeface="Arial"/>
              <a:ea typeface="Arial"/>
              <a:cs typeface="Arial"/>
              <a:sym typeface="Arial"/>
            </a:endParaRPr>
          </a:p>
        </p:txBody>
      </p:sp>
      <p:sp>
        <p:nvSpPr>
          <p:cNvPr id="549" name="Google Shape;549;p25"/>
          <p:cNvSpPr/>
          <p:nvPr/>
        </p:nvSpPr>
        <p:spPr>
          <a:xfrm>
            <a:off x="5760720" y="2194560"/>
            <a:ext cx="6766500" cy="6309300"/>
          </a:xfrm>
          <a:prstGeom prst="roundRect">
            <a:avLst>
              <a:gd fmla="val 2318" name="adj"/>
            </a:avLst>
          </a:prstGeom>
          <a:solidFill>
            <a:srgbClr val="FFFFFF"/>
          </a:solidFill>
          <a:ln>
            <a:noFill/>
          </a:ln>
          <a:effectLst>
            <a:outerShdw blurRad="203200" rotWithShape="0" dir="5400000" dist="50800">
              <a:srgbClr val="0F172A">
                <a:alpha val="1294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550" name="Google Shape;550;p25"/>
          <p:cNvSpPr/>
          <p:nvPr/>
        </p:nvSpPr>
        <p:spPr>
          <a:xfrm>
            <a:off x="6080759" y="2468879"/>
            <a:ext cx="914400" cy="9144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pic>
        <p:nvPicPr>
          <p:cNvPr descr="Google Shape;650;p24" id="551" name="Google Shape;551;p25"/>
          <p:cNvPicPr preferRelativeResize="0"/>
          <p:nvPr/>
        </p:nvPicPr>
        <p:blipFill rotWithShape="1">
          <a:blip r:embed="rId4">
            <a:alphaModFix/>
          </a:blip>
          <a:srcRect b="0" l="0" r="0" t="0"/>
          <a:stretch/>
        </p:blipFill>
        <p:spPr>
          <a:xfrm>
            <a:off x="6300215" y="2688335"/>
            <a:ext cx="475489" cy="475489"/>
          </a:xfrm>
          <a:prstGeom prst="rect">
            <a:avLst/>
          </a:prstGeom>
          <a:noFill/>
          <a:ln>
            <a:noFill/>
          </a:ln>
        </p:spPr>
      </p:pic>
      <p:sp>
        <p:nvSpPr>
          <p:cNvPr id="552" name="Google Shape;552;p25"/>
          <p:cNvSpPr txBox="1"/>
          <p:nvPr/>
        </p:nvSpPr>
        <p:spPr>
          <a:xfrm>
            <a:off x="7178040" y="2752516"/>
            <a:ext cx="5120700" cy="354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4243C"/>
              </a:buClr>
              <a:buSzPts val="2300"/>
              <a:buFont typeface="Helvetica Neue"/>
              <a:buNone/>
            </a:pPr>
            <a:r>
              <a:rPr b="1" i="0" lang="en-US" sz="2300" u="none" cap="none" strike="noStrike">
                <a:solidFill>
                  <a:srgbClr val="04243C"/>
                </a:solidFill>
                <a:latin typeface="Helvetica Neue"/>
                <a:ea typeface="Helvetica Neue"/>
                <a:cs typeface="Helvetica Neue"/>
                <a:sym typeface="Helvetica Neue"/>
              </a:rPr>
              <a:t>Track each event over time</a:t>
            </a:r>
            <a:endParaRPr b="0" i="0" sz="1400" u="none" cap="none" strike="noStrike">
              <a:solidFill>
                <a:srgbClr val="000000"/>
              </a:solidFill>
              <a:latin typeface="Arial"/>
              <a:ea typeface="Arial"/>
              <a:cs typeface="Arial"/>
              <a:sym typeface="Arial"/>
            </a:endParaRPr>
          </a:p>
        </p:txBody>
      </p:sp>
      <p:sp>
        <p:nvSpPr>
          <p:cNvPr id="553" name="Google Shape;553;p25"/>
          <p:cNvSpPr/>
          <p:nvPr/>
        </p:nvSpPr>
        <p:spPr>
          <a:xfrm>
            <a:off x="12893040" y="2194560"/>
            <a:ext cx="4572000" cy="6309300"/>
          </a:xfrm>
          <a:prstGeom prst="roundRect">
            <a:avLst>
              <a:gd fmla="val 3200" name="adj"/>
            </a:avLst>
          </a:prstGeom>
          <a:solidFill>
            <a:srgbClr val="FFFFFF"/>
          </a:solidFill>
          <a:ln>
            <a:noFill/>
          </a:ln>
          <a:effectLst>
            <a:outerShdw blurRad="203200" rotWithShape="0" dir="5400000" dist="50800">
              <a:srgbClr val="0F172A">
                <a:alpha val="1294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554" name="Google Shape;554;p25"/>
          <p:cNvSpPr/>
          <p:nvPr/>
        </p:nvSpPr>
        <p:spPr>
          <a:xfrm>
            <a:off x="13213080" y="2468879"/>
            <a:ext cx="914400" cy="9144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pic>
        <p:nvPicPr>
          <p:cNvPr descr="Google Shape;654;p24" id="555" name="Google Shape;555;p25"/>
          <p:cNvPicPr preferRelativeResize="0"/>
          <p:nvPr/>
        </p:nvPicPr>
        <p:blipFill rotWithShape="1">
          <a:blip r:embed="rId5">
            <a:alphaModFix/>
          </a:blip>
          <a:srcRect b="0" l="0" r="0" t="0"/>
          <a:stretch/>
        </p:blipFill>
        <p:spPr>
          <a:xfrm>
            <a:off x="13432536" y="2688335"/>
            <a:ext cx="475489" cy="475489"/>
          </a:xfrm>
          <a:prstGeom prst="rect">
            <a:avLst/>
          </a:prstGeom>
          <a:noFill/>
          <a:ln>
            <a:noFill/>
          </a:ln>
        </p:spPr>
      </p:pic>
      <p:sp>
        <p:nvSpPr>
          <p:cNvPr id="556" name="Google Shape;556;p25"/>
          <p:cNvSpPr txBox="1"/>
          <p:nvPr/>
        </p:nvSpPr>
        <p:spPr>
          <a:xfrm>
            <a:off x="14310360" y="2574716"/>
            <a:ext cx="2926200" cy="708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4243C"/>
              </a:buClr>
              <a:buSzPts val="2300"/>
              <a:buFont typeface="Helvetica Neue"/>
              <a:buNone/>
            </a:pPr>
            <a:r>
              <a:rPr b="1" i="0" lang="en-US" sz="2300" u="none" cap="none" strike="noStrike">
                <a:solidFill>
                  <a:srgbClr val="04243C"/>
                </a:solidFill>
                <a:latin typeface="Helvetica Neue"/>
                <a:ea typeface="Helvetica Neue"/>
                <a:cs typeface="Helvetica Neue"/>
                <a:sym typeface="Helvetica Neue"/>
              </a:rPr>
              <a:t>Build downstream tasks</a:t>
            </a:r>
            <a:endParaRPr b="0" i="0" sz="1400" u="none" cap="none" strike="noStrike">
              <a:solidFill>
                <a:srgbClr val="000000"/>
              </a:solidFill>
              <a:latin typeface="Arial"/>
              <a:ea typeface="Arial"/>
              <a:cs typeface="Arial"/>
              <a:sym typeface="Arial"/>
            </a:endParaRPr>
          </a:p>
        </p:txBody>
      </p:sp>
      <p:grpSp>
        <p:nvGrpSpPr>
          <p:cNvPr id="557" name="Google Shape;557;p25"/>
          <p:cNvGrpSpPr/>
          <p:nvPr/>
        </p:nvGrpSpPr>
        <p:grpSpPr>
          <a:xfrm>
            <a:off x="1143000" y="3794759"/>
            <a:ext cx="3931800" cy="1097400"/>
            <a:chOff x="0" y="0"/>
            <a:chExt cx="3931800" cy="1097400"/>
          </a:xfrm>
        </p:grpSpPr>
        <p:sp>
          <p:nvSpPr>
            <p:cNvPr id="558" name="Google Shape;558;p25"/>
            <p:cNvSpPr/>
            <p:nvPr/>
          </p:nvSpPr>
          <p:spPr>
            <a:xfrm>
              <a:off x="0" y="0"/>
              <a:ext cx="3931800" cy="1097400"/>
            </a:xfrm>
            <a:prstGeom prst="roundRect">
              <a:avLst>
                <a:gd fmla="val 18000" name="adj"/>
              </a:avLst>
            </a:prstGeom>
            <a:solidFill>
              <a:srgbClr val="F1F5F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25"/>
            <p:cNvSpPr txBox="1"/>
            <p:nvPr/>
          </p:nvSpPr>
          <p:spPr>
            <a:xfrm>
              <a:off x="103548" y="247339"/>
              <a:ext cx="3724800" cy="585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4243C"/>
                </a:buClr>
                <a:buSzPts val="1900"/>
                <a:buFont typeface="Helvetica Neue"/>
                <a:buNone/>
              </a:pPr>
              <a:r>
                <a:rPr b="1" i="0" lang="en-US" sz="1900" u="none" cap="none" strike="noStrike">
                  <a:solidFill>
                    <a:srgbClr val="04243C"/>
                  </a:solidFill>
                  <a:latin typeface="Helvetica Neue"/>
                  <a:ea typeface="Helvetica Neue"/>
                  <a:cs typeface="Helvetica Neue"/>
                  <a:sym typeface="Helvetica Neue"/>
                </a:rPr>
                <a:t>Human review of the reference set</a:t>
              </a:r>
              <a:endParaRPr b="0" i="0" sz="1400" u="none" cap="none" strike="noStrike">
                <a:solidFill>
                  <a:srgbClr val="000000"/>
                </a:solidFill>
                <a:latin typeface="Arial"/>
                <a:ea typeface="Arial"/>
                <a:cs typeface="Arial"/>
                <a:sym typeface="Arial"/>
              </a:endParaRPr>
            </a:p>
          </p:txBody>
        </p:sp>
      </p:grpSp>
      <p:grpSp>
        <p:nvGrpSpPr>
          <p:cNvPr id="560" name="Google Shape;560;p25"/>
          <p:cNvGrpSpPr/>
          <p:nvPr/>
        </p:nvGrpSpPr>
        <p:grpSpPr>
          <a:xfrm>
            <a:off x="1143000" y="5257800"/>
            <a:ext cx="3931800" cy="1097400"/>
            <a:chOff x="0" y="0"/>
            <a:chExt cx="3931800" cy="1097400"/>
          </a:xfrm>
        </p:grpSpPr>
        <p:sp>
          <p:nvSpPr>
            <p:cNvPr id="561" name="Google Shape;561;p25"/>
            <p:cNvSpPr/>
            <p:nvPr/>
          </p:nvSpPr>
          <p:spPr>
            <a:xfrm>
              <a:off x="0" y="0"/>
              <a:ext cx="3931800" cy="1097400"/>
            </a:xfrm>
            <a:prstGeom prst="roundRect">
              <a:avLst>
                <a:gd fmla="val 18000" name="adj"/>
              </a:avLst>
            </a:prstGeom>
            <a:solidFill>
              <a:srgbClr val="F1F5F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25"/>
            <p:cNvSpPr txBox="1"/>
            <p:nvPr/>
          </p:nvSpPr>
          <p:spPr>
            <a:xfrm>
              <a:off x="103548" y="247339"/>
              <a:ext cx="3724800" cy="585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4243C"/>
                </a:buClr>
                <a:buSzPts val="1900"/>
                <a:buFont typeface="Helvetica Neue"/>
                <a:buNone/>
              </a:pPr>
              <a:r>
                <a:rPr b="1" i="0" lang="en-US" sz="1900" u="none" cap="none" strike="noStrike">
                  <a:solidFill>
                    <a:srgbClr val="04243C"/>
                  </a:solidFill>
                  <a:latin typeface="Helvetica Neue"/>
                  <a:ea typeface="Helvetica Neue"/>
                  <a:cs typeface="Helvetica Neue"/>
                  <a:sym typeface="Helvetica Neue"/>
                </a:rPr>
                <a:t>Add exchange, rights, conversion</a:t>
              </a:r>
              <a:endParaRPr b="0" i="0" sz="1400" u="none" cap="none" strike="noStrike">
                <a:solidFill>
                  <a:srgbClr val="000000"/>
                </a:solidFill>
                <a:latin typeface="Arial"/>
                <a:ea typeface="Arial"/>
                <a:cs typeface="Arial"/>
                <a:sym typeface="Arial"/>
              </a:endParaRPr>
            </a:p>
          </p:txBody>
        </p:sp>
      </p:grpSp>
      <p:grpSp>
        <p:nvGrpSpPr>
          <p:cNvPr id="563" name="Google Shape;563;p25"/>
          <p:cNvGrpSpPr/>
          <p:nvPr/>
        </p:nvGrpSpPr>
        <p:grpSpPr>
          <a:xfrm>
            <a:off x="1143000" y="6720840"/>
            <a:ext cx="3931800" cy="1097400"/>
            <a:chOff x="0" y="0"/>
            <a:chExt cx="3931800" cy="1097400"/>
          </a:xfrm>
        </p:grpSpPr>
        <p:sp>
          <p:nvSpPr>
            <p:cNvPr id="564" name="Google Shape;564;p25"/>
            <p:cNvSpPr/>
            <p:nvPr/>
          </p:nvSpPr>
          <p:spPr>
            <a:xfrm>
              <a:off x="0" y="0"/>
              <a:ext cx="3931800" cy="1097400"/>
            </a:xfrm>
            <a:prstGeom prst="roundRect">
              <a:avLst>
                <a:gd fmla="val 18000" name="adj"/>
              </a:avLst>
            </a:prstGeom>
            <a:solidFill>
              <a:srgbClr val="F1F5F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25"/>
            <p:cNvSpPr txBox="1"/>
            <p:nvPr/>
          </p:nvSpPr>
          <p:spPr>
            <a:xfrm>
              <a:off x="103548" y="399739"/>
              <a:ext cx="3724800" cy="292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4243C"/>
                </a:buClr>
                <a:buSzPts val="1900"/>
                <a:buFont typeface="Helvetica Neue"/>
                <a:buNone/>
              </a:pPr>
              <a:r>
                <a:rPr b="1" i="0" lang="en-US" sz="1900" u="none" cap="none" strike="noStrike">
                  <a:solidFill>
                    <a:srgbClr val="04243C"/>
                  </a:solidFill>
                  <a:latin typeface="Helvetica Neue"/>
                  <a:ea typeface="Helvetica Neue"/>
                  <a:cs typeface="Helvetica Neue"/>
                  <a:sym typeface="Helvetica Neue"/>
                </a:rPr>
                <a:t>Screen out non-events</a:t>
              </a:r>
              <a:endParaRPr b="0" i="0" sz="1400" u="none" cap="none" strike="noStrike">
                <a:solidFill>
                  <a:srgbClr val="000000"/>
                </a:solidFill>
                <a:latin typeface="Arial"/>
                <a:ea typeface="Arial"/>
                <a:cs typeface="Arial"/>
                <a:sym typeface="Arial"/>
              </a:endParaRPr>
            </a:p>
          </p:txBody>
        </p:sp>
      </p:grpSp>
      <p:grpSp>
        <p:nvGrpSpPr>
          <p:cNvPr id="566" name="Google Shape;566;p25"/>
          <p:cNvGrpSpPr/>
          <p:nvPr/>
        </p:nvGrpSpPr>
        <p:grpSpPr>
          <a:xfrm>
            <a:off x="13213080" y="3794759"/>
            <a:ext cx="3931800" cy="1097400"/>
            <a:chOff x="0" y="0"/>
            <a:chExt cx="3931800" cy="1097400"/>
          </a:xfrm>
        </p:grpSpPr>
        <p:sp>
          <p:nvSpPr>
            <p:cNvPr id="567" name="Google Shape;567;p25"/>
            <p:cNvSpPr/>
            <p:nvPr/>
          </p:nvSpPr>
          <p:spPr>
            <a:xfrm>
              <a:off x="0" y="0"/>
              <a:ext cx="3931800" cy="1097400"/>
            </a:xfrm>
            <a:prstGeom prst="roundRect">
              <a:avLst>
                <a:gd fmla="val 18000" name="adj"/>
              </a:avLst>
            </a:prstGeom>
            <a:solidFill>
              <a:srgbClr val="F1F5F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25"/>
            <p:cNvSpPr txBox="1"/>
            <p:nvPr/>
          </p:nvSpPr>
          <p:spPr>
            <a:xfrm>
              <a:off x="103548" y="399739"/>
              <a:ext cx="3724800" cy="292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4243C"/>
                </a:buClr>
                <a:buSzPts val="1900"/>
                <a:buFont typeface="Helvetica Neue"/>
                <a:buNone/>
              </a:pPr>
              <a:r>
                <a:rPr b="1" i="0" lang="en-US" sz="1900" u="none" cap="none" strike="noStrike">
                  <a:solidFill>
                    <a:srgbClr val="04243C"/>
                  </a:solidFill>
                  <a:latin typeface="Helvetica Neue"/>
                  <a:ea typeface="Helvetica Neue"/>
                  <a:cs typeface="Helvetica Neue"/>
                  <a:sym typeface="Helvetica Neue"/>
                </a:rPr>
                <a:t>Client notification drafts</a:t>
              </a:r>
              <a:endParaRPr b="0" i="0" sz="1400" u="none" cap="none" strike="noStrike">
                <a:solidFill>
                  <a:srgbClr val="000000"/>
                </a:solidFill>
                <a:latin typeface="Arial"/>
                <a:ea typeface="Arial"/>
                <a:cs typeface="Arial"/>
                <a:sym typeface="Arial"/>
              </a:endParaRPr>
            </a:p>
          </p:txBody>
        </p:sp>
      </p:grpSp>
      <p:grpSp>
        <p:nvGrpSpPr>
          <p:cNvPr id="569" name="Google Shape;569;p25"/>
          <p:cNvGrpSpPr/>
          <p:nvPr/>
        </p:nvGrpSpPr>
        <p:grpSpPr>
          <a:xfrm>
            <a:off x="13213080" y="5257800"/>
            <a:ext cx="3931800" cy="1097400"/>
            <a:chOff x="0" y="0"/>
            <a:chExt cx="3931800" cy="1097400"/>
          </a:xfrm>
        </p:grpSpPr>
        <p:sp>
          <p:nvSpPr>
            <p:cNvPr id="570" name="Google Shape;570;p25"/>
            <p:cNvSpPr/>
            <p:nvPr/>
          </p:nvSpPr>
          <p:spPr>
            <a:xfrm>
              <a:off x="0" y="0"/>
              <a:ext cx="3931800" cy="1097400"/>
            </a:xfrm>
            <a:prstGeom prst="roundRect">
              <a:avLst>
                <a:gd fmla="val 18000" name="adj"/>
              </a:avLst>
            </a:prstGeom>
            <a:solidFill>
              <a:srgbClr val="F1F5F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25"/>
            <p:cNvSpPr txBox="1"/>
            <p:nvPr/>
          </p:nvSpPr>
          <p:spPr>
            <a:xfrm>
              <a:off x="103548" y="399739"/>
              <a:ext cx="3724800" cy="292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4243C"/>
                </a:buClr>
                <a:buSzPts val="1900"/>
                <a:buFont typeface="Helvetica Neue"/>
                <a:buNone/>
              </a:pPr>
              <a:r>
                <a:rPr b="1" i="0" lang="en-US" sz="1900" u="none" cap="none" strike="noStrike">
                  <a:solidFill>
                    <a:srgbClr val="04243C"/>
                  </a:solidFill>
                  <a:latin typeface="Helvetica Neue"/>
                  <a:ea typeface="Helvetica Neue"/>
                  <a:cs typeface="Helvetica Neue"/>
                  <a:sym typeface="Helvetica Neue"/>
                </a:rPr>
                <a:t>Change alerts on amendments</a:t>
              </a:r>
              <a:endParaRPr b="0" i="0" sz="1400" u="none" cap="none" strike="noStrike">
                <a:solidFill>
                  <a:srgbClr val="000000"/>
                </a:solidFill>
                <a:latin typeface="Arial"/>
                <a:ea typeface="Arial"/>
                <a:cs typeface="Arial"/>
                <a:sym typeface="Arial"/>
              </a:endParaRPr>
            </a:p>
          </p:txBody>
        </p:sp>
      </p:grpSp>
      <p:grpSp>
        <p:nvGrpSpPr>
          <p:cNvPr id="572" name="Google Shape;572;p25"/>
          <p:cNvGrpSpPr/>
          <p:nvPr/>
        </p:nvGrpSpPr>
        <p:grpSpPr>
          <a:xfrm>
            <a:off x="13213080" y="6720840"/>
            <a:ext cx="3931800" cy="1097400"/>
            <a:chOff x="0" y="0"/>
            <a:chExt cx="3931800" cy="1097400"/>
          </a:xfrm>
        </p:grpSpPr>
        <p:sp>
          <p:nvSpPr>
            <p:cNvPr id="573" name="Google Shape;573;p25"/>
            <p:cNvSpPr/>
            <p:nvPr/>
          </p:nvSpPr>
          <p:spPr>
            <a:xfrm>
              <a:off x="0" y="0"/>
              <a:ext cx="3931800" cy="1097400"/>
            </a:xfrm>
            <a:prstGeom prst="roundRect">
              <a:avLst>
                <a:gd fmla="val 18000" name="adj"/>
              </a:avLst>
            </a:prstGeom>
            <a:solidFill>
              <a:srgbClr val="F1F5F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25"/>
            <p:cNvSpPr txBox="1"/>
            <p:nvPr/>
          </p:nvSpPr>
          <p:spPr>
            <a:xfrm>
              <a:off x="103548" y="399739"/>
              <a:ext cx="3724800" cy="292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4243C"/>
                </a:buClr>
                <a:buSzPts val="1900"/>
                <a:buFont typeface="Helvetica Neue"/>
                <a:buNone/>
              </a:pPr>
              <a:r>
                <a:rPr b="1" i="0" lang="en-US" sz="1900" u="none" cap="none" strike="noStrike">
                  <a:solidFill>
                    <a:srgbClr val="04243C"/>
                  </a:solidFill>
                  <a:latin typeface="Helvetica Neue"/>
                  <a:ea typeface="Helvetica Neue"/>
                  <a:cs typeface="Helvetica Neue"/>
                  <a:sym typeface="Helvetica Neue"/>
                </a:rPr>
                <a:t>Exception queue for review</a:t>
              </a:r>
              <a:endParaRPr b="0" i="0" sz="1400" u="none" cap="none" strike="noStrike">
                <a:solidFill>
                  <a:srgbClr val="000000"/>
                </a:solidFill>
                <a:latin typeface="Arial"/>
                <a:ea typeface="Arial"/>
                <a:cs typeface="Arial"/>
                <a:sym typeface="Arial"/>
              </a:endParaRPr>
            </a:p>
          </p:txBody>
        </p:sp>
      </p:grpSp>
      <p:sp>
        <p:nvSpPr>
          <p:cNvPr id="575" name="Google Shape;575;p25"/>
          <p:cNvSpPr/>
          <p:nvPr/>
        </p:nvSpPr>
        <p:spPr>
          <a:xfrm>
            <a:off x="6080759" y="3749038"/>
            <a:ext cx="1874400" cy="1234500"/>
          </a:xfrm>
          <a:prstGeom prst="roundRect">
            <a:avLst>
              <a:gd fmla="val 8888" name="adj"/>
            </a:avLst>
          </a:prstGeom>
          <a:solidFill>
            <a:srgbClr val="FFFFFF"/>
          </a:solidFill>
          <a:ln cap="flat" cmpd="sng" w="12700">
            <a:solidFill>
              <a:schemeClr val="accent3"/>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pic>
        <p:nvPicPr>
          <p:cNvPr descr="Google Shape;663;p24" id="576" name="Google Shape;576;p25"/>
          <p:cNvPicPr preferRelativeResize="0"/>
          <p:nvPr/>
        </p:nvPicPr>
        <p:blipFill rotWithShape="1">
          <a:blip r:embed="rId6">
            <a:alphaModFix/>
          </a:blip>
          <a:srcRect b="0" l="0" r="0" t="0"/>
          <a:stretch/>
        </p:blipFill>
        <p:spPr>
          <a:xfrm>
            <a:off x="6743700" y="3840479"/>
            <a:ext cx="548641" cy="548641"/>
          </a:xfrm>
          <a:prstGeom prst="rect">
            <a:avLst/>
          </a:prstGeom>
          <a:noFill/>
          <a:ln>
            <a:noFill/>
          </a:ln>
        </p:spPr>
      </p:pic>
      <p:sp>
        <p:nvSpPr>
          <p:cNvPr id="577" name="Google Shape;577;p25"/>
          <p:cNvSpPr txBox="1"/>
          <p:nvPr/>
        </p:nvSpPr>
        <p:spPr>
          <a:xfrm>
            <a:off x="6080759" y="4462271"/>
            <a:ext cx="1874400" cy="231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243C"/>
              </a:buClr>
              <a:buSzPts val="1500"/>
              <a:buFont typeface="Helvetica Neue"/>
              <a:buNone/>
            </a:pPr>
            <a:r>
              <a:rPr b="1" i="0" lang="en-US" sz="1500" u="none" cap="none" strike="noStrike">
                <a:solidFill>
                  <a:srgbClr val="04243C"/>
                </a:solidFill>
                <a:latin typeface="Helvetica Neue"/>
                <a:ea typeface="Helvetica Neue"/>
                <a:cs typeface="Helvetica Neue"/>
                <a:sym typeface="Helvetica Neue"/>
              </a:rPr>
              <a:t>Original filing</a:t>
            </a:r>
            <a:endParaRPr b="0" i="0" sz="1400" u="none" cap="none" strike="noStrike">
              <a:solidFill>
                <a:srgbClr val="000000"/>
              </a:solidFill>
              <a:latin typeface="Arial"/>
              <a:ea typeface="Arial"/>
              <a:cs typeface="Arial"/>
              <a:sym typeface="Arial"/>
            </a:endParaRPr>
          </a:p>
        </p:txBody>
      </p:sp>
      <p:cxnSp>
        <p:nvCxnSpPr>
          <p:cNvPr id="578" name="Google Shape;578;p25"/>
          <p:cNvCxnSpPr/>
          <p:nvPr/>
        </p:nvCxnSpPr>
        <p:spPr>
          <a:xfrm>
            <a:off x="7018019" y="5029199"/>
            <a:ext cx="2126100" cy="457200"/>
          </a:xfrm>
          <a:prstGeom prst="straightConnector1">
            <a:avLst/>
          </a:prstGeom>
          <a:noFill/>
          <a:ln cap="flat" cmpd="sng" w="25400">
            <a:solidFill>
              <a:schemeClr val="accent1"/>
            </a:solidFill>
            <a:prstDash val="solid"/>
            <a:round/>
            <a:headEnd len="sm" w="sm" type="none"/>
            <a:tailEnd len="med" w="med" type="triangle"/>
          </a:ln>
        </p:spPr>
      </p:cxnSp>
      <p:sp>
        <p:nvSpPr>
          <p:cNvPr id="579" name="Google Shape;579;p25"/>
          <p:cNvSpPr/>
          <p:nvPr/>
        </p:nvSpPr>
        <p:spPr>
          <a:xfrm>
            <a:off x="8229600" y="3749038"/>
            <a:ext cx="1874400" cy="1234500"/>
          </a:xfrm>
          <a:prstGeom prst="roundRect">
            <a:avLst>
              <a:gd fmla="val 8888" name="adj"/>
            </a:avLst>
          </a:prstGeom>
          <a:solidFill>
            <a:srgbClr val="FFFFFF"/>
          </a:solidFill>
          <a:ln cap="flat" cmpd="sng" w="12700">
            <a:solidFill>
              <a:schemeClr val="accent3"/>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pic>
        <p:nvPicPr>
          <p:cNvPr descr="Google Shape;667;p24" id="580" name="Google Shape;580;p25"/>
          <p:cNvPicPr preferRelativeResize="0"/>
          <p:nvPr/>
        </p:nvPicPr>
        <p:blipFill rotWithShape="1">
          <a:blip r:embed="rId6">
            <a:alphaModFix/>
          </a:blip>
          <a:srcRect b="0" l="0" r="0" t="0"/>
          <a:stretch/>
        </p:blipFill>
        <p:spPr>
          <a:xfrm>
            <a:off x="8892540" y="3840479"/>
            <a:ext cx="548641" cy="548641"/>
          </a:xfrm>
          <a:prstGeom prst="rect">
            <a:avLst/>
          </a:prstGeom>
          <a:noFill/>
          <a:ln>
            <a:noFill/>
          </a:ln>
        </p:spPr>
      </p:pic>
      <p:sp>
        <p:nvSpPr>
          <p:cNvPr id="581" name="Google Shape;581;p25"/>
          <p:cNvSpPr txBox="1"/>
          <p:nvPr/>
        </p:nvSpPr>
        <p:spPr>
          <a:xfrm>
            <a:off x="8229600" y="4462271"/>
            <a:ext cx="1874400" cy="231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243C"/>
              </a:buClr>
              <a:buSzPts val="1500"/>
              <a:buFont typeface="Helvetica Neue"/>
              <a:buNone/>
            </a:pPr>
            <a:r>
              <a:rPr b="1" i="0" lang="en-US" sz="1500" u="none" cap="none" strike="noStrike">
                <a:solidFill>
                  <a:srgbClr val="04243C"/>
                </a:solidFill>
                <a:latin typeface="Helvetica Neue"/>
                <a:ea typeface="Helvetica Neue"/>
                <a:cs typeface="Helvetica Neue"/>
                <a:sym typeface="Helvetica Neue"/>
              </a:rPr>
              <a:t>Amendment 1</a:t>
            </a:r>
            <a:endParaRPr b="0" i="0" sz="1400" u="none" cap="none" strike="noStrike">
              <a:solidFill>
                <a:srgbClr val="000000"/>
              </a:solidFill>
              <a:latin typeface="Arial"/>
              <a:ea typeface="Arial"/>
              <a:cs typeface="Arial"/>
              <a:sym typeface="Arial"/>
            </a:endParaRPr>
          </a:p>
        </p:txBody>
      </p:sp>
      <p:cxnSp>
        <p:nvCxnSpPr>
          <p:cNvPr id="582" name="Google Shape;582;p25"/>
          <p:cNvCxnSpPr/>
          <p:nvPr/>
        </p:nvCxnSpPr>
        <p:spPr>
          <a:xfrm flipH="1">
            <a:off x="9144060" y="5029199"/>
            <a:ext cx="22800" cy="457200"/>
          </a:xfrm>
          <a:prstGeom prst="straightConnector1">
            <a:avLst/>
          </a:prstGeom>
          <a:noFill/>
          <a:ln cap="flat" cmpd="sng" w="25400">
            <a:solidFill>
              <a:schemeClr val="accent1"/>
            </a:solidFill>
            <a:prstDash val="solid"/>
            <a:round/>
            <a:headEnd len="sm" w="sm" type="none"/>
            <a:tailEnd len="med" w="med" type="triangle"/>
          </a:ln>
        </p:spPr>
      </p:cxnSp>
      <p:sp>
        <p:nvSpPr>
          <p:cNvPr id="583" name="Google Shape;583;p25"/>
          <p:cNvSpPr/>
          <p:nvPr/>
        </p:nvSpPr>
        <p:spPr>
          <a:xfrm>
            <a:off x="10378440" y="3749038"/>
            <a:ext cx="1874400" cy="1234500"/>
          </a:xfrm>
          <a:prstGeom prst="roundRect">
            <a:avLst>
              <a:gd fmla="val 8888" name="adj"/>
            </a:avLst>
          </a:prstGeom>
          <a:solidFill>
            <a:srgbClr val="FFFFFF"/>
          </a:solidFill>
          <a:ln cap="flat" cmpd="sng" w="12700">
            <a:solidFill>
              <a:schemeClr val="accent3"/>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pic>
        <p:nvPicPr>
          <p:cNvPr descr="Google Shape;671;p24" id="584" name="Google Shape;584;p25"/>
          <p:cNvPicPr preferRelativeResize="0"/>
          <p:nvPr/>
        </p:nvPicPr>
        <p:blipFill rotWithShape="1">
          <a:blip r:embed="rId6">
            <a:alphaModFix/>
          </a:blip>
          <a:srcRect b="0" l="0" r="0" t="0"/>
          <a:stretch/>
        </p:blipFill>
        <p:spPr>
          <a:xfrm>
            <a:off x="11041380" y="3840479"/>
            <a:ext cx="548641" cy="548641"/>
          </a:xfrm>
          <a:prstGeom prst="rect">
            <a:avLst/>
          </a:prstGeom>
          <a:noFill/>
          <a:ln>
            <a:noFill/>
          </a:ln>
        </p:spPr>
      </p:pic>
      <p:sp>
        <p:nvSpPr>
          <p:cNvPr id="585" name="Google Shape;585;p25"/>
          <p:cNvSpPr txBox="1"/>
          <p:nvPr/>
        </p:nvSpPr>
        <p:spPr>
          <a:xfrm>
            <a:off x="10378440" y="4462271"/>
            <a:ext cx="1874400" cy="231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243C"/>
              </a:buClr>
              <a:buSzPts val="1500"/>
              <a:buFont typeface="Helvetica Neue"/>
              <a:buNone/>
            </a:pPr>
            <a:r>
              <a:rPr b="1" i="0" lang="en-US" sz="1500" u="none" cap="none" strike="noStrike">
                <a:solidFill>
                  <a:srgbClr val="04243C"/>
                </a:solidFill>
                <a:latin typeface="Helvetica Neue"/>
                <a:ea typeface="Helvetica Neue"/>
                <a:cs typeface="Helvetica Neue"/>
                <a:sym typeface="Helvetica Neue"/>
              </a:rPr>
              <a:t>Amendment 2</a:t>
            </a:r>
            <a:endParaRPr b="0" i="0" sz="1400" u="none" cap="none" strike="noStrike">
              <a:solidFill>
                <a:srgbClr val="000000"/>
              </a:solidFill>
              <a:latin typeface="Arial"/>
              <a:ea typeface="Arial"/>
              <a:cs typeface="Arial"/>
              <a:sym typeface="Arial"/>
            </a:endParaRPr>
          </a:p>
        </p:txBody>
      </p:sp>
      <p:cxnSp>
        <p:nvCxnSpPr>
          <p:cNvPr id="586" name="Google Shape;586;p25"/>
          <p:cNvCxnSpPr/>
          <p:nvPr/>
        </p:nvCxnSpPr>
        <p:spPr>
          <a:xfrm flipH="1">
            <a:off x="9144000" y="5029200"/>
            <a:ext cx="2171700" cy="457200"/>
          </a:xfrm>
          <a:prstGeom prst="straightConnector1">
            <a:avLst/>
          </a:prstGeom>
          <a:noFill/>
          <a:ln cap="flat" cmpd="sng" w="25400">
            <a:solidFill>
              <a:schemeClr val="accent1"/>
            </a:solidFill>
            <a:prstDash val="solid"/>
            <a:round/>
            <a:headEnd len="sm" w="sm" type="none"/>
            <a:tailEnd len="med" w="med" type="triangle"/>
          </a:ln>
        </p:spPr>
      </p:cxnSp>
      <p:grpSp>
        <p:nvGrpSpPr>
          <p:cNvPr id="587" name="Google Shape;587;p25"/>
          <p:cNvGrpSpPr/>
          <p:nvPr/>
        </p:nvGrpSpPr>
        <p:grpSpPr>
          <a:xfrm>
            <a:off x="6675119" y="5532120"/>
            <a:ext cx="4937700" cy="1051500"/>
            <a:chOff x="0" y="0"/>
            <a:chExt cx="4937700" cy="1051500"/>
          </a:xfrm>
        </p:grpSpPr>
        <p:sp>
          <p:nvSpPr>
            <p:cNvPr id="588" name="Google Shape;588;p25"/>
            <p:cNvSpPr/>
            <p:nvPr/>
          </p:nvSpPr>
          <p:spPr>
            <a:xfrm>
              <a:off x="0" y="0"/>
              <a:ext cx="4937700" cy="1051500"/>
            </a:xfrm>
            <a:prstGeom prst="roundRect">
              <a:avLst>
                <a:gd fmla="val 10434" name="adj"/>
              </a:avLst>
            </a:prstGeom>
            <a:solidFill>
              <a:srgbClr val="04243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25"/>
            <p:cNvSpPr txBox="1"/>
            <p:nvPr/>
          </p:nvSpPr>
          <p:spPr>
            <a:xfrm>
              <a:off x="77835" y="383045"/>
              <a:ext cx="4782000" cy="27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1800"/>
                <a:buFont typeface="Helvetica Neue"/>
                <a:buNone/>
              </a:pPr>
              <a:r>
                <a:rPr b="1" i="0" lang="en-US" sz="1800" u="none" cap="none" strike="noStrike">
                  <a:solidFill>
                    <a:srgbClr val="FFFFFF"/>
                  </a:solidFill>
                  <a:latin typeface="Helvetica Neue"/>
                  <a:ea typeface="Helvetica Neue"/>
                  <a:cs typeface="Helvetica Neue"/>
                  <a:sym typeface="Helvetica Neue"/>
                </a:rPr>
                <a:t>Event history: current terms + every change</a:t>
              </a:r>
              <a:endParaRPr b="0" i="0" sz="1400" u="none" cap="none" strike="noStrike">
                <a:solidFill>
                  <a:srgbClr val="000000"/>
                </a:solidFill>
                <a:latin typeface="Arial"/>
                <a:ea typeface="Arial"/>
                <a:cs typeface="Arial"/>
                <a:sym typeface="Arial"/>
              </a:endParaRPr>
            </a:p>
          </p:txBody>
        </p:sp>
      </p:grpSp>
      <p:sp>
        <p:nvSpPr>
          <p:cNvPr id="590" name="Google Shape;590;p25"/>
          <p:cNvSpPr txBox="1"/>
          <p:nvPr/>
        </p:nvSpPr>
        <p:spPr>
          <a:xfrm>
            <a:off x="6080759" y="6812280"/>
            <a:ext cx="61266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1"/>
              </a:buClr>
              <a:buSzPts val="1400"/>
              <a:buFont typeface="Helvetica Neue"/>
              <a:buNone/>
            </a:pPr>
            <a:r>
              <a:rPr b="1" i="0" lang="en-US" sz="1400" u="none" cap="none" strike="noStrike">
                <a:solidFill>
                  <a:schemeClr val="accent1"/>
                </a:solidFill>
                <a:latin typeface="Helvetica Neue"/>
                <a:ea typeface="Helvetica Neue"/>
                <a:cs typeface="Helvetica Neue"/>
                <a:sym typeface="Helvetica Neue"/>
              </a:rPr>
              <a:t>OPTIONS WE ARE EXPLORING</a:t>
            </a:r>
            <a:endParaRPr b="0" i="0" sz="1400" u="none" cap="none" strike="noStrike">
              <a:solidFill>
                <a:srgbClr val="000000"/>
              </a:solidFill>
              <a:latin typeface="Arial"/>
              <a:ea typeface="Arial"/>
              <a:cs typeface="Arial"/>
              <a:sym typeface="Arial"/>
            </a:endParaRPr>
          </a:p>
        </p:txBody>
      </p:sp>
      <p:sp>
        <p:nvSpPr>
          <p:cNvPr id="591" name="Google Shape;591;p25"/>
          <p:cNvSpPr/>
          <p:nvPr/>
        </p:nvSpPr>
        <p:spPr>
          <a:xfrm>
            <a:off x="6080759" y="7223759"/>
            <a:ext cx="2971800" cy="1005900"/>
          </a:xfrm>
          <a:prstGeom prst="roundRect">
            <a:avLst>
              <a:gd fmla="val 18000" name="adj"/>
            </a:avLst>
          </a:prstGeom>
          <a:solidFill>
            <a:schemeClr val="accent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592" name="Google Shape;592;p25"/>
          <p:cNvSpPr txBox="1"/>
          <p:nvPr/>
        </p:nvSpPr>
        <p:spPr>
          <a:xfrm>
            <a:off x="6080759" y="7467879"/>
            <a:ext cx="2971800" cy="292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243C"/>
              </a:buClr>
              <a:buSzPts val="1900"/>
              <a:buFont typeface="Helvetica Neue"/>
              <a:buNone/>
            </a:pPr>
            <a:r>
              <a:rPr b="1" i="0" lang="en-US" sz="1900" u="none" cap="none" strike="noStrike">
                <a:solidFill>
                  <a:srgbClr val="04243C"/>
                </a:solidFill>
                <a:latin typeface="Helvetica Neue"/>
                <a:ea typeface="Helvetica Neue"/>
                <a:cs typeface="Helvetica Neue"/>
                <a:sym typeface="Helvetica Neue"/>
              </a:rPr>
              <a:t>RAG</a:t>
            </a:r>
            <a:endParaRPr b="0" i="0" sz="1400" u="none" cap="none" strike="noStrike">
              <a:solidFill>
                <a:srgbClr val="000000"/>
              </a:solidFill>
              <a:latin typeface="Arial"/>
              <a:ea typeface="Arial"/>
              <a:cs typeface="Arial"/>
              <a:sym typeface="Arial"/>
            </a:endParaRPr>
          </a:p>
        </p:txBody>
      </p:sp>
      <p:sp>
        <p:nvSpPr>
          <p:cNvPr id="593" name="Google Shape;593;p25"/>
          <p:cNvSpPr txBox="1"/>
          <p:nvPr/>
        </p:nvSpPr>
        <p:spPr>
          <a:xfrm>
            <a:off x="6080759" y="7766358"/>
            <a:ext cx="2971800" cy="231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475569"/>
              </a:buClr>
              <a:buSzPts val="1500"/>
              <a:buFont typeface="Helvetica Neue"/>
              <a:buNone/>
            </a:pPr>
            <a:r>
              <a:rPr b="0" i="0" lang="en-US" sz="1500" u="none" cap="none" strike="noStrike">
                <a:solidFill>
                  <a:srgbClr val="475569"/>
                </a:solidFill>
                <a:latin typeface="Helvetica Neue"/>
                <a:ea typeface="Helvetica Neue"/>
                <a:cs typeface="Helvetica Neue"/>
                <a:sym typeface="Helvetica Neue"/>
              </a:rPr>
              <a:t>retrieve earlier filings</a:t>
            </a:r>
            <a:endParaRPr b="0" i="0" sz="1400" u="none" cap="none" strike="noStrike">
              <a:solidFill>
                <a:srgbClr val="000000"/>
              </a:solidFill>
              <a:latin typeface="Arial"/>
              <a:ea typeface="Arial"/>
              <a:cs typeface="Arial"/>
              <a:sym typeface="Arial"/>
            </a:endParaRPr>
          </a:p>
        </p:txBody>
      </p:sp>
      <p:sp>
        <p:nvSpPr>
          <p:cNvPr id="594" name="Google Shape;594;p25"/>
          <p:cNvSpPr/>
          <p:nvPr/>
        </p:nvSpPr>
        <p:spPr>
          <a:xfrm>
            <a:off x="9235440" y="7223759"/>
            <a:ext cx="2971800" cy="1005900"/>
          </a:xfrm>
          <a:prstGeom prst="roundRect">
            <a:avLst>
              <a:gd fmla="val 18000" name="adj"/>
            </a:avLst>
          </a:prstGeom>
          <a:solidFill>
            <a:schemeClr val="accent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595" name="Google Shape;595;p25"/>
          <p:cNvSpPr txBox="1"/>
          <p:nvPr/>
        </p:nvSpPr>
        <p:spPr>
          <a:xfrm>
            <a:off x="9235440" y="7428199"/>
            <a:ext cx="2971800" cy="292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243C"/>
              </a:buClr>
              <a:buSzPts val="1900"/>
              <a:buFont typeface="Helvetica Neue"/>
              <a:buNone/>
            </a:pPr>
            <a:r>
              <a:rPr b="1" i="0" lang="en-US" sz="1900" u="none" cap="none" strike="noStrike">
                <a:solidFill>
                  <a:srgbClr val="04243C"/>
                </a:solidFill>
                <a:latin typeface="Helvetica Neue"/>
                <a:ea typeface="Helvetica Neue"/>
                <a:cs typeface="Helvetica Neue"/>
                <a:sym typeface="Helvetica Neue"/>
              </a:rPr>
              <a:t>Hindsight</a:t>
            </a:r>
            <a:endParaRPr b="0" i="0" sz="1400" u="none" cap="none" strike="noStrike">
              <a:solidFill>
                <a:srgbClr val="000000"/>
              </a:solidFill>
              <a:latin typeface="Arial"/>
              <a:ea typeface="Arial"/>
              <a:cs typeface="Arial"/>
              <a:sym typeface="Arial"/>
            </a:endParaRPr>
          </a:p>
        </p:txBody>
      </p:sp>
      <p:sp>
        <p:nvSpPr>
          <p:cNvPr id="596" name="Google Shape;596;p25"/>
          <p:cNvSpPr txBox="1"/>
          <p:nvPr/>
        </p:nvSpPr>
        <p:spPr>
          <a:xfrm>
            <a:off x="9235440" y="7746518"/>
            <a:ext cx="2971800" cy="231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475569"/>
              </a:buClr>
              <a:buSzPts val="1500"/>
              <a:buFont typeface="Helvetica Neue"/>
              <a:buNone/>
            </a:pPr>
            <a:r>
              <a:rPr b="0" i="0" lang="en-US" sz="1500" u="none" cap="none" strike="noStrike">
                <a:solidFill>
                  <a:srgbClr val="475569"/>
                </a:solidFill>
                <a:latin typeface="Helvetica Neue"/>
                <a:ea typeface="Helvetica Neue"/>
                <a:cs typeface="Helvetica Neue"/>
                <a:sym typeface="Helvetica Neue"/>
              </a:rPr>
              <a:t>agent memory of state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26"/>
          <p:cNvSpPr txBox="1"/>
          <p:nvPr>
            <p:ph type="title"/>
          </p:nvPr>
        </p:nvSpPr>
        <p:spPr>
          <a:xfrm>
            <a:off x="822960" y="960119"/>
            <a:ext cx="16642200" cy="822900"/>
          </a:xfrm>
          <a:prstGeom prst="rect">
            <a:avLst/>
          </a:prstGeom>
          <a:noFill/>
          <a:ln>
            <a:noFill/>
          </a:ln>
        </p:spPr>
        <p:txBody>
          <a:bodyPr anchorCtr="0" anchor="t" bIns="45675" lIns="45675" spcFirstLastPara="1" rIns="45675" wrap="square" tIns="45675">
            <a:normAutofit/>
          </a:bodyPr>
          <a:lstStyle/>
          <a:p>
            <a:pPr indent="0" lvl="0" marL="0" rtl="0" algn="l">
              <a:lnSpc>
                <a:spcPct val="100000"/>
              </a:lnSpc>
              <a:spcBef>
                <a:spcPts val="0"/>
              </a:spcBef>
              <a:spcAft>
                <a:spcPts val="0"/>
              </a:spcAft>
              <a:buClr>
                <a:srgbClr val="04243C"/>
              </a:buClr>
              <a:buSzPts val="3600"/>
              <a:buFont typeface="Helvetica Neue"/>
              <a:buNone/>
            </a:pPr>
            <a:r>
              <a:rPr b="1" lang="en-US" sz="3600">
                <a:solidFill>
                  <a:srgbClr val="04243C"/>
                </a:solidFill>
                <a:latin typeface="Helvetica Neue"/>
                <a:ea typeface="Helvetica Neue"/>
                <a:cs typeface="Helvetica Neue"/>
                <a:sym typeface="Helvetica Neue"/>
              </a:rPr>
              <a:t>What BNY gets: reusable, auditable tools, not a one-off model</a:t>
            </a:r>
            <a:endParaRPr/>
          </a:p>
        </p:txBody>
      </p:sp>
      <p:sp>
        <p:nvSpPr>
          <p:cNvPr id="602" name="Google Shape;602;p26"/>
          <p:cNvSpPr txBox="1"/>
          <p:nvPr>
            <p:ph idx="4294967295" type="sldNum"/>
          </p:nvPr>
        </p:nvSpPr>
        <p:spPr>
          <a:xfrm>
            <a:off x="17191470" y="9646919"/>
            <a:ext cx="273600" cy="276900"/>
          </a:xfrm>
          <a:prstGeom prst="rect">
            <a:avLst/>
          </a:prstGeom>
          <a:noFill/>
          <a:ln>
            <a:noFill/>
          </a:ln>
        </p:spPr>
        <p:txBody>
          <a:bodyPr anchorCtr="0" anchor="t" bIns="45675" lIns="45675" spcFirstLastPara="1" rIns="45675" wrap="square" tIns="45675">
            <a:spAutoFit/>
          </a:bodyPr>
          <a:lstStyle/>
          <a:p>
            <a:pPr indent="0" lvl="0" marL="0" rtl="0" algn="r">
              <a:lnSpc>
                <a:spcPct val="100000"/>
              </a:lnSpc>
              <a:spcBef>
                <a:spcPts val="0"/>
              </a:spcBef>
              <a:spcAft>
                <a:spcPts val="0"/>
              </a:spcAft>
              <a:buClr>
                <a:srgbClr val="475569"/>
              </a:buClr>
              <a:buSzPts val="1200"/>
              <a:buFont typeface="Helvetica Neue"/>
              <a:buNone/>
            </a:pPr>
            <a:fld id="{00000000-1234-1234-1234-123412341234}" type="slidenum">
              <a:rPr lang="en-US" sz="1200">
                <a:solidFill>
                  <a:srgbClr val="475569"/>
                </a:solidFill>
                <a:latin typeface="Helvetica Neue"/>
                <a:ea typeface="Helvetica Neue"/>
                <a:cs typeface="Helvetica Neue"/>
                <a:sym typeface="Helvetica Neue"/>
              </a:rPr>
              <a:t>‹#›</a:t>
            </a:fld>
            <a:endParaRPr/>
          </a:p>
        </p:txBody>
      </p:sp>
      <p:cxnSp>
        <p:nvCxnSpPr>
          <p:cNvPr id="603" name="Google Shape;603;p26"/>
          <p:cNvCxnSpPr/>
          <p:nvPr/>
        </p:nvCxnSpPr>
        <p:spPr>
          <a:xfrm rot="10800000">
            <a:off x="9145269" y="3109020"/>
            <a:ext cx="0" cy="2651700"/>
          </a:xfrm>
          <a:prstGeom prst="straightConnector1">
            <a:avLst/>
          </a:prstGeom>
          <a:noFill/>
          <a:ln cap="flat" cmpd="sng" w="38100">
            <a:solidFill>
              <a:schemeClr val="accent3"/>
            </a:solidFill>
            <a:prstDash val="solid"/>
            <a:round/>
            <a:headEnd len="sm" w="sm" type="none"/>
            <a:tailEnd len="sm" w="sm" type="none"/>
          </a:ln>
        </p:spPr>
      </p:cxnSp>
      <p:cxnSp>
        <p:nvCxnSpPr>
          <p:cNvPr id="604" name="Google Shape;604;p26"/>
          <p:cNvCxnSpPr/>
          <p:nvPr/>
        </p:nvCxnSpPr>
        <p:spPr>
          <a:xfrm flipH="1" rot="10800000">
            <a:off x="9143999" y="4941421"/>
            <a:ext cx="4696200" cy="819300"/>
          </a:xfrm>
          <a:prstGeom prst="straightConnector1">
            <a:avLst/>
          </a:prstGeom>
          <a:noFill/>
          <a:ln cap="flat" cmpd="sng" w="38100">
            <a:solidFill>
              <a:schemeClr val="accent3"/>
            </a:solidFill>
            <a:prstDash val="solid"/>
            <a:round/>
            <a:headEnd len="sm" w="sm" type="none"/>
            <a:tailEnd len="sm" w="sm" type="none"/>
          </a:ln>
        </p:spPr>
      </p:cxnSp>
      <p:cxnSp>
        <p:nvCxnSpPr>
          <p:cNvPr id="605" name="Google Shape;605;p26"/>
          <p:cNvCxnSpPr/>
          <p:nvPr/>
        </p:nvCxnSpPr>
        <p:spPr>
          <a:xfrm>
            <a:off x="9144000" y="5760720"/>
            <a:ext cx="2902200" cy="2145300"/>
          </a:xfrm>
          <a:prstGeom prst="straightConnector1">
            <a:avLst/>
          </a:prstGeom>
          <a:noFill/>
          <a:ln cap="flat" cmpd="sng" w="38100">
            <a:solidFill>
              <a:schemeClr val="accent3"/>
            </a:solidFill>
            <a:prstDash val="solid"/>
            <a:round/>
            <a:headEnd len="sm" w="sm" type="none"/>
            <a:tailEnd len="sm" w="sm" type="none"/>
          </a:ln>
        </p:spPr>
      </p:cxnSp>
      <p:cxnSp>
        <p:nvCxnSpPr>
          <p:cNvPr id="606" name="Google Shape;606;p26"/>
          <p:cNvCxnSpPr/>
          <p:nvPr/>
        </p:nvCxnSpPr>
        <p:spPr>
          <a:xfrm flipH="1">
            <a:off x="6241800" y="5760720"/>
            <a:ext cx="2902200" cy="2145300"/>
          </a:xfrm>
          <a:prstGeom prst="straightConnector1">
            <a:avLst/>
          </a:prstGeom>
          <a:noFill/>
          <a:ln cap="flat" cmpd="sng" w="38100">
            <a:solidFill>
              <a:schemeClr val="accent3"/>
            </a:solidFill>
            <a:prstDash val="solid"/>
            <a:round/>
            <a:headEnd len="sm" w="sm" type="none"/>
            <a:tailEnd len="sm" w="sm" type="none"/>
          </a:ln>
        </p:spPr>
      </p:cxnSp>
      <p:cxnSp>
        <p:nvCxnSpPr>
          <p:cNvPr id="607" name="Google Shape;607;p26"/>
          <p:cNvCxnSpPr/>
          <p:nvPr/>
        </p:nvCxnSpPr>
        <p:spPr>
          <a:xfrm rot="10800000">
            <a:off x="4447801" y="4941421"/>
            <a:ext cx="4696200" cy="819300"/>
          </a:xfrm>
          <a:prstGeom prst="straightConnector1">
            <a:avLst/>
          </a:prstGeom>
          <a:noFill/>
          <a:ln cap="flat" cmpd="sng" w="38100">
            <a:solidFill>
              <a:schemeClr val="accent3"/>
            </a:solidFill>
            <a:prstDash val="solid"/>
            <a:round/>
            <a:headEnd len="sm" w="sm" type="none"/>
            <a:tailEnd len="sm" w="sm" type="none"/>
          </a:ln>
        </p:spPr>
      </p:cxnSp>
      <p:grpSp>
        <p:nvGrpSpPr>
          <p:cNvPr id="608" name="Google Shape;608;p26"/>
          <p:cNvGrpSpPr/>
          <p:nvPr/>
        </p:nvGrpSpPr>
        <p:grpSpPr>
          <a:xfrm>
            <a:off x="7635239" y="4251958"/>
            <a:ext cx="3017400" cy="3017400"/>
            <a:chOff x="-1" y="-1"/>
            <a:chExt cx="3017400" cy="3017400"/>
          </a:xfrm>
        </p:grpSpPr>
        <p:sp>
          <p:nvSpPr>
            <p:cNvPr id="609" name="Google Shape;609;p26"/>
            <p:cNvSpPr/>
            <p:nvPr/>
          </p:nvSpPr>
          <p:spPr>
            <a:xfrm>
              <a:off x="-1" y="-1"/>
              <a:ext cx="3017400" cy="3017400"/>
            </a:xfrm>
            <a:prstGeom prst="ellipse">
              <a:avLst/>
            </a:prstGeom>
            <a:solidFill>
              <a:srgbClr val="04243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26"/>
            <p:cNvSpPr txBox="1"/>
            <p:nvPr/>
          </p:nvSpPr>
          <p:spPr>
            <a:xfrm>
              <a:off x="487587" y="1017268"/>
              <a:ext cx="2042100" cy="9696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2100"/>
                <a:buFont typeface="Helvetica Neue"/>
                <a:buNone/>
              </a:pPr>
              <a:r>
                <a:rPr b="1" i="0" lang="en-US" sz="2100" u="none" cap="none" strike="noStrike">
                  <a:solidFill>
                    <a:srgbClr val="FFFFFF"/>
                  </a:solidFill>
                  <a:latin typeface="Helvetica Neue"/>
                  <a:ea typeface="Helvetica Neue"/>
                  <a:cs typeface="Helvetica Neue"/>
                  <a:sym typeface="Helvetica Neue"/>
                </a:rPr>
                <a:t>Every value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2100"/>
                <a:buFont typeface="Helvetica Neue"/>
                <a:buNone/>
              </a:pPr>
              <a:r>
                <a:rPr b="1" i="0" lang="en-US" sz="2100" u="none" cap="none" strike="noStrike">
                  <a:solidFill>
                    <a:srgbClr val="FFFFFF"/>
                  </a:solidFill>
                  <a:latin typeface="Helvetica Neue"/>
                  <a:ea typeface="Helvetica Neue"/>
                  <a:cs typeface="Helvetica Neue"/>
                  <a:sym typeface="Helvetica Neue"/>
                </a:rPr>
                <a:t>traceable to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2100"/>
                <a:buFont typeface="Helvetica Neue"/>
                <a:buNone/>
              </a:pPr>
              <a:r>
                <a:rPr b="1" i="0" lang="en-US" sz="2100" u="none" cap="none" strike="noStrike">
                  <a:solidFill>
                    <a:srgbClr val="FFFFFF"/>
                  </a:solidFill>
                  <a:latin typeface="Helvetica Neue"/>
                  <a:ea typeface="Helvetica Neue"/>
                  <a:cs typeface="Helvetica Neue"/>
                  <a:sym typeface="Helvetica Neue"/>
                </a:rPr>
                <a:t>its source</a:t>
              </a:r>
              <a:endParaRPr b="0" i="0" sz="1400" u="none" cap="none" strike="noStrike">
                <a:solidFill>
                  <a:srgbClr val="000000"/>
                </a:solidFill>
                <a:latin typeface="Arial"/>
                <a:ea typeface="Arial"/>
                <a:cs typeface="Arial"/>
                <a:sym typeface="Arial"/>
              </a:endParaRPr>
            </a:p>
          </p:txBody>
        </p:sp>
      </p:grpSp>
      <p:sp>
        <p:nvSpPr>
          <p:cNvPr id="611" name="Google Shape;611;p26"/>
          <p:cNvSpPr/>
          <p:nvPr/>
        </p:nvSpPr>
        <p:spPr>
          <a:xfrm>
            <a:off x="8503919" y="2468879"/>
            <a:ext cx="1280100" cy="12801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pic>
        <p:nvPicPr>
          <p:cNvPr descr="Google Shape;697;p25" id="612" name="Google Shape;612;p26"/>
          <p:cNvPicPr preferRelativeResize="0"/>
          <p:nvPr/>
        </p:nvPicPr>
        <p:blipFill rotWithShape="1">
          <a:blip r:embed="rId3">
            <a:alphaModFix/>
          </a:blip>
          <a:srcRect b="0" l="0" r="0" t="0"/>
          <a:stretch/>
        </p:blipFill>
        <p:spPr>
          <a:xfrm>
            <a:off x="8811158" y="2776117"/>
            <a:ext cx="665684" cy="665684"/>
          </a:xfrm>
          <a:prstGeom prst="rect">
            <a:avLst/>
          </a:prstGeom>
          <a:noFill/>
          <a:ln>
            <a:noFill/>
          </a:ln>
        </p:spPr>
      </p:pic>
      <p:sp>
        <p:nvSpPr>
          <p:cNvPr id="613" name="Google Shape;613;p26"/>
          <p:cNvSpPr txBox="1"/>
          <p:nvPr/>
        </p:nvSpPr>
        <p:spPr>
          <a:xfrm>
            <a:off x="10058400" y="2606039"/>
            <a:ext cx="39318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2200"/>
              <a:buFont typeface="Helvetica Neue"/>
              <a:buNone/>
            </a:pPr>
            <a:r>
              <a:rPr b="1" i="0" lang="en-US" sz="2200" u="none" cap="none" strike="noStrike">
                <a:solidFill>
                  <a:srgbClr val="04243C"/>
                </a:solidFill>
                <a:latin typeface="Helvetica Neue"/>
                <a:ea typeface="Helvetica Neue"/>
                <a:cs typeface="Helvetica Neue"/>
                <a:sym typeface="Helvetica Neue"/>
              </a:rPr>
              <a:t>Reference dataset</a:t>
            </a:r>
            <a:endParaRPr b="0" i="0" sz="1400" u="none" cap="none" strike="noStrike">
              <a:solidFill>
                <a:srgbClr val="000000"/>
              </a:solidFill>
              <a:latin typeface="Arial"/>
              <a:ea typeface="Arial"/>
              <a:cs typeface="Arial"/>
              <a:sym typeface="Arial"/>
            </a:endParaRPr>
          </a:p>
        </p:txBody>
      </p:sp>
      <p:grpSp>
        <p:nvGrpSpPr>
          <p:cNvPr id="614" name="Google Shape;614;p26"/>
          <p:cNvGrpSpPr/>
          <p:nvPr/>
        </p:nvGrpSpPr>
        <p:grpSpPr>
          <a:xfrm>
            <a:off x="10058400" y="3154679"/>
            <a:ext cx="1737300" cy="411600"/>
            <a:chOff x="0" y="0"/>
            <a:chExt cx="1737300" cy="411600"/>
          </a:xfrm>
        </p:grpSpPr>
        <p:sp>
          <p:nvSpPr>
            <p:cNvPr id="615" name="Google Shape;615;p26"/>
            <p:cNvSpPr/>
            <p:nvPr/>
          </p:nvSpPr>
          <p:spPr>
            <a:xfrm>
              <a:off x="0" y="0"/>
              <a:ext cx="1737300" cy="411600"/>
            </a:xfrm>
            <a:prstGeom prst="roundRect">
              <a:avLst>
                <a:gd fmla="val 18000" name="adj"/>
              </a:avLst>
            </a:prstGeom>
            <a:solidFill>
              <a:schemeClr val="accent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26"/>
            <p:cNvSpPr txBox="1"/>
            <p:nvPr/>
          </p:nvSpPr>
          <p:spPr>
            <a:xfrm>
              <a:off x="67399" y="100428"/>
              <a:ext cx="16026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4243C"/>
                </a:buClr>
                <a:buSzPts val="1400"/>
                <a:buFont typeface="Helvetica Neue"/>
                <a:buNone/>
              </a:pPr>
              <a:r>
                <a:rPr b="1" i="0" lang="en-US" sz="1400" u="none" cap="none" strike="noStrike">
                  <a:solidFill>
                    <a:srgbClr val="04243C"/>
                  </a:solidFill>
                  <a:latin typeface="Helvetica Neue"/>
                  <a:ea typeface="Helvetica Neue"/>
                  <a:cs typeface="Helvetica Neue"/>
                  <a:sym typeface="Helvetica Neue"/>
                </a:rPr>
                <a:t>2 of 5 types</a:t>
              </a:r>
              <a:endParaRPr b="0" i="0" sz="1400" u="none" cap="none" strike="noStrike">
                <a:solidFill>
                  <a:srgbClr val="000000"/>
                </a:solidFill>
                <a:latin typeface="Arial"/>
                <a:ea typeface="Arial"/>
                <a:cs typeface="Arial"/>
                <a:sym typeface="Arial"/>
              </a:endParaRPr>
            </a:p>
          </p:txBody>
        </p:sp>
      </p:grpSp>
      <p:sp>
        <p:nvSpPr>
          <p:cNvPr id="617" name="Google Shape;617;p26"/>
          <p:cNvSpPr/>
          <p:nvPr/>
        </p:nvSpPr>
        <p:spPr>
          <a:xfrm>
            <a:off x="13200008" y="4301200"/>
            <a:ext cx="1280100" cy="12801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pic>
        <p:nvPicPr>
          <p:cNvPr descr="Google Shape;701;p25" id="618" name="Google Shape;618;p26"/>
          <p:cNvPicPr preferRelativeResize="0"/>
          <p:nvPr/>
        </p:nvPicPr>
        <p:blipFill rotWithShape="1">
          <a:blip r:embed="rId4">
            <a:alphaModFix/>
          </a:blip>
          <a:srcRect b="0" l="0" r="0" t="0"/>
          <a:stretch/>
        </p:blipFill>
        <p:spPr>
          <a:xfrm>
            <a:off x="13507246" y="4608438"/>
            <a:ext cx="665684" cy="665684"/>
          </a:xfrm>
          <a:prstGeom prst="rect">
            <a:avLst/>
          </a:prstGeom>
          <a:noFill/>
          <a:ln>
            <a:noFill/>
          </a:ln>
        </p:spPr>
      </p:pic>
      <p:sp>
        <p:nvSpPr>
          <p:cNvPr id="619" name="Google Shape;619;p26"/>
          <p:cNvSpPr txBox="1"/>
          <p:nvPr/>
        </p:nvSpPr>
        <p:spPr>
          <a:xfrm>
            <a:off x="14754488" y="4438360"/>
            <a:ext cx="31089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2200"/>
              <a:buFont typeface="Helvetica Neue"/>
              <a:buNone/>
            </a:pPr>
            <a:r>
              <a:rPr b="1" i="0" lang="en-US" sz="2200" u="none" cap="none" strike="noStrike">
                <a:solidFill>
                  <a:srgbClr val="04243C"/>
                </a:solidFill>
                <a:latin typeface="Helvetica Neue"/>
                <a:ea typeface="Helvetica Neue"/>
                <a:cs typeface="Helvetica Neue"/>
                <a:sym typeface="Helvetica Neue"/>
              </a:rPr>
              <a:t>Extraction pipeline</a:t>
            </a:r>
            <a:endParaRPr b="0" i="0" sz="1400" u="none" cap="none" strike="noStrike">
              <a:solidFill>
                <a:srgbClr val="000000"/>
              </a:solidFill>
              <a:latin typeface="Arial"/>
              <a:ea typeface="Arial"/>
              <a:cs typeface="Arial"/>
              <a:sym typeface="Arial"/>
            </a:endParaRPr>
          </a:p>
        </p:txBody>
      </p:sp>
      <p:grpSp>
        <p:nvGrpSpPr>
          <p:cNvPr id="620" name="Google Shape;620;p26"/>
          <p:cNvGrpSpPr/>
          <p:nvPr/>
        </p:nvGrpSpPr>
        <p:grpSpPr>
          <a:xfrm>
            <a:off x="14754488" y="4987001"/>
            <a:ext cx="1737300" cy="411600"/>
            <a:chOff x="0" y="0"/>
            <a:chExt cx="1737300" cy="411600"/>
          </a:xfrm>
        </p:grpSpPr>
        <p:sp>
          <p:nvSpPr>
            <p:cNvPr id="621" name="Google Shape;621;p26"/>
            <p:cNvSpPr/>
            <p:nvPr/>
          </p:nvSpPr>
          <p:spPr>
            <a:xfrm>
              <a:off x="0" y="0"/>
              <a:ext cx="1737300" cy="411600"/>
            </a:xfrm>
            <a:prstGeom prst="roundRect">
              <a:avLst>
                <a:gd fmla="val 18000" name="adj"/>
              </a:avLst>
            </a:prstGeom>
            <a:solidFill>
              <a:schemeClr val="accent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26"/>
            <p:cNvSpPr txBox="1"/>
            <p:nvPr/>
          </p:nvSpPr>
          <p:spPr>
            <a:xfrm>
              <a:off x="67399" y="100428"/>
              <a:ext cx="16026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4243C"/>
                </a:buClr>
                <a:buSzPts val="1400"/>
                <a:buFont typeface="Helvetica Neue"/>
                <a:buNone/>
              </a:pPr>
              <a:r>
                <a:rPr b="1" i="0" lang="en-US" sz="1400" u="none" cap="none" strike="noStrike">
                  <a:solidFill>
                    <a:srgbClr val="04243C"/>
                  </a:solidFill>
                  <a:latin typeface="Helvetica Neue"/>
                  <a:ea typeface="Helvetica Neue"/>
                  <a:cs typeface="Helvetica Neue"/>
                  <a:sym typeface="Helvetica Neue"/>
                </a:rPr>
                <a:t>Tender built</a:t>
              </a:r>
              <a:endParaRPr b="0" i="0" sz="1400" u="none" cap="none" strike="noStrike">
                <a:solidFill>
                  <a:srgbClr val="000000"/>
                </a:solidFill>
                <a:latin typeface="Arial"/>
                <a:ea typeface="Arial"/>
                <a:cs typeface="Arial"/>
                <a:sym typeface="Arial"/>
              </a:endParaRPr>
            </a:p>
          </p:txBody>
        </p:sp>
      </p:grpSp>
      <p:sp>
        <p:nvSpPr>
          <p:cNvPr id="623" name="Google Shape;623;p26"/>
          <p:cNvSpPr/>
          <p:nvPr/>
        </p:nvSpPr>
        <p:spPr>
          <a:xfrm>
            <a:off x="11406261" y="7265958"/>
            <a:ext cx="1280100" cy="12801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pic>
        <p:nvPicPr>
          <p:cNvPr descr="Google Shape;705;p25" id="624" name="Google Shape;624;p26"/>
          <p:cNvPicPr preferRelativeResize="0"/>
          <p:nvPr/>
        </p:nvPicPr>
        <p:blipFill rotWithShape="1">
          <a:blip r:embed="rId5">
            <a:alphaModFix/>
          </a:blip>
          <a:srcRect b="0" l="0" r="0" t="0"/>
          <a:stretch/>
        </p:blipFill>
        <p:spPr>
          <a:xfrm>
            <a:off x="11713499" y="7573196"/>
            <a:ext cx="665684" cy="665684"/>
          </a:xfrm>
          <a:prstGeom prst="rect">
            <a:avLst/>
          </a:prstGeom>
          <a:noFill/>
          <a:ln>
            <a:noFill/>
          </a:ln>
        </p:spPr>
      </p:pic>
      <p:sp>
        <p:nvSpPr>
          <p:cNvPr id="625" name="Google Shape;625;p26"/>
          <p:cNvSpPr txBox="1"/>
          <p:nvPr/>
        </p:nvSpPr>
        <p:spPr>
          <a:xfrm>
            <a:off x="12960742" y="7403117"/>
            <a:ext cx="39318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2200"/>
              <a:buFont typeface="Helvetica Neue"/>
              <a:buNone/>
            </a:pPr>
            <a:r>
              <a:rPr b="1" i="0" lang="en-US" sz="2200" u="none" cap="none" strike="noStrike">
                <a:solidFill>
                  <a:srgbClr val="04243C"/>
                </a:solidFill>
                <a:latin typeface="Helvetica Neue"/>
                <a:ea typeface="Helvetica Neue"/>
                <a:cs typeface="Helvetica Neue"/>
                <a:sym typeface="Helvetica Neue"/>
              </a:rPr>
              <a:t>Evaluation harness</a:t>
            </a:r>
            <a:endParaRPr b="0" i="0" sz="1400" u="none" cap="none" strike="noStrike">
              <a:solidFill>
                <a:srgbClr val="000000"/>
              </a:solidFill>
              <a:latin typeface="Arial"/>
              <a:ea typeface="Arial"/>
              <a:cs typeface="Arial"/>
              <a:sym typeface="Arial"/>
            </a:endParaRPr>
          </a:p>
        </p:txBody>
      </p:sp>
      <p:grpSp>
        <p:nvGrpSpPr>
          <p:cNvPr id="626" name="Google Shape;626;p26"/>
          <p:cNvGrpSpPr/>
          <p:nvPr/>
        </p:nvGrpSpPr>
        <p:grpSpPr>
          <a:xfrm>
            <a:off x="12960742" y="7951758"/>
            <a:ext cx="1737300" cy="411600"/>
            <a:chOff x="0" y="0"/>
            <a:chExt cx="1737300" cy="411600"/>
          </a:xfrm>
        </p:grpSpPr>
        <p:sp>
          <p:nvSpPr>
            <p:cNvPr id="627" name="Google Shape;627;p26"/>
            <p:cNvSpPr/>
            <p:nvPr/>
          </p:nvSpPr>
          <p:spPr>
            <a:xfrm>
              <a:off x="0" y="0"/>
              <a:ext cx="1737300" cy="411600"/>
            </a:xfrm>
            <a:prstGeom prst="roundRect">
              <a:avLst>
                <a:gd fmla="val 18000" name="adj"/>
              </a:avLst>
            </a:prstGeom>
            <a:solidFill>
              <a:schemeClr val="accent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26"/>
            <p:cNvSpPr txBox="1"/>
            <p:nvPr/>
          </p:nvSpPr>
          <p:spPr>
            <a:xfrm>
              <a:off x="67399" y="100428"/>
              <a:ext cx="16026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4243C"/>
                </a:buClr>
                <a:buSzPts val="1400"/>
                <a:buFont typeface="Helvetica Neue"/>
                <a:buNone/>
              </a:pPr>
              <a:r>
                <a:rPr b="1" i="0" lang="en-US" sz="1400" u="none" cap="none" strike="noStrike">
                  <a:solidFill>
                    <a:srgbClr val="04243C"/>
                  </a:solidFill>
                  <a:latin typeface="Helvetica Neue"/>
                  <a:ea typeface="Helvetica Neue"/>
                  <a:cs typeface="Helvetica Neue"/>
                  <a:sym typeface="Helvetica Neue"/>
                </a:rPr>
                <a:t>Designed</a:t>
              </a:r>
              <a:endParaRPr b="0" i="0" sz="1400" u="none" cap="none" strike="noStrike">
                <a:solidFill>
                  <a:srgbClr val="000000"/>
                </a:solidFill>
                <a:latin typeface="Arial"/>
                <a:ea typeface="Arial"/>
                <a:cs typeface="Arial"/>
                <a:sym typeface="Arial"/>
              </a:endParaRPr>
            </a:p>
          </p:txBody>
        </p:sp>
      </p:grpSp>
      <p:sp>
        <p:nvSpPr>
          <p:cNvPr id="629" name="Google Shape;629;p26"/>
          <p:cNvSpPr/>
          <p:nvPr/>
        </p:nvSpPr>
        <p:spPr>
          <a:xfrm>
            <a:off x="5601577" y="7265958"/>
            <a:ext cx="1280100" cy="12801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pic>
        <p:nvPicPr>
          <p:cNvPr descr="Google Shape;709;p25" id="630" name="Google Shape;630;p26"/>
          <p:cNvPicPr preferRelativeResize="0"/>
          <p:nvPr/>
        </p:nvPicPr>
        <p:blipFill rotWithShape="1">
          <a:blip r:embed="rId6">
            <a:alphaModFix/>
          </a:blip>
          <a:srcRect b="0" l="0" r="0" t="0"/>
          <a:stretch/>
        </p:blipFill>
        <p:spPr>
          <a:xfrm>
            <a:off x="5908814" y="7573196"/>
            <a:ext cx="665684" cy="665684"/>
          </a:xfrm>
          <a:prstGeom prst="rect">
            <a:avLst/>
          </a:prstGeom>
          <a:noFill/>
          <a:ln>
            <a:noFill/>
          </a:ln>
        </p:spPr>
      </p:pic>
      <p:sp>
        <p:nvSpPr>
          <p:cNvPr id="631" name="Google Shape;631;p26"/>
          <p:cNvSpPr txBox="1"/>
          <p:nvPr/>
        </p:nvSpPr>
        <p:spPr>
          <a:xfrm>
            <a:off x="1395337" y="7403117"/>
            <a:ext cx="3931800" cy="3387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4243C"/>
              </a:buClr>
              <a:buSzPts val="2200"/>
              <a:buFont typeface="Helvetica Neue"/>
              <a:buNone/>
            </a:pPr>
            <a:r>
              <a:rPr b="1" i="0" lang="en-US" sz="2200" u="none" cap="none" strike="noStrike">
                <a:solidFill>
                  <a:srgbClr val="04243C"/>
                </a:solidFill>
                <a:latin typeface="Helvetica Neue"/>
                <a:ea typeface="Helvetica Neue"/>
                <a:cs typeface="Helvetica Neue"/>
                <a:sym typeface="Helvetica Neue"/>
              </a:rPr>
              <a:t>ROI model</a:t>
            </a:r>
            <a:endParaRPr b="0" i="0" sz="1400" u="none" cap="none" strike="noStrike">
              <a:solidFill>
                <a:srgbClr val="000000"/>
              </a:solidFill>
              <a:latin typeface="Arial"/>
              <a:ea typeface="Arial"/>
              <a:cs typeface="Arial"/>
              <a:sym typeface="Arial"/>
            </a:endParaRPr>
          </a:p>
        </p:txBody>
      </p:sp>
      <p:grpSp>
        <p:nvGrpSpPr>
          <p:cNvPr id="632" name="Google Shape;632;p26"/>
          <p:cNvGrpSpPr/>
          <p:nvPr/>
        </p:nvGrpSpPr>
        <p:grpSpPr>
          <a:xfrm>
            <a:off x="3589897" y="7951758"/>
            <a:ext cx="1737300" cy="411600"/>
            <a:chOff x="0" y="0"/>
            <a:chExt cx="1737300" cy="411600"/>
          </a:xfrm>
        </p:grpSpPr>
        <p:sp>
          <p:nvSpPr>
            <p:cNvPr id="633" name="Google Shape;633;p26"/>
            <p:cNvSpPr/>
            <p:nvPr/>
          </p:nvSpPr>
          <p:spPr>
            <a:xfrm>
              <a:off x="0" y="0"/>
              <a:ext cx="1737300" cy="411600"/>
            </a:xfrm>
            <a:prstGeom prst="roundRect">
              <a:avLst>
                <a:gd fmla="val 18000" name="adj"/>
              </a:avLst>
            </a:prstGeom>
            <a:solidFill>
              <a:schemeClr val="accent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p26"/>
            <p:cNvSpPr txBox="1"/>
            <p:nvPr/>
          </p:nvSpPr>
          <p:spPr>
            <a:xfrm>
              <a:off x="67399" y="100428"/>
              <a:ext cx="16026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4243C"/>
                </a:buClr>
                <a:buSzPts val="1400"/>
                <a:buFont typeface="Helvetica Neue"/>
                <a:buNone/>
              </a:pPr>
              <a:r>
                <a:rPr b="1" i="0" lang="en-US" sz="1400" u="none" cap="none" strike="noStrike">
                  <a:solidFill>
                    <a:srgbClr val="04243C"/>
                  </a:solidFill>
                  <a:latin typeface="Helvetica Neue"/>
                  <a:ea typeface="Helvetica Neue"/>
                  <a:cs typeface="Helvetica Neue"/>
                  <a:sym typeface="Helvetica Neue"/>
                </a:rPr>
                <a:t>Framework v1</a:t>
              </a:r>
              <a:endParaRPr b="0" i="0" sz="1400" u="none" cap="none" strike="noStrike">
                <a:solidFill>
                  <a:srgbClr val="000000"/>
                </a:solidFill>
                <a:latin typeface="Arial"/>
                <a:ea typeface="Arial"/>
                <a:cs typeface="Arial"/>
                <a:sym typeface="Arial"/>
              </a:endParaRPr>
            </a:p>
          </p:txBody>
        </p:sp>
      </p:grpSp>
      <p:sp>
        <p:nvSpPr>
          <p:cNvPr id="635" name="Google Shape;635;p26"/>
          <p:cNvSpPr/>
          <p:nvPr/>
        </p:nvSpPr>
        <p:spPr>
          <a:xfrm>
            <a:off x="3807831" y="4301200"/>
            <a:ext cx="1280100" cy="12801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pic>
        <p:nvPicPr>
          <p:cNvPr descr="Google Shape;713;p25" id="636" name="Google Shape;636;p26"/>
          <p:cNvPicPr preferRelativeResize="0"/>
          <p:nvPr/>
        </p:nvPicPr>
        <p:blipFill rotWithShape="1">
          <a:blip r:embed="rId7">
            <a:alphaModFix/>
          </a:blip>
          <a:srcRect b="0" l="0" r="0" t="0"/>
          <a:stretch/>
        </p:blipFill>
        <p:spPr>
          <a:xfrm>
            <a:off x="4115068" y="4608438"/>
            <a:ext cx="665684" cy="665684"/>
          </a:xfrm>
          <a:prstGeom prst="rect">
            <a:avLst/>
          </a:prstGeom>
          <a:noFill/>
          <a:ln>
            <a:noFill/>
          </a:ln>
        </p:spPr>
      </p:pic>
      <p:sp>
        <p:nvSpPr>
          <p:cNvPr id="637" name="Google Shape;637;p26"/>
          <p:cNvSpPr txBox="1"/>
          <p:nvPr/>
        </p:nvSpPr>
        <p:spPr>
          <a:xfrm>
            <a:off x="424551" y="4438360"/>
            <a:ext cx="3108900" cy="3387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4243C"/>
              </a:buClr>
              <a:buSzPts val="2200"/>
              <a:buFont typeface="Helvetica Neue"/>
              <a:buNone/>
            </a:pPr>
            <a:r>
              <a:rPr b="1" i="0" lang="en-US" sz="2200" u="none" cap="none" strike="noStrike">
                <a:solidFill>
                  <a:srgbClr val="04243C"/>
                </a:solidFill>
                <a:latin typeface="Helvetica Neue"/>
                <a:ea typeface="Helvetica Neue"/>
                <a:cs typeface="Helvetica Neue"/>
                <a:sym typeface="Helvetica Neue"/>
              </a:rPr>
              <a:t>SEC loader</a:t>
            </a:r>
            <a:endParaRPr b="0" i="0" sz="1400" u="none" cap="none" strike="noStrike">
              <a:solidFill>
                <a:srgbClr val="000000"/>
              </a:solidFill>
              <a:latin typeface="Arial"/>
              <a:ea typeface="Arial"/>
              <a:cs typeface="Arial"/>
              <a:sym typeface="Arial"/>
            </a:endParaRPr>
          </a:p>
        </p:txBody>
      </p:sp>
      <p:grpSp>
        <p:nvGrpSpPr>
          <p:cNvPr id="638" name="Google Shape;638;p26"/>
          <p:cNvGrpSpPr/>
          <p:nvPr/>
        </p:nvGrpSpPr>
        <p:grpSpPr>
          <a:xfrm>
            <a:off x="1796151" y="4987001"/>
            <a:ext cx="1737300" cy="411600"/>
            <a:chOff x="0" y="0"/>
            <a:chExt cx="1737300" cy="411600"/>
          </a:xfrm>
        </p:grpSpPr>
        <p:sp>
          <p:nvSpPr>
            <p:cNvPr id="639" name="Google Shape;639;p26"/>
            <p:cNvSpPr/>
            <p:nvPr/>
          </p:nvSpPr>
          <p:spPr>
            <a:xfrm>
              <a:off x="0" y="0"/>
              <a:ext cx="1737300" cy="411600"/>
            </a:xfrm>
            <a:prstGeom prst="roundRect">
              <a:avLst>
                <a:gd fmla="val 18000" name="adj"/>
              </a:avLst>
            </a:prstGeom>
            <a:solidFill>
              <a:schemeClr val="accent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26"/>
            <p:cNvSpPr txBox="1"/>
            <p:nvPr/>
          </p:nvSpPr>
          <p:spPr>
            <a:xfrm>
              <a:off x="67399" y="100428"/>
              <a:ext cx="16026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4243C"/>
                </a:buClr>
                <a:buSzPts val="1400"/>
                <a:buFont typeface="Helvetica Neue"/>
                <a:buNone/>
              </a:pPr>
              <a:r>
                <a:rPr b="1" i="0" lang="en-US" sz="1400" u="none" cap="none" strike="noStrike">
                  <a:solidFill>
                    <a:srgbClr val="04243C"/>
                  </a:solidFill>
                  <a:latin typeface="Helvetica Neue"/>
                  <a:ea typeface="Helvetica Neue"/>
                  <a:cs typeface="Helvetica Neue"/>
                  <a:sym typeface="Helvetica Neue"/>
                </a:rPr>
                <a:t>Built</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pic>
        <p:nvPicPr>
          <p:cNvPr descr="Google Shape;720;p26" id="645" name="Google Shape;645;p27"/>
          <p:cNvPicPr preferRelativeResize="0"/>
          <p:nvPr/>
        </p:nvPicPr>
        <p:blipFill rotWithShape="1">
          <a:blip r:embed="rId3">
            <a:alphaModFix/>
          </a:blip>
          <a:srcRect b="0" l="0" r="0" t="0"/>
          <a:stretch/>
        </p:blipFill>
        <p:spPr>
          <a:xfrm>
            <a:off x="0" y="0"/>
            <a:ext cx="18288000" cy="10287000"/>
          </a:xfrm>
          <a:prstGeom prst="rect">
            <a:avLst/>
          </a:prstGeom>
          <a:noFill/>
          <a:ln>
            <a:noFill/>
          </a:ln>
        </p:spPr>
      </p:pic>
      <p:grpSp>
        <p:nvGrpSpPr>
          <p:cNvPr id="646" name="Google Shape;646;p27"/>
          <p:cNvGrpSpPr/>
          <p:nvPr/>
        </p:nvGrpSpPr>
        <p:grpSpPr>
          <a:xfrm>
            <a:off x="1142997" y="2095499"/>
            <a:ext cx="15668700" cy="3524251"/>
            <a:chOff x="-2" y="-1"/>
            <a:chExt cx="15668700" cy="3524251"/>
          </a:xfrm>
        </p:grpSpPr>
        <p:grpSp>
          <p:nvGrpSpPr>
            <p:cNvPr id="647" name="Google Shape;647;p27"/>
            <p:cNvGrpSpPr/>
            <p:nvPr/>
          </p:nvGrpSpPr>
          <p:grpSpPr>
            <a:xfrm>
              <a:off x="-2" y="-1"/>
              <a:ext cx="15668700" cy="1714500"/>
              <a:chOff x="-1" y="0"/>
              <a:chExt cx="15668700" cy="1714500"/>
            </a:xfrm>
          </p:grpSpPr>
          <p:sp>
            <p:nvSpPr>
              <p:cNvPr id="648" name="Google Shape;648;p27"/>
              <p:cNvSpPr/>
              <p:nvPr/>
            </p:nvSpPr>
            <p:spPr>
              <a:xfrm>
                <a:off x="-1" y="0"/>
                <a:ext cx="15668700" cy="17145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4243C"/>
                  </a:buClr>
                  <a:buSzPts val="10000"/>
                  <a:buFont typeface="Helvetica Neue"/>
                  <a:buNone/>
                </a:pPr>
                <a:r>
                  <a:t/>
                </a:r>
                <a:endParaRPr b="1" i="0" sz="10000" u="none" cap="none" strike="noStrike">
                  <a:solidFill>
                    <a:srgbClr val="04243C"/>
                  </a:solidFill>
                  <a:latin typeface="Helvetica Neue"/>
                  <a:ea typeface="Helvetica Neue"/>
                  <a:cs typeface="Helvetica Neue"/>
                  <a:sym typeface="Helvetica Neue"/>
                </a:endParaRPr>
              </a:p>
            </p:txBody>
          </p:sp>
          <p:sp>
            <p:nvSpPr>
              <p:cNvPr id="649" name="Google Shape;649;p27"/>
              <p:cNvSpPr txBox="1"/>
              <p:nvPr/>
            </p:nvSpPr>
            <p:spPr>
              <a:xfrm>
                <a:off x="-1" y="0"/>
                <a:ext cx="15668700" cy="153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10000"/>
                  <a:buFont typeface="Helvetica Neue"/>
                  <a:buNone/>
                </a:pPr>
                <a:r>
                  <a:rPr b="1" i="0" lang="en-US" sz="10000" u="none" cap="none" strike="noStrike">
                    <a:solidFill>
                      <a:srgbClr val="04243C"/>
                    </a:solidFill>
                    <a:latin typeface="Helvetica Neue"/>
                    <a:ea typeface="Helvetica Neue"/>
                    <a:cs typeface="Helvetica Neue"/>
                    <a:sym typeface="Helvetica Neue"/>
                  </a:rPr>
                  <a:t>Questions?</a:t>
                </a:r>
                <a:endParaRPr b="0" i="0" sz="1400" u="none" cap="none" strike="noStrike">
                  <a:solidFill>
                    <a:srgbClr val="000000"/>
                  </a:solidFill>
                  <a:latin typeface="Arial"/>
                  <a:ea typeface="Arial"/>
                  <a:cs typeface="Arial"/>
                  <a:sym typeface="Arial"/>
                </a:endParaRPr>
              </a:p>
            </p:txBody>
          </p:sp>
        </p:grpSp>
        <p:grpSp>
          <p:nvGrpSpPr>
            <p:cNvPr id="650" name="Google Shape;650;p27"/>
            <p:cNvGrpSpPr/>
            <p:nvPr/>
          </p:nvGrpSpPr>
          <p:grpSpPr>
            <a:xfrm>
              <a:off x="-2" y="1619250"/>
              <a:ext cx="15668700" cy="666900"/>
              <a:chOff x="-1" y="0"/>
              <a:chExt cx="15668700" cy="666900"/>
            </a:xfrm>
          </p:grpSpPr>
          <p:sp>
            <p:nvSpPr>
              <p:cNvPr id="651" name="Google Shape;651;p27"/>
              <p:cNvSpPr/>
              <p:nvPr/>
            </p:nvSpPr>
            <p:spPr>
              <a:xfrm>
                <a:off x="-1" y="0"/>
                <a:ext cx="15668700" cy="6669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3200"/>
                  <a:buFont typeface="Helvetica Neue"/>
                  <a:buNone/>
                </a:pPr>
                <a:r>
                  <a:t/>
                </a:r>
                <a:endParaRPr b="1" i="0" sz="3200" u="none" cap="none" strike="noStrike">
                  <a:solidFill>
                    <a:schemeClr val="accent1"/>
                  </a:solidFill>
                  <a:latin typeface="Helvetica Neue"/>
                  <a:ea typeface="Helvetica Neue"/>
                  <a:cs typeface="Helvetica Neue"/>
                  <a:sym typeface="Helvetica Neue"/>
                </a:endParaRPr>
              </a:p>
            </p:txBody>
          </p:sp>
          <p:sp>
            <p:nvSpPr>
              <p:cNvPr id="652" name="Google Shape;652;p27"/>
              <p:cNvSpPr txBox="1"/>
              <p:nvPr/>
            </p:nvSpPr>
            <p:spPr>
              <a:xfrm>
                <a:off x="-1" y="0"/>
                <a:ext cx="15668700" cy="492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1"/>
                  </a:buClr>
                  <a:buSzPts val="3200"/>
                  <a:buFont typeface="Helvetica Neue"/>
                  <a:buNone/>
                </a:pPr>
                <a:r>
                  <a:rPr b="1" i="0" lang="en-US" sz="3200" u="none" cap="none" strike="noStrike">
                    <a:solidFill>
                      <a:schemeClr val="accent1"/>
                    </a:solidFill>
                    <a:latin typeface="Helvetica Neue"/>
                    <a:ea typeface="Helvetica Neue"/>
                    <a:cs typeface="Helvetica Neue"/>
                    <a:sym typeface="Helvetica Neue"/>
                  </a:rPr>
                  <a:t>Thank you. We are happy to take questions.</a:t>
                </a:r>
                <a:endParaRPr b="0" i="0" sz="1400" u="none" cap="none" strike="noStrike">
                  <a:solidFill>
                    <a:srgbClr val="000000"/>
                  </a:solidFill>
                  <a:latin typeface="Arial"/>
                  <a:ea typeface="Arial"/>
                  <a:cs typeface="Arial"/>
                  <a:sym typeface="Arial"/>
                </a:endParaRPr>
              </a:p>
            </p:txBody>
          </p:sp>
        </p:grpSp>
        <p:sp>
          <p:nvSpPr>
            <p:cNvPr id="653" name="Google Shape;653;p27"/>
            <p:cNvSpPr/>
            <p:nvPr/>
          </p:nvSpPr>
          <p:spPr>
            <a:xfrm>
              <a:off x="0" y="2381250"/>
              <a:ext cx="11430000" cy="11430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75569"/>
                </a:buClr>
                <a:buSzPts val="2000"/>
                <a:buFont typeface="Helvetica Neue"/>
                <a:buNone/>
              </a:pPr>
              <a:r>
                <a:t/>
              </a:r>
              <a:endParaRPr b="0" i="0" sz="2000" u="none" cap="none" strike="noStrike">
                <a:solidFill>
                  <a:srgbClr val="475569"/>
                </a:solidFill>
                <a:latin typeface="Helvetica Neue"/>
                <a:ea typeface="Helvetica Neue"/>
                <a:cs typeface="Helvetica Neue"/>
                <a:sym typeface="Helvetica Neue"/>
              </a:endParaRPr>
            </a:p>
          </p:txBody>
        </p:sp>
      </p:grpSp>
      <p:grpSp>
        <p:nvGrpSpPr>
          <p:cNvPr id="654" name="Google Shape;654;p27"/>
          <p:cNvGrpSpPr/>
          <p:nvPr/>
        </p:nvGrpSpPr>
        <p:grpSpPr>
          <a:xfrm>
            <a:off x="1143000" y="7696200"/>
            <a:ext cx="14363700" cy="952500"/>
            <a:chOff x="0" y="0"/>
            <a:chExt cx="14363700" cy="952500"/>
          </a:xfrm>
        </p:grpSpPr>
        <p:sp>
          <p:nvSpPr>
            <p:cNvPr id="655" name="Google Shape;655;p27"/>
            <p:cNvSpPr/>
            <p:nvPr/>
          </p:nvSpPr>
          <p:spPr>
            <a:xfrm>
              <a:off x="0" y="0"/>
              <a:ext cx="14363700" cy="9525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4243C"/>
                </a:buClr>
                <a:buSzPts val="1800"/>
                <a:buFont typeface="Helvetica Neue"/>
                <a:buNone/>
              </a:pPr>
              <a:r>
                <a:t/>
              </a:r>
              <a:endParaRPr b="1" i="0" sz="1800" u="none" cap="none" strike="noStrike">
                <a:solidFill>
                  <a:srgbClr val="04243C"/>
                </a:solidFill>
                <a:latin typeface="Helvetica Neue"/>
                <a:ea typeface="Helvetica Neue"/>
                <a:cs typeface="Helvetica Neue"/>
                <a:sym typeface="Helvetica Neue"/>
              </a:endParaRPr>
            </a:p>
          </p:txBody>
        </p:sp>
        <p:sp>
          <p:nvSpPr>
            <p:cNvPr id="656" name="Google Shape;656;p27"/>
            <p:cNvSpPr txBox="1"/>
            <p:nvPr/>
          </p:nvSpPr>
          <p:spPr>
            <a:xfrm>
              <a:off x="0" y="0"/>
              <a:ext cx="14363700" cy="60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1800"/>
                <a:buFont typeface="Helvetica Neue"/>
                <a:buNone/>
              </a:pPr>
              <a:r>
                <a:rPr b="1" i="0" lang="en-US" sz="1800" u="none" cap="none" strike="noStrike">
                  <a:solidFill>
                    <a:srgbClr val="04243C"/>
                  </a:solidFill>
                  <a:latin typeface="Helvetica Neue"/>
                  <a:ea typeface="Helvetica Neue"/>
                  <a:cs typeface="Helvetica Neue"/>
                  <a:sym typeface="Helvetica Neue"/>
                </a:rPr>
                <a:t>Corporate Action Intelligence Team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475569"/>
                </a:buClr>
                <a:buSzPts val="1800"/>
                <a:buFont typeface="Helvetica Neue"/>
                <a:buNone/>
              </a:pPr>
              <a:r>
                <a:rPr b="0" i="0" lang="en-US" sz="1800" u="none" cap="none" strike="noStrike">
                  <a:solidFill>
                    <a:srgbClr val="475569"/>
                  </a:solidFill>
                  <a:latin typeface="Helvetica Neue"/>
                  <a:ea typeface="Helvetica Neue"/>
                  <a:cs typeface="Helvetica Neue"/>
                  <a:sym typeface="Helvetica Neue"/>
                </a:rPr>
                <a:t>Aesha Gandhi, Pranshul Bhatnagar, Alex Li, Kedar Vaidya, Aaron Jiang</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61" name="Shape 661"/>
        <p:cNvGrpSpPr/>
        <p:nvPr/>
      </p:nvGrpSpPr>
      <p:grpSpPr>
        <a:xfrm>
          <a:off x="0" y="0"/>
          <a:ext cx="0" cy="0"/>
          <a:chOff x="0" y="0"/>
          <a:chExt cx="0" cy="0"/>
        </a:xfrm>
      </p:grpSpPr>
      <p:sp>
        <p:nvSpPr>
          <p:cNvPr id="662" name="Google Shape;662;p28"/>
          <p:cNvSpPr txBox="1"/>
          <p:nvPr>
            <p:ph type="title"/>
          </p:nvPr>
        </p:nvSpPr>
        <p:spPr>
          <a:xfrm>
            <a:off x="822960" y="3931920"/>
            <a:ext cx="12801600" cy="1463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6000"/>
              <a:buNone/>
            </a:pPr>
            <a:r>
              <a:rPr lang="en-US"/>
              <a:t>Appendix</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66" name="Shape 666"/>
        <p:cNvGrpSpPr/>
        <p:nvPr/>
      </p:nvGrpSpPr>
      <p:grpSpPr>
        <a:xfrm>
          <a:off x="0" y="0"/>
          <a:ext cx="0" cy="0"/>
          <a:chOff x="0" y="0"/>
          <a:chExt cx="0" cy="0"/>
        </a:xfrm>
      </p:grpSpPr>
      <p:sp>
        <p:nvSpPr>
          <p:cNvPr id="667" name="Google Shape;667;p29"/>
          <p:cNvSpPr txBox="1"/>
          <p:nvPr>
            <p:ph type="title"/>
          </p:nvPr>
        </p:nvSpPr>
        <p:spPr>
          <a:xfrm>
            <a:off x="822959" y="960119"/>
            <a:ext cx="16642200" cy="822900"/>
          </a:xfrm>
          <a:prstGeom prst="rect">
            <a:avLst/>
          </a:prstGeom>
          <a:noFill/>
          <a:ln>
            <a:noFill/>
          </a:ln>
        </p:spPr>
        <p:txBody>
          <a:bodyPr anchorCtr="0" anchor="t" bIns="45675" lIns="45675" spcFirstLastPara="1" rIns="45675" wrap="square" tIns="45675">
            <a:normAutofit/>
          </a:bodyPr>
          <a:lstStyle/>
          <a:p>
            <a:pPr indent="0" lvl="0" marL="0" rtl="0" algn="l">
              <a:lnSpc>
                <a:spcPct val="100000"/>
              </a:lnSpc>
              <a:spcBef>
                <a:spcPts val="0"/>
              </a:spcBef>
              <a:spcAft>
                <a:spcPts val="0"/>
              </a:spcAft>
              <a:buClr>
                <a:srgbClr val="04243C"/>
              </a:buClr>
              <a:buSzPts val="3600"/>
              <a:buFont typeface="Helvetica Neue"/>
              <a:buNone/>
            </a:pPr>
            <a:r>
              <a:rPr b="1" lang="en-US" sz="3600">
                <a:solidFill>
                  <a:srgbClr val="04243C"/>
                </a:solidFill>
                <a:latin typeface="Helvetica Neue"/>
                <a:ea typeface="Helvetica Neue"/>
                <a:cs typeface="Helvetica Neue"/>
                <a:sym typeface="Helvetica Neue"/>
              </a:rPr>
              <a:t>The LLM finds core deal terms in roughly 80–100% of records</a:t>
            </a:r>
            <a:endParaRPr/>
          </a:p>
        </p:txBody>
      </p:sp>
      <p:sp>
        <p:nvSpPr>
          <p:cNvPr id="668" name="Google Shape;668;p29"/>
          <p:cNvSpPr txBox="1"/>
          <p:nvPr>
            <p:ph idx="4294967295" type="sldNum"/>
          </p:nvPr>
        </p:nvSpPr>
        <p:spPr>
          <a:xfrm>
            <a:off x="17191470" y="9646919"/>
            <a:ext cx="273600" cy="276900"/>
          </a:xfrm>
          <a:prstGeom prst="rect">
            <a:avLst/>
          </a:prstGeom>
          <a:noFill/>
          <a:ln>
            <a:noFill/>
          </a:ln>
        </p:spPr>
        <p:txBody>
          <a:bodyPr anchorCtr="0" anchor="t" bIns="45675" lIns="45675" spcFirstLastPara="1" rIns="45675" wrap="square" tIns="45675">
            <a:spAutoFit/>
          </a:bodyPr>
          <a:lstStyle/>
          <a:p>
            <a:pPr indent="0" lvl="0" marL="0" rtl="0" algn="r">
              <a:lnSpc>
                <a:spcPct val="100000"/>
              </a:lnSpc>
              <a:spcBef>
                <a:spcPts val="0"/>
              </a:spcBef>
              <a:spcAft>
                <a:spcPts val="0"/>
              </a:spcAft>
              <a:buClr>
                <a:srgbClr val="475569"/>
              </a:buClr>
              <a:buSzPts val="1200"/>
              <a:buFont typeface="Helvetica Neue"/>
              <a:buNone/>
            </a:pPr>
            <a:fld id="{00000000-1234-1234-1234-123412341234}" type="slidenum">
              <a:rPr lang="en-US" sz="1200">
                <a:solidFill>
                  <a:srgbClr val="475569"/>
                </a:solidFill>
                <a:latin typeface="Helvetica Neue"/>
                <a:ea typeface="Helvetica Neue"/>
                <a:cs typeface="Helvetica Neue"/>
                <a:sym typeface="Helvetica Neue"/>
              </a:rPr>
              <a:t>‹#›</a:t>
            </a:fld>
            <a:endParaRPr/>
          </a:p>
        </p:txBody>
      </p:sp>
      <p:sp>
        <p:nvSpPr>
          <p:cNvPr id="669" name="Google Shape;669;p29"/>
          <p:cNvSpPr/>
          <p:nvPr/>
        </p:nvSpPr>
        <p:spPr>
          <a:xfrm>
            <a:off x="822960" y="2194560"/>
            <a:ext cx="10789800" cy="6949500"/>
          </a:xfrm>
          <a:prstGeom prst="roundRect">
            <a:avLst>
              <a:gd fmla="val 5921" name="adj"/>
            </a:avLst>
          </a:prstGeom>
          <a:solidFill>
            <a:srgbClr val="FFFFFF"/>
          </a:solidFill>
          <a:ln cap="flat" cmpd="sng" w="19050">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pic>
        <p:nvPicPr>
          <p:cNvPr descr="Google Shape;592;p21" id="670" name="Google Shape;670;p29"/>
          <p:cNvPicPr preferRelativeResize="0"/>
          <p:nvPr/>
        </p:nvPicPr>
        <p:blipFill rotWithShape="1">
          <a:blip r:embed="rId3">
            <a:alphaModFix/>
          </a:blip>
          <a:srcRect b="0" l="0" r="0" t="0"/>
          <a:stretch/>
        </p:blipFill>
        <p:spPr>
          <a:xfrm>
            <a:off x="1097280" y="2468878"/>
            <a:ext cx="10241279" cy="6400800"/>
          </a:xfrm>
          <a:prstGeom prst="rect">
            <a:avLst/>
          </a:prstGeom>
          <a:noFill/>
          <a:ln>
            <a:noFill/>
          </a:ln>
        </p:spPr>
      </p:pic>
      <p:sp>
        <p:nvSpPr>
          <p:cNvPr id="671" name="Google Shape;671;p29"/>
          <p:cNvSpPr/>
          <p:nvPr/>
        </p:nvSpPr>
        <p:spPr>
          <a:xfrm>
            <a:off x="11887200" y="2194560"/>
            <a:ext cx="5577900" cy="6949500"/>
          </a:xfrm>
          <a:prstGeom prst="roundRect">
            <a:avLst>
              <a:gd fmla="val 7377" name="adj"/>
            </a:avLst>
          </a:prstGeom>
          <a:solidFill>
            <a:srgbClr val="FFFFFF"/>
          </a:solidFill>
          <a:ln cap="flat" cmpd="sng" w="19050">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672" name="Google Shape;672;p29"/>
          <p:cNvSpPr txBox="1"/>
          <p:nvPr/>
        </p:nvSpPr>
        <p:spPr>
          <a:xfrm>
            <a:off x="12252959" y="2560320"/>
            <a:ext cx="4846200" cy="4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243C"/>
              </a:buClr>
              <a:buSzPts val="2600"/>
              <a:buFont typeface="Helvetica Neue"/>
              <a:buNone/>
            </a:pPr>
            <a:r>
              <a:rPr b="1" i="0" lang="en-US" sz="2600" u="none" cap="none" strike="noStrike">
                <a:solidFill>
                  <a:srgbClr val="04243C"/>
                </a:solidFill>
                <a:latin typeface="Helvetica Neue"/>
                <a:ea typeface="Helvetica Neue"/>
                <a:cs typeface="Helvetica Neue"/>
                <a:sym typeface="Helvetica Neue"/>
              </a:rPr>
              <a:t>What this shows</a:t>
            </a:r>
            <a:endParaRPr/>
          </a:p>
        </p:txBody>
      </p:sp>
      <p:sp>
        <p:nvSpPr>
          <p:cNvPr id="673" name="Google Shape;673;p29"/>
          <p:cNvSpPr txBox="1"/>
          <p:nvPr/>
        </p:nvSpPr>
        <p:spPr>
          <a:xfrm>
            <a:off x="12252959" y="3566159"/>
            <a:ext cx="4846200" cy="4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1"/>
              </a:buClr>
              <a:buSzPts val="2600"/>
              <a:buFont typeface="Helvetica Neue"/>
              <a:buNone/>
            </a:pPr>
            <a:r>
              <a:rPr b="1" i="0" lang="en-US" sz="2600" u="none" cap="none" strike="noStrike">
                <a:solidFill>
                  <a:schemeClr val="accent1"/>
                </a:solidFill>
                <a:latin typeface="Helvetica Neue"/>
                <a:ea typeface="Helvetica Neue"/>
                <a:cs typeface="Helvetica Neue"/>
                <a:sym typeface="Helvetica Neue"/>
              </a:rPr>
              <a:t>79–100%</a:t>
            </a:r>
            <a:endParaRPr/>
          </a:p>
        </p:txBody>
      </p:sp>
      <p:sp>
        <p:nvSpPr>
          <p:cNvPr id="674" name="Google Shape;674;p29"/>
          <p:cNvSpPr txBox="1"/>
          <p:nvPr/>
        </p:nvSpPr>
        <p:spPr>
          <a:xfrm>
            <a:off x="12252959" y="4160520"/>
            <a:ext cx="48462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475569"/>
              </a:buClr>
              <a:buSzPts val="2000"/>
              <a:buFont typeface="Helvetica Neue"/>
              <a:buNone/>
            </a:pPr>
            <a:r>
              <a:rPr b="0" i="0" lang="en-US" sz="2000" u="none" cap="none" strike="noStrike">
                <a:solidFill>
                  <a:srgbClr val="475569"/>
                </a:solidFill>
                <a:latin typeface="Helvetica Neue"/>
                <a:ea typeface="Helvetica Neue"/>
                <a:cs typeface="Helvetica Neue"/>
                <a:sym typeface="Helvetica Neue"/>
              </a:rPr>
              <a:t>core terms filled: parties, price, dates</a:t>
            </a:r>
            <a:endParaRPr/>
          </a:p>
        </p:txBody>
      </p:sp>
      <p:sp>
        <p:nvSpPr>
          <p:cNvPr id="675" name="Google Shape;675;p29"/>
          <p:cNvSpPr txBox="1"/>
          <p:nvPr/>
        </p:nvSpPr>
        <p:spPr>
          <a:xfrm>
            <a:off x="12252959" y="5394959"/>
            <a:ext cx="4846200" cy="4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1"/>
              </a:buClr>
              <a:buSzPts val="2600"/>
              <a:buFont typeface="Helvetica Neue"/>
              <a:buNone/>
            </a:pPr>
            <a:r>
              <a:rPr b="1" i="0" lang="en-US" sz="2600" u="none" cap="none" strike="noStrike">
                <a:solidFill>
                  <a:schemeClr val="accent1"/>
                </a:solidFill>
                <a:latin typeface="Helvetica Neue"/>
                <a:ea typeface="Helvetica Neue"/>
                <a:cs typeface="Helvetica Neue"/>
                <a:sym typeface="Helvetica Neue"/>
              </a:rPr>
              <a:t>Low ≠ failure</a:t>
            </a:r>
            <a:endParaRPr/>
          </a:p>
        </p:txBody>
      </p:sp>
      <p:sp>
        <p:nvSpPr>
          <p:cNvPr id="676" name="Google Shape;676;p29"/>
          <p:cNvSpPr txBox="1"/>
          <p:nvPr/>
        </p:nvSpPr>
        <p:spPr>
          <a:xfrm>
            <a:off x="12252959" y="5989320"/>
            <a:ext cx="48462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475569"/>
              </a:buClr>
              <a:buSzPts val="2000"/>
              <a:buFont typeface="Helvetica Neue"/>
              <a:buNone/>
            </a:pPr>
            <a:r>
              <a:rPr b="0" i="0" lang="en-US" sz="2000" u="none" cap="none" strike="noStrike">
                <a:solidFill>
                  <a:srgbClr val="475569"/>
                </a:solidFill>
                <a:latin typeface="Helvetica Neue"/>
                <a:ea typeface="Helvetica Neue"/>
                <a:cs typeface="Helvetica Neue"/>
                <a:sym typeface="Helvetica Neue"/>
              </a:rPr>
              <a:t>many terms do not apply to every deal</a:t>
            </a:r>
            <a:endParaRPr/>
          </a:p>
        </p:txBody>
      </p:sp>
      <p:sp>
        <p:nvSpPr>
          <p:cNvPr id="677" name="Google Shape;677;p29"/>
          <p:cNvSpPr txBox="1"/>
          <p:nvPr/>
        </p:nvSpPr>
        <p:spPr>
          <a:xfrm>
            <a:off x="12252959" y="7223759"/>
            <a:ext cx="4846200" cy="4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1"/>
              </a:buClr>
              <a:buSzPts val="2600"/>
              <a:buFont typeface="Helvetica Neue"/>
              <a:buNone/>
            </a:pPr>
            <a:r>
              <a:rPr b="1" i="0" lang="en-US" sz="2600" u="none" cap="none" strike="noStrike">
                <a:solidFill>
                  <a:schemeClr val="accent1"/>
                </a:solidFill>
                <a:latin typeface="Helvetica Neue"/>
                <a:ea typeface="Helvetica Neue"/>
                <a:cs typeface="Helvetica Neue"/>
                <a:sym typeface="Helvetica Neue"/>
              </a:rPr>
              <a:t>Found ≠ correct</a:t>
            </a:r>
            <a:endParaRPr/>
          </a:p>
        </p:txBody>
      </p:sp>
      <p:sp>
        <p:nvSpPr>
          <p:cNvPr id="678" name="Google Shape;678;p29"/>
          <p:cNvSpPr txBox="1"/>
          <p:nvPr/>
        </p:nvSpPr>
        <p:spPr>
          <a:xfrm>
            <a:off x="12252959" y="7818119"/>
            <a:ext cx="48462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475569"/>
              </a:buClr>
              <a:buSzPts val="2000"/>
              <a:buFont typeface="Helvetica Neue"/>
              <a:buNone/>
            </a:pPr>
            <a:r>
              <a:rPr b="0" i="0" lang="en-US" sz="2000" u="none" cap="none" strike="noStrike">
                <a:solidFill>
                  <a:srgbClr val="475569"/>
                </a:solidFill>
                <a:latin typeface="Helvetica Neue"/>
                <a:ea typeface="Helvetica Neue"/>
                <a:cs typeface="Helvetica Neue"/>
                <a:sym typeface="Helvetica Neue"/>
              </a:rPr>
              <a:t>human review comes next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682" name="Shape 682"/>
        <p:cNvGrpSpPr/>
        <p:nvPr/>
      </p:nvGrpSpPr>
      <p:grpSpPr>
        <a:xfrm>
          <a:off x="0" y="0"/>
          <a:ext cx="0" cy="0"/>
          <a:chOff x="0" y="0"/>
          <a:chExt cx="0" cy="0"/>
        </a:xfrm>
      </p:grpSpPr>
      <p:sp>
        <p:nvSpPr>
          <p:cNvPr id="683" name="Google Shape;683;p30"/>
          <p:cNvSpPr/>
          <p:nvPr/>
        </p:nvSpPr>
        <p:spPr>
          <a:xfrm>
            <a:off x="857250" y="1973985"/>
            <a:ext cx="16573500" cy="1793700"/>
          </a:xfrm>
          <a:prstGeom prst="roundRect">
            <a:avLst>
              <a:gd fmla="val 7966" name="adj"/>
            </a:avLst>
          </a:prstGeom>
          <a:solidFill>
            <a:srgbClr val="FFFFFF"/>
          </a:solidFill>
          <a:ln>
            <a:noFill/>
          </a:ln>
        </p:spPr>
        <p:txBody>
          <a:bodyPr anchorCtr="0" anchor="ctr" bIns="68550" lIns="137150" spcFirstLastPara="1" rIns="137150" wrap="square" tIns="6855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Helvetica Neue"/>
              <a:ea typeface="Helvetica Neue"/>
              <a:cs typeface="Helvetica Neue"/>
              <a:sym typeface="Helvetica Neue"/>
            </a:endParaRPr>
          </a:p>
        </p:txBody>
      </p:sp>
      <p:sp>
        <p:nvSpPr>
          <p:cNvPr id="684" name="Google Shape;684;p30"/>
          <p:cNvSpPr/>
          <p:nvPr/>
        </p:nvSpPr>
        <p:spPr>
          <a:xfrm>
            <a:off x="857250" y="1993424"/>
            <a:ext cx="16573500" cy="57000"/>
          </a:xfrm>
          <a:prstGeom prst="rect">
            <a:avLst/>
          </a:prstGeom>
          <a:solidFill>
            <a:srgbClr val="07203B"/>
          </a:solidFill>
          <a:ln>
            <a:noFill/>
          </a:ln>
        </p:spPr>
        <p:txBody>
          <a:bodyPr anchorCtr="0" anchor="ctr" bIns="68550" lIns="137150" spcFirstLastPara="1" rIns="137150" wrap="square" tIns="6855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Helvetica Neue"/>
              <a:ea typeface="Helvetica Neue"/>
              <a:cs typeface="Helvetica Neue"/>
              <a:sym typeface="Helvetica Neue"/>
            </a:endParaRPr>
          </a:p>
        </p:txBody>
      </p:sp>
      <p:sp>
        <p:nvSpPr>
          <p:cNvPr id="685" name="Google Shape;685;p30"/>
          <p:cNvSpPr/>
          <p:nvPr/>
        </p:nvSpPr>
        <p:spPr>
          <a:xfrm>
            <a:off x="7170538" y="2288310"/>
            <a:ext cx="4815900" cy="1222200"/>
          </a:xfrm>
          <a:prstGeom prst="roundRect">
            <a:avLst>
              <a:gd fmla="val 4676" name="adj"/>
            </a:avLst>
          </a:prstGeom>
          <a:solidFill>
            <a:srgbClr val="F8FAFC"/>
          </a:solidFill>
          <a:ln>
            <a:noFill/>
          </a:ln>
        </p:spPr>
        <p:txBody>
          <a:bodyPr anchorCtr="0" anchor="ctr" bIns="68550" lIns="137150" spcFirstLastPara="1" rIns="137150" wrap="square" tIns="6855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Helvetica Neue"/>
              <a:ea typeface="Helvetica Neue"/>
              <a:cs typeface="Helvetica Neue"/>
              <a:sym typeface="Helvetica Neue"/>
            </a:endParaRPr>
          </a:p>
        </p:txBody>
      </p:sp>
      <p:sp>
        <p:nvSpPr>
          <p:cNvPr id="686" name="Google Shape;686;p30"/>
          <p:cNvSpPr/>
          <p:nvPr/>
        </p:nvSpPr>
        <p:spPr>
          <a:xfrm>
            <a:off x="12272069" y="2288310"/>
            <a:ext cx="4815900" cy="1222200"/>
          </a:xfrm>
          <a:prstGeom prst="roundRect">
            <a:avLst>
              <a:gd fmla="val 4676" name="adj"/>
            </a:avLst>
          </a:prstGeom>
          <a:solidFill>
            <a:srgbClr val="F8FAFC"/>
          </a:solidFill>
          <a:ln>
            <a:noFill/>
          </a:ln>
        </p:spPr>
        <p:txBody>
          <a:bodyPr anchorCtr="0" anchor="ctr" bIns="68550" lIns="137150" spcFirstLastPara="1" rIns="137150" wrap="square" tIns="6855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Helvetica Neue"/>
              <a:ea typeface="Helvetica Neue"/>
              <a:cs typeface="Helvetica Neue"/>
              <a:sym typeface="Helvetica Neue"/>
            </a:endParaRPr>
          </a:p>
        </p:txBody>
      </p:sp>
      <p:sp>
        <p:nvSpPr>
          <p:cNvPr id="687" name="Google Shape;687;p30"/>
          <p:cNvSpPr/>
          <p:nvPr/>
        </p:nvSpPr>
        <p:spPr>
          <a:xfrm>
            <a:off x="857250" y="4667626"/>
            <a:ext cx="16573500" cy="2210100"/>
          </a:xfrm>
          <a:prstGeom prst="roundRect">
            <a:avLst>
              <a:gd fmla="val 6464" name="adj"/>
            </a:avLst>
          </a:prstGeom>
          <a:solidFill>
            <a:srgbClr val="FFFFFF"/>
          </a:solidFill>
          <a:ln>
            <a:noFill/>
          </a:ln>
        </p:spPr>
        <p:txBody>
          <a:bodyPr anchorCtr="0" anchor="ctr" bIns="68550" lIns="137150" spcFirstLastPara="1" rIns="137150" wrap="square" tIns="6855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Helvetica Neue"/>
              <a:ea typeface="Helvetica Neue"/>
              <a:cs typeface="Helvetica Neue"/>
              <a:sym typeface="Helvetica Neue"/>
            </a:endParaRPr>
          </a:p>
        </p:txBody>
      </p:sp>
      <p:sp>
        <p:nvSpPr>
          <p:cNvPr id="688" name="Google Shape;688;p30"/>
          <p:cNvSpPr/>
          <p:nvPr/>
        </p:nvSpPr>
        <p:spPr>
          <a:xfrm>
            <a:off x="857250" y="7077748"/>
            <a:ext cx="16573500" cy="2210100"/>
          </a:xfrm>
          <a:prstGeom prst="roundRect">
            <a:avLst>
              <a:gd fmla="val 6464" name="adj"/>
            </a:avLst>
          </a:prstGeom>
          <a:solidFill>
            <a:srgbClr val="FFFFFF"/>
          </a:solidFill>
          <a:ln>
            <a:noFill/>
          </a:ln>
        </p:spPr>
        <p:txBody>
          <a:bodyPr anchorCtr="0" anchor="ctr" bIns="68550" lIns="137150" spcFirstLastPara="1" rIns="137150" wrap="square" tIns="6855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Helvetica Neue"/>
              <a:ea typeface="Helvetica Neue"/>
              <a:cs typeface="Helvetica Neue"/>
              <a:sym typeface="Helvetica Neue"/>
            </a:endParaRPr>
          </a:p>
        </p:txBody>
      </p:sp>
      <p:sp>
        <p:nvSpPr>
          <p:cNvPr id="689" name="Google Shape;689;p30"/>
          <p:cNvSpPr/>
          <p:nvPr/>
        </p:nvSpPr>
        <p:spPr>
          <a:xfrm>
            <a:off x="7170538" y="2288310"/>
            <a:ext cx="42900" cy="1222200"/>
          </a:xfrm>
          <a:prstGeom prst="rect">
            <a:avLst/>
          </a:prstGeom>
          <a:solidFill>
            <a:srgbClr val="1692A4"/>
          </a:solidFill>
          <a:ln>
            <a:noFill/>
          </a:ln>
        </p:spPr>
        <p:txBody>
          <a:bodyPr anchorCtr="0" anchor="ctr" bIns="68550" lIns="137150" spcFirstLastPara="1" rIns="137150" wrap="square" tIns="6855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Helvetica Neue"/>
              <a:ea typeface="Helvetica Neue"/>
              <a:cs typeface="Helvetica Neue"/>
              <a:sym typeface="Helvetica Neue"/>
            </a:endParaRPr>
          </a:p>
        </p:txBody>
      </p:sp>
      <p:sp>
        <p:nvSpPr>
          <p:cNvPr id="690" name="Google Shape;690;p30"/>
          <p:cNvSpPr/>
          <p:nvPr/>
        </p:nvSpPr>
        <p:spPr>
          <a:xfrm>
            <a:off x="12272069" y="2288310"/>
            <a:ext cx="42900" cy="1222200"/>
          </a:xfrm>
          <a:prstGeom prst="rect">
            <a:avLst/>
          </a:prstGeom>
          <a:solidFill>
            <a:srgbClr val="1692A4"/>
          </a:solidFill>
          <a:ln>
            <a:noFill/>
          </a:ln>
        </p:spPr>
        <p:txBody>
          <a:bodyPr anchorCtr="0" anchor="ctr" bIns="68550" lIns="137150" spcFirstLastPara="1" rIns="137150" wrap="square" tIns="6855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Helvetica Neue"/>
              <a:ea typeface="Helvetica Neue"/>
              <a:cs typeface="Helvetica Neue"/>
              <a:sym typeface="Helvetica Neue"/>
            </a:endParaRPr>
          </a:p>
        </p:txBody>
      </p:sp>
      <p:sp>
        <p:nvSpPr>
          <p:cNvPr id="691" name="Google Shape;691;p30"/>
          <p:cNvSpPr/>
          <p:nvPr/>
        </p:nvSpPr>
        <p:spPr>
          <a:xfrm>
            <a:off x="857250" y="4667626"/>
            <a:ext cx="16573500" cy="57000"/>
          </a:xfrm>
          <a:prstGeom prst="rect">
            <a:avLst/>
          </a:prstGeom>
          <a:solidFill>
            <a:srgbClr val="07203B"/>
          </a:solidFill>
          <a:ln>
            <a:noFill/>
          </a:ln>
        </p:spPr>
        <p:txBody>
          <a:bodyPr anchorCtr="0" anchor="ctr" bIns="68550" lIns="137150" spcFirstLastPara="1" rIns="137150" wrap="square" tIns="6855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Helvetica Neue"/>
              <a:ea typeface="Helvetica Neue"/>
              <a:cs typeface="Helvetica Neue"/>
              <a:sym typeface="Helvetica Neue"/>
            </a:endParaRPr>
          </a:p>
        </p:txBody>
      </p:sp>
      <p:sp>
        <p:nvSpPr>
          <p:cNvPr id="692" name="Google Shape;692;p30"/>
          <p:cNvSpPr/>
          <p:nvPr/>
        </p:nvSpPr>
        <p:spPr>
          <a:xfrm>
            <a:off x="857250" y="7077748"/>
            <a:ext cx="16573500" cy="57000"/>
          </a:xfrm>
          <a:prstGeom prst="rect">
            <a:avLst/>
          </a:prstGeom>
          <a:solidFill>
            <a:srgbClr val="1692A4"/>
          </a:solidFill>
          <a:ln>
            <a:noFill/>
          </a:ln>
        </p:spPr>
        <p:txBody>
          <a:bodyPr anchorCtr="0" anchor="ctr" bIns="68550" lIns="137150" spcFirstLastPara="1" rIns="137150" wrap="square" tIns="6855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Helvetica Neue"/>
              <a:ea typeface="Helvetica Neue"/>
              <a:cs typeface="Helvetica Neue"/>
              <a:sym typeface="Helvetica Neue"/>
            </a:endParaRPr>
          </a:p>
        </p:txBody>
      </p:sp>
      <p:sp>
        <p:nvSpPr>
          <p:cNvPr id="693" name="Google Shape;693;p30"/>
          <p:cNvSpPr/>
          <p:nvPr/>
        </p:nvSpPr>
        <p:spPr>
          <a:xfrm>
            <a:off x="13773150" y="5423892"/>
            <a:ext cx="3314700" cy="257400"/>
          </a:xfrm>
          <a:prstGeom prst="roundRect">
            <a:avLst>
              <a:gd fmla="val 22222" name="adj"/>
            </a:avLst>
          </a:prstGeom>
          <a:solidFill>
            <a:srgbClr val="F1F5F9"/>
          </a:solidFill>
          <a:ln>
            <a:noFill/>
          </a:ln>
        </p:spPr>
        <p:txBody>
          <a:bodyPr anchorCtr="0" anchor="ctr" bIns="68550" lIns="137150" spcFirstLastPara="1" rIns="137150" wrap="square" tIns="6855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Helvetica Neue"/>
              <a:ea typeface="Helvetica Neue"/>
              <a:cs typeface="Helvetica Neue"/>
              <a:sym typeface="Helvetica Neue"/>
            </a:endParaRPr>
          </a:p>
        </p:txBody>
      </p:sp>
      <p:sp>
        <p:nvSpPr>
          <p:cNvPr id="694" name="Google Shape;694;p30"/>
          <p:cNvSpPr/>
          <p:nvPr/>
        </p:nvSpPr>
        <p:spPr>
          <a:xfrm>
            <a:off x="1200150" y="5439151"/>
            <a:ext cx="5001000" cy="1210200"/>
          </a:xfrm>
          <a:prstGeom prst="roundRect">
            <a:avLst>
              <a:gd fmla="val 7084" name="adj"/>
            </a:avLst>
          </a:prstGeom>
          <a:solidFill>
            <a:srgbClr val="F8FAFC"/>
          </a:solidFill>
          <a:ln cap="flat" cmpd="sng" w="14300">
            <a:solidFill>
              <a:srgbClr val="E2E8F0"/>
            </a:solidFill>
            <a:prstDash val="solid"/>
            <a:round/>
            <a:headEnd len="sm" w="sm" type="none"/>
            <a:tailEnd len="sm" w="sm" type="none"/>
          </a:ln>
        </p:spPr>
        <p:txBody>
          <a:bodyPr anchorCtr="0" anchor="ctr" bIns="68550" lIns="137150" spcFirstLastPara="1" rIns="137150" wrap="square" tIns="6855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Helvetica Neue"/>
              <a:ea typeface="Helvetica Neue"/>
              <a:cs typeface="Helvetica Neue"/>
              <a:sym typeface="Helvetica Neue"/>
            </a:endParaRPr>
          </a:p>
        </p:txBody>
      </p:sp>
      <p:sp>
        <p:nvSpPr>
          <p:cNvPr id="695" name="Google Shape;695;p30"/>
          <p:cNvSpPr/>
          <p:nvPr/>
        </p:nvSpPr>
        <p:spPr>
          <a:xfrm>
            <a:off x="6643688" y="5439151"/>
            <a:ext cx="5001000" cy="1210200"/>
          </a:xfrm>
          <a:prstGeom prst="roundRect">
            <a:avLst>
              <a:gd fmla="val 7084" name="adj"/>
            </a:avLst>
          </a:prstGeom>
          <a:solidFill>
            <a:srgbClr val="F8FAFC"/>
          </a:solidFill>
          <a:ln cap="flat" cmpd="sng" w="14300">
            <a:solidFill>
              <a:srgbClr val="E2E8F0"/>
            </a:solidFill>
            <a:prstDash val="solid"/>
            <a:round/>
            <a:headEnd len="sm" w="sm" type="none"/>
            <a:tailEnd len="sm" w="sm" type="none"/>
          </a:ln>
        </p:spPr>
        <p:txBody>
          <a:bodyPr anchorCtr="0" anchor="ctr" bIns="68550" lIns="137150" spcFirstLastPara="1" rIns="137150" wrap="square" tIns="6855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Helvetica Neue"/>
              <a:ea typeface="Helvetica Neue"/>
              <a:cs typeface="Helvetica Neue"/>
              <a:sym typeface="Helvetica Neue"/>
            </a:endParaRPr>
          </a:p>
        </p:txBody>
      </p:sp>
      <p:sp>
        <p:nvSpPr>
          <p:cNvPr id="696" name="Google Shape;696;p30"/>
          <p:cNvSpPr/>
          <p:nvPr/>
        </p:nvSpPr>
        <p:spPr>
          <a:xfrm>
            <a:off x="12087225" y="5439151"/>
            <a:ext cx="5001000" cy="1210200"/>
          </a:xfrm>
          <a:prstGeom prst="roundRect">
            <a:avLst>
              <a:gd fmla="val 7084" name="adj"/>
            </a:avLst>
          </a:prstGeom>
          <a:solidFill>
            <a:srgbClr val="F8FAFC"/>
          </a:solidFill>
          <a:ln cap="flat" cmpd="sng" w="14300">
            <a:solidFill>
              <a:srgbClr val="E2E8F0"/>
            </a:solidFill>
            <a:prstDash val="solid"/>
            <a:round/>
            <a:headEnd len="sm" w="sm" type="none"/>
            <a:tailEnd len="sm" w="sm" type="none"/>
          </a:ln>
        </p:spPr>
        <p:txBody>
          <a:bodyPr anchorCtr="0" anchor="ctr" bIns="68550" lIns="137150" spcFirstLastPara="1" rIns="137150" wrap="square" tIns="6855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Helvetica Neue"/>
              <a:ea typeface="Helvetica Neue"/>
              <a:cs typeface="Helvetica Neue"/>
              <a:sym typeface="Helvetica Neue"/>
            </a:endParaRPr>
          </a:p>
        </p:txBody>
      </p:sp>
      <p:sp>
        <p:nvSpPr>
          <p:cNvPr id="697" name="Google Shape;697;p30"/>
          <p:cNvSpPr/>
          <p:nvPr/>
        </p:nvSpPr>
        <p:spPr>
          <a:xfrm>
            <a:off x="14130338" y="7834014"/>
            <a:ext cx="2957400" cy="257400"/>
          </a:xfrm>
          <a:prstGeom prst="roundRect">
            <a:avLst>
              <a:gd fmla="val 22222" name="adj"/>
            </a:avLst>
          </a:prstGeom>
          <a:solidFill>
            <a:srgbClr val="E6F6F8"/>
          </a:solidFill>
          <a:ln>
            <a:noFill/>
          </a:ln>
        </p:spPr>
        <p:txBody>
          <a:bodyPr anchorCtr="0" anchor="ctr" bIns="68550" lIns="137150" spcFirstLastPara="1" rIns="137150" wrap="square" tIns="6855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Helvetica Neue"/>
              <a:ea typeface="Helvetica Neue"/>
              <a:cs typeface="Helvetica Neue"/>
              <a:sym typeface="Helvetica Neue"/>
            </a:endParaRPr>
          </a:p>
        </p:txBody>
      </p:sp>
      <p:sp>
        <p:nvSpPr>
          <p:cNvPr id="698" name="Google Shape;698;p30"/>
          <p:cNvSpPr/>
          <p:nvPr/>
        </p:nvSpPr>
        <p:spPr>
          <a:xfrm>
            <a:off x="1200150" y="7849273"/>
            <a:ext cx="5001000" cy="1210200"/>
          </a:xfrm>
          <a:prstGeom prst="roundRect">
            <a:avLst>
              <a:gd fmla="val 7084" name="adj"/>
            </a:avLst>
          </a:prstGeom>
          <a:solidFill>
            <a:srgbClr val="F8FAFC"/>
          </a:solidFill>
          <a:ln cap="flat" cmpd="sng" w="14300">
            <a:solidFill>
              <a:srgbClr val="E2E8F0"/>
            </a:solidFill>
            <a:prstDash val="solid"/>
            <a:round/>
            <a:headEnd len="sm" w="sm" type="none"/>
            <a:tailEnd len="sm" w="sm" type="none"/>
          </a:ln>
        </p:spPr>
        <p:txBody>
          <a:bodyPr anchorCtr="0" anchor="ctr" bIns="68550" lIns="137150" spcFirstLastPara="1" rIns="137150" wrap="square" tIns="6855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Helvetica Neue"/>
              <a:ea typeface="Helvetica Neue"/>
              <a:cs typeface="Helvetica Neue"/>
              <a:sym typeface="Helvetica Neue"/>
            </a:endParaRPr>
          </a:p>
        </p:txBody>
      </p:sp>
      <p:sp>
        <p:nvSpPr>
          <p:cNvPr id="699" name="Google Shape;699;p30"/>
          <p:cNvSpPr/>
          <p:nvPr/>
        </p:nvSpPr>
        <p:spPr>
          <a:xfrm>
            <a:off x="6643688" y="7849273"/>
            <a:ext cx="5001000" cy="1210200"/>
          </a:xfrm>
          <a:prstGeom prst="roundRect">
            <a:avLst>
              <a:gd fmla="val 7084" name="adj"/>
            </a:avLst>
          </a:prstGeom>
          <a:solidFill>
            <a:srgbClr val="F8FAFC"/>
          </a:solidFill>
          <a:ln cap="flat" cmpd="sng" w="14300">
            <a:solidFill>
              <a:srgbClr val="E2E8F0"/>
            </a:solidFill>
            <a:prstDash val="solid"/>
            <a:round/>
            <a:headEnd len="sm" w="sm" type="none"/>
            <a:tailEnd len="sm" w="sm" type="none"/>
          </a:ln>
        </p:spPr>
        <p:txBody>
          <a:bodyPr anchorCtr="0" anchor="ctr" bIns="68550" lIns="137150" spcFirstLastPara="1" rIns="137150" wrap="square" tIns="6855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Helvetica Neue"/>
              <a:ea typeface="Helvetica Neue"/>
              <a:cs typeface="Helvetica Neue"/>
              <a:sym typeface="Helvetica Neue"/>
            </a:endParaRPr>
          </a:p>
        </p:txBody>
      </p:sp>
      <p:sp>
        <p:nvSpPr>
          <p:cNvPr id="700" name="Google Shape;700;p30"/>
          <p:cNvSpPr/>
          <p:nvPr/>
        </p:nvSpPr>
        <p:spPr>
          <a:xfrm>
            <a:off x="12087225" y="7849273"/>
            <a:ext cx="5001000" cy="1210200"/>
          </a:xfrm>
          <a:prstGeom prst="roundRect">
            <a:avLst>
              <a:gd fmla="val 7084" name="adj"/>
            </a:avLst>
          </a:prstGeom>
          <a:solidFill>
            <a:srgbClr val="F8FAFC"/>
          </a:solidFill>
          <a:ln cap="flat" cmpd="sng" w="14300">
            <a:solidFill>
              <a:srgbClr val="E2E8F0"/>
            </a:solidFill>
            <a:prstDash val="solid"/>
            <a:round/>
            <a:headEnd len="sm" w="sm" type="none"/>
            <a:tailEnd len="sm" w="sm" type="none"/>
          </a:ln>
        </p:spPr>
        <p:txBody>
          <a:bodyPr anchorCtr="0" anchor="ctr" bIns="68550" lIns="137150" spcFirstLastPara="1" rIns="137150" wrap="square" tIns="6855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Helvetica Neue"/>
              <a:ea typeface="Helvetica Neue"/>
              <a:cs typeface="Helvetica Neue"/>
              <a:sym typeface="Helvetica Neue"/>
            </a:endParaRPr>
          </a:p>
        </p:txBody>
      </p:sp>
      <p:pic>
        <p:nvPicPr>
          <p:cNvPr descr="image.png" id="701" name="Google Shape;701;p30"/>
          <p:cNvPicPr preferRelativeResize="0"/>
          <p:nvPr/>
        </p:nvPicPr>
        <p:blipFill rotWithShape="1">
          <a:blip r:embed="rId4">
            <a:alphaModFix/>
          </a:blip>
          <a:srcRect b="0" l="0" r="0" t="0"/>
          <a:stretch/>
        </p:blipFill>
        <p:spPr>
          <a:xfrm>
            <a:off x="1200150" y="4953376"/>
            <a:ext cx="342900" cy="342900"/>
          </a:xfrm>
          <a:prstGeom prst="rect">
            <a:avLst/>
          </a:prstGeom>
          <a:noFill/>
          <a:ln>
            <a:noFill/>
          </a:ln>
        </p:spPr>
      </p:pic>
      <p:pic>
        <p:nvPicPr>
          <p:cNvPr descr="image.png" id="702" name="Google Shape;702;p30"/>
          <p:cNvPicPr preferRelativeResize="0"/>
          <p:nvPr/>
        </p:nvPicPr>
        <p:blipFill rotWithShape="1">
          <a:blip r:embed="rId5">
            <a:alphaModFix/>
          </a:blip>
          <a:srcRect b="0" l="0" r="0" t="0"/>
          <a:stretch/>
        </p:blipFill>
        <p:spPr>
          <a:xfrm>
            <a:off x="6343650" y="5958412"/>
            <a:ext cx="157163" cy="171450"/>
          </a:xfrm>
          <a:prstGeom prst="rect">
            <a:avLst/>
          </a:prstGeom>
          <a:noFill/>
          <a:ln>
            <a:noFill/>
          </a:ln>
        </p:spPr>
      </p:pic>
      <p:pic>
        <p:nvPicPr>
          <p:cNvPr descr="image.png" id="703" name="Google Shape;703;p30"/>
          <p:cNvPicPr preferRelativeResize="0"/>
          <p:nvPr/>
        </p:nvPicPr>
        <p:blipFill rotWithShape="1">
          <a:blip r:embed="rId5">
            <a:alphaModFix/>
          </a:blip>
          <a:srcRect b="0" l="0" r="0" t="0"/>
          <a:stretch/>
        </p:blipFill>
        <p:spPr>
          <a:xfrm>
            <a:off x="11787188" y="5958412"/>
            <a:ext cx="157163" cy="171450"/>
          </a:xfrm>
          <a:prstGeom prst="rect">
            <a:avLst/>
          </a:prstGeom>
          <a:noFill/>
          <a:ln>
            <a:noFill/>
          </a:ln>
        </p:spPr>
      </p:pic>
      <p:pic>
        <p:nvPicPr>
          <p:cNvPr descr="image.png" id="704" name="Google Shape;704;p30"/>
          <p:cNvPicPr preferRelativeResize="0"/>
          <p:nvPr/>
        </p:nvPicPr>
        <p:blipFill rotWithShape="1">
          <a:blip r:embed="rId6">
            <a:alphaModFix/>
          </a:blip>
          <a:srcRect b="0" l="0" r="0" t="0"/>
          <a:stretch/>
        </p:blipFill>
        <p:spPr>
          <a:xfrm>
            <a:off x="1200150" y="7363498"/>
            <a:ext cx="342900" cy="342900"/>
          </a:xfrm>
          <a:prstGeom prst="rect">
            <a:avLst/>
          </a:prstGeom>
          <a:noFill/>
          <a:ln>
            <a:noFill/>
          </a:ln>
        </p:spPr>
      </p:pic>
      <p:pic>
        <p:nvPicPr>
          <p:cNvPr descr="image.png" id="705" name="Google Shape;705;p30"/>
          <p:cNvPicPr preferRelativeResize="0"/>
          <p:nvPr/>
        </p:nvPicPr>
        <p:blipFill rotWithShape="1">
          <a:blip r:embed="rId7">
            <a:alphaModFix/>
          </a:blip>
          <a:srcRect b="0" l="0" r="0" t="0"/>
          <a:stretch/>
        </p:blipFill>
        <p:spPr>
          <a:xfrm>
            <a:off x="6343650" y="8368534"/>
            <a:ext cx="157163" cy="171450"/>
          </a:xfrm>
          <a:prstGeom prst="rect">
            <a:avLst/>
          </a:prstGeom>
          <a:noFill/>
          <a:ln>
            <a:noFill/>
          </a:ln>
        </p:spPr>
      </p:pic>
      <p:pic>
        <p:nvPicPr>
          <p:cNvPr descr="image.png" id="706" name="Google Shape;706;p30"/>
          <p:cNvPicPr preferRelativeResize="0"/>
          <p:nvPr/>
        </p:nvPicPr>
        <p:blipFill rotWithShape="1">
          <a:blip r:embed="rId7">
            <a:alphaModFix/>
          </a:blip>
          <a:srcRect b="0" l="0" r="0" t="0"/>
          <a:stretch/>
        </p:blipFill>
        <p:spPr>
          <a:xfrm>
            <a:off x="11787188" y="8368534"/>
            <a:ext cx="157163" cy="171450"/>
          </a:xfrm>
          <a:prstGeom prst="rect">
            <a:avLst/>
          </a:prstGeom>
          <a:noFill/>
          <a:ln>
            <a:noFill/>
          </a:ln>
        </p:spPr>
      </p:pic>
      <p:pic>
        <p:nvPicPr>
          <p:cNvPr descr="image.png" id="707" name="Google Shape;707;p30"/>
          <p:cNvPicPr preferRelativeResize="0"/>
          <p:nvPr/>
        </p:nvPicPr>
        <p:blipFill rotWithShape="1">
          <a:blip r:embed="rId8">
            <a:alphaModFix/>
          </a:blip>
          <a:srcRect b="0" l="0" r="0" t="0"/>
          <a:stretch/>
        </p:blipFill>
        <p:spPr>
          <a:xfrm>
            <a:off x="1293018" y="5046244"/>
            <a:ext cx="157163" cy="157163"/>
          </a:xfrm>
          <a:prstGeom prst="rect">
            <a:avLst/>
          </a:prstGeom>
          <a:noFill/>
          <a:ln>
            <a:noFill/>
          </a:ln>
        </p:spPr>
      </p:pic>
      <p:pic>
        <p:nvPicPr>
          <p:cNvPr descr="image.png" id="708" name="Google Shape;708;p30"/>
          <p:cNvPicPr preferRelativeResize="0"/>
          <p:nvPr/>
        </p:nvPicPr>
        <p:blipFill rotWithShape="1">
          <a:blip r:embed="rId9">
            <a:alphaModFix/>
          </a:blip>
          <a:srcRect b="0" l="0" r="0" t="0"/>
          <a:stretch/>
        </p:blipFill>
        <p:spPr>
          <a:xfrm>
            <a:off x="1293018" y="7456368"/>
            <a:ext cx="157163" cy="157163"/>
          </a:xfrm>
          <a:prstGeom prst="rect">
            <a:avLst/>
          </a:prstGeom>
          <a:noFill/>
          <a:ln>
            <a:noFill/>
          </a:ln>
        </p:spPr>
      </p:pic>
      <p:sp>
        <p:nvSpPr>
          <p:cNvPr id="709" name="Google Shape;709;p30"/>
          <p:cNvSpPr txBox="1"/>
          <p:nvPr/>
        </p:nvSpPr>
        <p:spPr>
          <a:xfrm>
            <a:off x="857250" y="571500"/>
            <a:ext cx="174309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692A4"/>
                </a:solidFill>
                <a:latin typeface="Helvetica Neue"/>
                <a:ea typeface="Helvetica Neue"/>
                <a:cs typeface="Helvetica Neue"/>
                <a:sym typeface="Helvetica Neue"/>
              </a:rPr>
              <a:t>EVALUATION METHODOLOGY</a:t>
            </a:r>
            <a:endParaRPr b="0" i="0" sz="2100" u="none" cap="none" strike="noStrike">
              <a:solidFill>
                <a:srgbClr val="000000"/>
              </a:solidFill>
              <a:latin typeface="Arial"/>
              <a:ea typeface="Arial"/>
              <a:cs typeface="Arial"/>
              <a:sym typeface="Arial"/>
            </a:endParaRPr>
          </a:p>
        </p:txBody>
      </p:sp>
      <p:sp>
        <p:nvSpPr>
          <p:cNvPr id="710" name="Google Shape;710;p30"/>
          <p:cNvSpPr txBox="1"/>
          <p:nvPr/>
        </p:nvSpPr>
        <p:spPr>
          <a:xfrm>
            <a:off x="857250" y="885825"/>
            <a:ext cx="17430900" cy="585000"/>
          </a:xfrm>
          <a:prstGeom prst="rect">
            <a:avLst/>
          </a:prstGeom>
          <a:noFill/>
          <a:ln>
            <a:noFill/>
          </a:ln>
        </p:spPr>
        <p:txBody>
          <a:bodyPr anchorCtr="0" anchor="t" bIns="0" lIns="0" spcFirstLastPara="1" rIns="0" wrap="square" tIns="0">
            <a:spAutoFit/>
          </a:bodyPr>
          <a:lstStyle/>
          <a:p>
            <a:pPr indent="0" lvl="0" marL="0" marR="0" rtl="0" algn="l">
              <a:lnSpc>
                <a:spcPct val="114980"/>
              </a:lnSpc>
              <a:spcBef>
                <a:spcPts val="0"/>
              </a:spcBef>
              <a:spcAft>
                <a:spcPts val="0"/>
              </a:spcAft>
              <a:buClr>
                <a:srgbClr val="000000"/>
              </a:buClr>
              <a:buSzPts val="3800"/>
              <a:buFont typeface="Arial"/>
              <a:buNone/>
            </a:pPr>
            <a:r>
              <a:rPr b="1" i="0" lang="en-US" sz="3800" u="none" cap="none" strike="noStrike">
                <a:solidFill>
                  <a:srgbClr val="07203B"/>
                </a:solidFill>
                <a:latin typeface="Helvetica Neue"/>
                <a:ea typeface="Helvetica Neue"/>
                <a:cs typeface="Helvetica Neue"/>
                <a:sym typeface="Helvetica Neue"/>
              </a:rPr>
              <a:t>Validation &amp; Observability Framework</a:t>
            </a:r>
            <a:endParaRPr b="0" i="0" sz="2100" u="none" cap="none" strike="noStrike">
              <a:solidFill>
                <a:srgbClr val="000000"/>
              </a:solidFill>
              <a:latin typeface="Arial"/>
              <a:ea typeface="Arial"/>
              <a:cs typeface="Arial"/>
              <a:sym typeface="Arial"/>
            </a:endParaRPr>
          </a:p>
        </p:txBody>
      </p:sp>
      <p:sp>
        <p:nvSpPr>
          <p:cNvPr id="711" name="Google Shape;711;p30"/>
          <p:cNvSpPr txBox="1"/>
          <p:nvPr/>
        </p:nvSpPr>
        <p:spPr>
          <a:xfrm>
            <a:off x="1200150" y="2288310"/>
            <a:ext cx="74610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7203B"/>
                </a:solidFill>
                <a:latin typeface="Helvetica Neue"/>
                <a:ea typeface="Helvetica Neue"/>
                <a:cs typeface="Helvetica Neue"/>
                <a:sym typeface="Helvetica Neue"/>
              </a:rPr>
              <a:t>Human–Like Verification Approach</a:t>
            </a:r>
            <a:endParaRPr b="0" i="0" sz="2100" u="none" cap="none" strike="noStrike">
              <a:solidFill>
                <a:srgbClr val="000000"/>
              </a:solidFill>
              <a:latin typeface="Arial"/>
              <a:ea typeface="Arial"/>
              <a:cs typeface="Arial"/>
              <a:sym typeface="Arial"/>
            </a:endParaRPr>
          </a:p>
        </p:txBody>
      </p:sp>
      <p:sp>
        <p:nvSpPr>
          <p:cNvPr id="712" name="Google Shape;712;p30"/>
          <p:cNvSpPr txBox="1"/>
          <p:nvPr/>
        </p:nvSpPr>
        <p:spPr>
          <a:xfrm>
            <a:off x="1200150" y="2702647"/>
            <a:ext cx="5827500" cy="900000"/>
          </a:xfrm>
          <a:prstGeom prst="rect">
            <a:avLst/>
          </a:prstGeom>
          <a:noFill/>
          <a:ln>
            <a:noFill/>
          </a:ln>
        </p:spPr>
        <p:txBody>
          <a:bodyPr anchorCtr="0" anchor="t" bIns="0" lIns="0" spcFirstLastPara="1" rIns="0" wrap="square" tIns="0">
            <a:spAutoFit/>
          </a:bodyPr>
          <a:lstStyle/>
          <a:p>
            <a:pPr indent="0" lvl="0" marL="0" marR="0" rtl="0" algn="l">
              <a:lnSpc>
                <a:spcPct val="144923"/>
              </a:lnSpc>
              <a:spcBef>
                <a:spcPts val="0"/>
              </a:spcBef>
              <a:spcAft>
                <a:spcPts val="0"/>
              </a:spcAft>
              <a:buClr>
                <a:srgbClr val="000000"/>
              </a:buClr>
              <a:buSzPts val="1500"/>
              <a:buFont typeface="Arial"/>
              <a:buNone/>
            </a:pPr>
            <a:r>
              <a:rPr b="0" i="0" lang="en-US" sz="1500" u="none" cap="none" strike="noStrike">
                <a:solidFill>
                  <a:srgbClr val="4B5563"/>
                </a:solidFill>
                <a:latin typeface="Helvetica Neue"/>
                <a:ea typeface="Helvetica Neue"/>
                <a:cs typeface="Helvetica Neue"/>
                <a:sym typeface="Helvetica Neue"/>
              </a:rPr>
              <a:t>Evaluates extracted corporate action fields by leveraging LLMs to inspect the source document retrospectively, mimicking human domain audit rigor.</a:t>
            </a:r>
            <a:endParaRPr b="0" i="0" sz="2100" u="none" cap="none" strike="noStrike">
              <a:solidFill>
                <a:srgbClr val="000000"/>
              </a:solidFill>
              <a:latin typeface="Arial"/>
              <a:ea typeface="Arial"/>
              <a:cs typeface="Arial"/>
              <a:sym typeface="Arial"/>
            </a:endParaRPr>
          </a:p>
        </p:txBody>
      </p:sp>
      <p:sp>
        <p:nvSpPr>
          <p:cNvPr id="713" name="Google Shape;713;p30"/>
          <p:cNvSpPr txBox="1"/>
          <p:nvPr/>
        </p:nvSpPr>
        <p:spPr>
          <a:xfrm>
            <a:off x="7413426" y="2516464"/>
            <a:ext cx="57393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7203B"/>
                </a:solidFill>
                <a:latin typeface="Helvetica Neue"/>
                <a:ea typeface="Helvetica Neue"/>
                <a:cs typeface="Helvetica Neue"/>
                <a:sym typeface="Helvetica Neue"/>
              </a:rPr>
              <a:t>Mimics Expert Verification</a:t>
            </a:r>
            <a:endParaRPr b="0" i="0" sz="2100" u="none" cap="none" strike="noStrike">
              <a:solidFill>
                <a:srgbClr val="000000"/>
              </a:solidFill>
              <a:latin typeface="Arial"/>
              <a:ea typeface="Arial"/>
              <a:cs typeface="Arial"/>
              <a:sym typeface="Arial"/>
            </a:endParaRPr>
          </a:p>
        </p:txBody>
      </p:sp>
      <p:sp>
        <p:nvSpPr>
          <p:cNvPr id="714" name="Google Shape;714;p30"/>
          <p:cNvSpPr txBox="1"/>
          <p:nvPr/>
        </p:nvSpPr>
        <p:spPr>
          <a:xfrm>
            <a:off x="7413426" y="2802214"/>
            <a:ext cx="4515900" cy="517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rPr b="0" i="0" lang="en-US" sz="1400" u="none" cap="none" strike="noStrike">
                <a:solidFill>
                  <a:srgbClr val="64748B"/>
                </a:solidFill>
                <a:latin typeface="Helvetica Neue"/>
                <a:ea typeface="Helvetica Neue"/>
                <a:cs typeface="Helvetica Neue"/>
                <a:sym typeface="Helvetica Neue"/>
              </a:rPr>
              <a:t>Replicates how domain experts verify structured facts against raw source text.</a:t>
            </a:r>
            <a:endParaRPr b="0" i="0" sz="2100" u="none" cap="none" strike="noStrike">
              <a:solidFill>
                <a:srgbClr val="000000"/>
              </a:solidFill>
              <a:latin typeface="Arial"/>
              <a:ea typeface="Arial"/>
              <a:cs typeface="Arial"/>
              <a:sym typeface="Arial"/>
            </a:endParaRPr>
          </a:p>
        </p:txBody>
      </p:sp>
      <p:sp>
        <p:nvSpPr>
          <p:cNvPr id="715" name="Google Shape;715;p30"/>
          <p:cNvSpPr txBox="1"/>
          <p:nvPr/>
        </p:nvSpPr>
        <p:spPr>
          <a:xfrm>
            <a:off x="12514956" y="2516464"/>
            <a:ext cx="57393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7203B"/>
                </a:solidFill>
                <a:latin typeface="Helvetica Neue"/>
                <a:ea typeface="Helvetica Neue"/>
                <a:cs typeface="Helvetica Neue"/>
                <a:sym typeface="Helvetica Neue"/>
              </a:rPr>
              <a:t>Contextual Grounding Check</a:t>
            </a:r>
            <a:endParaRPr b="0" i="0" sz="2100" u="none" cap="none" strike="noStrike">
              <a:solidFill>
                <a:srgbClr val="000000"/>
              </a:solidFill>
              <a:latin typeface="Arial"/>
              <a:ea typeface="Arial"/>
              <a:cs typeface="Arial"/>
              <a:sym typeface="Arial"/>
            </a:endParaRPr>
          </a:p>
        </p:txBody>
      </p:sp>
      <p:sp>
        <p:nvSpPr>
          <p:cNvPr id="716" name="Google Shape;716;p30"/>
          <p:cNvSpPr txBox="1"/>
          <p:nvPr/>
        </p:nvSpPr>
        <p:spPr>
          <a:xfrm>
            <a:off x="12514956" y="2802214"/>
            <a:ext cx="4515900" cy="517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rPr b="0" i="0" lang="en-US" sz="1400" u="none" cap="none" strike="noStrike">
                <a:solidFill>
                  <a:srgbClr val="64748B"/>
                </a:solidFill>
                <a:latin typeface="Helvetica Neue"/>
                <a:ea typeface="Helvetica Neue"/>
                <a:cs typeface="Helvetica Neue"/>
                <a:sym typeface="Helvetica Neue"/>
              </a:rPr>
              <a:t>Confirms extracted values are explicitly supported by filing context.</a:t>
            </a:r>
            <a:endParaRPr b="0" i="0" sz="2100" u="none" cap="none" strike="noStrike">
              <a:solidFill>
                <a:srgbClr val="000000"/>
              </a:solidFill>
              <a:latin typeface="Arial"/>
              <a:ea typeface="Arial"/>
              <a:cs typeface="Arial"/>
              <a:sym typeface="Arial"/>
            </a:endParaRPr>
          </a:p>
        </p:txBody>
      </p:sp>
      <p:sp>
        <p:nvSpPr>
          <p:cNvPr id="717" name="Google Shape;717;p30"/>
          <p:cNvSpPr txBox="1"/>
          <p:nvPr/>
        </p:nvSpPr>
        <p:spPr>
          <a:xfrm>
            <a:off x="13887450" y="5058540"/>
            <a:ext cx="32292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7203B"/>
                </a:solidFill>
                <a:latin typeface="Helvetica Neue"/>
                <a:ea typeface="Helvetica Neue"/>
                <a:cs typeface="Helvetica Neue"/>
                <a:sym typeface="Helvetica Neue"/>
              </a:rPr>
              <a:t>PIPELINE TESTING &amp; ACCURACY BASELINING</a:t>
            </a:r>
            <a:endParaRPr b="0" i="0" sz="2100" u="none" cap="none" strike="noStrike">
              <a:solidFill>
                <a:srgbClr val="000000"/>
              </a:solidFill>
              <a:latin typeface="Arial"/>
              <a:ea typeface="Arial"/>
              <a:cs typeface="Arial"/>
              <a:sym typeface="Arial"/>
            </a:endParaRPr>
          </a:p>
        </p:txBody>
      </p:sp>
      <p:sp>
        <p:nvSpPr>
          <p:cNvPr id="718" name="Google Shape;718;p30"/>
          <p:cNvSpPr txBox="1"/>
          <p:nvPr/>
        </p:nvSpPr>
        <p:spPr>
          <a:xfrm>
            <a:off x="14244638" y="7468662"/>
            <a:ext cx="28719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692A4"/>
                </a:solidFill>
                <a:latin typeface="Helvetica Neue"/>
                <a:ea typeface="Helvetica Neue"/>
                <a:cs typeface="Helvetica Neue"/>
                <a:sym typeface="Helvetica Neue"/>
              </a:rPr>
              <a:t>CONTINUOUS PRODUCTION SAMPLING</a:t>
            </a:r>
            <a:endParaRPr b="0" i="0" sz="2100" u="none" cap="none" strike="noStrike">
              <a:solidFill>
                <a:srgbClr val="000000"/>
              </a:solidFill>
              <a:latin typeface="Arial"/>
              <a:ea typeface="Arial"/>
              <a:cs typeface="Arial"/>
              <a:sym typeface="Arial"/>
            </a:endParaRPr>
          </a:p>
        </p:txBody>
      </p:sp>
      <p:sp>
        <p:nvSpPr>
          <p:cNvPr id="719" name="Google Shape;719;p30"/>
          <p:cNvSpPr txBox="1"/>
          <p:nvPr/>
        </p:nvSpPr>
        <p:spPr>
          <a:xfrm>
            <a:off x="1657350" y="4989094"/>
            <a:ext cx="6844500" cy="261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07203B"/>
                </a:solidFill>
                <a:latin typeface="Helvetica Neue"/>
                <a:ea typeface="Helvetica Neue"/>
                <a:cs typeface="Helvetica Neue"/>
                <a:sym typeface="Helvetica Neue"/>
              </a:rPr>
              <a:t>Stream 1 · Baseline Benchmark (Pre-Deployment)</a:t>
            </a:r>
            <a:endParaRPr b="0" i="0" sz="2100" u="none" cap="none" strike="noStrike">
              <a:solidFill>
                <a:srgbClr val="000000"/>
              </a:solidFill>
              <a:latin typeface="Arial"/>
              <a:ea typeface="Arial"/>
              <a:cs typeface="Arial"/>
              <a:sym typeface="Arial"/>
            </a:endParaRPr>
          </a:p>
        </p:txBody>
      </p:sp>
      <p:sp>
        <p:nvSpPr>
          <p:cNvPr id="720" name="Google Shape;720;p30"/>
          <p:cNvSpPr txBox="1"/>
          <p:nvPr/>
        </p:nvSpPr>
        <p:spPr>
          <a:xfrm>
            <a:off x="1385888" y="5596314"/>
            <a:ext cx="57867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692A4"/>
                </a:solidFill>
                <a:latin typeface="Helvetica Neue"/>
                <a:ea typeface="Helvetica Neue"/>
                <a:cs typeface="Helvetica Neue"/>
                <a:sym typeface="Helvetica Neue"/>
              </a:rPr>
              <a:t>STAGE 01</a:t>
            </a:r>
            <a:endParaRPr b="0" i="0" sz="2100" u="none" cap="none" strike="noStrike">
              <a:solidFill>
                <a:srgbClr val="000000"/>
              </a:solidFill>
              <a:latin typeface="Arial"/>
              <a:ea typeface="Arial"/>
              <a:cs typeface="Arial"/>
              <a:sym typeface="Arial"/>
            </a:endParaRPr>
          </a:p>
        </p:txBody>
      </p:sp>
      <p:sp>
        <p:nvSpPr>
          <p:cNvPr id="721" name="Google Shape;721;p30"/>
          <p:cNvSpPr txBox="1"/>
          <p:nvPr/>
        </p:nvSpPr>
        <p:spPr>
          <a:xfrm>
            <a:off x="1385888" y="5796339"/>
            <a:ext cx="60759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7203B"/>
                </a:solidFill>
                <a:latin typeface="Helvetica Neue"/>
                <a:ea typeface="Helvetica Neue"/>
                <a:cs typeface="Helvetica Neue"/>
                <a:sym typeface="Helvetica Neue"/>
              </a:rPr>
              <a:t>LLM GT Extraction</a:t>
            </a:r>
            <a:endParaRPr b="0" i="0" sz="2100" u="none" cap="none" strike="noStrike">
              <a:solidFill>
                <a:srgbClr val="000000"/>
              </a:solidFill>
              <a:latin typeface="Arial"/>
              <a:ea typeface="Arial"/>
              <a:cs typeface="Arial"/>
              <a:sym typeface="Arial"/>
            </a:endParaRPr>
          </a:p>
        </p:txBody>
      </p:sp>
      <p:sp>
        <p:nvSpPr>
          <p:cNvPr id="722" name="Google Shape;722;p30"/>
          <p:cNvSpPr txBox="1"/>
          <p:nvPr/>
        </p:nvSpPr>
        <p:spPr>
          <a:xfrm>
            <a:off x="1385888" y="6067801"/>
            <a:ext cx="4771800" cy="433800"/>
          </a:xfrm>
          <a:prstGeom prst="rect">
            <a:avLst/>
          </a:prstGeom>
          <a:noFill/>
          <a:ln>
            <a:noFill/>
          </a:ln>
        </p:spPr>
        <p:txBody>
          <a:bodyPr anchorCtr="0" anchor="t" bIns="0" lIns="0" spcFirstLastPara="1" rIns="0" wrap="square" tIns="0">
            <a:spAutoFit/>
          </a:bodyPr>
          <a:lstStyle/>
          <a:p>
            <a:pPr indent="0" lvl="0" marL="0" marR="0" rtl="0" algn="l">
              <a:lnSpc>
                <a:spcPct val="134909"/>
              </a:lnSpc>
              <a:spcBef>
                <a:spcPts val="0"/>
              </a:spcBef>
              <a:spcAft>
                <a:spcPts val="0"/>
              </a:spcAft>
              <a:buClr>
                <a:srgbClr val="000000"/>
              </a:buClr>
              <a:buSzPts val="1200"/>
              <a:buFont typeface="Arial"/>
              <a:buNone/>
            </a:pPr>
            <a:r>
              <a:rPr b="0" i="0" lang="en-US" sz="1200" u="none" cap="none" strike="noStrike">
                <a:solidFill>
                  <a:srgbClr val="4B5563"/>
                </a:solidFill>
                <a:latin typeface="Helvetica Neue"/>
                <a:ea typeface="Helvetica Neue"/>
                <a:cs typeface="Helvetica Neue"/>
                <a:sym typeface="Helvetica Neue"/>
              </a:rPr>
              <a:t>LLM extracts golden facts from 1,000 reference corporate action filings.</a:t>
            </a:r>
            <a:endParaRPr b="0" i="0" sz="2100" u="none" cap="none" strike="noStrike">
              <a:solidFill>
                <a:srgbClr val="000000"/>
              </a:solidFill>
              <a:latin typeface="Arial"/>
              <a:ea typeface="Arial"/>
              <a:cs typeface="Arial"/>
              <a:sym typeface="Arial"/>
            </a:endParaRPr>
          </a:p>
        </p:txBody>
      </p:sp>
      <p:sp>
        <p:nvSpPr>
          <p:cNvPr id="723" name="Google Shape;723;p30"/>
          <p:cNvSpPr txBox="1"/>
          <p:nvPr/>
        </p:nvSpPr>
        <p:spPr>
          <a:xfrm>
            <a:off x="6829425" y="5596314"/>
            <a:ext cx="57867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692A4"/>
                </a:solidFill>
                <a:latin typeface="Helvetica Neue"/>
                <a:ea typeface="Helvetica Neue"/>
                <a:cs typeface="Helvetica Neue"/>
                <a:sym typeface="Helvetica Neue"/>
              </a:rPr>
              <a:t>STAGE 02</a:t>
            </a:r>
            <a:endParaRPr b="0" i="0" sz="2100" u="none" cap="none" strike="noStrike">
              <a:solidFill>
                <a:srgbClr val="000000"/>
              </a:solidFill>
              <a:latin typeface="Arial"/>
              <a:ea typeface="Arial"/>
              <a:cs typeface="Arial"/>
              <a:sym typeface="Arial"/>
            </a:endParaRPr>
          </a:p>
        </p:txBody>
      </p:sp>
      <p:sp>
        <p:nvSpPr>
          <p:cNvPr id="724" name="Google Shape;724;p30"/>
          <p:cNvSpPr txBox="1"/>
          <p:nvPr/>
        </p:nvSpPr>
        <p:spPr>
          <a:xfrm>
            <a:off x="6829425" y="5796339"/>
            <a:ext cx="60759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7203B"/>
                </a:solidFill>
                <a:latin typeface="Helvetica Neue"/>
                <a:ea typeface="Helvetica Neue"/>
                <a:cs typeface="Helvetica Neue"/>
                <a:sym typeface="Helvetica Neue"/>
              </a:rPr>
              <a:t>Run Pipeline</a:t>
            </a:r>
            <a:endParaRPr b="0" i="0" sz="2100" u="none" cap="none" strike="noStrike">
              <a:solidFill>
                <a:srgbClr val="000000"/>
              </a:solidFill>
              <a:latin typeface="Arial"/>
              <a:ea typeface="Arial"/>
              <a:cs typeface="Arial"/>
              <a:sym typeface="Arial"/>
            </a:endParaRPr>
          </a:p>
        </p:txBody>
      </p:sp>
      <p:sp>
        <p:nvSpPr>
          <p:cNvPr id="725" name="Google Shape;725;p30"/>
          <p:cNvSpPr txBox="1"/>
          <p:nvPr/>
        </p:nvSpPr>
        <p:spPr>
          <a:xfrm>
            <a:off x="6829425" y="6067801"/>
            <a:ext cx="4771800" cy="184800"/>
          </a:xfrm>
          <a:prstGeom prst="rect">
            <a:avLst/>
          </a:prstGeom>
          <a:noFill/>
          <a:ln>
            <a:noFill/>
          </a:ln>
        </p:spPr>
        <p:txBody>
          <a:bodyPr anchorCtr="0" anchor="t" bIns="0" lIns="0" spcFirstLastPara="1" rIns="0" wrap="square" tIns="0">
            <a:spAutoFit/>
          </a:bodyPr>
          <a:lstStyle/>
          <a:p>
            <a:pPr indent="0" lvl="0" marL="0" marR="0" rtl="0" algn="l">
              <a:lnSpc>
                <a:spcPct val="134909"/>
              </a:lnSpc>
              <a:spcBef>
                <a:spcPts val="0"/>
              </a:spcBef>
              <a:spcAft>
                <a:spcPts val="0"/>
              </a:spcAft>
              <a:buClr>
                <a:srgbClr val="000000"/>
              </a:buClr>
              <a:buSzPts val="1200"/>
              <a:buFont typeface="Arial"/>
              <a:buNone/>
            </a:pPr>
            <a:r>
              <a:rPr b="0" i="0" lang="en-US" sz="1200" u="none" cap="none" strike="noStrike">
                <a:solidFill>
                  <a:srgbClr val="4B5563"/>
                </a:solidFill>
                <a:latin typeface="Helvetica Neue"/>
                <a:ea typeface="Helvetica Neue"/>
                <a:cs typeface="Helvetica Neue"/>
                <a:sym typeface="Helvetica Neue"/>
              </a:rPr>
              <a:t>Execute extraction pipeline against the identical 1,000-document set.</a:t>
            </a:r>
            <a:endParaRPr b="0" i="0" sz="2100" u="none" cap="none" strike="noStrike">
              <a:solidFill>
                <a:srgbClr val="000000"/>
              </a:solidFill>
              <a:latin typeface="Arial"/>
              <a:ea typeface="Arial"/>
              <a:cs typeface="Arial"/>
              <a:sym typeface="Arial"/>
            </a:endParaRPr>
          </a:p>
        </p:txBody>
      </p:sp>
      <p:sp>
        <p:nvSpPr>
          <p:cNvPr id="726" name="Google Shape;726;p30"/>
          <p:cNvSpPr txBox="1"/>
          <p:nvPr/>
        </p:nvSpPr>
        <p:spPr>
          <a:xfrm>
            <a:off x="12272963" y="5596314"/>
            <a:ext cx="57867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692A4"/>
                </a:solidFill>
                <a:latin typeface="Helvetica Neue"/>
                <a:ea typeface="Helvetica Neue"/>
                <a:cs typeface="Helvetica Neue"/>
                <a:sym typeface="Helvetica Neue"/>
              </a:rPr>
              <a:t>STAGE 03</a:t>
            </a:r>
            <a:endParaRPr b="0" i="0" sz="2100" u="none" cap="none" strike="noStrike">
              <a:solidFill>
                <a:srgbClr val="000000"/>
              </a:solidFill>
              <a:latin typeface="Arial"/>
              <a:ea typeface="Arial"/>
              <a:cs typeface="Arial"/>
              <a:sym typeface="Arial"/>
            </a:endParaRPr>
          </a:p>
        </p:txBody>
      </p:sp>
      <p:sp>
        <p:nvSpPr>
          <p:cNvPr id="727" name="Google Shape;727;p30"/>
          <p:cNvSpPr txBox="1"/>
          <p:nvPr/>
        </p:nvSpPr>
        <p:spPr>
          <a:xfrm>
            <a:off x="12272963" y="5796339"/>
            <a:ext cx="60150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7203B"/>
                </a:solidFill>
                <a:latin typeface="Helvetica Neue"/>
                <a:ea typeface="Helvetica Neue"/>
                <a:cs typeface="Helvetica Neue"/>
                <a:sym typeface="Helvetica Neue"/>
              </a:rPr>
              <a:t>Benchmark Accuracy</a:t>
            </a:r>
            <a:endParaRPr b="0" i="0" sz="2100" u="none" cap="none" strike="noStrike">
              <a:solidFill>
                <a:srgbClr val="000000"/>
              </a:solidFill>
              <a:latin typeface="Arial"/>
              <a:ea typeface="Arial"/>
              <a:cs typeface="Arial"/>
              <a:sym typeface="Arial"/>
            </a:endParaRPr>
          </a:p>
        </p:txBody>
      </p:sp>
      <p:sp>
        <p:nvSpPr>
          <p:cNvPr id="728" name="Google Shape;728;p30"/>
          <p:cNvSpPr txBox="1"/>
          <p:nvPr/>
        </p:nvSpPr>
        <p:spPr>
          <a:xfrm>
            <a:off x="12272963" y="6067801"/>
            <a:ext cx="4771800" cy="433800"/>
          </a:xfrm>
          <a:prstGeom prst="rect">
            <a:avLst/>
          </a:prstGeom>
          <a:noFill/>
          <a:ln>
            <a:noFill/>
          </a:ln>
        </p:spPr>
        <p:txBody>
          <a:bodyPr anchorCtr="0" anchor="t" bIns="0" lIns="0" spcFirstLastPara="1" rIns="0" wrap="square" tIns="0">
            <a:spAutoFit/>
          </a:bodyPr>
          <a:lstStyle/>
          <a:p>
            <a:pPr indent="0" lvl="0" marL="0" marR="0" rtl="0" algn="l">
              <a:lnSpc>
                <a:spcPct val="134909"/>
              </a:lnSpc>
              <a:spcBef>
                <a:spcPts val="0"/>
              </a:spcBef>
              <a:spcAft>
                <a:spcPts val="0"/>
              </a:spcAft>
              <a:buClr>
                <a:srgbClr val="000000"/>
              </a:buClr>
              <a:buSzPts val="1200"/>
              <a:buFont typeface="Arial"/>
              <a:buNone/>
            </a:pPr>
            <a:r>
              <a:rPr b="0" i="0" lang="en-US" sz="1200" u="none" cap="none" strike="noStrike">
                <a:solidFill>
                  <a:srgbClr val="4B5563"/>
                </a:solidFill>
                <a:latin typeface="Helvetica Neue"/>
                <a:ea typeface="Helvetica Neue"/>
                <a:cs typeface="Helvetica Neue"/>
                <a:sym typeface="Helvetica Neue"/>
              </a:rPr>
              <a:t>Compare pipeline outputs against LLM ground truth to score baseline performance.</a:t>
            </a:r>
            <a:endParaRPr b="0" i="0" sz="2100" u="none" cap="none" strike="noStrike">
              <a:solidFill>
                <a:srgbClr val="000000"/>
              </a:solidFill>
              <a:latin typeface="Arial"/>
              <a:ea typeface="Arial"/>
              <a:cs typeface="Arial"/>
              <a:sym typeface="Arial"/>
            </a:endParaRPr>
          </a:p>
        </p:txBody>
      </p:sp>
      <p:sp>
        <p:nvSpPr>
          <p:cNvPr id="729" name="Google Shape;729;p30"/>
          <p:cNvSpPr txBox="1"/>
          <p:nvPr/>
        </p:nvSpPr>
        <p:spPr>
          <a:xfrm>
            <a:off x="1657350" y="7399218"/>
            <a:ext cx="7838700" cy="261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07203B"/>
                </a:solidFill>
                <a:latin typeface="Helvetica Neue"/>
                <a:ea typeface="Helvetica Neue"/>
                <a:cs typeface="Helvetica Neue"/>
                <a:sym typeface="Helvetica Neue"/>
              </a:rPr>
              <a:t>Stream 2 · Continuous Observability (Post-Deployment)</a:t>
            </a:r>
            <a:endParaRPr b="0" i="0" sz="2100" u="none" cap="none" strike="noStrike">
              <a:solidFill>
                <a:srgbClr val="000000"/>
              </a:solidFill>
              <a:latin typeface="Arial"/>
              <a:ea typeface="Arial"/>
              <a:cs typeface="Arial"/>
              <a:sym typeface="Arial"/>
            </a:endParaRPr>
          </a:p>
        </p:txBody>
      </p:sp>
      <p:sp>
        <p:nvSpPr>
          <p:cNvPr id="730" name="Google Shape;730;p30"/>
          <p:cNvSpPr txBox="1"/>
          <p:nvPr/>
        </p:nvSpPr>
        <p:spPr>
          <a:xfrm>
            <a:off x="1385888" y="8006436"/>
            <a:ext cx="57867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692A4"/>
                </a:solidFill>
                <a:latin typeface="Helvetica Neue"/>
                <a:ea typeface="Helvetica Neue"/>
                <a:cs typeface="Helvetica Neue"/>
                <a:sym typeface="Helvetica Neue"/>
              </a:rPr>
              <a:t>STEP 01</a:t>
            </a:r>
            <a:endParaRPr b="0" i="0" sz="2100" u="none" cap="none" strike="noStrike">
              <a:solidFill>
                <a:srgbClr val="000000"/>
              </a:solidFill>
              <a:latin typeface="Arial"/>
              <a:ea typeface="Arial"/>
              <a:cs typeface="Arial"/>
              <a:sym typeface="Arial"/>
            </a:endParaRPr>
          </a:p>
        </p:txBody>
      </p:sp>
      <p:sp>
        <p:nvSpPr>
          <p:cNvPr id="731" name="Google Shape;731;p30"/>
          <p:cNvSpPr txBox="1"/>
          <p:nvPr/>
        </p:nvSpPr>
        <p:spPr>
          <a:xfrm>
            <a:off x="1385888" y="8206461"/>
            <a:ext cx="60759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7203B"/>
                </a:solidFill>
                <a:latin typeface="Helvetica Neue"/>
                <a:ea typeface="Helvetica Neue"/>
                <a:cs typeface="Helvetica Neue"/>
                <a:sym typeface="Helvetica Neue"/>
              </a:rPr>
              <a:t>Production Sampling</a:t>
            </a:r>
            <a:endParaRPr b="0" i="0" sz="2100" u="none" cap="none" strike="noStrike">
              <a:solidFill>
                <a:srgbClr val="000000"/>
              </a:solidFill>
              <a:latin typeface="Arial"/>
              <a:ea typeface="Arial"/>
              <a:cs typeface="Arial"/>
              <a:sym typeface="Arial"/>
            </a:endParaRPr>
          </a:p>
        </p:txBody>
      </p:sp>
      <p:sp>
        <p:nvSpPr>
          <p:cNvPr id="732" name="Google Shape;732;p30"/>
          <p:cNvSpPr txBox="1"/>
          <p:nvPr/>
        </p:nvSpPr>
        <p:spPr>
          <a:xfrm>
            <a:off x="1385888" y="8477923"/>
            <a:ext cx="4771800" cy="433800"/>
          </a:xfrm>
          <a:prstGeom prst="rect">
            <a:avLst/>
          </a:prstGeom>
          <a:noFill/>
          <a:ln>
            <a:noFill/>
          </a:ln>
        </p:spPr>
        <p:txBody>
          <a:bodyPr anchorCtr="0" anchor="t" bIns="0" lIns="0" spcFirstLastPara="1" rIns="0" wrap="square" tIns="0">
            <a:spAutoFit/>
          </a:bodyPr>
          <a:lstStyle/>
          <a:p>
            <a:pPr indent="0" lvl="0" marL="0" marR="0" rtl="0" algn="l">
              <a:lnSpc>
                <a:spcPct val="134909"/>
              </a:lnSpc>
              <a:spcBef>
                <a:spcPts val="0"/>
              </a:spcBef>
              <a:spcAft>
                <a:spcPts val="0"/>
              </a:spcAft>
              <a:buClr>
                <a:srgbClr val="000000"/>
              </a:buClr>
              <a:buSzPts val="1200"/>
              <a:buFont typeface="Arial"/>
              <a:buNone/>
            </a:pPr>
            <a:r>
              <a:rPr b="0" i="0" lang="en-US" sz="1200" u="none" cap="none" strike="noStrike">
                <a:solidFill>
                  <a:srgbClr val="4B5563"/>
                </a:solidFill>
                <a:latin typeface="Helvetica Neue"/>
                <a:ea typeface="Helvetica Neue"/>
                <a:cs typeface="Helvetica Neue"/>
                <a:sym typeface="Helvetica Neue"/>
              </a:rPr>
              <a:t>Continuously sample subsets of live pipeline extractions across active filing streams.</a:t>
            </a:r>
            <a:endParaRPr b="0" i="0" sz="2100" u="none" cap="none" strike="noStrike">
              <a:solidFill>
                <a:srgbClr val="000000"/>
              </a:solidFill>
              <a:latin typeface="Arial"/>
              <a:ea typeface="Arial"/>
              <a:cs typeface="Arial"/>
              <a:sym typeface="Arial"/>
            </a:endParaRPr>
          </a:p>
        </p:txBody>
      </p:sp>
      <p:sp>
        <p:nvSpPr>
          <p:cNvPr id="733" name="Google Shape;733;p30"/>
          <p:cNvSpPr txBox="1"/>
          <p:nvPr/>
        </p:nvSpPr>
        <p:spPr>
          <a:xfrm>
            <a:off x="6829425" y="8006436"/>
            <a:ext cx="57867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692A4"/>
                </a:solidFill>
                <a:latin typeface="Helvetica Neue"/>
                <a:ea typeface="Helvetica Neue"/>
                <a:cs typeface="Helvetica Neue"/>
                <a:sym typeface="Helvetica Neue"/>
              </a:rPr>
              <a:t>STEP 02</a:t>
            </a:r>
            <a:endParaRPr b="0" i="0" sz="2100" u="none" cap="none" strike="noStrike">
              <a:solidFill>
                <a:srgbClr val="000000"/>
              </a:solidFill>
              <a:latin typeface="Arial"/>
              <a:ea typeface="Arial"/>
              <a:cs typeface="Arial"/>
              <a:sym typeface="Arial"/>
            </a:endParaRPr>
          </a:p>
        </p:txBody>
      </p:sp>
      <p:sp>
        <p:nvSpPr>
          <p:cNvPr id="734" name="Google Shape;734;p30"/>
          <p:cNvSpPr txBox="1"/>
          <p:nvPr/>
        </p:nvSpPr>
        <p:spPr>
          <a:xfrm>
            <a:off x="6829425" y="8206461"/>
            <a:ext cx="60759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7203B"/>
                </a:solidFill>
                <a:latin typeface="Helvetica Neue"/>
                <a:ea typeface="Helvetica Neue"/>
                <a:cs typeface="Helvetica Neue"/>
                <a:sym typeface="Helvetica Neue"/>
              </a:rPr>
              <a:t>Backward LLM Search</a:t>
            </a:r>
            <a:endParaRPr b="0" i="0" sz="2100" u="none" cap="none" strike="noStrike">
              <a:solidFill>
                <a:srgbClr val="000000"/>
              </a:solidFill>
              <a:latin typeface="Arial"/>
              <a:ea typeface="Arial"/>
              <a:cs typeface="Arial"/>
              <a:sym typeface="Arial"/>
            </a:endParaRPr>
          </a:p>
        </p:txBody>
      </p:sp>
      <p:sp>
        <p:nvSpPr>
          <p:cNvPr id="735" name="Google Shape;735;p30"/>
          <p:cNvSpPr txBox="1"/>
          <p:nvPr/>
        </p:nvSpPr>
        <p:spPr>
          <a:xfrm>
            <a:off x="6829425" y="8477923"/>
            <a:ext cx="4771800" cy="433800"/>
          </a:xfrm>
          <a:prstGeom prst="rect">
            <a:avLst/>
          </a:prstGeom>
          <a:noFill/>
          <a:ln>
            <a:noFill/>
          </a:ln>
        </p:spPr>
        <p:txBody>
          <a:bodyPr anchorCtr="0" anchor="t" bIns="0" lIns="0" spcFirstLastPara="1" rIns="0" wrap="square" tIns="0">
            <a:spAutoFit/>
          </a:bodyPr>
          <a:lstStyle/>
          <a:p>
            <a:pPr indent="0" lvl="0" marL="0" marR="0" rtl="0" algn="l">
              <a:lnSpc>
                <a:spcPct val="134909"/>
              </a:lnSpc>
              <a:spcBef>
                <a:spcPts val="0"/>
              </a:spcBef>
              <a:spcAft>
                <a:spcPts val="0"/>
              </a:spcAft>
              <a:buClr>
                <a:srgbClr val="000000"/>
              </a:buClr>
              <a:buSzPts val="1200"/>
              <a:buFont typeface="Arial"/>
              <a:buNone/>
            </a:pPr>
            <a:r>
              <a:rPr b="0" i="0" lang="en-US" sz="1200" u="none" cap="none" strike="noStrike">
                <a:solidFill>
                  <a:srgbClr val="4B5563"/>
                </a:solidFill>
                <a:latin typeface="Helvetica Neue"/>
                <a:ea typeface="Helvetica Neue"/>
                <a:cs typeface="Helvetica Neue"/>
                <a:sym typeface="Helvetica Neue"/>
              </a:rPr>
              <a:t>Inspect raw filing text retrospectively to verify extracted facts against the source.</a:t>
            </a:r>
            <a:endParaRPr b="0" i="0" sz="2100" u="none" cap="none" strike="noStrike">
              <a:solidFill>
                <a:srgbClr val="000000"/>
              </a:solidFill>
              <a:latin typeface="Arial"/>
              <a:ea typeface="Arial"/>
              <a:cs typeface="Arial"/>
              <a:sym typeface="Arial"/>
            </a:endParaRPr>
          </a:p>
        </p:txBody>
      </p:sp>
      <p:sp>
        <p:nvSpPr>
          <p:cNvPr id="736" name="Google Shape;736;p30"/>
          <p:cNvSpPr txBox="1"/>
          <p:nvPr/>
        </p:nvSpPr>
        <p:spPr>
          <a:xfrm>
            <a:off x="12272963" y="8006436"/>
            <a:ext cx="57867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692A4"/>
                </a:solidFill>
                <a:latin typeface="Helvetica Neue"/>
                <a:ea typeface="Helvetica Neue"/>
                <a:cs typeface="Helvetica Neue"/>
                <a:sym typeface="Helvetica Neue"/>
              </a:rPr>
              <a:t>STEP 03</a:t>
            </a:r>
            <a:endParaRPr b="0" i="0" sz="2100" u="none" cap="none" strike="noStrike">
              <a:solidFill>
                <a:srgbClr val="000000"/>
              </a:solidFill>
              <a:latin typeface="Arial"/>
              <a:ea typeface="Arial"/>
              <a:cs typeface="Arial"/>
              <a:sym typeface="Arial"/>
            </a:endParaRPr>
          </a:p>
        </p:txBody>
      </p:sp>
      <p:sp>
        <p:nvSpPr>
          <p:cNvPr id="737" name="Google Shape;737;p30"/>
          <p:cNvSpPr txBox="1"/>
          <p:nvPr/>
        </p:nvSpPr>
        <p:spPr>
          <a:xfrm>
            <a:off x="12272963" y="8206461"/>
            <a:ext cx="60150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7203B"/>
                </a:solidFill>
                <a:latin typeface="Helvetica Neue"/>
                <a:ea typeface="Helvetica Neue"/>
                <a:cs typeface="Helvetica Neue"/>
                <a:sym typeface="Helvetica Neue"/>
              </a:rPr>
              <a:t>Grounding &amp; Drift Audit</a:t>
            </a:r>
            <a:endParaRPr b="0" i="0" sz="2100" u="none" cap="none" strike="noStrike">
              <a:solidFill>
                <a:srgbClr val="000000"/>
              </a:solidFill>
              <a:latin typeface="Arial"/>
              <a:ea typeface="Arial"/>
              <a:cs typeface="Arial"/>
              <a:sym typeface="Arial"/>
            </a:endParaRPr>
          </a:p>
        </p:txBody>
      </p:sp>
      <p:sp>
        <p:nvSpPr>
          <p:cNvPr id="738" name="Google Shape;738;p30"/>
          <p:cNvSpPr txBox="1"/>
          <p:nvPr/>
        </p:nvSpPr>
        <p:spPr>
          <a:xfrm>
            <a:off x="12272963" y="8477923"/>
            <a:ext cx="4771800" cy="433800"/>
          </a:xfrm>
          <a:prstGeom prst="rect">
            <a:avLst/>
          </a:prstGeom>
          <a:noFill/>
          <a:ln>
            <a:noFill/>
          </a:ln>
        </p:spPr>
        <p:txBody>
          <a:bodyPr anchorCtr="0" anchor="t" bIns="0" lIns="0" spcFirstLastPara="1" rIns="0" wrap="square" tIns="0">
            <a:spAutoFit/>
          </a:bodyPr>
          <a:lstStyle/>
          <a:p>
            <a:pPr indent="0" lvl="0" marL="0" marR="0" rtl="0" algn="l">
              <a:lnSpc>
                <a:spcPct val="134909"/>
              </a:lnSpc>
              <a:spcBef>
                <a:spcPts val="0"/>
              </a:spcBef>
              <a:spcAft>
                <a:spcPts val="0"/>
              </a:spcAft>
              <a:buClr>
                <a:srgbClr val="000000"/>
              </a:buClr>
              <a:buSzPts val="1200"/>
              <a:buFont typeface="Arial"/>
              <a:buNone/>
            </a:pPr>
            <a:r>
              <a:rPr b="0" i="0" lang="en-US" sz="1200" u="none" cap="none" strike="noStrike">
                <a:solidFill>
                  <a:srgbClr val="4B5563"/>
                </a:solidFill>
                <a:latin typeface="Helvetica Neue"/>
                <a:ea typeface="Helvetica Neue"/>
                <a:cs typeface="Helvetica Neue"/>
                <a:sym typeface="Helvetica Neue"/>
              </a:rPr>
              <a:t>Detect hallucinations, verify grounding scores, and flag live production drift.</a:t>
            </a:r>
            <a:endParaRPr b="0" i="0" sz="21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42" name="Shape 742"/>
        <p:cNvGrpSpPr/>
        <p:nvPr/>
      </p:nvGrpSpPr>
      <p:grpSpPr>
        <a:xfrm>
          <a:off x="0" y="0"/>
          <a:ext cx="0" cy="0"/>
          <a:chOff x="0" y="0"/>
          <a:chExt cx="0" cy="0"/>
        </a:xfrm>
      </p:grpSpPr>
      <p:sp>
        <p:nvSpPr>
          <p:cNvPr id="743" name="Google Shape;743;p31"/>
          <p:cNvSpPr txBox="1"/>
          <p:nvPr>
            <p:ph type="title"/>
          </p:nvPr>
        </p:nvSpPr>
        <p:spPr>
          <a:xfrm>
            <a:off x="822959" y="960119"/>
            <a:ext cx="16642200" cy="822900"/>
          </a:xfrm>
          <a:prstGeom prst="rect">
            <a:avLst/>
          </a:prstGeom>
          <a:noFill/>
          <a:ln>
            <a:noFill/>
          </a:ln>
        </p:spPr>
        <p:txBody>
          <a:bodyPr anchorCtr="0" anchor="t" bIns="45675" lIns="45675" spcFirstLastPara="1" rIns="45675" wrap="square" tIns="45675">
            <a:normAutofit/>
          </a:bodyPr>
          <a:lstStyle/>
          <a:p>
            <a:pPr indent="0" lvl="0" marL="0" rtl="0" algn="l">
              <a:lnSpc>
                <a:spcPct val="100000"/>
              </a:lnSpc>
              <a:spcBef>
                <a:spcPts val="0"/>
              </a:spcBef>
              <a:spcAft>
                <a:spcPts val="0"/>
              </a:spcAft>
              <a:buClr>
                <a:srgbClr val="04243C"/>
              </a:buClr>
              <a:buSzPts val="3600"/>
              <a:buFont typeface="Helvetica Neue"/>
              <a:buNone/>
            </a:pPr>
            <a:r>
              <a:rPr b="1" lang="en-US" sz="3600">
                <a:solidFill>
                  <a:srgbClr val="04243C"/>
                </a:solidFill>
                <a:latin typeface="Helvetica Neue"/>
                <a:ea typeface="Helvetica Neue"/>
                <a:cs typeface="Helvetica Neue"/>
                <a:sym typeface="Helvetica Neue"/>
              </a:rPr>
              <a:t>From 17,000+ SEC search hits to </a:t>
            </a:r>
            <a:r>
              <a:rPr lang="en-US"/>
              <a:t>561</a:t>
            </a:r>
            <a:r>
              <a:rPr b="1" lang="en-US" sz="3600">
                <a:solidFill>
                  <a:srgbClr val="04243C"/>
                </a:solidFill>
                <a:latin typeface="Helvetica Neue"/>
                <a:ea typeface="Helvetica Neue"/>
                <a:cs typeface="Helvetica Neue"/>
                <a:sym typeface="Helvetica Neue"/>
              </a:rPr>
              <a:t> evidence-backed records</a:t>
            </a:r>
            <a:endParaRPr/>
          </a:p>
        </p:txBody>
      </p:sp>
      <p:sp>
        <p:nvSpPr>
          <p:cNvPr id="744" name="Google Shape;744;p31"/>
          <p:cNvSpPr txBox="1"/>
          <p:nvPr>
            <p:ph idx="4294967295" type="sldNum"/>
          </p:nvPr>
        </p:nvSpPr>
        <p:spPr>
          <a:xfrm>
            <a:off x="17267822" y="9646919"/>
            <a:ext cx="197100" cy="276900"/>
          </a:xfrm>
          <a:prstGeom prst="rect">
            <a:avLst/>
          </a:prstGeom>
          <a:noFill/>
          <a:ln>
            <a:noFill/>
          </a:ln>
        </p:spPr>
        <p:txBody>
          <a:bodyPr anchorCtr="0" anchor="t" bIns="45675" lIns="45675" spcFirstLastPara="1" rIns="45675" wrap="square" tIns="45675">
            <a:spAutoFit/>
          </a:bodyPr>
          <a:lstStyle/>
          <a:p>
            <a:pPr indent="0" lvl="0" marL="0" rtl="0" algn="r">
              <a:lnSpc>
                <a:spcPct val="100000"/>
              </a:lnSpc>
              <a:spcBef>
                <a:spcPts val="0"/>
              </a:spcBef>
              <a:spcAft>
                <a:spcPts val="0"/>
              </a:spcAft>
              <a:buClr>
                <a:srgbClr val="475569"/>
              </a:buClr>
              <a:buSzPts val="1200"/>
              <a:buFont typeface="Helvetica Neue"/>
              <a:buNone/>
            </a:pPr>
            <a:fld id="{00000000-1234-1234-1234-123412341234}" type="slidenum">
              <a:rPr lang="en-US" sz="1200">
                <a:solidFill>
                  <a:srgbClr val="475569"/>
                </a:solidFill>
                <a:latin typeface="Helvetica Neue"/>
                <a:ea typeface="Helvetica Neue"/>
                <a:cs typeface="Helvetica Neue"/>
                <a:sym typeface="Helvetica Neue"/>
              </a:rPr>
              <a:t>‹#›</a:t>
            </a:fld>
            <a:endParaRPr/>
          </a:p>
        </p:txBody>
      </p:sp>
      <p:sp>
        <p:nvSpPr>
          <p:cNvPr id="745" name="Google Shape;745;p31"/>
          <p:cNvSpPr txBox="1"/>
          <p:nvPr/>
        </p:nvSpPr>
        <p:spPr>
          <a:xfrm>
            <a:off x="822960" y="2194560"/>
            <a:ext cx="54864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1"/>
              </a:buClr>
              <a:buSzPts val="2400"/>
              <a:buFont typeface="Helvetica Neue"/>
              <a:buNone/>
            </a:pPr>
            <a:r>
              <a:rPr b="1" i="0" lang="en-US" sz="2400" u="none" cap="none" strike="noStrike">
                <a:solidFill>
                  <a:schemeClr val="accent1"/>
                </a:solidFill>
                <a:latin typeface="Helvetica Neue"/>
                <a:ea typeface="Helvetica Neue"/>
                <a:cs typeface="Helvetica Neue"/>
                <a:sym typeface="Helvetica Neue"/>
              </a:rPr>
              <a:t>Mergers</a:t>
            </a:r>
            <a:endParaRPr/>
          </a:p>
        </p:txBody>
      </p:sp>
      <p:sp>
        <p:nvSpPr>
          <p:cNvPr id="746" name="Google Shape;746;p31"/>
          <p:cNvSpPr/>
          <p:nvPr/>
        </p:nvSpPr>
        <p:spPr>
          <a:xfrm>
            <a:off x="822960" y="2834638"/>
            <a:ext cx="2971800" cy="2286000"/>
          </a:xfrm>
          <a:prstGeom prst="rect">
            <a:avLst/>
          </a:prstGeom>
          <a:solidFill>
            <a:srgbClr val="FFFFFF"/>
          </a:solidFill>
          <a:ln>
            <a:noFill/>
          </a:ln>
          <a:effectLst>
            <a:outerShdw blurRad="203200" rotWithShape="0" dir="5400000" dist="50800">
              <a:srgbClr val="0F172A">
                <a:alpha val="1294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747" name="Google Shape;747;p31"/>
          <p:cNvSpPr txBox="1"/>
          <p:nvPr/>
        </p:nvSpPr>
        <p:spPr>
          <a:xfrm>
            <a:off x="822960" y="3063238"/>
            <a:ext cx="2971800" cy="831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accent1"/>
              </a:buClr>
              <a:buSzPts val="5400"/>
              <a:buFont typeface="Helvetica Neue"/>
              <a:buNone/>
            </a:pPr>
            <a:r>
              <a:rPr b="1" i="0" lang="en-US" sz="5400" u="none" cap="none" strike="noStrike">
                <a:solidFill>
                  <a:schemeClr val="accent1"/>
                </a:solidFill>
                <a:latin typeface="Helvetica Neue"/>
                <a:ea typeface="Helvetica Neue"/>
                <a:cs typeface="Helvetica Neue"/>
                <a:sym typeface="Helvetica Neue"/>
              </a:rPr>
              <a:t>17,316</a:t>
            </a:r>
            <a:endParaRPr/>
          </a:p>
        </p:txBody>
      </p:sp>
      <p:sp>
        <p:nvSpPr>
          <p:cNvPr id="748" name="Google Shape;748;p31"/>
          <p:cNvSpPr txBox="1"/>
          <p:nvPr/>
        </p:nvSpPr>
        <p:spPr>
          <a:xfrm>
            <a:off x="822960" y="4206240"/>
            <a:ext cx="2971800" cy="338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243C"/>
              </a:buClr>
              <a:buSzPts val="2200"/>
              <a:buFont typeface="Helvetica Neue"/>
              <a:buNone/>
            </a:pPr>
            <a:r>
              <a:rPr b="1" i="0" lang="en-US" sz="2200" u="none" cap="none" strike="noStrike">
                <a:solidFill>
                  <a:srgbClr val="04243C"/>
                </a:solidFill>
                <a:latin typeface="Helvetica Neue"/>
                <a:ea typeface="Helvetica Neue"/>
                <a:cs typeface="Helvetica Neue"/>
                <a:sym typeface="Helvetica Neue"/>
              </a:rPr>
              <a:t>search hits</a:t>
            </a:r>
            <a:endParaRPr/>
          </a:p>
        </p:txBody>
      </p:sp>
      <p:cxnSp>
        <p:nvCxnSpPr>
          <p:cNvPr id="749" name="Google Shape;749;p31"/>
          <p:cNvCxnSpPr/>
          <p:nvPr/>
        </p:nvCxnSpPr>
        <p:spPr>
          <a:xfrm>
            <a:off x="3858767" y="3977638"/>
            <a:ext cx="329100" cy="0"/>
          </a:xfrm>
          <a:prstGeom prst="straightConnector1">
            <a:avLst/>
          </a:prstGeom>
          <a:noFill/>
          <a:ln cap="flat" cmpd="sng" w="25400">
            <a:solidFill>
              <a:schemeClr val="accent1"/>
            </a:solidFill>
            <a:prstDash val="solid"/>
            <a:round/>
            <a:headEnd len="sm" w="sm" type="none"/>
            <a:tailEnd len="med" w="med" type="triangle"/>
          </a:ln>
        </p:spPr>
      </p:cxnSp>
      <p:sp>
        <p:nvSpPr>
          <p:cNvPr id="750" name="Google Shape;750;p31"/>
          <p:cNvSpPr/>
          <p:nvPr/>
        </p:nvSpPr>
        <p:spPr>
          <a:xfrm>
            <a:off x="4251959" y="2834638"/>
            <a:ext cx="2971800" cy="2286000"/>
          </a:xfrm>
          <a:prstGeom prst="rect">
            <a:avLst/>
          </a:prstGeom>
          <a:solidFill>
            <a:srgbClr val="FFFFFF"/>
          </a:solidFill>
          <a:ln>
            <a:noFill/>
          </a:ln>
          <a:effectLst>
            <a:outerShdw blurRad="203200" rotWithShape="0" dir="5400000" dist="50800">
              <a:srgbClr val="0F172A">
                <a:alpha val="1294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751" name="Google Shape;751;p31"/>
          <p:cNvSpPr txBox="1"/>
          <p:nvPr/>
        </p:nvSpPr>
        <p:spPr>
          <a:xfrm>
            <a:off x="4251959" y="3063238"/>
            <a:ext cx="2971800" cy="831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accent1"/>
              </a:buClr>
              <a:buSzPts val="5400"/>
              <a:buFont typeface="Helvetica Neue"/>
              <a:buNone/>
            </a:pPr>
            <a:r>
              <a:rPr b="1" i="0" lang="en-US" sz="5400" u="none" cap="none" strike="noStrike">
                <a:solidFill>
                  <a:schemeClr val="accent1"/>
                </a:solidFill>
                <a:latin typeface="Helvetica Neue"/>
                <a:ea typeface="Helvetica Neue"/>
                <a:cs typeface="Helvetica Neue"/>
                <a:sym typeface="Helvetica Neue"/>
              </a:rPr>
              <a:t>2,144</a:t>
            </a:r>
            <a:endParaRPr/>
          </a:p>
        </p:txBody>
      </p:sp>
      <p:sp>
        <p:nvSpPr>
          <p:cNvPr id="752" name="Google Shape;752;p31"/>
          <p:cNvSpPr txBox="1"/>
          <p:nvPr/>
        </p:nvSpPr>
        <p:spPr>
          <a:xfrm>
            <a:off x="4251959" y="4206240"/>
            <a:ext cx="2971800" cy="338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243C"/>
              </a:buClr>
              <a:buSzPts val="2200"/>
              <a:buFont typeface="Helvetica Neue"/>
              <a:buNone/>
            </a:pPr>
            <a:r>
              <a:rPr b="1" i="0" lang="en-US" sz="2200" u="none" cap="none" strike="noStrike">
                <a:solidFill>
                  <a:srgbClr val="04243C"/>
                </a:solidFill>
                <a:latin typeface="Helvetica Neue"/>
                <a:ea typeface="Helvetica Neue"/>
                <a:cs typeface="Helvetica Neue"/>
                <a:sym typeface="Helvetica Neue"/>
              </a:rPr>
              <a:t>filings retrieved</a:t>
            </a:r>
            <a:endParaRPr/>
          </a:p>
        </p:txBody>
      </p:sp>
      <p:cxnSp>
        <p:nvCxnSpPr>
          <p:cNvPr id="753" name="Google Shape;753;p31"/>
          <p:cNvCxnSpPr/>
          <p:nvPr/>
        </p:nvCxnSpPr>
        <p:spPr>
          <a:xfrm>
            <a:off x="7287768" y="3977638"/>
            <a:ext cx="329100" cy="0"/>
          </a:xfrm>
          <a:prstGeom prst="straightConnector1">
            <a:avLst/>
          </a:prstGeom>
          <a:noFill/>
          <a:ln cap="flat" cmpd="sng" w="25400">
            <a:solidFill>
              <a:schemeClr val="accent1"/>
            </a:solidFill>
            <a:prstDash val="solid"/>
            <a:round/>
            <a:headEnd len="sm" w="sm" type="none"/>
            <a:tailEnd len="med" w="med" type="triangle"/>
          </a:ln>
        </p:spPr>
      </p:cxnSp>
      <p:sp>
        <p:nvSpPr>
          <p:cNvPr id="754" name="Google Shape;754;p31"/>
          <p:cNvSpPr/>
          <p:nvPr/>
        </p:nvSpPr>
        <p:spPr>
          <a:xfrm>
            <a:off x="7680959" y="2834638"/>
            <a:ext cx="2971800" cy="2286000"/>
          </a:xfrm>
          <a:prstGeom prst="rect">
            <a:avLst/>
          </a:prstGeom>
          <a:solidFill>
            <a:srgbClr val="FFFFFF"/>
          </a:solidFill>
          <a:ln>
            <a:noFill/>
          </a:ln>
          <a:effectLst>
            <a:outerShdw blurRad="203200" rotWithShape="0" dir="5400000" dist="50800">
              <a:srgbClr val="0F172A">
                <a:alpha val="1294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755" name="Google Shape;755;p31"/>
          <p:cNvSpPr txBox="1"/>
          <p:nvPr/>
        </p:nvSpPr>
        <p:spPr>
          <a:xfrm>
            <a:off x="7680959" y="3063238"/>
            <a:ext cx="2971800" cy="831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accent1"/>
              </a:buClr>
              <a:buSzPts val="5400"/>
              <a:buFont typeface="Helvetica Neue"/>
              <a:buNone/>
            </a:pPr>
            <a:r>
              <a:rPr b="1" i="0" lang="en-US" sz="5400" u="none" cap="none" strike="noStrike">
                <a:solidFill>
                  <a:schemeClr val="accent1"/>
                </a:solidFill>
                <a:latin typeface="Helvetica Neue"/>
                <a:ea typeface="Helvetica Neue"/>
                <a:cs typeface="Helvetica Neue"/>
                <a:sym typeface="Helvetica Neue"/>
              </a:rPr>
              <a:t>100</a:t>
            </a:r>
            <a:endParaRPr/>
          </a:p>
        </p:txBody>
      </p:sp>
      <p:sp>
        <p:nvSpPr>
          <p:cNvPr id="756" name="Google Shape;756;p31"/>
          <p:cNvSpPr txBox="1"/>
          <p:nvPr/>
        </p:nvSpPr>
        <p:spPr>
          <a:xfrm>
            <a:off x="7680959" y="4206240"/>
            <a:ext cx="2971800" cy="338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243C"/>
              </a:buClr>
              <a:buSzPts val="2200"/>
              <a:buFont typeface="Helvetica Neue"/>
              <a:buNone/>
            </a:pPr>
            <a:r>
              <a:rPr b="1" i="0" lang="en-US" sz="2200" u="none" cap="none" strike="noStrike">
                <a:solidFill>
                  <a:srgbClr val="04243C"/>
                </a:solidFill>
                <a:latin typeface="Helvetica Neue"/>
                <a:ea typeface="Helvetica Neue"/>
                <a:cs typeface="Helvetica Neue"/>
                <a:sym typeface="Helvetica Neue"/>
              </a:rPr>
              <a:t>sampled</a:t>
            </a:r>
            <a:endParaRPr/>
          </a:p>
        </p:txBody>
      </p:sp>
      <p:cxnSp>
        <p:nvCxnSpPr>
          <p:cNvPr id="757" name="Google Shape;757;p31"/>
          <p:cNvCxnSpPr/>
          <p:nvPr/>
        </p:nvCxnSpPr>
        <p:spPr>
          <a:xfrm>
            <a:off x="10716768" y="3977638"/>
            <a:ext cx="329100" cy="0"/>
          </a:xfrm>
          <a:prstGeom prst="straightConnector1">
            <a:avLst/>
          </a:prstGeom>
          <a:noFill/>
          <a:ln cap="flat" cmpd="sng" w="25400">
            <a:solidFill>
              <a:schemeClr val="accent1"/>
            </a:solidFill>
            <a:prstDash val="solid"/>
            <a:round/>
            <a:headEnd len="sm" w="sm" type="none"/>
            <a:tailEnd len="med" w="med" type="triangle"/>
          </a:ln>
        </p:spPr>
      </p:cxnSp>
      <p:sp>
        <p:nvSpPr>
          <p:cNvPr id="758" name="Google Shape;758;p31"/>
          <p:cNvSpPr/>
          <p:nvPr/>
        </p:nvSpPr>
        <p:spPr>
          <a:xfrm>
            <a:off x="11109959" y="2834638"/>
            <a:ext cx="2971800" cy="2286000"/>
          </a:xfrm>
          <a:prstGeom prst="rect">
            <a:avLst/>
          </a:prstGeom>
          <a:solidFill>
            <a:srgbClr val="FFFFFF"/>
          </a:solidFill>
          <a:ln>
            <a:noFill/>
          </a:ln>
          <a:effectLst>
            <a:outerShdw blurRad="203200" rotWithShape="0" dir="5400000" dist="50800">
              <a:srgbClr val="0F172A">
                <a:alpha val="1294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759" name="Google Shape;759;p31"/>
          <p:cNvSpPr txBox="1"/>
          <p:nvPr/>
        </p:nvSpPr>
        <p:spPr>
          <a:xfrm>
            <a:off x="11109959" y="3063238"/>
            <a:ext cx="2971800" cy="831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accent1"/>
              </a:buClr>
              <a:buSzPts val="5400"/>
              <a:buFont typeface="Helvetica Neue"/>
              <a:buNone/>
            </a:pPr>
            <a:r>
              <a:rPr b="1" i="0" lang="en-US" sz="5400" u="none" cap="none" strike="noStrike">
                <a:solidFill>
                  <a:schemeClr val="accent1"/>
                </a:solidFill>
                <a:latin typeface="Helvetica Neue"/>
                <a:ea typeface="Helvetica Neue"/>
                <a:cs typeface="Helvetica Neue"/>
                <a:sym typeface="Helvetica Neue"/>
              </a:rPr>
              <a:t>7</a:t>
            </a:r>
            <a:r>
              <a:rPr b="1" lang="en-US" sz="5400">
                <a:solidFill>
                  <a:schemeClr val="accent1"/>
                </a:solidFill>
                <a:latin typeface="Helvetica Neue"/>
                <a:ea typeface="Helvetica Neue"/>
                <a:cs typeface="Helvetica Neue"/>
                <a:sym typeface="Helvetica Neue"/>
              </a:rPr>
              <a:t>1</a:t>
            </a:r>
            <a:endParaRPr/>
          </a:p>
        </p:txBody>
      </p:sp>
      <p:sp>
        <p:nvSpPr>
          <p:cNvPr id="760" name="Google Shape;760;p31"/>
          <p:cNvSpPr txBox="1"/>
          <p:nvPr/>
        </p:nvSpPr>
        <p:spPr>
          <a:xfrm>
            <a:off x="11109959" y="4206240"/>
            <a:ext cx="2971800" cy="338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243C"/>
              </a:buClr>
              <a:buSzPts val="2200"/>
              <a:buFont typeface="Helvetica Neue"/>
              <a:buNone/>
            </a:pPr>
            <a:r>
              <a:rPr b="1" i="0" lang="en-US" sz="2200" u="none" cap="none" strike="noStrike">
                <a:solidFill>
                  <a:srgbClr val="04243C"/>
                </a:solidFill>
                <a:latin typeface="Helvetica Neue"/>
                <a:ea typeface="Helvetica Neue"/>
                <a:cs typeface="Helvetica Neue"/>
                <a:sym typeface="Helvetica Neue"/>
              </a:rPr>
              <a:t>extracted</a:t>
            </a:r>
            <a:endParaRPr/>
          </a:p>
        </p:txBody>
      </p:sp>
      <p:cxnSp>
        <p:nvCxnSpPr>
          <p:cNvPr id="761" name="Google Shape;761;p31"/>
          <p:cNvCxnSpPr/>
          <p:nvPr/>
        </p:nvCxnSpPr>
        <p:spPr>
          <a:xfrm>
            <a:off x="14145767" y="3977638"/>
            <a:ext cx="329100" cy="0"/>
          </a:xfrm>
          <a:prstGeom prst="straightConnector1">
            <a:avLst/>
          </a:prstGeom>
          <a:noFill/>
          <a:ln cap="flat" cmpd="sng" w="25400">
            <a:solidFill>
              <a:schemeClr val="accent1"/>
            </a:solidFill>
            <a:prstDash val="solid"/>
            <a:round/>
            <a:headEnd len="sm" w="sm" type="none"/>
            <a:tailEnd len="med" w="med" type="triangle"/>
          </a:ln>
        </p:spPr>
      </p:cxnSp>
      <p:sp>
        <p:nvSpPr>
          <p:cNvPr id="762" name="Google Shape;762;p31"/>
          <p:cNvSpPr/>
          <p:nvPr/>
        </p:nvSpPr>
        <p:spPr>
          <a:xfrm>
            <a:off x="14538960" y="2834638"/>
            <a:ext cx="2971800" cy="2286000"/>
          </a:xfrm>
          <a:prstGeom prst="rect">
            <a:avLst/>
          </a:prstGeom>
          <a:solidFill>
            <a:srgbClr val="04243C"/>
          </a:solidFill>
          <a:ln>
            <a:noFill/>
          </a:ln>
          <a:effectLst>
            <a:outerShdw blurRad="203200" rotWithShape="0" dir="5400000" dist="50800">
              <a:srgbClr val="0F172A">
                <a:alpha val="1294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763" name="Google Shape;763;p31"/>
          <p:cNvSpPr txBox="1"/>
          <p:nvPr/>
        </p:nvSpPr>
        <p:spPr>
          <a:xfrm>
            <a:off x="14538960" y="3063238"/>
            <a:ext cx="2971800" cy="831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FFFFF"/>
              </a:buClr>
              <a:buSzPts val="5400"/>
              <a:buFont typeface="Helvetica Neue"/>
              <a:buNone/>
            </a:pPr>
            <a:r>
              <a:rPr b="1" i="0" lang="en-US" sz="5400" u="none" cap="none" strike="noStrike">
                <a:solidFill>
                  <a:srgbClr val="FFFFFF"/>
                </a:solidFill>
                <a:latin typeface="Helvetica Neue"/>
                <a:ea typeface="Helvetica Neue"/>
                <a:cs typeface="Helvetica Neue"/>
                <a:sym typeface="Helvetica Neue"/>
              </a:rPr>
              <a:t>118</a:t>
            </a:r>
            <a:endParaRPr/>
          </a:p>
        </p:txBody>
      </p:sp>
      <p:sp>
        <p:nvSpPr>
          <p:cNvPr id="764" name="Google Shape;764;p31"/>
          <p:cNvSpPr txBox="1"/>
          <p:nvPr/>
        </p:nvSpPr>
        <p:spPr>
          <a:xfrm>
            <a:off x="14538960" y="4206240"/>
            <a:ext cx="2971800" cy="338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FFFFF"/>
              </a:buClr>
              <a:buSzPts val="2200"/>
              <a:buFont typeface="Helvetica Neue"/>
              <a:buNone/>
            </a:pPr>
            <a:r>
              <a:rPr b="1" i="0" lang="en-US" sz="2200" u="none" cap="none" strike="noStrike">
                <a:solidFill>
                  <a:srgbClr val="FFFFFF"/>
                </a:solidFill>
                <a:latin typeface="Helvetica Neue"/>
                <a:ea typeface="Helvetica Neue"/>
                <a:cs typeface="Helvetica Neue"/>
                <a:sym typeface="Helvetica Neue"/>
              </a:rPr>
              <a:t>records</a:t>
            </a:r>
            <a:endParaRPr/>
          </a:p>
        </p:txBody>
      </p:sp>
      <p:sp>
        <p:nvSpPr>
          <p:cNvPr id="765" name="Google Shape;765;p31"/>
          <p:cNvSpPr txBox="1"/>
          <p:nvPr/>
        </p:nvSpPr>
        <p:spPr>
          <a:xfrm>
            <a:off x="822960" y="5760720"/>
            <a:ext cx="54864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1"/>
              </a:buClr>
              <a:buSzPts val="2400"/>
              <a:buFont typeface="Helvetica Neue"/>
              <a:buNone/>
            </a:pPr>
            <a:r>
              <a:rPr b="1" i="0" lang="en-US" sz="2400" u="none" cap="none" strike="noStrike">
                <a:solidFill>
                  <a:schemeClr val="accent1"/>
                </a:solidFill>
                <a:latin typeface="Helvetica Neue"/>
                <a:ea typeface="Helvetica Neue"/>
                <a:cs typeface="Helvetica Neue"/>
                <a:sym typeface="Helvetica Neue"/>
              </a:rPr>
              <a:t>Tender offers</a:t>
            </a:r>
            <a:endParaRPr/>
          </a:p>
        </p:txBody>
      </p:sp>
      <p:sp>
        <p:nvSpPr>
          <p:cNvPr id="766" name="Google Shape;766;p31"/>
          <p:cNvSpPr/>
          <p:nvPr/>
        </p:nvSpPr>
        <p:spPr>
          <a:xfrm>
            <a:off x="7680959" y="6400800"/>
            <a:ext cx="2971800" cy="2286000"/>
          </a:xfrm>
          <a:prstGeom prst="rect">
            <a:avLst/>
          </a:prstGeom>
          <a:solidFill>
            <a:srgbClr val="FFFFFF"/>
          </a:solidFill>
          <a:ln>
            <a:noFill/>
          </a:ln>
          <a:effectLst>
            <a:outerShdw blurRad="203200" rotWithShape="0" dir="5400000" dist="50800">
              <a:srgbClr val="0F172A">
                <a:alpha val="1294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767" name="Google Shape;767;p31"/>
          <p:cNvSpPr txBox="1"/>
          <p:nvPr/>
        </p:nvSpPr>
        <p:spPr>
          <a:xfrm>
            <a:off x="7680959" y="6629400"/>
            <a:ext cx="2971800" cy="831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accent1"/>
              </a:buClr>
              <a:buSzPts val="5400"/>
              <a:buFont typeface="Helvetica Neue"/>
              <a:buNone/>
            </a:pPr>
            <a:r>
              <a:rPr b="1" lang="en-US" sz="5400">
                <a:solidFill>
                  <a:schemeClr val="accent1"/>
                </a:solidFill>
                <a:latin typeface="Helvetica Neue"/>
                <a:ea typeface="Helvetica Neue"/>
                <a:cs typeface="Helvetica Neue"/>
                <a:sym typeface="Helvetica Neue"/>
              </a:rPr>
              <a:t>507</a:t>
            </a:r>
            <a:endParaRPr/>
          </a:p>
        </p:txBody>
      </p:sp>
      <p:sp>
        <p:nvSpPr>
          <p:cNvPr id="768" name="Google Shape;768;p31"/>
          <p:cNvSpPr txBox="1"/>
          <p:nvPr/>
        </p:nvSpPr>
        <p:spPr>
          <a:xfrm>
            <a:off x="7680959" y="7772399"/>
            <a:ext cx="2971800" cy="338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243C"/>
              </a:buClr>
              <a:buSzPts val="2200"/>
              <a:buFont typeface="Helvetica Neue"/>
              <a:buNone/>
            </a:pPr>
            <a:r>
              <a:rPr b="1" i="0" lang="en-US" sz="2200" u="none" cap="none" strike="noStrike">
                <a:solidFill>
                  <a:srgbClr val="04243C"/>
                </a:solidFill>
                <a:latin typeface="Helvetica Neue"/>
                <a:ea typeface="Helvetica Neue"/>
                <a:cs typeface="Helvetica Neue"/>
                <a:sym typeface="Helvetica Neue"/>
              </a:rPr>
              <a:t>sampled</a:t>
            </a:r>
            <a:endParaRPr/>
          </a:p>
        </p:txBody>
      </p:sp>
      <p:cxnSp>
        <p:nvCxnSpPr>
          <p:cNvPr id="769" name="Google Shape;769;p31"/>
          <p:cNvCxnSpPr/>
          <p:nvPr/>
        </p:nvCxnSpPr>
        <p:spPr>
          <a:xfrm>
            <a:off x="10716768" y="7543800"/>
            <a:ext cx="329100" cy="0"/>
          </a:xfrm>
          <a:prstGeom prst="straightConnector1">
            <a:avLst/>
          </a:prstGeom>
          <a:noFill/>
          <a:ln cap="flat" cmpd="sng" w="25400">
            <a:solidFill>
              <a:schemeClr val="accent1"/>
            </a:solidFill>
            <a:prstDash val="solid"/>
            <a:round/>
            <a:headEnd len="sm" w="sm" type="none"/>
            <a:tailEnd len="med" w="med" type="triangle"/>
          </a:ln>
        </p:spPr>
      </p:cxnSp>
      <p:sp>
        <p:nvSpPr>
          <p:cNvPr id="770" name="Google Shape;770;p31"/>
          <p:cNvSpPr/>
          <p:nvPr/>
        </p:nvSpPr>
        <p:spPr>
          <a:xfrm>
            <a:off x="11109959" y="6400800"/>
            <a:ext cx="2971800" cy="2286000"/>
          </a:xfrm>
          <a:prstGeom prst="rect">
            <a:avLst/>
          </a:prstGeom>
          <a:solidFill>
            <a:srgbClr val="FFFFFF"/>
          </a:solidFill>
          <a:ln>
            <a:noFill/>
          </a:ln>
          <a:effectLst>
            <a:outerShdw blurRad="203200" rotWithShape="0" dir="5400000" dist="50800">
              <a:srgbClr val="0F172A">
                <a:alpha val="1294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771" name="Google Shape;771;p31"/>
          <p:cNvSpPr txBox="1"/>
          <p:nvPr/>
        </p:nvSpPr>
        <p:spPr>
          <a:xfrm>
            <a:off x="11109959" y="6629400"/>
            <a:ext cx="2971800" cy="831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accent1"/>
              </a:buClr>
              <a:buSzPts val="5400"/>
              <a:buFont typeface="Helvetica Neue"/>
              <a:buNone/>
            </a:pPr>
            <a:r>
              <a:rPr b="1" lang="en-US" sz="5400">
                <a:solidFill>
                  <a:schemeClr val="accent1"/>
                </a:solidFill>
                <a:latin typeface="Helvetica Neue"/>
                <a:ea typeface="Helvetica Neue"/>
                <a:cs typeface="Helvetica Neue"/>
                <a:sym typeface="Helvetica Neue"/>
              </a:rPr>
              <a:t>507</a:t>
            </a:r>
            <a:endParaRPr/>
          </a:p>
        </p:txBody>
      </p:sp>
      <p:sp>
        <p:nvSpPr>
          <p:cNvPr id="772" name="Google Shape;772;p31"/>
          <p:cNvSpPr txBox="1"/>
          <p:nvPr/>
        </p:nvSpPr>
        <p:spPr>
          <a:xfrm>
            <a:off x="11109959" y="7772399"/>
            <a:ext cx="2971800" cy="338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243C"/>
              </a:buClr>
              <a:buSzPts val="2200"/>
              <a:buFont typeface="Helvetica Neue"/>
              <a:buNone/>
            </a:pPr>
            <a:r>
              <a:rPr b="1" i="0" lang="en-US" sz="2200" u="none" cap="none" strike="noStrike">
                <a:solidFill>
                  <a:srgbClr val="04243C"/>
                </a:solidFill>
                <a:latin typeface="Helvetica Neue"/>
                <a:ea typeface="Helvetica Neue"/>
                <a:cs typeface="Helvetica Neue"/>
                <a:sym typeface="Helvetica Neue"/>
              </a:rPr>
              <a:t>extracted</a:t>
            </a:r>
            <a:endParaRPr/>
          </a:p>
        </p:txBody>
      </p:sp>
      <p:cxnSp>
        <p:nvCxnSpPr>
          <p:cNvPr id="773" name="Google Shape;773;p31"/>
          <p:cNvCxnSpPr/>
          <p:nvPr/>
        </p:nvCxnSpPr>
        <p:spPr>
          <a:xfrm>
            <a:off x="14145767" y="7543800"/>
            <a:ext cx="329100" cy="0"/>
          </a:xfrm>
          <a:prstGeom prst="straightConnector1">
            <a:avLst/>
          </a:prstGeom>
          <a:noFill/>
          <a:ln cap="flat" cmpd="sng" w="25400">
            <a:solidFill>
              <a:schemeClr val="accent1"/>
            </a:solidFill>
            <a:prstDash val="solid"/>
            <a:round/>
            <a:headEnd len="sm" w="sm" type="none"/>
            <a:tailEnd len="med" w="med" type="triangle"/>
          </a:ln>
        </p:spPr>
      </p:cxnSp>
      <p:sp>
        <p:nvSpPr>
          <p:cNvPr id="774" name="Google Shape;774;p31"/>
          <p:cNvSpPr/>
          <p:nvPr/>
        </p:nvSpPr>
        <p:spPr>
          <a:xfrm>
            <a:off x="14538960" y="6400800"/>
            <a:ext cx="2971800" cy="2286000"/>
          </a:xfrm>
          <a:prstGeom prst="rect">
            <a:avLst/>
          </a:prstGeom>
          <a:solidFill>
            <a:srgbClr val="04243C"/>
          </a:solidFill>
          <a:ln>
            <a:noFill/>
          </a:ln>
          <a:effectLst>
            <a:outerShdw blurRad="203200" rotWithShape="0" dir="5400000" dist="50800">
              <a:srgbClr val="0F172A">
                <a:alpha val="1294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775" name="Google Shape;775;p31"/>
          <p:cNvSpPr txBox="1"/>
          <p:nvPr/>
        </p:nvSpPr>
        <p:spPr>
          <a:xfrm>
            <a:off x="14538960" y="6629400"/>
            <a:ext cx="2971800" cy="831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FFFFF"/>
              </a:buClr>
              <a:buSzPts val="5400"/>
              <a:buFont typeface="Helvetica Neue"/>
              <a:buNone/>
            </a:pPr>
            <a:r>
              <a:rPr b="1" lang="en-US" sz="5400">
                <a:solidFill>
                  <a:srgbClr val="FFFFFF"/>
                </a:solidFill>
                <a:latin typeface="Helvetica Neue"/>
                <a:ea typeface="Helvetica Neue"/>
                <a:cs typeface="Helvetica Neue"/>
                <a:sym typeface="Helvetica Neue"/>
              </a:rPr>
              <a:t>613</a:t>
            </a:r>
            <a:endParaRPr/>
          </a:p>
        </p:txBody>
      </p:sp>
      <p:sp>
        <p:nvSpPr>
          <p:cNvPr id="776" name="Google Shape;776;p31"/>
          <p:cNvSpPr txBox="1"/>
          <p:nvPr/>
        </p:nvSpPr>
        <p:spPr>
          <a:xfrm>
            <a:off x="14538960" y="7772399"/>
            <a:ext cx="2971800" cy="338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FFFFF"/>
              </a:buClr>
              <a:buSzPts val="2200"/>
              <a:buFont typeface="Helvetica Neue"/>
              <a:buNone/>
            </a:pPr>
            <a:r>
              <a:rPr b="1" i="0" lang="en-US" sz="2200" u="none" cap="none" strike="noStrike">
                <a:solidFill>
                  <a:srgbClr val="FFFFFF"/>
                </a:solidFill>
                <a:latin typeface="Helvetica Neue"/>
                <a:ea typeface="Helvetica Neue"/>
                <a:cs typeface="Helvetica Neue"/>
                <a:sym typeface="Helvetica Neue"/>
              </a:rPr>
              <a:t>records</a:t>
            </a:r>
            <a:endParaRPr/>
          </a:p>
        </p:txBody>
      </p:sp>
      <p:sp>
        <p:nvSpPr>
          <p:cNvPr id="777" name="Google Shape;777;p31"/>
          <p:cNvSpPr txBox="1"/>
          <p:nvPr/>
        </p:nvSpPr>
        <p:spPr>
          <a:xfrm>
            <a:off x="4251959" y="5212079"/>
            <a:ext cx="2971800" cy="246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475569"/>
              </a:buClr>
              <a:buSzPts val="1600"/>
              <a:buFont typeface="Helvetica Neue"/>
              <a:buNone/>
            </a:pPr>
            <a:r>
              <a:rPr b="0" i="1" lang="en-US" sz="1600" u="none" cap="none" strike="noStrike">
                <a:solidFill>
                  <a:srgbClr val="475569"/>
                </a:solidFill>
                <a:latin typeface="Helvetica Neue"/>
                <a:ea typeface="Helvetica Neue"/>
                <a:cs typeface="Helvetica Neue"/>
                <a:sym typeface="Helvetica Neue"/>
              </a:rPr>
              <a:t>capped at 500 per form</a:t>
            </a:r>
            <a:endParaRPr/>
          </a:p>
        </p:txBody>
      </p:sp>
      <p:sp>
        <p:nvSpPr>
          <p:cNvPr id="778" name="Google Shape;778;p31"/>
          <p:cNvSpPr/>
          <p:nvPr/>
        </p:nvSpPr>
        <p:spPr>
          <a:xfrm>
            <a:off x="822960" y="6400800"/>
            <a:ext cx="6400800" cy="2377500"/>
          </a:xfrm>
          <a:prstGeom prst="rect">
            <a:avLst/>
          </a:prstGeom>
          <a:solidFill>
            <a:srgbClr val="F1F5F9"/>
          </a:solidFill>
          <a:ln>
            <a:noFill/>
          </a:ln>
          <a:effectLst>
            <a:outerShdw blurRad="203200" rotWithShape="0" dir="5400000" dist="50800">
              <a:srgbClr val="0F172A">
                <a:alpha val="1294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Helvetica Neue"/>
              <a:buNone/>
            </a:pPr>
            <a:r>
              <a:t/>
            </a:r>
            <a:endParaRPr b="0" i="0" sz="1400" u="none" cap="none" strike="noStrike">
              <a:solidFill>
                <a:srgbClr val="000000"/>
              </a:solidFill>
              <a:latin typeface="Helvetica Neue"/>
              <a:ea typeface="Helvetica Neue"/>
              <a:cs typeface="Helvetica Neue"/>
              <a:sym typeface="Helvetica Neue"/>
            </a:endParaRPr>
          </a:p>
        </p:txBody>
      </p:sp>
      <p:sp>
        <p:nvSpPr>
          <p:cNvPr id="779" name="Google Shape;779;p31"/>
          <p:cNvSpPr txBox="1"/>
          <p:nvPr/>
        </p:nvSpPr>
        <p:spPr>
          <a:xfrm>
            <a:off x="1188720" y="7263188"/>
            <a:ext cx="5669400" cy="646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4243C"/>
              </a:buClr>
              <a:buSzPts val="2100"/>
              <a:buFont typeface="Helvetica Neue"/>
              <a:buNone/>
            </a:pPr>
            <a:r>
              <a:rPr b="1" i="0" lang="en-US" sz="2100" u="none" cap="none" strike="noStrike">
                <a:solidFill>
                  <a:srgbClr val="04243C"/>
                </a:solidFill>
                <a:latin typeface="Helvetica Neue"/>
                <a:ea typeface="Helvetica Neue"/>
                <a:cs typeface="Helvetica Neue"/>
                <a:sym typeface="Helvetica Neue"/>
              </a:rPr>
              <a:t>Same loader and prompts for every corporate-action type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84" name="Shape 784"/>
        <p:cNvGrpSpPr/>
        <p:nvPr/>
      </p:nvGrpSpPr>
      <p:grpSpPr>
        <a:xfrm>
          <a:off x="0" y="0"/>
          <a:ext cx="0" cy="0"/>
          <a:chOff x="0" y="0"/>
          <a:chExt cx="0" cy="0"/>
        </a:xfrm>
      </p:grpSpPr>
      <p:sp>
        <p:nvSpPr>
          <p:cNvPr id="785" name="Google Shape;785;p32"/>
          <p:cNvSpPr txBox="1"/>
          <p:nvPr>
            <p:ph type="title"/>
          </p:nvPr>
        </p:nvSpPr>
        <p:spPr>
          <a:xfrm>
            <a:off x="822960" y="3931920"/>
            <a:ext cx="12801600" cy="1463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6000"/>
              <a:buNone/>
            </a:pPr>
            <a:r>
              <a:rPr lang="en-US"/>
              <a:t>Templates</a:t>
            </a:r>
            <a:endParaRPr/>
          </a:p>
          <a:p>
            <a:pPr indent="0" lvl="0" marL="0" rtl="0" algn="l">
              <a:lnSpc>
                <a:spcPct val="100000"/>
              </a:lnSpc>
              <a:spcBef>
                <a:spcPts val="0"/>
              </a:spcBef>
              <a:spcAft>
                <a:spcPts val="0"/>
              </a:spcAft>
              <a:buSzPts val="60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90" name="Shape 790"/>
        <p:cNvGrpSpPr/>
        <p:nvPr/>
      </p:nvGrpSpPr>
      <p:grpSpPr>
        <a:xfrm>
          <a:off x="0" y="0"/>
          <a:ext cx="0" cy="0"/>
          <a:chOff x="0" y="0"/>
          <a:chExt cx="0" cy="0"/>
        </a:xfrm>
      </p:grpSpPr>
      <p:sp>
        <p:nvSpPr>
          <p:cNvPr id="791" name="Google Shape;791;p33"/>
          <p:cNvSpPr txBox="1"/>
          <p:nvPr>
            <p:ph type="title"/>
          </p:nvPr>
        </p:nvSpPr>
        <p:spPr>
          <a:xfrm>
            <a:off x="822960" y="3931920"/>
            <a:ext cx="12801600" cy="1463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6000"/>
              <a:buFont typeface="Arial"/>
              <a:buNone/>
            </a:pPr>
            <a:r>
              <a:rPr b="1" lang="en-US" sz="6000">
                <a:solidFill>
                  <a:schemeClr val="dk1"/>
                </a:solidFill>
              </a:rPr>
              <a:t>Section Title</a:t>
            </a:r>
            <a:endParaRPr sz="6000"/>
          </a:p>
        </p:txBody>
      </p:sp>
      <p:sp>
        <p:nvSpPr>
          <p:cNvPr id="792" name="Google Shape;792;p33"/>
          <p:cNvSpPr txBox="1"/>
          <p:nvPr/>
        </p:nvSpPr>
        <p:spPr>
          <a:xfrm>
            <a:off x="822960" y="5394960"/>
            <a:ext cx="12801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2400"/>
              <a:buFont typeface="Arial"/>
              <a:buNone/>
            </a:pPr>
            <a:r>
              <a:rPr b="0" i="0" lang="en-US" sz="2400" u="none" cap="none" strike="noStrike">
                <a:solidFill>
                  <a:schemeClr val="accent1"/>
                </a:solidFill>
                <a:latin typeface="Helvetica Neue"/>
                <a:ea typeface="Helvetica Neue"/>
                <a:cs typeface="Helvetica Neue"/>
                <a:sym typeface="Helvetica Neue"/>
              </a:rPr>
              <a:t>Optional one-line description of this section</a:t>
            </a:r>
            <a:endParaRPr b="0" i="0" sz="2400" u="none" cap="none" strike="noStrike">
              <a:solidFill>
                <a:schemeClr val="dk1"/>
              </a:solidFill>
              <a:latin typeface="Helvetica Neue"/>
              <a:ea typeface="Helvetica Neue"/>
              <a:cs typeface="Helvetica Neue"/>
              <a:sym typeface="Helvetica Neue"/>
            </a:endParaRPr>
          </a:p>
        </p:txBody>
      </p:sp>
      <p:sp>
        <p:nvSpPr>
          <p:cNvPr id="793" name="Google Shape;793;p33"/>
          <p:cNvSpPr txBox="1"/>
          <p:nvPr>
            <p:ph idx="4294967295" type="sldNum"/>
          </p:nvPr>
        </p:nvSpPr>
        <p:spPr>
          <a:xfrm>
            <a:off x="16550640" y="9646920"/>
            <a:ext cx="914400" cy="36576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2"/>
                </a:solidFill>
                <a:latin typeface="Helvetica Neue"/>
                <a:ea typeface="Helvetica Neue"/>
                <a:cs typeface="Helvetica Neue"/>
                <a:sym typeface="Helvetica Neue"/>
              </a:rPr>
              <a:t>‹#›</a:t>
            </a:fld>
            <a:endParaRPr b="0" i="0" sz="1200" u="none" cap="none" strike="noStrike">
              <a:solidFill>
                <a:schemeClr val="dk2"/>
              </a:solidFill>
              <a:latin typeface="Helvetica Neue"/>
              <a:ea typeface="Helvetica Neue"/>
              <a:cs typeface="Helvetica Neue"/>
              <a:sym typeface="Helvetica Neue"/>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98" name="Shape 798"/>
        <p:cNvGrpSpPr/>
        <p:nvPr/>
      </p:nvGrpSpPr>
      <p:grpSpPr>
        <a:xfrm>
          <a:off x="0" y="0"/>
          <a:ext cx="0" cy="0"/>
          <a:chOff x="0" y="0"/>
          <a:chExt cx="0" cy="0"/>
        </a:xfrm>
      </p:grpSpPr>
      <p:sp>
        <p:nvSpPr>
          <p:cNvPr id="799" name="Google Shape;799;p34"/>
          <p:cNvSpPr txBox="1"/>
          <p:nvPr>
            <p:ph type="title"/>
          </p:nvPr>
        </p:nvSpPr>
        <p:spPr>
          <a:xfrm>
            <a:off x="822960" y="960120"/>
            <a:ext cx="16642080" cy="8229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Arial"/>
              <a:buNone/>
            </a:pPr>
            <a:r>
              <a:rPr b="1" lang="en-US" sz="3600">
                <a:solidFill>
                  <a:schemeClr val="dk1"/>
                </a:solidFill>
              </a:rPr>
              <a:t>Title and Bullet Points</a:t>
            </a:r>
            <a:endParaRPr sz="3600"/>
          </a:p>
        </p:txBody>
      </p:sp>
      <p:sp>
        <p:nvSpPr>
          <p:cNvPr id="800" name="Google Shape;800;p34"/>
          <p:cNvSpPr/>
          <p:nvPr/>
        </p:nvSpPr>
        <p:spPr>
          <a:xfrm>
            <a:off x="822960" y="2194560"/>
            <a:ext cx="10241280" cy="694944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801" name="Google Shape;801;p34"/>
          <p:cNvSpPr txBox="1"/>
          <p:nvPr/>
        </p:nvSpPr>
        <p:spPr>
          <a:xfrm>
            <a:off x="1280160" y="2651760"/>
            <a:ext cx="9326880" cy="603504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chemeClr val="dk2"/>
              </a:buClr>
              <a:buSzPts val="2200"/>
              <a:buFont typeface="Arial"/>
              <a:buChar char="•"/>
            </a:pPr>
            <a:r>
              <a:rPr b="0" i="0" lang="en-US" sz="2200" u="none" cap="none" strike="noStrike">
                <a:solidFill>
                  <a:schemeClr val="dk2"/>
                </a:solidFill>
                <a:latin typeface="Helvetica Neue"/>
                <a:ea typeface="Helvetica Neue"/>
                <a:cs typeface="Helvetica Neue"/>
                <a:sym typeface="Helvetica Neue"/>
              </a:rPr>
              <a:t>First key point goes here, kept to one or two lines</a:t>
            </a:r>
            <a:endParaRPr b="0" i="0" sz="2200" u="none" cap="none" strike="noStrike">
              <a:solidFill>
                <a:schemeClr val="dk1"/>
              </a:solidFill>
              <a:latin typeface="Helvetica Neue"/>
              <a:ea typeface="Helvetica Neue"/>
              <a:cs typeface="Helvetica Neue"/>
              <a:sym typeface="Helvetica Neue"/>
            </a:endParaRPr>
          </a:p>
          <a:p>
            <a:pPr indent="-342900" lvl="0" marL="342900" marR="0" rtl="0" algn="l">
              <a:lnSpc>
                <a:spcPct val="100000"/>
              </a:lnSpc>
              <a:spcBef>
                <a:spcPts val="1800"/>
              </a:spcBef>
              <a:spcAft>
                <a:spcPts val="0"/>
              </a:spcAft>
              <a:buClr>
                <a:schemeClr val="dk2"/>
              </a:buClr>
              <a:buSzPts val="2200"/>
              <a:buFont typeface="Arial"/>
              <a:buChar char="•"/>
            </a:pPr>
            <a:r>
              <a:rPr b="0" i="0" lang="en-US" sz="2200" u="none" cap="none" strike="noStrike">
                <a:solidFill>
                  <a:schemeClr val="dk2"/>
                </a:solidFill>
                <a:latin typeface="Helvetica Neue"/>
                <a:ea typeface="Helvetica Neue"/>
                <a:cs typeface="Helvetica Neue"/>
                <a:sym typeface="Helvetica Neue"/>
              </a:rPr>
              <a:t>Second key point with a supporting detail</a:t>
            </a:r>
            <a:endParaRPr b="0" i="0" sz="2200" u="none" cap="none" strike="noStrike">
              <a:solidFill>
                <a:schemeClr val="dk1"/>
              </a:solidFill>
              <a:latin typeface="Helvetica Neue"/>
              <a:ea typeface="Helvetica Neue"/>
              <a:cs typeface="Helvetica Neue"/>
              <a:sym typeface="Helvetica Neue"/>
            </a:endParaRPr>
          </a:p>
          <a:p>
            <a:pPr indent="-342900" lvl="0" marL="342900" marR="0" rtl="0" algn="l">
              <a:lnSpc>
                <a:spcPct val="100000"/>
              </a:lnSpc>
              <a:spcBef>
                <a:spcPts val="1800"/>
              </a:spcBef>
              <a:spcAft>
                <a:spcPts val="0"/>
              </a:spcAft>
              <a:buClr>
                <a:schemeClr val="dk2"/>
              </a:buClr>
              <a:buSzPts val="2200"/>
              <a:buFont typeface="Arial"/>
              <a:buChar char="•"/>
            </a:pPr>
            <a:r>
              <a:rPr b="0" i="0" lang="en-US" sz="2200" u="none" cap="none" strike="noStrike">
                <a:solidFill>
                  <a:schemeClr val="dk2"/>
                </a:solidFill>
                <a:latin typeface="Helvetica Neue"/>
                <a:ea typeface="Helvetica Neue"/>
                <a:cs typeface="Helvetica Neue"/>
                <a:sym typeface="Helvetica Neue"/>
              </a:rPr>
              <a:t>Third key point with a supporting detail</a:t>
            </a:r>
            <a:endParaRPr b="0" i="0" sz="2200" u="none" cap="none" strike="noStrike">
              <a:solidFill>
                <a:schemeClr val="dk1"/>
              </a:solidFill>
              <a:latin typeface="Helvetica Neue"/>
              <a:ea typeface="Helvetica Neue"/>
              <a:cs typeface="Helvetica Neue"/>
              <a:sym typeface="Helvetica Neue"/>
            </a:endParaRPr>
          </a:p>
          <a:p>
            <a:pPr indent="-342900" lvl="0" marL="342900" marR="0" rtl="0" algn="l">
              <a:lnSpc>
                <a:spcPct val="100000"/>
              </a:lnSpc>
              <a:spcBef>
                <a:spcPts val="1800"/>
              </a:spcBef>
              <a:spcAft>
                <a:spcPts val="0"/>
              </a:spcAft>
              <a:buClr>
                <a:schemeClr val="dk2"/>
              </a:buClr>
              <a:buSzPts val="2200"/>
              <a:buFont typeface="Arial"/>
              <a:buChar char="•"/>
            </a:pPr>
            <a:r>
              <a:rPr b="0" i="0" lang="en-US" sz="2200" u="none" cap="none" strike="noStrike">
                <a:solidFill>
                  <a:schemeClr val="dk2"/>
                </a:solidFill>
                <a:latin typeface="Helvetica Neue"/>
                <a:ea typeface="Helvetica Neue"/>
                <a:cs typeface="Helvetica Neue"/>
                <a:sym typeface="Helvetica Neue"/>
              </a:rPr>
              <a:t>Fourth key point with a supporting detail</a:t>
            </a:r>
            <a:endParaRPr b="0" i="0" sz="2200" u="none" cap="none" strike="noStrike">
              <a:solidFill>
                <a:schemeClr val="dk1"/>
              </a:solidFill>
              <a:latin typeface="Helvetica Neue"/>
              <a:ea typeface="Helvetica Neue"/>
              <a:cs typeface="Helvetica Neue"/>
              <a:sym typeface="Helvetica Neue"/>
            </a:endParaRPr>
          </a:p>
        </p:txBody>
      </p:sp>
      <p:sp>
        <p:nvSpPr>
          <p:cNvPr id="802" name="Google Shape;802;p34"/>
          <p:cNvSpPr/>
          <p:nvPr/>
        </p:nvSpPr>
        <p:spPr>
          <a:xfrm>
            <a:off x="11430000" y="2194560"/>
            <a:ext cx="6035040" cy="694944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803" name="Google Shape;803;p34"/>
          <p:cNvSpPr txBox="1"/>
          <p:nvPr/>
        </p:nvSpPr>
        <p:spPr>
          <a:xfrm>
            <a:off x="11430000" y="5394960"/>
            <a:ext cx="6035040" cy="5486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accent1"/>
              </a:buClr>
              <a:buSzPts val="1800"/>
              <a:buFont typeface="Arial"/>
              <a:buNone/>
            </a:pPr>
            <a:r>
              <a:rPr b="1" i="0" lang="en-US" sz="1800" u="none" cap="none" strike="noStrike">
                <a:solidFill>
                  <a:schemeClr val="accent1"/>
                </a:solidFill>
                <a:latin typeface="Helvetica Neue"/>
                <a:ea typeface="Helvetica Neue"/>
                <a:cs typeface="Helvetica Neue"/>
                <a:sym typeface="Helvetica Neue"/>
              </a:rPr>
              <a:t>Image, chart, or diagram</a:t>
            </a:r>
            <a:endParaRPr b="0" i="0" sz="1800" u="none" cap="none" strike="noStrike">
              <a:solidFill>
                <a:schemeClr val="dk1"/>
              </a:solidFill>
              <a:latin typeface="Helvetica Neue"/>
              <a:ea typeface="Helvetica Neue"/>
              <a:cs typeface="Helvetica Neue"/>
              <a:sym typeface="Helvetica Neue"/>
            </a:endParaRPr>
          </a:p>
        </p:txBody>
      </p:sp>
      <p:sp>
        <p:nvSpPr>
          <p:cNvPr id="804" name="Google Shape;804;p34"/>
          <p:cNvSpPr txBox="1"/>
          <p:nvPr>
            <p:ph idx="4294967295" type="sldNum"/>
          </p:nvPr>
        </p:nvSpPr>
        <p:spPr>
          <a:xfrm>
            <a:off x="16550640" y="9646920"/>
            <a:ext cx="914400" cy="36576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2"/>
                </a:solidFill>
                <a:latin typeface="Helvetica Neue"/>
                <a:ea typeface="Helvetica Neue"/>
                <a:cs typeface="Helvetica Neue"/>
                <a:sym typeface="Helvetica Neue"/>
              </a:rPr>
              <a:t>‹#›</a:t>
            </a:fld>
            <a:endParaRPr b="0" i="0" sz="1200" u="none" cap="none" strike="noStrike">
              <a:solidFill>
                <a:schemeClr val="dk2"/>
              </a:solidFill>
              <a:latin typeface="Helvetica Neue"/>
              <a:ea typeface="Helvetica Neue"/>
              <a:cs typeface="Helvetica Neue"/>
              <a:sym typeface="Helvetica Neue"/>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09" name="Shape 809"/>
        <p:cNvGrpSpPr/>
        <p:nvPr/>
      </p:nvGrpSpPr>
      <p:grpSpPr>
        <a:xfrm>
          <a:off x="0" y="0"/>
          <a:ext cx="0" cy="0"/>
          <a:chOff x="0" y="0"/>
          <a:chExt cx="0" cy="0"/>
        </a:xfrm>
      </p:grpSpPr>
      <p:sp>
        <p:nvSpPr>
          <p:cNvPr id="810" name="Google Shape;810;p35"/>
          <p:cNvSpPr txBox="1"/>
          <p:nvPr>
            <p:ph type="title"/>
          </p:nvPr>
        </p:nvSpPr>
        <p:spPr>
          <a:xfrm>
            <a:off x="822960" y="960120"/>
            <a:ext cx="16642080" cy="8229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Arial"/>
              <a:buNone/>
            </a:pPr>
            <a:r>
              <a:rPr b="1" lang="en-US" sz="3600">
                <a:solidFill>
                  <a:schemeClr val="dk1"/>
                </a:solidFill>
              </a:rPr>
              <a:t>Three Key Points with Goal and Steps</a:t>
            </a:r>
            <a:endParaRPr sz="3600"/>
          </a:p>
        </p:txBody>
      </p:sp>
      <p:sp>
        <p:nvSpPr>
          <p:cNvPr id="811" name="Google Shape;811;p35"/>
          <p:cNvSpPr/>
          <p:nvPr/>
        </p:nvSpPr>
        <p:spPr>
          <a:xfrm>
            <a:off x="822960" y="2103120"/>
            <a:ext cx="5303520" cy="246888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812" name="Google Shape;812;p35"/>
          <p:cNvSpPr txBox="1"/>
          <p:nvPr/>
        </p:nvSpPr>
        <p:spPr>
          <a:xfrm>
            <a:off x="1143000" y="2377440"/>
            <a:ext cx="46634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z="2200" u="none" cap="none" strike="noStrike">
                <a:solidFill>
                  <a:schemeClr val="dk1"/>
                </a:solidFill>
                <a:latin typeface="Helvetica Neue"/>
                <a:ea typeface="Helvetica Neue"/>
                <a:cs typeface="Helvetica Neue"/>
                <a:sym typeface="Helvetica Neue"/>
              </a:rPr>
              <a:t>Key Point One</a:t>
            </a:r>
            <a:endParaRPr b="0" i="0" sz="2200" u="none" cap="none" strike="noStrike">
              <a:solidFill>
                <a:schemeClr val="dk1"/>
              </a:solidFill>
              <a:latin typeface="Helvetica Neue"/>
              <a:ea typeface="Helvetica Neue"/>
              <a:cs typeface="Helvetica Neue"/>
              <a:sym typeface="Helvetica Neue"/>
            </a:endParaRPr>
          </a:p>
        </p:txBody>
      </p:sp>
      <p:sp>
        <p:nvSpPr>
          <p:cNvPr id="813" name="Google Shape;813;p35"/>
          <p:cNvSpPr txBox="1"/>
          <p:nvPr/>
        </p:nvSpPr>
        <p:spPr>
          <a:xfrm>
            <a:off x="1143000" y="3017520"/>
            <a:ext cx="466344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800"/>
              <a:buFont typeface="Arial"/>
              <a:buNone/>
            </a:pPr>
            <a:r>
              <a:rPr b="0" i="0" lang="en-US" sz="1800" u="none" cap="none" strike="noStrike">
                <a:solidFill>
                  <a:schemeClr val="dk2"/>
                </a:solidFill>
                <a:latin typeface="Helvetica Neue"/>
                <a:ea typeface="Helvetica Neue"/>
                <a:cs typeface="Helvetica Neue"/>
                <a:sym typeface="Helvetica Neue"/>
              </a:rPr>
              <a:t>One or two sentences explaining this point in plain language.</a:t>
            </a:r>
            <a:endParaRPr b="0" i="0" sz="1800" u="none" cap="none" strike="noStrike">
              <a:solidFill>
                <a:schemeClr val="dk1"/>
              </a:solidFill>
              <a:latin typeface="Helvetica Neue"/>
              <a:ea typeface="Helvetica Neue"/>
              <a:cs typeface="Helvetica Neue"/>
              <a:sym typeface="Helvetica Neue"/>
            </a:endParaRPr>
          </a:p>
        </p:txBody>
      </p:sp>
      <p:sp>
        <p:nvSpPr>
          <p:cNvPr id="814" name="Google Shape;814;p35"/>
          <p:cNvSpPr/>
          <p:nvPr/>
        </p:nvSpPr>
        <p:spPr>
          <a:xfrm>
            <a:off x="6492240" y="2103120"/>
            <a:ext cx="5303520" cy="246888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815" name="Google Shape;815;p35"/>
          <p:cNvSpPr txBox="1"/>
          <p:nvPr/>
        </p:nvSpPr>
        <p:spPr>
          <a:xfrm>
            <a:off x="6812280" y="2377440"/>
            <a:ext cx="46634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z="2200" u="none" cap="none" strike="noStrike">
                <a:solidFill>
                  <a:schemeClr val="dk1"/>
                </a:solidFill>
                <a:latin typeface="Helvetica Neue"/>
                <a:ea typeface="Helvetica Neue"/>
                <a:cs typeface="Helvetica Neue"/>
                <a:sym typeface="Helvetica Neue"/>
              </a:rPr>
              <a:t>Key Point Two</a:t>
            </a:r>
            <a:endParaRPr b="0" i="0" sz="2200" u="none" cap="none" strike="noStrike">
              <a:solidFill>
                <a:schemeClr val="dk1"/>
              </a:solidFill>
              <a:latin typeface="Helvetica Neue"/>
              <a:ea typeface="Helvetica Neue"/>
              <a:cs typeface="Helvetica Neue"/>
              <a:sym typeface="Helvetica Neue"/>
            </a:endParaRPr>
          </a:p>
        </p:txBody>
      </p:sp>
      <p:sp>
        <p:nvSpPr>
          <p:cNvPr id="816" name="Google Shape;816;p35"/>
          <p:cNvSpPr txBox="1"/>
          <p:nvPr/>
        </p:nvSpPr>
        <p:spPr>
          <a:xfrm>
            <a:off x="6812280" y="3017520"/>
            <a:ext cx="466344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800"/>
              <a:buFont typeface="Arial"/>
              <a:buNone/>
            </a:pPr>
            <a:r>
              <a:rPr b="0" i="0" lang="en-US" sz="1800" u="none" cap="none" strike="noStrike">
                <a:solidFill>
                  <a:schemeClr val="dk2"/>
                </a:solidFill>
                <a:latin typeface="Helvetica Neue"/>
                <a:ea typeface="Helvetica Neue"/>
                <a:cs typeface="Helvetica Neue"/>
                <a:sym typeface="Helvetica Neue"/>
              </a:rPr>
              <a:t>One or two sentences explaining this point in plain language.</a:t>
            </a:r>
            <a:endParaRPr b="0" i="0" sz="1800" u="none" cap="none" strike="noStrike">
              <a:solidFill>
                <a:schemeClr val="dk1"/>
              </a:solidFill>
              <a:latin typeface="Helvetica Neue"/>
              <a:ea typeface="Helvetica Neue"/>
              <a:cs typeface="Helvetica Neue"/>
              <a:sym typeface="Helvetica Neue"/>
            </a:endParaRPr>
          </a:p>
        </p:txBody>
      </p:sp>
      <p:sp>
        <p:nvSpPr>
          <p:cNvPr id="817" name="Google Shape;817;p35"/>
          <p:cNvSpPr/>
          <p:nvPr/>
        </p:nvSpPr>
        <p:spPr>
          <a:xfrm>
            <a:off x="12161520" y="2103120"/>
            <a:ext cx="5303520" cy="246888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818" name="Google Shape;818;p35"/>
          <p:cNvSpPr txBox="1"/>
          <p:nvPr/>
        </p:nvSpPr>
        <p:spPr>
          <a:xfrm>
            <a:off x="12481560" y="2377440"/>
            <a:ext cx="46634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z="2200" u="none" cap="none" strike="noStrike">
                <a:solidFill>
                  <a:schemeClr val="dk1"/>
                </a:solidFill>
                <a:latin typeface="Helvetica Neue"/>
                <a:ea typeface="Helvetica Neue"/>
                <a:cs typeface="Helvetica Neue"/>
                <a:sym typeface="Helvetica Neue"/>
              </a:rPr>
              <a:t>Key Point Three</a:t>
            </a:r>
            <a:endParaRPr b="0" i="0" sz="2200" u="none" cap="none" strike="noStrike">
              <a:solidFill>
                <a:schemeClr val="dk1"/>
              </a:solidFill>
              <a:latin typeface="Helvetica Neue"/>
              <a:ea typeface="Helvetica Neue"/>
              <a:cs typeface="Helvetica Neue"/>
              <a:sym typeface="Helvetica Neue"/>
            </a:endParaRPr>
          </a:p>
        </p:txBody>
      </p:sp>
      <p:sp>
        <p:nvSpPr>
          <p:cNvPr id="819" name="Google Shape;819;p35"/>
          <p:cNvSpPr txBox="1"/>
          <p:nvPr/>
        </p:nvSpPr>
        <p:spPr>
          <a:xfrm>
            <a:off x="12481560" y="3017520"/>
            <a:ext cx="466344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800"/>
              <a:buFont typeface="Arial"/>
              <a:buNone/>
            </a:pPr>
            <a:r>
              <a:rPr b="0" i="0" lang="en-US" sz="1800" u="none" cap="none" strike="noStrike">
                <a:solidFill>
                  <a:schemeClr val="dk2"/>
                </a:solidFill>
                <a:latin typeface="Helvetica Neue"/>
                <a:ea typeface="Helvetica Neue"/>
                <a:cs typeface="Helvetica Neue"/>
                <a:sym typeface="Helvetica Neue"/>
              </a:rPr>
              <a:t>One or two sentences explaining this point in plain language.</a:t>
            </a:r>
            <a:endParaRPr b="0" i="0" sz="1800" u="none" cap="none" strike="noStrike">
              <a:solidFill>
                <a:schemeClr val="dk1"/>
              </a:solidFill>
              <a:latin typeface="Helvetica Neue"/>
              <a:ea typeface="Helvetica Neue"/>
              <a:cs typeface="Helvetica Neue"/>
              <a:sym typeface="Helvetica Neue"/>
            </a:endParaRPr>
          </a:p>
        </p:txBody>
      </p:sp>
      <p:sp>
        <p:nvSpPr>
          <p:cNvPr id="820" name="Google Shape;820;p35"/>
          <p:cNvSpPr txBox="1"/>
          <p:nvPr/>
        </p:nvSpPr>
        <p:spPr>
          <a:xfrm>
            <a:off x="822960" y="4846320"/>
            <a:ext cx="16642080" cy="457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Helvetica Neue"/>
                <a:ea typeface="Helvetica Neue"/>
                <a:cs typeface="Helvetica Neue"/>
                <a:sym typeface="Helvetica Neue"/>
              </a:rPr>
              <a:t>Optional category line:  Item  •  Item  •  Item  •  Item  •  Item</a:t>
            </a:r>
            <a:endParaRPr b="0" i="0" sz="1800" u="none" cap="none" strike="noStrike">
              <a:solidFill>
                <a:schemeClr val="dk1"/>
              </a:solidFill>
              <a:latin typeface="Helvetica Neue"/>
              <a:ea typeface="Helvetica Neue"/>
              <a:cs typeface="Helvetica Neue"/>
              <a:sym typeface="Helvetica Neue"/>
            </a:endParaRPr>
          </a:p>
        </p:txBody>
      </p:sp>
      <p:sp>
        <p:nvSpPr>
          <p:cNvPr id="821" name="Google Shape;821;p35"/>
          <p:cNvSpPr/>
          <p:nvPr/>
        </p:nvSpPr>
        <p:spPr>
          <a:xfrm>
            <a:off x="822960" y="5669280"/>
            <a:ext cx="16642080" cy="731520"/>
          </a:xfrm>
          <a:prstGeom prst="rect">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822" name="Google Shape;822;p35"/>
          <p:cNvSpPr txBox="1"/>
          <p:nvPr/>
        </p:nvSpPr>
        <p:spPr>
          <a:xfrm>
            <a:off x="1188720" y="5669280"/>
            <a:ext cx="15910560"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2"/>
              </a:buClr>
              <a:buSzPts val="2000"/>
              <a:buFont typeface="Arial"/>
              <a:buNone/>
            </a:pPr>
            <a:r>
              <a:rPr b="1" i="0" lang="en-US" sz="2000" u="none" cap="none" strike="noStrike">
                <a:solidFill>
                  <a:schemeClr val="accent2"/>
                </a:solidFill>
                <a:latin typeface="Helvetica Neue"/>
                <a:ea typeface="Helvetica Neue"/>
                <a:cs typeface="Helvetica Neue"/>
                <a:sym typeface="Helvetica Neue"/>
              </a:rPr>
              <a:t>GOAL: </a:t>
            </a:r>
            <a:r>
              <a:rPr b="0" i="0" lang="en-US" sz="2000" u="none" cap="none" strike="noStrike">
                <a:solidFill>
                  <a:schemeClr val="lt1"/>
                </a:solidFill>
                <a:latin typeface="Helvetica Neue"/>
                <a:ea typeface="Helvetica Neue"/>
                <a:cs typeface="Helvetica Neue"/>
                <a:sym typeface="Helvetica Neue"/>
              </a:rPr>
              <a:t>State the single goal of this project in one sentence.</a:t>
            </a:r>
            <a:endParaRPr b="0" i="0" sz="2000" u="none" cap="none" strike="noStrike">
              <a:solidFill>
                <a:schemeClr val="dk1"/>
              </a:solidFill>
              <a:latin typeface="Helvetica Neue"/>
              <a:ea typeface="Helvetica Neue"/>
              <a:cs typeface="Helvetica Neue"/>
              <a:sym typeface="Helvetica Neue"/>
            </a:endParaRPr>
          </a:p>
        </p:txBody>
      </p:sp>
      <p:sp>
        <p:nvSpPr>
          <p:cNvPr id="823" name="Google Shape;823;p35"/>
          <p:cNvSpPr/>
          <p:nvPr/>
        </p:nvSpPr>
        <p:spPr>
          <a:xfrm>
            <a:off x="822960" y="6858000"/>
            <a:ext cx="3934206" cy="228600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824" name="Google Shape;824;p35"/>
          <p:cNvSpPr txBox="1"/>
          <p:nvPr/>
        </p:nvSpPr>
        <p:spPr>
          <a:xfrm>
            <a:off x="1143000" y="7132320"/>
            <a:ext cx="914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200"/>
              <a:buFont typeface="Arial"/>
              <a:buNone/>
            </a:pPr>
            <a:r>
              <a:rPr b="1" i="0" lang="en-US" sz="2200" u="none" cap="none" strike="noStrike">
                <a:solidFill>
                  <a:schemeClr val="accent1"/>
                </a:solidFill>
                <a:latin typeface="Helvetica Neue"/>
                <a:ea typeface="Helvetica Neue"/>
                <a:cs typeface="Helvetica Neue"/>
                <a:sym typeface="Helvetica Neue"/>
              </a:rPr>
              <a:t>01</a:t>
            </a:r>
            <a:endParaRPr b="0" i="0" sz="2200" u="none" cap="none" strike="noStrike">
              <a:solidFill>
                <a:schemeClr val="dk1"/>
              </a:solidFill>
              <a:latin typeface="Helvetica Neue"/>
              <a:ea typeface="Helvetica Neue"/>
              <a:cs typeface="Helvetica Neue"/>
              <a:sym typeface="Helvetica Neue"/>
            </a:endParaRPr>
          </a:p>
        </p:txBody>
      </p:sp>
      <p:sp>
        <p:nvSpPr>
          <p:cNvPr id="825" name="Google Shape;825;p35"/>
          <p:cNvSpPr txBox="1"/>
          <p:nvPr/>
        </p:nvSpPr>
        <p:spPr>
          <a:xfrm>
            <a:off x="1143000" y="7863840"/>
            <a:ext cx="3294126" cy="1005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Helvetica Neue"/>
                <a:ea typeface="Helvetica Neue"/>
                <a:cs typeface="Helvetica Neue"/>
                <a:sym typeface="Helvetica Neue"/>
              </a:rPr>
              <a:t>Step One</a:t>
            </a:r>
            <a:endParaRPr b="0" i="0" sz="2000" u="none" cap="none" strike="noStrike">
              <a:solidFill>
                <a:schemeClr val="dk1"/>
              </a:solidFill>
              <a:latin typeface="Helvetica Neue"/>
              <a:ea typeface="Helvetica Neue"/>
              <a:cs typeface="Helvetica Neue"/>
              <a:sym typeface="Helvetica Neue"/>
            </a:endParaRPr>
          </a:p>
        </p:txBody>
      </p:sp>
      <p:sp>
        <p:nvSpPr>
          <p:cNvPr id="826" name="Google Shape;826;p35"/>
          <p:cNvSpPr/>
          <p:nvPr/>
        </p:nvSpPr>
        <p:spPr>
          <a:xfrm>
            <a:off x="5058918" y="6858000"/>
            <a:ext cx="3934206" cy="228600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827" name="Google Shape;827;p35"/>
          <p:cNvSpPr txBox="1"/>
          <p:nvPr/>
        </p:nvSpPr>
        <p:spPr>
          <a:xfrm>
            <a:off x="5378958" y="7132320"/>
            <a:ext cx="914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200"/>
              <a:buFont typeface="Arial"/>
              <a:buNone/>
            </a:pPr>
            <a:r>
              <a:rPr b="1" i="0" lang="en-US" sz="2200" u="none" cap="none" strike="noStrike">
                <a:solidFill>
                  <a:schemeClr val="accent1"/>
                </a:solidFill>
                <a:latin typeface="Helvetica Neue"/>
                <a:ea typeface="Helvetica Neue"/>
                <a:cs typeface="Helvetica Neue"/>
                <a:sym typeface="Helvetica Neue"/>
              </a:rPr>
              <a:t>02</a:t>
            </a:r>
            <a:endParaRPr b="0" i="0" sz="2200" u="none" cap="none" strike="noStrike">
              <a:solidFill>
                <a:schemeClr val="dk1"/>
              </a:solidFill>
              <a:latin typeface="Helvetica Neue"/>
              <a:ea typeface="Helvetica Neue"/>
              <a:cs typeface="Helvetica Neue"/>
              <a:sym typeface="Helvetica Neue"/>
            </a:endParaRPr>
          </a:p>
        </p:txBody>
      </p:sp>
      <p:sp>
        <p:nvSpPr>
          <p:cNvPr id="828" name="Google Shape;828;p35"/>
          <p:cNvSpPr txBox="1"/>
          <p:nvPr/>
        </p:nvSpPr>
        <p:spPr>
          <a:xfrm>
            <a:off x="5378958" y="7863840"/>
            <a:ext cx="3294126" cy="1005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Helvetica Neue"/>
                <a:ea typeface="Helvetica Neue"/>
                <a:cs typeface="Helvetica Neue"/>
                <a:sym typeface="Helvetica Neue"/>
              </a:rPr>
              <a:t>Step Two</a:t>
            </a:r>
            <a:endParaRPr b="0" i="0" sz="2000" u="none" cap="none" strike="noStrike">
              <a:solidFill>
                <a:schemeClr val="dk1"/>
              </a:solidFill>
              <a:latin typeface="Helvetica Neue"/>
              <a:ea typeface="Helvetica Neue"/>
              <a:cs typeface="Helvetica Neue"/>
              <a:sym typeface="Helvetica Neue"/>
            </a:endParaRPr>
          </a:p>
        </p:txBody>
      </p:sp>
      <p:sp>
        <p:nvSpPr>
          <p:cNvPr id="829" name="Google Shape;829;p35"/>
          <p:cNvSpPr/>
          <p:nvPr/>
        </p:nvSpPr>
        <p:spPr>
          <a:xfrm>
            <a:off x="9294876" y="6858000"/>
            <a:ext cx="3934206" cy="228600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830" name="Google Shape;830;p35"/>
          <p:cNvSpPr txBox="1"/>
          <p:nvPr/>
        </p:nvSpPr>
        <p:spPr>
          <a:xfrm>
            <a:off x="9614916" y="7132320"/>
            <a:ext cx="914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200"/>
              <a:buFont typeface="Arial"/>
              <a:buNone/>
            </a:pPr>
            <a:r>
              <a:rPr b="1" i="0" lang="en-US" sz="2200" u="none" cap="none" strike="noStrike">
                <a:solidFill>
                  <a:schemeClr val="accent1"/>
                </a:solidFill>
                <a:latin typeface="Helvetica Neue"/>
                <a:ea typeface="Helvetica Neue"/>
                <a:cs typeface="Helvetica Neue"/>
                <a:sym typeface="Helvetica Neue"/>
              </a:rPr>
              <a:t>03</a:t>
            </a:r>
            <a:endParaRPr b="0" i="0" sz="2200" u="none" cap="none" strike="noStrike">
              <a:solidFill>
                <a:schemeClr val="dk1"/>
              </a:solidFill>
              <a:latin typeface="Helvetica Neue"/>
              <a:ea typeface="Helvetica Neue"/>
              <a:cs typeface="Helvetica Neue"/>
              <a:sym typeface="Helvetica Neue"/>
            </a:endParaRPr>
          </a:p>
        </p:txBody>
      </p:sp>
      <p:sp>
        <p:nvSpPr>
          <p:cNvPr id="831" name="Google Shape;831;p35"/>
          <p:cNvSpPr txBox="1"/>
          <p:nvPr/>
        </p:nvSpPr>
        <p:spPr>
          <a:xfrm>
            <a:off x="9614916" y="7863840"/>
            <a:ext cx="3294126" cy="1005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Helvetica Neue"/>
                <a:ea typeface="Helvetica Neue"/>
                <a:cs typeface="Helvetica Neue"/>
                <a:sym typeface="Helvetica Neue"/>
              </a:rPr>
              <a:t>Step Three</a:t>
            </a:r>
            <a:endParaRPr b="0" i="0" sz="2000" u="none" cap="none" strike="noStrike">
              <a:solidFill>
                <a:schemeClr val="dk1"/>
              </a:solidFill>
              <a:latin typeface="Helvetica Neue"/>
              <a:ea typeface="Helvetica Neue"/>
              <a:cs typeface="Helvetica Neue"/>
              <a:sym typeface="Helvetica Neue"/>
            </a:endParaRPr>
          </a:p>
        </p:txBody>
      </p:sp>
      <p:sp>
        <p:nvSpPr>
          <p:cNvPr id="832" name="Google Shape;832;p35"/>
          <p:cNvSpPr/>
          <p:nvPr/>
        </p:nvSpPr>
        <p:spPr>
          <a:xfrm>
            <a:off x="13530834" y="6858000"/>
            <a:ext cx="3934206" cy="228600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833" name="Google Shape;833;p35"/>
          <p:cNvSpPr txBox="1"/>
          <p:nvPr/>
        </p:nvSpPr>
        <p:spPr>
          <a:xfrm>
            <a:off x="13850874" y="7132320"/>
            <a:ext cx="914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200"/>
              <a:buFont typeface="Arial"/>
              <a:buNone/>
            </a:pPr>
            <a:r>
              <a:rPr b="1" i="0" lang="en-US" sz="2200" u="none" cap="none" strike="noStrike">
                <a:solidFill>
                  <a:schemeClr val="accent1"/>
                </a:solidFill>
                <a:latin typeface="Helvetica Neue"/>
                <a:ea typeface="Helvetica Neue"/>
                <a:cs typeface="Helvetica Neue"/>
                <a:sym typeface="Helvetica Neue"/>
              </a:rPr>
              <a:t>04</a:t>
            </a:r>
            <a:endParaRPr b="0" i="0" sz="2200" u="none" cap="none" strike="noStrike">
              <a:solidFill>
                <a:schemeClr val="dk1"/>
              </a:solidFill>
              <a:latin typeface="Helvetica Neue"/>
              <a:ea typeface="Helvetica Neue"/>
              <a:cs typeface="Helvetica Neue"/>
              <a:sym typeface="Helvetica Neue"/>
            </a:endParaRPr>
          </a:p>
        </p:txBody>
      </p:sp>
      <p:sp>
        <p:nvSpPr>
          <p:cNvPr id="834" name="Google Shape;834;p35"/>
          <p:cNvSpPr txBox="1"/>
          <p:nvPr/>
        </p:nvSpPr>
        <p:spPr>
          <a:xfrm>
            <a:off x="13850874" y="7863840"/>
            <a:ext cx="3294126" cy="1005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Helvetica Neue"/>
                <a:ea typeface="Helvetica Neue"/>
                <a:cs typeface="Helvetica Neue"/>
                <a:sym typeface="Helvetica Neue"/>
              </a:rPr>
              <a:t>Step Four</a:t>
            </a:r>
            <a:endParaRPr b="0" i="0" sz="2000" u="none" cap="none" strike="noStrike">
              <a:solidFill>
                <a:schemeClr val="dk1"/>
              </a:solidFill>
              <a:latin typeface="Helvetica Neue"/>
              <a:ea typeface="Helvetica Neue"/>
              <a:cs typeface="Helvetica Neue"/>
              <a:sym typeface="Helvetica Neue"/>
            </a:endParaRPr>
          </a:p>
        </p:txBody>
      </p:sp>
      <p:sp>
        <p:nvSpPr>
          <p:cNvPr id="835" name="Google Shape;835;p35"/>
          <p:cNvSpPr txBox="1"/>
          <p:nvPr>
            <p:ph idx="4294967295" type="sldNum"/>
          </p:nvPr>
        </p:nvSpPr>
        <p:spPr>
          <a:xfrm>
            <a:off x="16550640" y="9646920"/>
            <a:ext cx="914400" cy="36576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2"/>
                </a:solidFill>
                <a:latin typeface="Helvetica Neue"/>
                <a:ea typeface="Helvetica Neue"/>
                <a:cs typeface="Helvetica Neue"/>
                <a:sym typeface="Helvetica Neue"/>
              </a:rPr>
              <a:t>‹#›</a:t>
            </a:fld>
            <a:endParaRPr b="0" i="0" sz="1200" u="none" cap="none" strike="noStrike">
              <a:solidFill>
                <a:schemeClr val="dk2"/>
              </a:solidFill>
              <a:latin typeface="Helvetica Neue"/>
              <a:ea typeface="Helvetica Neue"/>
              <a:cs typeface="Helvetica Neue"/>
              <a:sym typeface="Helvetica Neue"/>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40" name="Shape 840"/>
        <p:cNvGrpSpPr/>
        <p:nvPr/>
      </p:nvGrpSpPr>
      <p:grpSpPr>
        <a:xfrm>
          <a:off x="0" y="0"/>
          <a:ext cx="0" cy="0"/>
          <a:chOff x="0" y="0"/>
          <a:chExt cx="0" cy="0"/>
        </a:xfrm>
      </p:grpSpPr>
      <p:sp>
        <p:nvSpPr>
          <p:cNvPr id="841" name="Google Shape;841;p36"/>
          <p:cNvSpPr txBox="1"/>
          <p:nvPr>
            <p:ph type="title"/>
          </p:nvPr>
        </p:nvSpPr>
        <p:spPr>
          <a:xfrm>
            <a:off x="822960" y="960120"/>
            <a:ext cx="16642080" cy="8229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Arial"/>
              <a:buNone/>
            </a:pPr>
            <a:r>
              <a:rPr b="1" lang="en-US" sz="3600">
                <a:solidFill>
                  <a:schemeClr val="dk1"/>
                </a:solidFill>
              </a:rPr>
              <a:t>Process Flow: Eight Steps</a:t>
            </a:r>
            <a:endParaRPr sz="3600"/>
          </a:p>
        </p:txBody>
      </p:sp>
      <p:sp>
        <p:nvSpPr>
          <p:cNvPr id="842" name="Google Shape;842;p36"/>
          <p:cNvSpPr/>
          <p:nvPr/>
        </p:nvSpPr>
        <p:spPr>
          <a:xfrm>
            <a:off x="822960" y="2286000"/>
            <a:ext cx="3749040" cy="301752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843" name="Google Shape;843;p36"/>
          <p:cNvSpPr txBox="1"/>
          <p:nvPr/>
        </p:nvSpPr>
        <p:spPr>
          <a:xfrm>
            <a:off x="1097280" y="2560320"/>
            <a:ext cx="914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200"/>
              <a:buFont typeface="Arial"/>
              <a:buNone/>
            </a:pPr>
            <a:r>
              <a:rPr b="1" i="0" lang="en-US" sz="2200" u="none" cap="none" strike="noStrike">
                <a:solidFill>
                  <a:schemeClr val="accent1"/>
                </a:solidFill>
                <a:latin typeface="Helvetica Neue"/>
                <a:ea typeface="Helvetica Neue"/>
                <a:cs typeface="Helvetica Neue"/>
                <a:sym typeface="Helvetica Neue"/>
              </a:rPr>
              <a:t>01</a:t>
            </a:r>
            <a:endParaRPr b="0" i="0" sz="2200" u="none" cap="none" strike="noStrike">
              <a:solidFill>
                <a:schemeClr val="dk1"/>
              </a:solidFill>
              <a:latin typeface="Helvetica Neue"/>
              <a:ea typeface="Helvetica Neue"/>
              <a:cs typeface="Helvetica Neue"/>
              <a:sym typeface="Helvetica Neue"/>
            </a:endParaRPr>
          </a:p>
        </p:txBody>
      </p:sp>
      <p:sp>
        <p:nvSpPr>
          <p:cNvPr id="844" name="Google Shape;844;p36"/>
          <p:cNvSpPr txBox="1"/>
          <p:nvPr/>
        </p:nvSpPr>
        <p:spPr>
          <a:xfrm>
            <a:off x="1097280" y="3154680"/>
            <a:ext cx="3200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Helvetica Neue"/>
                <a:ea typeface="Helvetica Neue"/>
                <a:cs typeface="Helvetica Neue"/>
                <a:sym typeface="Helvetica Neue"/>
              </a:rPr>
              <a:t>Step Name</a:t>
            </a:r>
            <a:endParaRPr b="0" i="0" sz="2000" u="none" cap="none" strike="noStrike">
              <a:solidFill>
                <a:schemeClr val="dk1"/>
              </a:solidFill>
              <a:latin typeface="Helvetica Neue"/>
              <a:ea typeface="Helvetica Neue"/>
              <a:cs typeface="Helvetica Neue"/>
              <a:sym typeface="Helvetica Neue"/>
            </a:endParaRPr>
          </a:p>
        </p:txBody>
      </p:sp>
      <p:sp>
        <p:nvSpPr>
          <p:cNvPr id="845" name="Google Shape;845;p36"/>
          <p:cNvSpPr txBox="1"/>
          <p:nvPr/>
        </p:nvSpPr>
        <p:spPr>
          <a:xfrm>
            <a:off x="1097280" y="3703320"/>
            <a:ext cx="320040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Arial"/>
              <a:buNone/>
            </a:pPr>
            <a:r>
              <a:rPr b="0" i="0" lang="en-US" sz="1600" u="none" cap="none" strike="noStrike">
                <a:solidFill>
                  <a:schemeClr val="dk2"/>
                </a:solidFill>
                <a:latin typeface="Helvetica Neue"/>
                <a:ea typeface="Helvetica Neue"/>
                <a:cs typeface="Helvetica Neue"/>
                <a:sym typeface="Helvetica Neue"/>
              </a:rPr>
              <a:t>Short description of what happens in this step.</a:t>
            </a:r>
            <a:endParaRPr b="0" i="0" sz="1600" u="none" cap="none" strike="noStrike">
              <a:solidFill>
                <a:schemeClr val="dk1"/>
              </a:solidFill>
              <a:latin typeface="Helvetica Neue"/>
              <a:ea typeface="Helvetica Neue"/>
              <a:cs typeface="Helvetica Neue"/>
              <a:sym typeface="Helvetica Neue"/>
            </a:endParaRPr>
          </a:p>
        </p:txBody>
      </p:sp>
      <p:cxnSp>
        <p:nvCxnSpPr>
          <p:cNvPr id="846" name="Google Shape;846;p36"/>
          <p:cNvCxnSpPr/>
          <p:nvPr/>
        </p:nvCxnSpPr>
        <p:spPr>
          <a:xfrm>
            <a:off x="4617720" y="3794760"/>
            <a:ext cx="457200" cy="0"/>
          </a:xfrm>
          <a:prstGeom prst="straightConnector1">
            <a:avLst/>
          </a:prstGeom>
          <a:noFill/>
          <a:ln cap="flat" cmpd="sng" w="25400">
            <a:solidFill>
              <a:schemeClr val="accent1"/>
            </a:solidFill>
            <a:prstDash val="solid"/>
            <a:round/>
            <a:headEnd len="sm" w="sm" type="none"/>
            <a:tailEnd len="med" w="med" type="triangle"/>
          </a:ln>
        </p:spPr>
      </p:cxnSp>
      <p:sp>
        <p:nvSpPr>
          <p:cNvPr id="847" name="Google Shape;847;p36"/>
          <p:cNvSpPr/>
          <p:nvPr/>
        </p:nvSpPr>
        <p:spPr>
          <a:xfrm>
            <a:off x="5120640" y="2286000"/>
            <a:ext cx="3749040" cy="301752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848" name="Google Shape;848;p36"/>
          <p:cNvSpPr txBox="1"/>
          <p:nvPr/>
        </p:nvSpPr>
        <p:spPr>
          <a:xfrm>
            <a:off x="5394960" y="2560320"/>
            <a:ext cx="914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200"/>
              <a:buFont typeface="Arial"/>
              <a:buNone/>
            </a:pPr>
            <a:r>
              <a:rPr b="1" i="0" lang="en-US" sz="2200" u="none" cap="none" strike="noStrike">
                <a:solidFill>
                  <a:schemeClr val="accent1"/>
                </a:solidFill>
                <a:latin typeface="Helvetica Neue"/>
                <a:ea typeface="Helvetica Neue"/>
                <a:cs typeface="Helvetica Neue"/>
                <a:sym typeface="Helvetica Neue"/>
              </a:rPr>
              <a:t>02</a:t>
            </a:r>
            <a:endParaRPr b="0" i="0" sz="2200" u="none" cap="none" strike="noStrike">
              <a:solidFill>
                <a:schemeClr val="dk1"/>
              </a:solidFill>
              <a:latin typeface="Helvetica Neue"/>
              <a:ea typeface="Helvetica Neue"/>
              <a:cs typeface="Helvetica Neue"/>
              <a:sym typeface="Helvetica Neue"/>
            </a:endParaRPr>
          </a:p>
        </p:txBody>
      </p:sp>
      <p:sp>
        <p:nvSpPr>
          <p:cNvPr id="849" name="Google Shape;849;p36"/>
          <p:cNvSpPr txBox="1"/>
          <p:nvPr/>
        </p:nvSpPr>
        <p:spPr>
          <a:xfrm>
            <a:off x="5394960" y="3154680"/>
            <a:ext cx="3200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Helvetica Neue"/>
                <a:ea typeface="Helvetica Neue"/>
                <a:cs typeface="Helvetica Neue"/>
                <a:sym typeface="Helvetica Neue"/>
              </a:rPr>
              <a:t>Step Name</a:t>
            </a:r>
            <a:endParaRPr b="0" i="0" sz="2000" u="none" cap="none" strike="noStrike">
              <a:solidFill>
                <a:schemeClr val="dk1"/>
              </a:solidFill>
              <a:latin typeface="Helvetica Neue"/>
              <a:ea typeface="Helvetica Neue"/>
              <a:cs typeface="Helvetica Neue"/>
              <a:sym typeface="Helvetica Neue"/>
            </a:endParaRPr>
          </a:p>
        </p:txBody>
      </p:sp>
      <p:sp>
        <p:nvSpPr>
          <p:cNvPr id="850" name="Google Shape;850;p36"/>
          <p:cNvSpPr txBox="1"/>
          <p:nvPr/>
        </p:nvSpPr>
        <p:spPr>
          <a:xfrm>
            <a:off x="5394960" y="3703320"/>
            <a:ext cx="320040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Arial"/>
              <a:buNone/>
            </a:pPr>
            <a:r>
              <a:rPr b="0" i="0" lang="en-US" sz="1600" u="none" cap="none" strike="noStrike">
                <a:solidFill>
                  <a:schemeClr val="dk2"/>
                </a:solidFill>
                <a:latin typeface="Helvetica Neue"/>
                <a:ea typeface="Helvetica Neue"/>
                <a:cs typeface="Helvetica Neue"/>
                <a:sym typeface="Helvetica Neue"/>
              </a:rPr>
              <a:t>Short description of what happens in this step.</a:t>
            </a:r>
            <a:endParaRPr b="0" i="0" sz="1600" u="none" cap="none" strike="noStrike">
              <a:solidFill>
                <a:schemeClr val="dk1"/>
              </a:solidFill>
              <a:latin typeface="Helvetica Neue"/>
              <a:ea typeface="Helvetica Neue"/>
              <a:cs typeface="Helvetica Neue"/>
              <a:sym typeface="Helvetica Neue"/>
            </a:endParaRPr>
          </a:p>
        </p:txBody>
      </p:sp>
      <p:cxnSp>
        <p:nvCxnSpPr>
          <p:cNvPr id="851" name="Google Shape;851;p36"/>
          <p:cNvCxnSpPr/>
          <p:nvPr/>
        </p:nvCxnSpPr>
        <p:spPr>
          <a:xfrm>
            <a:off x="8915400" y="3794760"/>
            <a:ext cx="457200" cy="0"/>
          </a:xfrm>
          <a:prstGeom prst="straightConnector1">
            <a:avLst/>
          </a:prstGeom>
          <a:noFill/>
          <a:ln cap="flat" cmpd="sng" w="25400">
            <a:solidFill>
              <a:schemeClr val="accent1"/>
            </a:solidFill>
            <a:prstDash val="solid"/>
            <a:round/>
            <a:headEnd len="sm" w="sm" type="none"/>
            <a:tailEnd len="med" w="med" type="triangle"/>
          </a:ln>
        </p:spPr>
      </p:cxnSp>
      <p:sp>
        <p:nvSpPr>
          <p:cNvPr id="852" name="Google Shape;852;p36"/>
          <p:cNvSpPr/>
          <p:nvPr/>
        </p:nvSpPr>
        <p:spPr>
          <a:xfrm>
            <a:off x="9418320" y="2286000"/>
            <a:ext cx="3749040" cy="301752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853" name="Google Shape;853;p36"/>
          <p:cNvSpPr txBox="1"/>
          <p:nvPr/>
        </p:nvSpPr>
        <p:spPr>
          <a:xfrm>
            <a:off x="9692640" y="2560320"/>
            <a:ext cx="914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200"/>
              <a:buFont typeface="Arial"/>
              <a:buNone/>
            </a:pPr>
            <a:r>
              <a:rPr b="1" i="0" lang="en-US" sz="2200" u="none" cap="none" strike="noStrike">
                <a:solidFill>
                  <a:schemeClr val="accent1"/>
                </a:solidFill>
                <a:latin typeface="Helvetica Neue"/>
                <a:ea typeface="Helvetica Neue"/>
                <a:cs typeface="Helvetica Neue"/>
                <a:sym typeface="Helvetica Neue"/>
              </a:rPr>
              <a:t>03</a:t>
            </a:r>
            <a:endParaRPr b="0" i="0" sz="2200" u="none" cap="none" strike="noStrike">
              <a:solidFill>
                <a:schemeClr val="dk1"/>
              </a:solidFill>
              <a:latin typeface="Helvetica Neue"/>
              <a:ea typeface="Helvetica Neue"/>
              <a:cs typeface="Helvetica Neue"/>
              <a:sym typeface="Helvetica Neue"/>
            </a:endParaRPr>
          </a:p>
        </p:txBody>
      </p:sp>
      <p:sp>
        <p:nvSpPr>
          <p:cNvPr id="854" name="Google Shape;854;p36"/>
          <p:cNvSpPr txBox="1"/>
          <p:nvPr/>
        </p:nvSpPr>
        <p:spPr>
          <a:xfrm>
            <a:off x="9692640" y="3154680"/>
            <a:ext cx="3200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Helvetica Neue"/>
                <a:ea typeface="Helvetica Neue"/>
                <a:cs typeface="Helvetica Neue"/>
                <a:sym typeface="Helvetica Neue"/>
              </a:rPr>
              <a:t>Step Name</a:t>
            </a:r>
            <a:endParaRPr b="0" i="0" sz="2000" u="none" cap="none" strike="noStrike">
              <a:solidFill>
                <a:schemeClr val="dk1"/>
              </a:solidFill>
              <a:latin typeface="Helvetica Neue"/>
              <a:ea typeface="Helvetica Neue"/>
              <a:cs typeface="Helvetica Neue"/>
              <a:sym typeface="Helvetica Neue"/>
            </a:endParaRPr>
          </a:p>
        </p:txBody>
      </p:sp>
      <p:sp>
        <p:nvSpPr>
          <p:cNvPr id="855" name="Google Shape;855;p36"/>
          <p:cNvSpPr txBox="1"/>
          <p:nvPr/>
        </p:nvSpPr>
        <p:spPr>
          <a:xfrm>
            <a:off x="9692640" y="3703320"/>
            <a:ext cx="320040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Arial"/>
              <a:buNone/>
            </a:pPr>
            <a:r>
              <a:rPr b="0" i="0" lang="en-US" sz="1600" u="none" cap="none" strike="noStrike">
                <a:solidFill>
                  <a:schemeClr val="dk2"/>
                </a:solidFill>
                <a:latin typeface="Helvetica Neue"/>
                <a:ea typeface="Helvetica Neue"/>
                <a:cs typeface="Helvetica Neue"/>
                <a:sym typeface="Helvetica Neue"/>
              </a:rPr>
              <a:t>Short description of what happens in this step.</a:t>
            </a:r>
            <a:endParaRPr b="0" i="0" sz="1600" u="none" cap="none" strike="noStrike">
              <a:solidFill>
                <a:schemeClr val="dk1"/>
              </a:solidFill>
              <a:latin typeface="Helvetica Neue"/>
              <a:ea typeface="Helvetica Neue"/>
              <a:cs typeface="Helvetica Neue"/>
              <a:sym typeface="Helvetica Neue"/>
            </a:endParaRPr>
          </a:p>
        </p:txBody>
      </p:sp>
      <p:cxnSp>
        <p:nvCxnSpPr>
          <p:cNvPr id="856" name="Google Shape;856;p36"/>
          <p:cNvCxnSpPr/>
          <p:nvPr/>
        </p:nvCxnSpPr>
        <p:spPr>
          <a:xfrm>
            <a:off x="13213080" y="3794760"/>
            <a:ext cx="457200" cy="0"/>
          </a:xfrm>
          <a:prstGeom prst="straightConnector1">
            <a:avLst/>
          </a:prstGeom>
          <a:noFill/>
          <a:ln cap="flat" cmpd="sng" w="25400">
            <a:solidFill>
              <a:schemeClr val="accent1"/>
            </a:solidFill>
            <a:prstDash val="solid"/>
            <a:round/>
            <a:headEnd len="sm" w="sm" type="none"/>
            <a:tailEnd len="med" w="med" type="triangle"/>
          </a:ln>
        </p:spPr>
      </p:cxnSp>
      <p:sp>
        <p:nvSpPr>
          <p:cNvPr id="857" name="Google Shape;857;p36"/>
          <p:cNvSpPr/>
          <p:nvPr/>
        </p:nvSpPr>
        <p:spPr>
          <a:xfrm>
            <a:off x="13716000" y="2286000"/>
            <a:ext cx="3749040" cy="301752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858" name="Google Shape;858;p36"/>
          <p:cNvSpPr txBox="1"/>
          <p:nvPr/>
        </p:nvSpPr>
        <p:spPr>
          <a:xfrm>
            <a:off x="13990320" y="2560320"/>
            <a:ext cx="914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200"/>
              <a:buFont typeface="Arial"/>
              <a:buNone/>
            </a:pPr>
            <a:r>
              <a:rPr b="1" i="0" lang="en-US" sz="2200" u="none" cap="none" strike="noStrike">
                <a:solidFill>
                  <a:schemeClr val="accent1"/>
                </a:solidFill>
                <a:latin typeface="Helvetica Neue"/>
                <a:ea typeface="Helvetica Neue"/>
                <a:cs typeface="Helvetica Neue"/>
                <a:sym typeface="Helvetica Neue"/>
              </a:rPr>
              <a:t>04</a:t>
            </a:r>
            <a:endParaRPr b="0" i="0" sz="2200" u="none" cap="none" strike="noStrike">
              <a:solidFill>
                <a:schemeClr val="dk1"/>
              </a:solidFill>
              <a:latin typeface="Helvetica Neue"/>
              <a:ea typeface="Helvetica Neue"/>
              <a:cs typeface="Helvetica Neue"/>
              <a:sym typeface="Helvetica Neue"/>
            </a:endParaRPr>
          </a:p>
        </p:txBody>
      </p:sp>
      <p:sp>
        <p:nvSpPr>
          <p:cNvPr id="859" name="Google Shape;859;p36"/>
          <p:cNvSpPr txBox="1"/>
          <p:nvPr/>
        </p:nvSpPr>
        <p:spPr>
          <a:xfrm>
            <a:off x="13990320" y="3154680"/>
            <a:ext cx="3200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Helvetica Neue"/>
                <a:ea typeface="Helvetica Neue"/>
                <a:cs typeface="Helvetica Neue"/>
                <a:sym typeface="Helvetica Neue"/>
              </a:rPr>
              <a:t>Step Name</a:t>
            </a:r>
            <a:endParaRPr b="0" i="0" sz="2000" u="none" cap="none" strike="noStrike">
              <a:solidFill>
                <a:schemeClr val="dk1"/>
              </a:solidFill>
              <a:latin typeface="Helvetica Neue"/>
              <a:ea typeface="Helvetica Neue"/>
              <a:cs typeface="Helvetica Neue"/>
              <a:sym typeface="Helvetica Neue"/>
            </a:endParaRPr>
          </a:p>
        </p:txBody>
      </p:sp>
      <p:sp>
        <p:nvSpPr>
          <p:cNvPr id="860" name="Google Shape;860;p36"/>
          <p:cNvSpPr txBox="1"/>
          <p:nvPr/>
        </p:nvSpPr>
        <p:spPr>
          <a:xfrm>
            <a:off x="13990320" y="3703320"/>
            <a:ext cx="320040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Arial"/>
              <a:buNone/>
            </a:pPr>
            <a:r>
              <a:rPr b="0" i="0" lang="en-US" sz="1600" u="none" cap="none" strike="noStrike">
                <a:solidFill>
                  <a:schemeClr val="dk2"/>
                </a:solidFill>
                <a:latin typeface="Helvetica Neue"/>
                <a:ea typeface="Helvetica Neue"/>
                <a:cs typeface="Helvetica Neue"/>
                <a:sym typeface="Helvetica Neue"/>
              </a:rPr>
              <a:t>Short description of what happens in this step.</a:t>
            </a:r>
            <a:endParaRPr b="0" i="0" sz="1600" u="none" cap="none" strike="noStrike">
              <a:solidFill>
                <a:schemeClr val="dk1"/>
              </a:solidFill>
              <a:latin typeface="Helvetica Neue"/>
              <a:ea typeface="Helvetica Neue"/>
              <a:cs typeface="Helvetica Neue"/>
              <a:sym typeface="Helvetica Neue"/>
            </a:endParaRPr>
          </a:p>
        </p:txBody>
      </p:sp>
      <p:sp>
        <p:nvSpPr>
          <p:cNvPr id="861" name="Google Shape;861;p36"/>
          <p:cNvSpPr/>
          <p:nvPr/>
        </p:nvSpPr>
        <p:spPr>
          <a:xfrm>
            <a:off x="822960" y="6126480"/>
            <a:ext cx="3749040" cy="301752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862" name="Google Shape;862;p36"/>
          <p:cNvSpPr txBox="1"/>
          <p:nvPr/>
        </p:nvSpPr>
        <p:spPr>
          <a:xfrm>
            <a:off x="1097280" y="6400800"/>
            <a:ext cx="914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200"/>
              <a:buFont typeface="Arial"/>
              <a:buNone/>
            </a:pPr>
            <a:r>
              <a:rPr b="1" i="0" lang="en-US" sz="2200" u="none" cap="none" strike="noStrike">
                <a:solidFill>
                  <a:schemeClr val="accent1"/>
                </a:solidFill>
                <a:latin typeface="Helvetica Neue"/>
                <a:ea typeface="Helvetica Neue"/>
                <a:cs typeface="Helvetica Neue"/>
                <a:sym typeface="Helvetica Neue"/>
              </a:rPr>
              <a:t>05</a:t>
            </a:r>
            <a:endParaRPr b="0" i="0" sz="2200" u="none" cap="none" strike="noStrike">
              <a:solidFill>
                <a:schemeClr val="dk1"/>
              </a:solidFill>
              <a:latin typeface="Helvetica Neue"/>
              <a:ea typeface="Helvetica Neue"/>
              <a:cs typeface="Helvetica Neue"/>
              <a:sym typeface="Helvetica Neue"/>
            </a:endParaRPr>
          </a:p>
        </p:txBody>
      </p:sp>
      <p:sp>
        <p:nvSpPr>
          <p:cNvPr id="863" name="Google Shape;863;p36"/>
          <p:cNvSpPr txBox="1"/>
          <p:nvPr/>
        </p:nvSpPr>
        <p:spPr>
          <a:xfrm>
            <a:off x="1097280" y="6995160"/>
            <a:ext cx="3200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Helvetica Neue"/>
                <a:ea typeface="Helvetica Neue"/>
                <a:cs typeface="Helvetica Neue"/>
                <a:sym typeface="Helvetica Neue"/>
              </a:rPr>
              <a:t>Step Name</a:t>
            </a:r>
            <a:endParaRPr b="0" i="0" sz="2000" u="none" cap="none" strike="noStrike">
              <a:solidFill>
                <a:schemeClr val="dk1"/>
              </a:solidFill>
              <a:latin typeface="Helvetica Neue"/>
              <a:ea typeface="Helvetica Neue"/>
              <a:cs typeface="Helvetica Neue"/>
              <a:sym typeface="Helvetica Neue"/>
            </a:endParaRPr>
          </a:p>
        </p:txBody>
      </p:sp>
      <p:sp>
        <p:nvSpPr>
          <p:cNvPr id="864" name="Google Shape;864;p36"/>
          <p:cNvSpPr txBox="1"/>
          <p:nvPr/>
        </p:nvSpPr>
        <p:spPr>
          <a:xfrm>
            <a:off x="1097280" y="7543800"/>
            <a:ext cx="320040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Arial"/>
              <a:buNone/>
            </a:pPr>
            <a:r>
              <a:rPr b="0" i="0" lang="en-US" sz="1600" u="none" cap="none" strike="noStrike">
                <a:solidFill>
                  <a:schemeClr val="dk2"/>
                </a:solidFill>
                <a:latin typeface="Helvetica Neue"/>
                <a:ea typeface="Helvetica Neue"/>
                <a:cs typeface="Helvetica Neue"/>
                <a:sym typeface="Helvetica Neue"/>
              </a:rPr>
              <a:t>Short description of what happens in this step.</a:t>
            </a:r>
            <a:endParaRPr b="0" i="0" sz="1600" u="none" cap="none" strike="noStrike">
              <a:solidFill>
                <a:schemeClr val="dk1"/>
              </a:solidFill>
              <a:latin typeface="Helvetica Neue"/>
              <a:ea typeface="Helvetica Neue"/>
              <a:cs typeface="Helvetica Neue"/>
              <a:sym typeface="Helvetica Neue"/>
            </a:endParaRPr>
          </a:p>
        </p:txBody>
      </p:sp>
      <p:cxnSp>
        <p:nvCxnSpPr>
          <p:cNvPr id="865" name="Google Shape;865;p36"/>
          <p:cNvCxnSpPr/>
          <p:nvPr/>
        </p:nvCxnSpPr>
        <p:spPr>
          <a:xfrm>
            <a:off x="4617720" y="7635240"/>
            <a:ext cx="457200" cy="0"/>
          </a:xfrm>
          <a:prstGeom prst="straightConnector1">
            <a:avLst/>
          </a:prstGeom>
          <a:noFill/>
          <a:ln cap="flat" cmpd="sng" w="25400">
            <a:solidFill>
              <a:schemeClr val="accent1"/>
            </a:solidFill>
            <a:prstDash val="solid"/>
            <a:round/>
            <a:headEnd len="sm" w="sm" type="none"/>
            <a:tailEnd len="med" w="med" type="triangle"/>
          </a:ln>
        </p:spPr>
      </p:cxnSp>
      <p:sp>
        <p:nvSpPr>
          <p:cNvPr id="866" name="Google Shape;866;p36"/>
          <p:cNvSpPr/>
          <p:nvPr/>
        </p:nvSpPr>
        <p:spPr>
          <a:xfrm>
            <a:off x="5120640" y="6126480"/>
            <a:ext cx="3749040" cy="301752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867" name="Google Shape;867;p36"/>
          <p:cNvSpPr txBox="1"/>
          <p:nvPr/>
        </p:nvSpPr>
        <p:spPr>
          <a:xfrm>
            <a:off x="5394960" y="6400800"/>
            <a:ext cx="914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200"/>
              <a:buFont typeface="Arial"/>
              <a:buNone/>
            </a:pPr>
            <a:r>
              <a:rPr b="1" i="0" lang="en-US" sz="2200" u="none" cap="none" strike="noStrike">
                <a:solidFill>
                  <a:schemeClr val="accent1"/>
                </a:solidFill>
                <a:latin typeface="Helvetica Neue"/>
                <a:ea typeface="Helvetica Neue"/>
                <a:cs typeface="Helvetica Neue"/>
                <a:sym typeface="Helvetica Neue"/>
              </a:rPr>
              <a:t>06</a:t>
            </a:r>
            <a:endParaRPr b="0" i="0" sz="2200" u="none" cap="none" strike="noStrike">
              <a:solidFill>
                <a:schemeClr val="dk1"/>
              </a:solidFill>
              <a:latin typeface="Helvetica Neue"/>
              <a:ea typeface="Helvetica Neue"/>
              <a:cs typeface="Helvetica Neue"/>
              <a:sym typeface="Helvetica Neue"/>
            </a:endParaRPr>
          </a:p>
        </p:txBody>
      </p:sp>
      <p:sp>
        <p:nvSpPr>
          <p:cNvPr id="868" name="Google Shape;868;p36"/>
          <p:cNvSpPr txBox="1"/>
          <p:nvPr/>
        </p:nvSpPr>
        <p:spPr>
          <a:xfrm>
            <a:off x="5394960" y="6995160"/>
            <a:ext cx="3200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Helvetica Neue"/>
                <a:ea typeface="Helvetica Neue"/>
                <a:cs typeface="Helvetica Neue"/>
                <a:sym typeface="Helvetica Neue"/>
              </a:rPr>
              <a:t>Step Name</a:t>
            </a:r>
            <a:endParaRPr b="0" i="0" sz="2000" u="none" cap="none" strike="noStrike">
              <a:solidFill>
                <a:schemeClr val="dk1"/>
              </a:solidFill>
              <a:latin typeface="Helvetica Neue"/>
              <a:ea typeface="Helvetica Neue"/>
              <a:cs typeface="Helvetica Neue"/>
              <a:sym typeface="Helvetica Neue"/>
            </a:endParaRPr>
          </a:p>
        </p:txBody>
      </p:sp>
      <p:sp>
        <p:nvSpPr>
          <p:cNvPr id="869" name="Google Shape;869;p36"/>
          <p:cNvSpPr txBox="1"/>
          <p:nvPr/>
        </p:nvSpPr>
        <p:spPr>
          <a:xfrm>
            <a:off x="5394960" y="7543800"/>
            <a:ext cx="320040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Arial"/>
              <a:buNone/>
            </a:pPr>
            <a:r>
              <a:rPr b="0" i="0" lang="en-US" sz="1600" u="none" cap="none" strike="noStrike">
                <a:solidFill>
                  <a:schemeClr val="dk2"/>
                </a:solidFill>
                <a:latin typeface="Helvetica Neue"/>
                <a:ea typeface="Helvetica Neue"/>
                <a:cs typeface="Helvetica Neue"/>
                <a:sym typeface="Helvetica Neue"/>
              </a:rPr>
              <a:t>Short description of what happens in this step.</a:t>
            </a:r>
            <a:endParaRPr b="0" i="0" sz="1600" u="none" cap="none" strike="noStrike">
              <a:solidFill>
                <a:schemeClr val="dk1"/>
              </a:solidFill>
              <a:latin typeface="Helvetica Neue"/>
              <a:ea typeface="Helvetica Neue"/>
              <a:cs typeface="Helvetica Neue"/>
              <a:sym typeface="Helvetica Neue"/>
            </a:endParaRPr>
          </a:p>
        </p:txBody>
      </p:sp>
      <p:cxnSp>
        <p:nvCxnSpPr>
          <p:cNvPr id="870" name="Google Shape;870;p36"/>
          <p:cNvCxnSpPr/>
          <p:nvPr/>
        </p:nvCxnSpPr>
        <p:spPr>
          <a:xfrm>
            <a:off x="8915400" y="7635240"/>
            <a:ext cx="457200" cy="0"/>
          </a:xfrm>
          <a:prstGeom prst="straightConnector1">
            <a:avLst/>
          </a:prstGeom>
          <a:noFill/>
          <a:ln cap="flat" cmpd="sng" w="25400">
            <a:solidFill>
              <a:schemeClr val="accent1"/>
            </a:solidFill>
            <a:prstDash val="solid"/>
            <a:round/>
            <a:headEnd len="sm" w="sm" type="none"/>
            <a:tailEnd len="med" w="med" type="triangle"/>
          </a:ln>
        </p:spPr>
      </p:cxnSp>
      <p:sp>
        <p:nvSpPr>
          <p:cNvPr id="871" name="Google Shape;871;p36"/>
          <p:cNvSpPr/>
          <p:nvPr/>
        </p:nvSpPr>
        <p:spPr>
          <a:xfrm>
            <a:off x="9418320" y="6126480"/>
            <a:ext cx="3749040" cy="301752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872" name="Google Shape;872;p36"/>
          <p:cNvSpPr txBox="1"/>
          <p:nvPr/>
        </p:nvSpPr>
        <p:spPr>
          <a:xfrm>
            <a:off x="9692640" y="6400800"/>
            <a:ext cx="914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200"/>
              <a:buFont typeface="Arial"/>
              <a:buNone/>
            </a:pPr>
            <a:r>
              <a:rPr b="1" i="0" lang="en-US" sz="2200" u="none" cap="none" strike="noStrike">
                <a:solidFill>
                  <a:schemeClr val="accent1"/>
                </a:solidFill>
                <a:latin typeface="Helvetica Neue"/>
                <a:ea typeface="Helvetica Neue"/>
                <a:cs typeface="Helvetica Neue"/>
                <a:sym typeface="Helvetica Neue"/>
              </a:rPr>
              <a:t>07</a:t>
            </a:r>
            <a:endParaRPr b="0" i="0" sz="2200" u="none" cap="none" strike="noStrike">
              <a:solidFill>
                <a:schemeClr val="dk1"/>
              </a:solidFill>
              <a:latin typeface="Helvetica Neue"/>
              <a:ea typeface="Helvetica Neue"/>
              <a:cs typeface="Helvetica Neue"/>
              <a:sym typeface="Helvetica Neue"/>
            </a:endParaRPr>
          </a:p>
        </p:txBody>
      </p:sp>
      <p:sp>
        <p:nvSpPr>
          <p:cNvPr id="873" name="Google Shape;873;p36"/>
          <p:cNvSpPr txBox="1"/>
          <p:nvPr/>
        </p:nvSpPr>
        <p:spPr>
          <a:xfrm>
            <a:off x="9692640" y="6995160"/>
            <a:ext cx="3200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Helvetica Neue"/>
                <a:ea typeface="Helvetica Neue"/>
                <a:cs typeface="Helvetica Neue"/>
                <a:sym typeface="Helvetica Neue"/>
              </a:rPr>
              <a:t>Step Name</a:t>
            </a:r>
            <a:endParaRPr b="0" i="0" sz="2000" u="none" cap="none" strike="noStrike">
              <a:solidFill>
                <a:schemeClr val="dk1"/>
              </a:solidFill>
              <a:latin typeface="Helvetica Neue"/>
              <a:ea typeface="Helvetica Neue"/>
              <a:cs typeface="Helvetica Neue"/>
              <a:sym typeface="Helvetica Neue"/>
            </a:endParaRPr>
          </a:p>
        </p:txBody>
      </p:sp>
      <p:sp>
        <p:nvSpPr>
          <p:cNvPr id="874" name="Google Shape;874;p36"/>
          <p:cNvSpPr txBox="1"/>
          <p:nvPr/>
        </p:nvSpPr>
        <p:spPr>
          <a:xfrm>
            <a:off x="9692640" y="7543800"/>
            <a:ext cx="320040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Arial"/>
              <a:buNone/>
            </a:pPr>
            <a:r>
              <a:rPr b="0" i="0" lang="en-US" sz="1600" u="none" cap="none" strike="noStrike">
                <a:solidFill>
                  <a:schemeClr val="dk2"/>
                </a:solidFill>
                <a:latin typeface="Helvetica Neue"/>
                <a:ea typeface="Helvetica Neue"/>
                <a:cs typeface="Helvetica Neue"/>
                <a:sym typeface="Helvetica Neue"/>
              </a:rPr>
              <a:t>Short description of what happens in this step.</a:t>
            </a:r>
            <a:endParaRPr b="0" i="0" sz="1600" u="none" cap="none" strike="noStrike">
              <a:solidFill>
                <a:schemeClr val="dk1"/>
              </a:solidFill>
              <a:latin typeface="Helvetica Neue"/>
              <a:ea typeface="Helvetica Neue"/>
              <a:cs typeface="Helvetica Neue"/>
              <a:sym typeface="Helvetica Neue"/>
            </a:endParaRPr>
          </a:p>
        </p:txBody>
      </p:sp>
      <p:cxnSp>
        <p:nvCxnSpPr>
          <p:cNvPr id="875" name="Google Shape;875;p36"/>
          <p:cNvCxnSpPr/>
          <p:nvPr/>
        </p:nvCxnSpPr>
        <p:spPr>
          <a:xfrm>
            <a:off x="13213080" y="7635240"/>
            <a:ext cx="457200" cy="0"/>
          </a:xfrm>
          <a:prstGeom prst="straightConnector1">
            <a:avLst/>
          </a:prstGeom>
          <a:noFill/>
          <a:ln cap="flat" cmpd="sng" w="25400">
            <a:solidFill>
              <a:schemeClr val="accent1"/>
            </a:solidFill>
            <a:prstDash val="solid"/>
            <a:round/>
            <a:headEnd len="sm" w="sm" type="none"/>
            <a:tailEnd len="med" w="med" type="triangle"/>
          </a:ln>
        </p:spPr>
      </p:cxnSp>
      <p:sp>
        <p:nvSpPr>
          <p:cNvPr id="876" name="Google Shape;876;p36"/>
          <p:cNvSpPr/>
          <p:nvPr/>
        </p:nvSpPr>
        <p:spPr>
          <a:xfrm>
            <a:off x="13716000" y="6126480"/>
            <a:ext cx="3749040" cy="301752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877" name="Google Shape;877;p36"/>
          <p:cNvSpPr txBox="1"/>
          <p:nvPr/>
        </p:nvSpPr>
        <p:spPr>
          <a:xfrm>
            <a:off x="13990320" y="6400800"/>
            <a:ext cx="914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200"/>
              <a:buFont typeface="Arial"/>
              <a:buNone/>
            </a:pPr>
            <a:r>
              <a:rPr b="1" i="0" lang="en-US" sz="2200" u="none" cap="none" strike="noStrike">
                <a:solidFill>
                  <a:schemeClr val="accent1"/>
                </a:solidFill>
                <a:latin typeface="Helvetica Neue"/>
                <a:ea typeface="Helvetica Neue"/>
                <a:cs typeface="Helvetica Neue"/>
                <a:sym typeface="Helvetica Neue"/>
              </a:rPr>
              <a:t>08</a:t>
            </a:r>
            <a:endParaRPr b="0" i="0" sz="2200" u="none" cap="none" strike="noStrike">
              <a:solidFill>
                <a:schemeClr val="dk1"/>
              </a:solidFill>
              <a:latin typeface="Helvetica Neue"/>
              <a:ea typeface="Helvetica Neue"/>
              <a:cs typeface="Helvetica Neue"/>
              <a:sym typeface="Helvetica Neue"/>
            </a:endParaRPr>
          </a:p>
        </p:txBody>
      </p:sp>
      <p:sp>
        <p:nvSpPr>
          <p:cNvPr id="878" name="Google Shape;878;p36"/>
          <p:cNvSpPr txBox="1"/>
          <p:nvPr/>
        </p:nvSpPr>
        <p:spPr>
          <a:xfrm>
            <a:off x="13990320" y="6995160"/>
            <a:ext cx="3200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Helvetica Neue"/>
                <a:ea typeface="Helvetica Neue"/>
                <a:cs typeface="Helvetica Neue"/>
                <a:sym typeface="Helvetica Neue"/>
              </a:rPr>
              <a:t>Step Name</a:t>
            </a:r>
            <a:endParaRPr b="0" i="0" sz="2000" u="none" cap="none" strike="noStrike">
              <a:solidFill>
                <a:schemeClr val="dk1"/>
              </a:solidFill>
              <a:latin typeface="Helvetica Neue"/>
              <a:ea typeface="Helvetica Neue"/>
              <a:cs typeface="Helvetica Neue"/>
              <a:sym typeface="Helvetica Neue"/>
            </a:endParaRPr>
          </a:p>
        </p:txBody>
      </p:sp>
      <p:sp>
        <p:nvSpPr>
          <p:cNvPr id="879" name="Google Shape;879;p36"/>
          <p:cNvSpPr txBox="1"/>
          <p:nvPr/>
        </p:nvSpPr>
        <p:spPr>
          <a:xfrm>
            <a:off x="13990320" y="7543800"/>
            <a:ext cx="320040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Arial"/>
              <a:buNone/>
            </a:pPr>
            <a:r>
              <a:rPr b="0" i="0" lang="en-US" sz="1600" u="none" cap="none" strike="noStrike">
                <a:solidFill>
                  <a:schemeClr val="dk2"/>
                </a:solidFill>
                <a:latin typeface="Helvetica Neue"/>
                <a:ea typeface="Helvetica Neue"/>
                <a:cs typeface="Helvetica Neue"/>
                <a:sym typeface="Helvetica Neue"/>
              </a:rPr>
              <a:t>Short description of what happens in this step.</a:t>
            </a:r>
            <a:endParaRPr b="0" i="0" sz="1600" u="none" cap="none" strike="noStrike">
              <a:solidFill>
                <a:schemeClr val="dk1"/>
              </a:solidFill>
              <a:latin typeface="Helvetica Neue"/>
              <a:ea typeface="Helvetica Neue"/>
              <a:cs typeface="Helvetica Neue"/>
              <a:sym typeface="Helvetica Neue"/>
            </a:endParaRPr>
          </a:p>
        </p:txBody>
      </p:sp>
      <p:sp>
        <p:nvSpPr>
          <p:cNvPr id="880" name="Google Shape;880;p36"/>
          <p:cNvSpPr txBox="1"/>
          <p:nvPr>
            <p:ph idx="4294967295" type="sldNum"/>
          </p:nvPr>
        </p:nvSpPr>
        <p:spPr>
          <a:xfrm>
            <a:off x="16550640" y="9646920"/>
            <a:ext cx="914400" cy="36576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2"/>
                </a:solidFill>
                <a:latin typeface="Helvetica Neue"/>
                <a:ea typeface="Helvetica Neue"/>
                <a:cs typeface="Helvetica Neue"/>
                <a:sym typeface="Helvetica Neue"/>
              </a:rPr>
              <a:t>‹#›</a:t>
            </a:fld>
            <a:endParaRPr b="0" i="0" sz="1200" u="none" cap="none" strike="noStrike">
              <a:solidFill>
                <a:schemeClr val="dk2"/>
              </a:solidFill>
              <a:latin typeface="Helvetica Neue"/>
              <a:ea typeface="Helvetica Neue"/>
              <a:cs typeface="Helvetica Neue"/>
              <a:sym typeface="Helvetica Neue"/>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85" name="Shape 885"/>
        <p:cNvGrpSpPr/>
        <p:nvPr/>
      </p:nvGrpSpPr>
      <p:grpSpPr>
        <a:xfrm>
          <a:off x="0" y="0"/>
          <a:ext cx="0" cy="0"/>
          <a:chOff x="0" y="0"/>
          <a:chExt cx="0" cy="0"/>
        </a:xfrm>
      </p:grpSpPr>
      <p:sp>
        <p:nvSpPr>
          <p:cNvPr id="886" name="Google Shape;886;p37"/>
          <p:cNvSpPr txBox="1"/>
          <p:nvPr>
            <p:ph type="title"/>
          </p:nvPr>
        </p:nvSpPr>
        <p:spPr>
          <a:xfrm>
            <a:off x="822960" y="960120"/>
            <a:ext cx="16642080" cy="8229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Arial"/>
              <a:buNone/>
            </a:pPr>
            <a:r>
              <a:rPr b="1" lang="en-US" sz="3600">
                <a:solidFill>
                  <a:schemeClr val="dk1"/>
                </a:solidFill>
              </a:rPr>
              <a:t>Screenshot or Demo Slide</a:t>
            </a:r>
            <a:endParaRPr sz="3600"/>
          </a:p>
        </p:txBody>
      </p:sp>
      <p:sp>
        <p:nvSpPr>
          <p:cNvPr id="887" name="Google Shape;887;p37"/>
          <p:cNvSpPr/>
          <p:nvPr/>
        </p:nvSpPr>
        <p:spPr>
          <a:xfrm>
            <a:off x="822960" y="2103120"/>
            <a:ext cx="16642080" cy="7223760"/>
          </a:xfrm>
          <a:prstGeom prst="rect">
            <a:avLst/>
          </a:prstGeom>
          <a:solidFill>
            <a:schemeClr val="lt1"/>
          </a:solidFill>
          <a:ln cap="flat" cmpd="sng" w="19050">
            <a:solidFill>
              <a:schemeClr val="accent3"/>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888" name="Google Shape;888;p37"/>
          <p:cNvSpPr txBox="1"/>
          <p:nvPr/>
        </p:nvSpPr>
        <p:spPr>
          <a:xfrm>
            <a:off x="822960" y="5394960"/>
            <a:ext cx="16642080" cy="5486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accent1"/>
              </a:buClr>
              <a:buSzPts val="2200"/>
              <a:buFont typeface="Arial"/>
              <a:buNone/>
            </a:pPr>
            <a:r>
              <a:rPr b="1" i="0" lang="en-US" sz="2200" u="none" cap="none" strike="noStrike">
                <a:solidFill>
                  <a:schemeClr val="accent1"/>
                </a:solidFill>
                <a:latin typeface="Helvetica Neue"/>
                <a:ea typeface="Helvetica Neue"/>
                <a:cs typeface="Helvetica Neue"/>
                <a:sym typeface="Helvetica Neue"/>
              </a:rPr>
              <a:t>Paste screenshot, demo, or full-width image here</a:t>
            </a:r>
            <a:endParaRPr b="0" i="0" sz="2200" u="none" cap="none" strike="noStrike">
              <a:solidFill>
                <a:schemeClr val="dk1"/>
              </a:solidFill>
              <a:latin typeface="Helvetica Neue"/>
              <a:ea typeface="Helvetica Neue"/>
              <a:cs typeface="Helvetica Neue"/>
              <a:sym typeface="Helvetica Neue"/>
            </a:endParaRPr>
          </a:p>
        </p:txBody>
      </p:sp>
      <p:sp>
        <p:nvSpPr>
          <p:cNvPr id="889" name="Google Shape;889;p37"/>
          <p:cNvSpPr txBox="1"/>
          <p:nvPr>
            <p:ph idx="4294967295" type="sldNum"/>
          </p:nvPr>
        </p:nvSpPr>
        <p:spPr>
          <a:xfrm>
            <a:off x="16550640" y="9646920"/>
            <a:ext cx="914400" cy="36576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2"/>
                </a:solidFill>
                <a:latin typeface="Helvetica Neue"/>
                <a:ea typeface="Helvetica Neue"/>
                <a:cs typeface="Helvetica Neue"/>
                <a:sym typeface="Helvetica Neue"/>
              </a:rPr>
              <a:t>‹#›</a:t>
            </a:fld>
            <a:endParaRPr b="0" i="0" sz="1200" u="none" cap="none" strike="noStrike">
              <a:solidFill>
                <a:schemeClr val="dk2"/>
              </a:solidFill>
              <a:latin typeface="Helvetica Neue"/>
              <a:ea typeface="Helvetica Neue"/>
              <a:cs typeface="Helvetica Neue"/>
              <a:sym typeface="Helvetica Neue"/>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94" name="Shape 894"/>
        <p:cNvGrpSpPr/>
        <p:nvPr/>
      </p:nvGrpSpPr>
      <p:grpSpPr>
        <a:xfrm>
          <a:off x="0" y="0"/>
          <a:ext cx="0" cy="0"/>
          <a:chOff x="0" y="0"/>
          <a:chExt cx="0" cy="0"/>
        </a:xfrm>
      </p:grpSpPr>
      <p:sp>
        <p:nvSpPr>
          <p:cNvPr id="895" name="Google Shape;895;p38"/>
          <p:cNvSpPr txBox="1"/>
          <p:nvPr>
            <p:ph type="title"/>
          </p:nvPr>
        </p:nvSpPr>
        <p:spPr>
          <a:xfrm>
            <a:off x="822960" y="960120"/>
            <a:ext cx="16642080" cy="8229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Arial"/>
              <a:buNone/>
            </a:pPr>
            <a:r>
              <a:rPr b="1" lang="en-US" sz="3600">
                <a:solidFill>
                  <a:schemeClr val="dk1"/>
                </a:solidFill>
              </a:rPr>
              <a:t>Approach and Rationale</a:t>
            </a:r>
            <a:endParaRPr sz="3600"/>
          </a:p>
        </p:txBody>
      </p:sp>
      <p:sp>
        <p:nvSpPr>
          <p:cNvPr id="896" name="Google Shape;896;p38"/>
          <p:cNvSpPr/>
          <p:nvPr/>
        </p:nvSpPr>
        <p:spPr>
          <a:xfrm>
            <a:off x="822960" y="2103120"/>
            <a:ext cx="16642080" cy="731520"/>
          </a:xfrm>
          <a:prstGeom prst="rect">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897" name="Google Shape;897;p38"/>
          <p:cNvSpPr txBox="1"/>
          <p:nvPr/>
        </p:nvSpPr>
        <p:spPr>
          <a:xfrm>
            <a:off x="1188720" y="2103120"/>
            <a:ext cx="15910560"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2"/>
              </a:buClr>
              <a:buSzPts val="2000"/>
              <a:buFont typeface="Arial"/>
              <a:buNone/>
            </a:pPr>
            <a:r>
              <a:rPr b="1" i="0" lang="en-US" sz="2000" u="none" cap="none" strike="noStrike">
                <a:solidFill>
                  <a:schemeClr val="accent2"/>
                </a:solidFill>
                <a:latin typeface="Helvetica Neue"/>
                <a:ea typeface="Helvetica Neue"/>
                <a:cs typeface="Helvetica Neue"/>
                <a:sym typeface="Helvetica Neue"/>
              </a:rPr>
              <a:t>GOAL: </a:t>
            </a:r>
            <a:r>
              <a:rPr b="0" i="0" lang="en-US" sz="2000" u="none" cap="none" strike="noStrike">
                <a:solidFill>
                  <a:schemeClr val="lt1"/>
                </a:solidFill>
                <a:latin typeface="Helvetica Neue"/>
                <a:ea typeface="Helvetica Neue"/>
                <a:cs typeface="Helvetica Neue"/>
                <a:sym typeface="Helvetica Neue"/>
              </a:rPr>
              <a:t>Describe what this approach is meant to achieve.</a:t>
            </a:r>
            <a:endParaRPr b="0" i="0" sz="2000" u="none" cap="none" strike="noStrike">
              <a:solidFill>
                <a:schemeClr val="dk1"/>
              </a:solidFill>
              <a:latin typeface="Helvetica Neue"/>
              <a:ea typeface="Helvetica Neue"/>
              <a:cs typeface="Helvetica Neue"/>
              <a:sym typeface="Helvetica Neue"/>
            </a:endParaRPr>
          </a:p>
        </p:txBody>
      </p:sp>
      <p:sp>
        <p:nvSpPr>
          <p:cNvPr id="898" name="Google Shape;898;p38"/>
          <p:cNvSpPr txBox="1"/>
          <p:nvPr/>
        </p:nvSpPr>
        <p:spPr>
          <a:xfrm>
            <a:off x="822960" y="3108960"/>
            <a:ext cx="5486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Helvetica Neue"/>
                <a:ea typeface="Helvetica Neue"/>
                <a:cs typeface="Helvetica Neue"/>
                <a:sym typeface="Helvetica Neue"/>
              </a:rPr>
              <a:t>Approach</a:t>
            </a:r>
            <a:endParaRPr b="0" i="0" sz="2400" u="none" cap="none" strike="noStrike">
              <a:solidFill>
                <a:schemeClr val="dk1"/>
              </a:solidFill>
              <a:latin typeface="Helvetica Neue"/>
              <a:ea typeface="Helvetica Neue"/>
              <a:cs typeface="Helvetica Neue"/>
              <a:sym typeface="Helvetica Neue"/>
            </a:endParaRPr>
          </a:p>
        </p:txBody>
      </p:sp>
      <p:sp>
        <p:nvSpPr>
          <p:cNvPr id="899" name="Google Shape;899;p38"/>
          <p:cNvSpPr/>
          <p:nvPr/>
        </p:nvSpPr>
        <p:spPr>
          <a:xfrm>
            <a:off x="822960" y="3749040"/>
            <a:ext cx="3035808" cy="246888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900" name="Google Shape;900;p38"/>
          <p:cNvSpPr txBox="1"/>
          <p:nvPr/>
        </p:nvSpPr>
        <p:spPr>
          <a:xfrm>
            <a:off x="1097280" y="3977640"/>
            <a:ext cx="914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200"/>
              <a:buFont typeface="Arial"/>
              <a:buNone/>
            </a:pPr>
            <a:r>
              <a:rPr b="1" i="0" lang="en-US" sz="2200" u="none" cap="none" strike="noStrike">
                <a:solidFill>
                  <a:schemeClr val="accent1"/>
                </a:solidFill>
                <a:latin typeface="Helvetica Neue"/>
                <a:ea typeface="Helvetica Neue"/>
                <a:cs typeface="Helvetica Neue"/>
                <a:sym typeface="Helvetica Neue"/>
              </a:rPr>
              <a:t>01</a:t>
            </a:r>
            <a:endParaRPr b="0" i="0" sz="2200" u="none" cap="none" strike="noStrike">
              <a:solidFill>
                <a:schemeClr val="dk1"/>
              </a:solidFill>
              <a:latin typeface="Helvetica Neue"/>
              <a:ea typeface="Helvetica Neue"/>
              <a:cs typeface="Helvetica Neue"/>
              <a:sym typeface="Helvetica Neue"/>
            </a:endParaRPr>
          </a:p>
        </p:txBody>
      </p:sp>
      <p:sp>
        <p:nvSpPr>
          <p:cNvPr id="901" name="Google Shape;901;p38"/>
          <p:cNvSpPr txBox="1"/>
          <p:nvPr/>
        </p:nvSpPr>
        <p:spPr>
          <a:xfrm>
            <a:off x="1097280" y="4572000"/>
            <a:ext cx="2487168"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Helvetica Neue"/>
                <a:ea typeface="Helvetica Neue"/>
                <a:cs typeface="Helvetica Neue"/>
                <a:sym typeface="Helvetica Neue"/>
              </a:rPr>
              <a:t>Step Name</a:t>
            </a:r>
            <a:endParaRPr b="0" i="0" sz="2000" u="none" cap="none" strike="noStrike">
              <a:solidFill>
                <a:schemeClr val="dk1"/>
              </a:solidFill>
              <a:latin typeface="Helvetica Neue"/>
              <a:ea typeface="Helvetica Neue"/>
              <a:cs typeface="Helvetica Neue"/>
              <a:sym typeface="Helvetica Neue"/>
            </a:endParaRPr>
          </a:p>
        </p:txBody>
      </p:sp>
      <p:sp>
        <p:nvSpPr>
          <p:cNvPr id="902" name="Google Shape;902;p38"/>
          <p:cNvSpPr txBox="1"/>
          <p:nvPr/>
        </p:nvSpPr>
        <p:spPr>
          <a:xfrm>
            <a:off x="1097280" y="5120640"/>
            <a:ext cx="2487168"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Arial"/>
              <a:buNone/>
            </a:pPr>
            <a:r>
              <a:rPr b="0" i="0" lang="en-US" sz="1600" u="none" cap="none" strike="noStrike">
                <a:solidFill>
                  <a:schemeClr val="dk2"/>
                </a:solidFill>
                <a:latin typeface="Helvetica Neue"/>
                <a:ea typeface="Helvetica Neue"/>
                <a:cs typeface="Helvetica Neue"/>
                <a:sym typeface="Helvetica Neue"/>
              </a:rPr>
              <a:t>Short description.</a:t>
            </a:r>
            <a:endParaRPr b="0" i="0" sz="1600" u="none" cap="none" strike="noStrike">
              <a:solidFill>
                <a:schemeClr val="dk1"/>
              </a:solidFill>
              <a:latin typeface="Helvetica Neue"/>
              <a:ea typeface="Helvetica Neue"/>
              <a:cs typeface="Helvetica Neue"/>
              <a:sym typeface="Helvetica Neue"/>
            </a:endParaRPr>
          </a:p>
        </p:txBody>
      </p:sp>
      <p:sp>
        <p:nvSpPr>
          <p:cNvPr id="903" name="Google Shape;903;p38"/>
          <p:cNvSpPr/>
          <p:nvPr/>
        </p:nvSpPr>
        <p:spPr>
          <a:xfrm>
            <a:off x="4224528" y="3749040"/>
            <a:ext cx="3035808" cy="246888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904" name="Google Shape;904;p38"/>
          <p:cNvSpPr txBox="1"/>
          <p:nvPr/>
        </p:nvSpPr>
        <p:spPr>
          <a:xfrm>
            <a:off x="4498848" y="3977640"/>
            <a:ext cx="914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200"/>
              <a:buFont typeface="Arial"/>
              <a:buNone/>
            </a:pPr>
            <a:r>
              <a:rPr b="1" i="0" lang="en-US" sz="2200" u="none" cap="none" strike="noStrike">
                <a:solidFill>
                  <a:schemeClr val="accent1"/>
                </a:solidFill>
                <a:latin typeface="Helvetica Neue"/>
                <a:ea typeface="Helvetica Neue"/>
                <a:cs typeface="Helvetica Neue"/>
                <a:sym typeface="Helvetica Neue"/>
              </a:rPr>
              <a:t>02</a:t>
            </a:r>
            <a:endParaRPr b="0" i="0" sz="2200" u="none" cap="none" strike="noStrike">
              <a:solidFill>
                <a:schemeClr val="dk1"/>
              </a:solidFill>
              <a:latin typeface="Helvetica Neue"/>
              <a:ea typeface="Helvetica Neue"/>
              <a:cs typeface="Helvetica Neue"/>
              <a:sym typeface="Helvetica Neue"/>
            </a:endParaRPr>
          </a:p>
        </p:txBody>
      </p:sp>
      <p:sp>
        <p:nvSpPr>
          <p:cNvPr id="905" name="Google Shape;905;p38"/>
          <p:cNvSpPr txBox="1"/>
          <p:nvPr/>
        </p:nvSpPr>
        <p:spPr>
          <a:xfrm>
            <a:off x="4498848" y="4572000"/>
            <a:ext cx="2487168"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Helvetica Neue"/>
                <a:ea typeface="Helvetica Neue"/>
                <a:cs typeface="Helvetica Neue"/>
                <a:sym typeface="Helvetica Neue"/>
              </a:rPr>
              <a:t>Step Name</a:t>
            </a:r>
            <a:endParaRPr b="0" i="0" sz="2000" u="none" cap="none" strike="noStrike">
              <a:solidFill>
                <a:schemeClr val="dk1"/>
              </a:solidFill>
              <a:latin typeface="Helvetica Neue"/>
              <a:ea typeface="Helvetica Neue"/>
              <a:cs typeface="Helvetica Neue"/>
              <a:sym typeface="Helvetica Neue"/>
            </a:endParaRPr>
          </a:p>
        </p:txBody>
      </p:sp>
      <p:sp>
        <p:nvSpPr>
          <p:cNvPr id="906" name="Google Shape;906;p38"/>
          <p:cNvSpPr txBox="1"/>
          <p:nvPr/>
        </p:nvSpPr>
        <p:spPr>
          <a:xfrm>
            <a:off x="4498848" y="5120640"/>
            <a:ext cx="2487168"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Arial"/>
              <a:buNone/>
            </a:pPr>
            <a:r>
              <a:rPr b="0" i="0" lang="en-US" sz="1600" u="none" cap="none" strike="noStrike">
                <a:solidFill>
                  <a:schemeClr val="dk2"/>
                </a:solidFill>
                <a:latin typeface="Helvetica Neue"/>
                <a:ea typeface="Helvetica Neue"/>
                <a:cs typeface="Helvetica Neue"/>
                <a:sym typeface="Helvetica Neue"/>
              </a:rPr>
              <a:t>Short description.</a:t>
            </a:r>
            <a:endParaRPr b="0" i="0" sz="1600" u="none" cap="none" strike="noStrike">
              <a:solidFill>
                <a:schemeClr val="dk1"/>
              </a:solidFill>
              <a:latin typeface="Helvetica Neue"/>
              <a:ea typeface="Helvetica Neue"/>
              <a:cs typeface="Helvetica Neue"/>
              <a:sym typeface="Helvetica Neue"/>
            </a:endParaRPr>
          </a:p>
        </p:txBody>
      </p:sp>
      <p:sp>
        <p:nvSpPr>
          <p:cNvPr id="907" name="Google Shape;907;p38"/>
          <p:cNvSpPr/>
          <p:nvPr/>
        </p:nvSpPr>
        <p:spPr>
          <a:xfrm>
            <a:off x="7626096" y="3749040"/>
            <a:ext cx="3035808" cy="246888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908" name="Google Shape;908;p38"/>
          <p:cNvSpPr txBox="1"/>
          <p:nvPr/>
        </p:nvSpPr>
        <p:spPr>
          <a:xfrm>
            <a:off x="7900416" y="3977640"/>
            <a:ext cx="914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200"/>
              <a:buFont typeface="Arial"/>
              <a:buNone/>
            </a:pPr>
            <a:r>
              <a:rPr b="1" i="0" lang="en-US" sz="2200" u="none" cap="none" strike="noStrike">
                <a:solidFill>
                  <a:schemeClr val="accent1"/>
                </a:solidFill>
                <a:latin typeface="Helvetica Neue"/>
                <a:ea typeface="Helvetica Neue"/>
                <a:cs typeface="Helvetica Neue"/>
                <a:sym typeface="Helvetica Neue"/>
              </a:rPr>
              <a:t>03</a:t>
            </a:r>
            <a:endParaRPr b="0" i="0" sz="2200" u="none" cap="none" strike="noStrike">
              <a:solidFill>
                <a:schemeClr val="dk1"/>
              </a:solidFill>
              <a:latin typeface="Helvetica Neue"/>
              <a:ea typeface="Helvetica Neue"/>
              <a:cs typeface="Helvetica Neue"/>
              <a:sym typeface="Helvetica Neue"/>
            </a:endParaRPr>
          </a:p>
        </p:txBody>
      </p:sp>
      <p:sp>
        <p:nvSpPr>
          <p:cNvPr id="909" name="Google Shape;909;p38"/>
          <p:cNvSpPr txBox="1"/>
          <p:nvPr/>
        </p:nvSpPr>
        <p:spPr>
          <a:xfrm>
            <a:off x="7900416" y="4572000"/>
            <a:ext cx="2487168"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Helvetica Neue"/>
                <a:ea typeface="Helvetica Neue"/>
                <a:cs typeface="Helvetica Neue"/>
                <a:sym typeface="Helvetica Neue"/>
              </a:rPr>
              <a:t>Step Name</a:t>
            </a:r>
            <a:endParaRPr b="0" i="0" sz="2000" u="none" cap="none" strike="noStrike">
              <a:solidFill>
                <a:schemeClr val="dk1"/>
              </a:solidFill>
              <a:latin typeface="Helvetica Neue"/>
              <a:ea typeface="Helvetica Neue"/>
              <a:cs typeface="Helvetica Neue"/>
              <a:sym typeface="Helvetica Neue"/>
            </a:endParaRPr>
          </a:p>
        </p:txBody>
      </p:sp>
      <p:sp>
        <p:nvSpPr>
          <p:cNvPr id="910" name="Google Shape;910;p38"/>
          <p:cNvSpPr txBox="1"/>
          <p:nvPr/>
        </p:nvSpPr>
        <p:spPr>
          <a:xfrm>
            <a:off x="7900416" y="5120640"/>
            <a:ext cx="2487168"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Arial"/>
              <a:buNone/>
            </a:pPr>
            <a:r>
              <a:rPr b="0" i="0" lang="en-US" sz="1600" u="none" cap="none" strike="noStrike">
                <a:solidFill>
                  <a:schemeClr val="dk2"/>
                </a:solidFill>
                <a:latin typeface="Helvetica Neue"/>
                <a:ea typeface="Helvetica Neue"/>
                <a:cs typeface="Helvetica Neue"/>
                <a:sym typeface="Helvetica Neue"/>
              </a:rPr>
              <a:t>Short description.</a:t>
            </a:r>
            <a:endParaRPr b="0" i="0" sz="1600" u="none" cap="none" strike="noStrike">
              <a:solidFill>
                <a:schemeClr val="dk1"/>
              </a:solidFill>
              <a:latin typeface="Helvetica Neue"/>
              <a:ea typeface="Helvetica Neue"/>
              <a:cs typeface="Helvetica Neue"/>
              <a:sym typeface="Helvetica Neue"/>
            </a:endParaRPr>
          </a:p>
        </p:txBody>
      </p:sp>
      <p:sp>
        <p:nvSpPr>
          <p:cNvPr id="911" name="Google Shape;911;p38"/>
          <p:cNvSpPr/>
          <p:nvPr/>
        </p:nvSpPr>
        <p:spPr>
          <a:xfrm>
            <a:off x="11027664" y="3749040"/>
            <a:ext cx="3035808" cy="246888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912" name="Google Shape;912;p38"/>
          <p:cNvSpPr txBox="1"/>
          <p:nvPr/>
        </p:nvSpPr>
        <p:spPr>
          <a:xfrm>
            <a:off x="11301984" y="3977640"/>
            <a:ext cx="914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200"/>
              <a:buFont typeface="Arial"/>
              <a:buNone/>
            </a:pPr>
            <a:r>
              <a:rPr b="1" i="0" lang="en-US" sz="2200" u="none" cap="none" strike="noStrike">
                <a:solidFill>
                  <a:schemeClr val="accent1"/>
                </a:solidFill>
                <a:latin typeface="Helvetica Neue"/>
                <a:ea typeface="Helvetica Neue"/>
                <a:cs typeface="Helvetica Neue"/>
                <a:sym typeface="Helvetica Neue"/>
              </a:rPr>
              <a:t>04</a:t>
            </a:r>
            <a:endParaRPr b="0" i="0" sz="2200" u="none" cap="none" strike="noStrike">
              <a:solidFill>
                <a:schemeClr val="dk1"/>
              </a:solidFill>
              <a:latin typeface="Helvetica Neue"/>
              <a:ea typeface="Helvetica Neue"/>
              <a:cs typeface="Helvetica Neue"/>
              <a:sym typeface="Helvetica Neue"/>
            </a:endParaRPr>
          </a:p>
        </p:txBody>
      </p:sp>
      <p:sp>
        <p:nvSpPr>
          <p:cNvPr id="913" name="Google Shape;913;p38"/>
          <p:cNvSpPr txBox="1"/>
          <p:nvPr/>
        </p:nvSpPr>
        <p:spPr>
          <a:xfrm>
            <a:off x="11301984" y="4572000"/>
            <a:ext cx="2487168"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Helvetica Neue"/>
                <a:ea typeface="Helvetica Neue"/>
                <a:cs typeface="Helvetica Neue"/>
                <a:sym typeface="Helvetica Neue"/>
              </a:rPr>
              <a:t>Step Name</a:t>
            </a:r>
            <a:endParaRPr b="0" i="0" sz="2000" u="none" cap="none" strike="noStrike">
              <a:solidFill>
                <a:schemeClr val="dk1"/>
              </a:solidFill>
              <a:latin typeface="Helvetica Neue"/>
              <a:ea typeface="Helvetica Neue"/>
              <a:cs typeface="Helvetica Neue"/>
              <a:sym typeface="Helvetica Neue"/>
            </a:endParaRPr>
          </a:p>
        </p:txBody>
      </p:sp>
      <p:sp>
        <p:nvSpPr>
          <p:cNvPr id="914" name="Google Shape;914;p38"/>
          <p:cNvSpPr txBox="1"/>
          <p:nvPr/>
        </p:nvSpPr>
        <p:spPr>
          <a:xfrm>
            <a:off x="11301984" y="5120640"/>
            <a:ext cx="2487168"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Arial"/>
              <a:buNone/>
            </a:pPr>
            <a:r>
              <a:rPr b="0" i="0" lang="en-US" sz="1600" u="none" cap="none" strike="noStrike">
                <a:solidFill>
                  <a:schemeClr val="dk2"/>
                </a:solidFill>
                <a:latin typeface="Helvetica Neue"/>
                <a:ea typeface="Helvetica Neue"/>
                <a:cs typeface="Helvetica Neue"/>
                <a:sym typeface="Helvetica Neue"/>
              </a:rPr>
              <a:t>Short description.</a:t>
            </a:r>
            <a:endParaRPr b="0" i="0" sz="1600" u="none" cap="none" strike="noStrike">
              <a:solidFill>
                <a:schemeClr val="dk1"/>
              </a:solidFill>
              <a:latin typeface="Helvetica Neue"/>
              <a:ea typeface="Helvetica Neue"/>
              <a:cs typeface="Helvetica Neue"/>
              <a:sym typeface="Helvetica Neue"/>
            </a:endParaRPr>
          </a:p>
        </p:txBody>
      </p:sp>
      <p:sp>
        <p:nvSpPr>
          <p:cNvPr id="915" name="Google Shape;915;p38"/>
          <p:cNvSpPr/>
          <p:nvPr/>
        </p:nvSpPr>
        <p:spPr>
          <a:xfrm>
            <a:off x="14429232" y="3749040"/>
            <a:ext cx="3035808" cy="246888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916" name="Google Shape;916;p38"/>
          <p:cNvSpPr txBox="1"/>
          <p:nvPr/>
        </p:nvSpPr>
        <p:spPr>
          <a:xfrm>
            <a:off x="14703552" y="3977640"/>
            <a:ext cx="914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200"/>
              <a:buFont typeface="Arial"/>
              <a:buNone/>
            </a:pPr>
            <a:r>
              <a:rPr b="1" i="0" lang="en-US" sz="2200" u="none" cap="none" strike="noStrike">
                <a:solidFill>
                  <a:schemeClr val="accent1"/>
                </a:solidFill>
                <a:latin typeface="Helvetica Neue"/>
                <a:ea typeface="Helvetica Neue"/>
                <a:cs typeface="Helvetica Neue"/>
                <a:sym typeface="Helvetica Neue"/>
              </a:rPr>
              <a:t>05</a:t>
            </a:r>
            <a:endParaRPr b="0" i="0" sz="2200" u="none" cap="none" strike="noStrike">
              <a:solidFill>
                <a:schemeClr val="dk1"/>
              </a:solidFill>
              <a:latin typeface="Helvetica Neue"/>
              <a:ea typeface="Helvetica Neue"/>
              <a:cs typeface="Helvetica Neue"/>
              <a:sym typeface="Helvetica Neue"/>
            </a:endParaRPr>
          </a:p>
        </p:txBody>
      </p:sp>
      <p:sp>
        <p:nvSpPr>
          <p:cNvPr id="917" name="Google Shape;917;p38"/>
          <p:cNvSpPr txBox="1"/>
          <p:nvPr/>
        </p:nvSpPr>
        <p:spPr>
          <a:xfrm>
            <a:off x="14703552" y="4572000"/>
            <a:ext cx="2487168"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Helvetica Neue"/>
                <a:ea typeface="Helvetica Neue"/>
                <a:cs typeface="Helvetica Neue"/>
                <a:sym typeface="Helvetica Neue"/>
              </a:rPr>
              <a:t>Step Name</a:t>
            </a:r>
            <a:endParaRPr b="0" i="0" sz="2000" u="none" cap="none" strike="noStrike">
              <a:solidFill>
                <a:schemeClr val="dk1"/>
              </a:solidFill>
              <a:latin typeface="Helvetica Neue"/>
              <a:ea typeface="Helvetica Neue"/>
              <a:cs typeface="Helvetica Neue"/>
              <a:sym typeface="Helvetica Neue"/>
            </a:endParaRPr>
          </a:p>
        </p:txBody>
      </p:sp>
      <p:sp>
        <p:nvSpPr>
          <p:cNvPr id="918" name="Google Shape;918;p38"/>
          <p:cNvSpPr txBox="1"/>
          <p:nvPr/>
        </p:nvSpPr>
        <p:spPr>
          <a:xfrm>
            <a:off x="14703552" y="5120640"/>
            <a:ext cx="2487168"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Arial"/>
              <a:buNone/>
            </a:pPr>
            <a:r>
              <a:rPr b="0" i="0" lang="en-US" sz="1600" u="none" cap="none" strike="noStrike">
                <a:solidFill>
                  <a:schemeClr val="dk2"/>
                </a:solidFill>
                <a:latin typeface="Helvetica Neue"/>
                <a:ea typeface="Helvetica Neue"/>
                <a:cs typeface="Helvetica Neue"/>
                <a:sym typeface="Helvetica Neue"/>
              </a:rPr>
              <a:t>Short description.</a:t>
            </a:r>
            <a:endParaRPr b="0" i="0" sz="1600" u="none" cap="none" strike="noStrike">
              <a:solidFill>
                <a:schemeClr val="dk1"/>
              </a:solidFill>
              <a:latin typeface="Helvetica Neue"/>
              <a:ea typeface="Helvetica Neue"/>
              <a:cs typeface="Helvetica Neue"/>
              <a:sym typeface="Helvetica Neue"/>
            </a:endParaRPr>
          </a:p>
        </p:txBody>
      </p:sp>
      <p:sp>
        <p:nvSpPr>
          <p:cNvPr id="919" name="Google Shape;919;p38"/>
          <p:cNvSpPr txBox="1"/>
          <p:nvPr/>
        </p:nvSpPr>
        <p:spPr>
          <a:xfrm>
            <a:off x="822960" y="6583680"/>
            <a:ext cx="5486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Helvetica Neue"/>
                <a:ea typeface="Helvetica Neue"/>
                <a:cs typeface="Helvetica Neue"/>
                <a:sym typeface="Helvetica Neue"/>
              </a:rPr>
              <a:t>Why</a:t>
            </a:r>
            <a:endParaRPr b="0" i="0" sz="2400" u="none" cap="none" strike="noStrike">
              <a:solidFill>
                <a:schemeClr val="dk1"/>
              </a:solidFill>
              <a:latin typeface="Helvetica Neue"/>
              <a:ea typeface="Helvetica Neue"/>
              <a:cs typeface="Helvetica Neue"/>
              <a:sym typeface="Helvetica Neue"/>
            </a:endParaRPr>
          </a:p>
        </p:txBody>
      </p:sp>
      <p:sp>
        <p:nvSpPr>
          <p:cNvPr id="920" name="Google Shape;920;p38"/>
          <p:cNvSpPr/>
          <p:nvPr/>
        </p:nvSpPr>
        <p:spPr>
          <a:xfrm>
            <a:off x="822960" y="7223760"/>
            <a:ext cx="8138160" cy="210312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921" name="Google Shape;921;p38"/>
          <p:cNvSpPr txBox="1"/>
          <p:nvPr/>
        </p:nvSpPr>
        <p:spPr>
          <a:xfrm>
            <a:off x="1188720" y="7452360"/>
            <a:ext cx="74066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z="2200" u="none" cap="none" strike="noStrike">
                <a:solidFill>
                  <a:schemeClr val="dk1"/>
                </a:solidFill>
                <a:latin typeface="Helvetica Neue"/>
                <a:ea typeface="Helvetica Neue"/>
                <a:cs typeface="Helvetica Neue"/>
                <a:sym typeface="Helvetica Neue"/>
              </a:rPr>
              <a:t>Reason One</a:t>
            </a:r>
            <a:endParaRPr b="0" i="0" sz="2200" u="none" cap="none" strike="noStrike">
              <a:solidFill>
                <a:schemeClr val="dk1"/>
              </a:solidFill>
              <a:latin typeface="Helvetica Neue"/>
              <a:ea typeface="Helvetica Neue"/>
              <a:cs typeface="Helvetica Neue"/>
              <a:sym typeface="Helvetica Neue"/>
            </a:endParaRPr>
          </a:p>
        </p:txBody>
      </p:sp>
      <p:sp>
        <p:nvSpPr>
          <p:cNvPr id="922" name="Google Shape;922;p38"/>
          <p:cNvSpPr txBox="1"/>
          <p:nvPr/>
        </p:nvSpPr>
        <p:spPr>
          <a:xfrm>
            <a:off x="1188720" y="8046720"/>
            <a:ext cx="740664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800"/>
              <a:buFont typeface="Arial"/>
              <a:buNone/>
            </a:pPr>
            <a:r>
              <a:rPr b="0" i="0" lang="en-US" sz="1800" u="none" cap="none" strike="noStrike">
                <a:solidFill>
                  <a:schemeClr val="dk2"/>
                </a:solidFill>
                <a:latin typeface="Helvetica Neue"/>
                <a:ea typeface="Helvetica Neue"/>
                <a:cs typeface="Helvetica Neue"/>
                <a:sym typeface="Helvetica Neue"/>
              </a:rPr>
              <a:t>Two sentences explaining the benefit or rationale behind the approach.</a:t>
            </a:r>
            <a:endParaRPr b="0" i="0" sz="1800" u="none" cap="none" strike="noStrike">
              <a:solidFill>
                <a:schemeClr val="dk1"/>
              </a:solidFill>
              <a:latin typeface="Helvetica Neue"/>
              <a:ea typeface="Helvetica Neue"/>
              <a:cs typeface="Helvetica Neue"/>
              <a:sym typeface="Helvetica Neue"/>
            </a:endParaRPr>
          </a:p>
        </p:txBody>
      </p:sp>
      <p:sp>
        <p:nvSpPr>
          <p:cNvPr id="923" name="Google Shape;923;p38"/>
          <p:cNvSpPr/>
          <p:nvPr/>
        </p:nvSpPr>
        <p:spPr>
          <a:xfrm>
            <a:off x="9326880" y="7223760"/>
            <a:ext cx="8138160" cy="210312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924" name="Google Shape;924;p38"/>
          <p:cNvSpPr txBox="1"/>
          <p:nvPr/>
        </p:nvSpPr>
        <p:spPr>
          <a:xfrm>
            <a:off x="9692640" y="7452360"/>
            <a:ext cx="74066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z="2200" u="none" cap="none" strike="noStrike">
                <a:solidFill>
                  <a:schemeClr val="dk1"/>
                </a:solidFill>
                <a:latin typeface="Helvetica Neue"/>
                <a:ea typeface="Helvetica Neue"/>
                <a:cs typeface="Helvetica Neue"/>
                <a:sym typeface="Helvetica Neue"/>
              </a:rPr>
              <a:t>Reason Two</a:t>
            </a:r>
            <a:endParaRPr b="0" i="0" sz="2200" u="none" cap="none" strike="noStrike">
              <a:solidFill>
                <a:schemeClr val="dk1"/>
              </a:solidFill>
              <a:latin typeface="Helvetica Neue"/>
              <a:ea typeface="Helvetica Neue"/>
              <a:cs typeface="Helvetica Neue"/>
              <a:sym typeface="Helvetica Neue"/>
            </a:endParaRPr>
          </a:p>
        </p:txBody>
      </p:sp>
      <p:sp>
        <p:nvSpPr>
          <p:cNvPr id="925" name="Google Shape;925;p38"/>
          <p:cNvSpPr txBox="1"/>
          <p:nvPr/>
        </p:nvSpPr>
        <p:spPr>
          <a:xfrm>
            <a:off x="9692640" y="8046720"/>
            <a:ext cx="740664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800"/>
              <a:buFont typeface="Arial"/>
              <a:buNone/>
            </a:pPr>
            <a:r>
              <a:rPr b="0" i="0" lang="en-US" sz="1800" u="none" cap="none" strike="noStrike">
                <a:solidFill>
                  <a:schemeClr val="dk2"/>
                </a:solidFill>
                <a:latin typeface="Helvetica Neue"/>
                <a:ea typeface="Helvetica Neue"/>
                <a:cs typeface="Helvetica Neue"/>
                <a:sym typeface="Helvetica Neue"/>
              </a:rPr>
              <a:t>Two sentences explaining the benefit or rationale behind the approach.</a:t>
            </a:r>
            <a:endParaRPr b="0" i="0" sz="1800" u="none" cap="none" strike="noStrike">
              <a:solidFill>
                <a:schemeClr val="dk1"/>
              </a:solidFill>
              <a:latin typeface="Helvetica Neue"/>
              <a:ea typeface="Helvetica Neue"/>
              <a:cs typeface="Helvetica Neue"/>
              <a:sym typeface="Helvetica Neue"/>
            </a:endParaRPr>
          </a:p>
        </p:txBody>
      </p:sp>
      <p:sp>
        <p:nvSpPr>
          <p:cNvPr id="926" name="Google Shape;926;p38"/>
          <p:cNvSpPr txBox="1"/>
          <p:nvPr>
            <p:ph idx="4294967295" type="sldNum"/>
          </p:nvPr>
        </p:nvSpPr>
        <p:spPr>
          <a:xfrm>
            <a:off x="16550640" y="9646920"/>
            <a:ext cx="914400" cy="36576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2"/>
                </a:solidFill>
                <a:latin typeface="Helvetica Neue"/>
                <a:ea typeface="Helvetica Neue"/>
                <a:cs typeface="Helvetica Neue"/>
                <a:sym typeface="Helvetica Neue"/>
              </a:rPr>
              <a:t>‹#›</a:t>
            </a:fld>
            <a:endParaRPr b="0" i="0" sz="1200" u="none" cap="none" strike="noStrike">
              <a:solidFill>
                <a:schemeClr val="dk2"/>
              </a:solidFill>
              <a:latin typeface="Helvetica Neue"/>
              <a:ea typeface="Helvetica Neue"/>
              <a:cs typeface="Helvetica Neue"/>
              <a:sym typeface="Helvetica Neue"/>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31" name="Shape 931"/>
        <p:cNvGrpSpPr/>
        <p:nvPr/>
      </p:nvGrpSpPr>
      <p:grpSpPr>
        <a:xfrm>
          <a:off x="0" y="0"/>
          <a:ext cx="0" cy="0"/>
          <a:chOff x="0" y="0"/>
          <a:chExt cx="0" cy="0"/>
        </a:xfrm>
      </p:grpSpPr>
      <p:sp>
        <p:nvSpPr>
          <p:cNvPr id="932" name="Google Shape;932;p39"/>
          <p:cNvSpPr txBox="1"/>
          <p:nvPr>
            <p:ph type="title"/>
          </p:nvPr>
        </p:nvSpPr>
        <p:spPr>
          <a:xfrm>
            <a:off x="822960" y="960120"/>
            <a:ext cx="16642080" cy="8229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Arial"/>
              <a:buNone/>
            </a:pPr>
            <a:r>
              <a:rPr b="1" lang="en-US" sz="3600">
                <a:solidFill>
                  <a:schemeClr val="dk1"/>
                </a:solidFill>
              </a:rPr>
              <a:t>Two-Column Comparison</a:t>
            </a:r>
            <a:endParaRPr sz="3600"/>
          </a:p>
        </p:txBody>
      </p:sp>
      <p:sp>
        <p:nvSpPr>
          <p:cNvPr id="933" name="Google Shape;933;p39"/>
          <p:cNvSpPr/>
          <p:nvPr/>
        </p:nvSpPr>
        <p:spPr>
          <a:xfrm>
            <a:off x="822960" y="2194560"/>
            <a:ext cx="8138160" cy="694944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934" name="Google Shape;934;p39"/>
          <p:cNvSpPr txBox="1"/>
          <p:nvPr/>
        </p:nvSpPr>
        <p:spPr>
          <a:xfrm>
            <a:off x="1280160" y="2560320"/>
            <a:ext cx="722376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600"/>
              <a:buFont typeface="Arial"/>
              <a:buNone/>
            </a:pPr>
            <a:r>
              <a:rPr b="1" i="0" lang="en-US" sz="2600" u="none" cap="none" strike="noStrike">
                <a:solidFill>
                  <a:schemeClr val="dk1"/>
                </a:solidFill>
                <a:latin typeface="Helvetica Neue"/>
                <a:ea typeface="Helvetica Neue"/>
                <a:cs typeface="Helvetica Neue"/>
                <a:sym typeface="Helvetica Neue"/>
              </a:rPr>
              <a:t>Left Column Heading</a:t>
            </a:r>
            <a:endParaRPr b="0" i="0" sz="2600" u="none" cap="none" strike="noStrike">
              <a:solidFill>
                <a:schemeClr val="dk1"/>
              </a:solidFill>
              <a:latin typeface="Helvetica Neue"/>
              <a:ea typeface="Helvetica Neue"/>
              <a:cs typeface="Helvetica Neue"/>
              <a:sym typeface="Helvetica Neue"/>
            </a:endParaRPr>
          </a:p>
        </p:txBody>
      </p:sp>
      <p:sp>
        <p:nvSpPr>
          <p:cNvPr id="935" name="Google Shape;935;p39"/>
          <p:cNvSpPr txBox="1"/>
          <p:nvPr/>
        </p:nvSpPr>
        <p:spPr>
          <a:xfrm>
            <a:off x="1280160" y="3383280"/>
            <a:ext cx="722376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800"/>
              <a:buFont typeface="Arial"/>
              <a:buNone/>
            </a:pPr>
            <a:r>
              <a:rPr b="0" i="0" lang="en-US" sz="1800" u="none" cap="none" strike="noStrike">
                <a:solidFill>
                  <a:schemeClr val="dk2"/>
                </a:solidFill>
                <a:latin typeface="Helvetica Neue"/>
                <a:ea typeface="Helvetica Neue"/>
                <a:cs typeface="Helvetica Neue"/>
                <a:sym typeface="Helvetica Neue"/>
              </a:rPr>
              <a:t>Opening sentence that frames this column in plain language.</a:t>
            </a:r>
            <a:endParaRPr b="0" i="0" sz="1800" u="none" cap="none" strike="noStrike">
              <a:solidFill>
                <a:schemeClr val="dk1"/>
              </a:solidFill>
              <a:latin typeface="Helvetica Neue"/>
              <a:ea typeface="Helvetica Neue"/>
              <a:cs typeface="Helvetica Neue"/>
              <a:sym typeface="Helvetica Neue"/>
            </a:endParaRPr>
          </a:p>
        </p:txBody>
      </p:sp>
      <p:sp>
        <p:nvSpPr>
          <p:cNvPr id="936" name="Google Shape;936;p39"/>
          <p:cNvSpPr txBox="1"/>
          <p:nvPr/>
        </p:nvSpPr>
        <p:spPr>
          <a:xfrm>
            <a:off x="1280160" y="4754880"/>
            <a:ext cx="7223760" cy="347472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chemeClr val="dk2"/>
              </a:buClr>
              <a:buSzPts val="1800"/>
              <a:buFont typeface="Arial"/>
              <a:buChar char="•"/>
            </a:pPr>
            <a:r>
              <a:rPr b="0" i="0" lang="en-US" sz="1800" u="none" cap="none" strike="noStrike">
                <a:solidFill>
                  <a:schemeClr val="dk2"/>
                </a:solidFill>
                <a:latin typeface="Helvetica Neue"/>
                <a:ea typeface="Helvetica Neue"/>
                <a:cs typeface="Helvetica Neue"/>
                <a:sym typeface="Helvetica Neue"/>
              </a:rPr>
              <a:t>Supporting point one</a:t>
            </a:r>
            <a:endParaRPr b="0" i="0" sz="1800" u="none" cap="none" strike="noStrike">
              <a:solidFill>
                <a:schemeClr val="dk1"/>
              </a:solidFill>
              <a:latin typeface="Helvetica Neue"/>
              <a:ea typeface="Helvetica Neue"/>
              <a:cs typeface="Helvetica Neue"/>
              <a:sym typeface="Helvetica Neue"/>
            </a:endParaRPr>
          </a:p>
          <a:p>
            <a:pPr indent="-342900" lvl="0" marL="342900" marR="0" rtl="0" algn="l">
              <a:lnSpc>
                <a:spcPct val="100000"/>
              </a:lnSpc>
              <a:spcBef>
                <a:spcPts val="1400"/>
              </a:spcBef>
              <a:spcAft>
                <a:spcPts val="0"/>
              </a:spcAft>
              <a:buClr>
                <a:schemeClr val="dk2"/>
              </a:buClr>
              <a:buSzPts val="1800"/>
              <a:buFont typeface="Arial"/>
              <a:buChar char="•"/>
            </a:pPr>
            <a:r>
              <a:rPr b="0" i="0" lang="en-US" sz="1800" u="none" cap="none" strike="noStrike">
                <a:solidFill>
                  <a:schemeClr val="dk2"/>
                </a:solidFill>
                <a:latin typeface="Helvetica Neue"/>
                <a:ea typeface="Helvetica Neue"/>
                <a:cs typeface="Helvetica Neue"/>
                <a:sym typeface="Helvetica Neue"/>
              </a:rPr>
              <a:t>Supporting point two</a:t>
            </a:r>
            <a:endParaRPr b="0" i="0" sz="1800" u="none" cap="none" strike="noStrike">
              <a:solidFill>
                <a:schemeClr val="dk1"/>
              </a:solidFill>
              <a:latin typeface="Helvetica Neue"/>
              <a:ea typeface="Helvetica Neue"/>
              <a:cs typeface="Helvetica Neue"/>
              <a:sym typeface="Helvetica Neue"/>
            </a:endParaRPr>
          </a:p>
          <a:p>
            <a:pPr indent="-342900" lvl="0" marL="342900" marR="0" rtl="0" algn="l">
              <a:lnSpc>
                <a:spcPct val="100000"/>
              </a:lnSpc>
              <a:spcBef>
                <a:spcPts val="1400"/>
              </a:spcBef>
              <a:spcAft>
                <a:spcPts val="0"/>
              </a:spcAft>
              <a:buClr>
                <a:schemeClr val="dk2"/>
              </a:buClr>
              <a:buSzPts val="1800"/>
              <a:buFont typeface="Arial"/>
              <a:buChar char="•"/>
            </a:pPr>
            <a:r>
              <a:rPr b="0" i="0" lang="en-US" sz="1800" u="none" cap="none" strike="noStrike">
                <a:solidFill>
                  <a:schemeClr val="dk2"/>
                </a:solidFill>
                <a:latin typeface="Helvetica Neue"/>
                <a:ea typeface="Helvetica Neue"/>
                <a:cs typeface="Helvetica Neue"/>
                <a:sym typeface="Helvetica Neue"/>
              </a:rPr>
              <a:t>Supporting point three</a:t>
            </a:r>
            <a:endParaRPr b="0" i="0" sz="1800" u="none" cap="none" strike="noStrike">
              <a:solidFill>
                <a:schemeClr val="dk1"/>
              </a:solidFill>
              <a:latin typeface="Helvetica Neue"/>
              <a:ea typeface="Helvetica Neue"/>
              <a:cs typeface="Helvetica Neue"/>
              <a:sym typeface="Helvetica Neue"/>
            </a:endParaRPr>
          </a:p>
        </p:txBody>
      </p:sp>
      <p:sp>
        <p:nvSpPr>
          <p:cNvPr id="937" name="Google Shape;937;p39"/>
          <p:cNvSpPr/>
          <p:nvPr/>
        </p:nvSpPr>
        <p:spPr>
          <a:xfrm>
            <a:off x="9326880" y="2194560"/>
            <a:ext cx="8138160" cy="694944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938" name="Google Shape;938;p39"/>
          <p:cNvSpPr txBox="1"/>
          <p:nvPr/>
        </p:nvSpPr>
        <p:spPr>
          <a:xfrm>
            <a:off x="9784080" y="2560320"/>
            <a:ext cx="722376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600"/>
              <a:buFont typeface="Arial"/>
              <a:buNone/>
            </a:pPr>
            <a:r>
              <a:rPr b="1" i="0" lang="en-US" sz="2600" u="none" cap="none" strike="noStrike">
                <a:solidFill>
                  <a:schemeClr val="dk1"/>
                </a:solidFill>
                <a:latin typeface="Helvetica Neue"/>
                <a:ea typeface="Helvetica Neue"/>
                <a:cs typeface="Helvetica Neue"/>
                <a:sym typeface="Helvetica Neue"/>
              </a:rPr>
              <a:t>Right Column Heading</a:t>
            </a:r>
            <a:endParaRPr b="0" i="0" sz="2600" u="none" cap="none" strike="noStrike">
              <a:solidFill>
                <a:schemeClr val="dk1"/>
              </a:solidFill>
              <a:latin typeface="Helvetica Neue"/>
              <a:ea typeface="Helvetica Neue"/>
              <a:cs typeface="Helvetica Neue"/>
              <a:sym typeface="Helvetica Neue"/>
            </a:endParaRPr>
          </a:p>
        </p:txBody>
      </p:sp>
      <p:sp>
        <p:nvSpPr>
          <p:cNvPr id="939" name="Google Shape;939;p39"/>
          <p:cNvSpPr txBox="1"/>
          <p:nvPr/>
        </p:nvSpPr>
        <p:spPr>
          <a:xfrm>
            <a:off x="9784080" y="3383280"/>
            <a:ext cx="722376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800"/>
              <a:buFont typeface="Arial"/>
              <a:buNone/>
            </a:pPr>
            <a:r>
              <a:rPr b="0" i="0" lang="en-US" sz="1800" u="none" cap="none" strike="noStrike">
                <a:solidFill>
                  <a:schemeClr val="dk2"/>
                </a:solidFill>
                <a:latin typeface="Helvetica Neue"/>
                <a:ea typeface="Helvetica Neue"/>
                <a:cs typeface="Helvetica Neue"/>
                <a:sym typeface="Helvetica Neue"/>
              </a:rPr>
              <a:t>Opening sentence that frames this column in plain language.</a:t>
            </a:r>
            <a:endParaRPr b="0" i="0" sz="1800" u="none" cap="none" strike="noStrike">
              <a:solidFill>
                <a:schemeClr val="dk1"/>
              </a:solidFill>
              <a:latin typeface="Helvetica Neue"/>
              <a:ea typeface="Helvetica Neue"/>
              <a:cs typeface="Helvetica Neue"/>
              <a:sym typeface="Helvetica Neue"/>
            </a:endParaRPr>
          </a:p>
        </p:txBody>
      </p:sp>
      <p:sp>
        <p:nvSpPr>
          <p:cNvPr id="940" name="Google Shape;940;p39"/>
          <p:cNvSpPr txBox="1"/>
          <p:nvPr/>
        </p:nvSpPr>
        <p:spPr>
          <a:xfrm>
            <a:off x="9784080" y="4754880"/>
            <a:ext cx="7223760" cy="347472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chemeClr val="dk2"/>
              </a:buClr>
              <a:buSzPts val="1800"/>
              <a:buFont typeface="Arial"/>
              <a:buChar char="•"/>
            </a:pPr>
            <a:r>
              <a:rPr b="0" i="0" lang="en-US" sz="1800" u="none" cap="none" strike="noStrike">
                <a:solidFill>
                  <a:schemeClr val="dk2"/>
                </a:solidFill>
                <a:latin typeface="Helvetica Neue"/>
                <a:ea typeface="Helvetica Neue"/>
                <a:cs typeface="Helvetica Neue"/>
                <a:sym typeface="Helvetica Neue"/>
              </a:rPr>
              <a:t>Supporting point one</a:t>
            </a:r>
            <a:endParaRPr b="0" i="0" sz="1800" u="none" cap="none" strike="noStrike">
              <a:solidFill>
                <a:schemeClr val="dk1"/>
              </a:solidFill>
              <a:latin typeface="Helvetica Neue"/>
              <a:ea typeface="Helvetica Neue"/>
              <a:cs typeface="Helvetica Neue"/>
              <a:sym typeface="Helvetica Neue"/>
            </a:endParaRPr>
          </a:p>
          <a:p>
            <a:pPr indent="-342900" lvl="0" marL="342900" marR="0" rtl="0" algn="l">
              <a:lnSpc>
                <a:spcPct val="100000"/>
              </a:lnSpc>
              <a:spcBef>
                <a:spcPts val="1400"/>
              </a:spcBef>
              <a:spcAft>
                <a:spcPts val="0"/>
              </a:spcAft>
              <a:buClr>
                <a:schemeClr val="dk2"/>
              </a:buClr>
              <a:buSzPts val="1800"/>
              <a:buFont typeface="Arial"/>
              <a:buChar char="•"/>
            </a:pPr>
            <a:r>
              <a:rPr b="0" i="0" lang="en-US" sz="1800" u="none" cap="none" strike="noStrike">
                <a:solidFill>
                  <a:schemeClr val="dk2"/>
                </a:solidFill>
                <a:latin typeface="Helvetica Neue"/>
                <a:ea typeface="Helvetica Neue"/>
                <a:cs typeface="Helvetica Neue"/>
                <a:sym typeface="Helvetica Neue"/>
              </a:rPr>
              <a:t>Supporting point two</a:t>
            </a:r>
            <a:endParaRPr b="0" i="0" sz="1800" u="none" cap="none" strike="noStrike">
              <a:solidFill>
                <a:schemeClr val="dk1"/>
              </a:solidFill>
              <a:latin typeface="Helvetica Neue"/>
              <a:ea typeface="Helvetica Neue"/>
              <a:cs typeface="Helvetica Neue"/>
              <a:sym typeface="Helvetica Neue"/>
            </a:endParaRPr>
          </a:p>
          <a:p>
            <a:pPr indent="-342900" lvl="0" marL="342900" marR="0" rtl="0" algn="l">
              <a:lnSpc>
                <a:spcPct val="100000"/>
              </a:lnSpc>
              <a:spcBef>
                <a:spcPts val="1400"/>
              </a:spcBef>
              <a:spcAft>
                <a:spcPts val="0"/>
              </a:spcAft>
              <a:buClr>
                <a:schemeClr val="dk2"/>
              </a:buClr>
              <a:buSzPts val="1800"/>
              <a:buFont typeface="Arial"/>
              <a:buChar char="•"/>
            </a:pPr>
            <a:r>
              <a:rPr b="0" i="0" lang="en-US" sz="1800" u="none" cap="none" strike="noStrike">
                <a:solidFill>
                  <a:schemeClr val="dk2"/>
                </a:solidFill>
                <a:latin typeface="Helvetica Neue"/>
                <a:ea typeface="Helvetica Neue"/>
                <a:cs typeface="Helvetica Neue"/>
                <a:sym typeface="Helvetica Neue"/>
              </a:rPr>
              <a:t>Supporting point three</a:t>
            </a:r>
            <a:endParaRPr b="0" i="0" sz="1800" u="none" cap="none" strike="noStrike">
              <a:solidFill>
                <a:schemeClr val="dk1"/>
              </a:solidFill>
              <a:latin typeface="Helvetica Neue"/>
              <a:ea typeface="Helvetica Neue"/>
              <a:cs typeface="Helvetica Neue"/>
              <a:sym typeface="Helvetica Neue"/>
            </a:endParaRPr>
          </a:p>
        </p:txBody>
      </p:sp>
      <p:sp>
        <p:nvSpPr>
          <p:cNvPr id="941" name="Google Shape;941;p39"/>
          <p:cNvSpPr txBox="1"/>
          <p:nvPr>
            <p:ph idx="4294967295" type="sldNum"/>
          </p:nvPr>
        </p:nvSpPr>
        <p:spPr>
          <a:xfrm>
            <a:off x="16550640" y="9646920"/>
            <a:ext cx="914400" cy="36576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2"/>
                </a:solidFill>
                <a:latin typeface="Helvetica Neue"/>
                <a:ea typeface="Helvetica Neue"/>
                <a:cs typeface="Helvetica Neue"/>
                <a:sym typeface="Helvetica Neue"/>
              </a:rPr>
              <a:t>‹#›</a:t>
            </a:fld>
            <a:endParaRPr b="0" i="0" sz="1200" u="none" cap="none" strike="noStrike">
              <a:solidFill>
                <a:schemeClr val="dk2"/>
              </a:solidFill>
              <a:latin typeface="Helvetica Neue"/>
              <a:ea typeface="Helvetica Neue"/>
              <a:cs typeface="Helvetica Neue"/>
              <a:sym typeface="Helvetica Neue"/>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EFEFEF"/>
        </a:solidFill>
      </p:bgPr>
    </p:bg>
    <p:spTree>
      <p:nvGrpSpPr>
        <p:cNvPr id="946" name="Shape 946"/>
        <p:cNvGrpSpPr/>
        <p:nvPr/>
      </p:nvGrpSpPr>
      <p:grpSpPr>
        <a:xfrm>
          <a:off x="0" y="0"/>
          <a:ext cx="0" cy="0"/>
          <a:chOff x="0" y="0"/>
          <a:chExt cx="0" cy="0"/>
        </a:xfrm>
      </p:grpSpPr>
      <p:sp>
        <p:nvSpPr>
          <p:cNvPr id="947" name="Google Shape;947;p40"/>
          <p:cNvSpPr txBox="1"/>
          <p:nvPr>
            <p:ph type="title"/>
          </p:nvPr>
        </p:nvSpPr>
        <p:spPr>
          <a:xfrm>
            <a:off x="822960" y="960120"/>
            <a:ext cx="16642080" cy="8229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Arial"/>
              <a:buNone/>
            </a:pPr>
            <a:r>
              <a:rPr b="1" lang="en-US" sz="3600">
                <a:solidFill>
                  <a:schemeClr val="dk1"/>
                </a:solidFill>
              </a:rPr>
              <a:t>Two-Stream Workflow</a:t>
            </a:r>
            <a:endParaRPr sz="3600"/>
          </a:p>
        </p:txBody>
      </p:sp>
      <p:sp>
        <p:nvSpPr>
          <p:cNvPr id="948" name="Google Shape;948;p40"/>
          <p:cNvSpPr/>
          <p:nvPr/>
        </p:nvSpPr>
        <p:spPr>
          <a:xfrm>
            <a:off x="822960" y="2194560"/>
            <a:ext cx="16642080" cy="338328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949" name="Google Shape;949;p40"/>
          <p:cNvSpPr txBox="1"/>
          <p:nvPr/>
        </p:nvSpPr>
        <p:spPr>
          <a:xfrm>
            <a:off x="1280160" y="2468880"/>
            <a:ext cx="109728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z="2200" u="none" cap="none" strike="noStrike">
                <a:solidFill>
                  <a:schemeClr val="dk1"/>
                </a:solidFill>
                <a:latin typeface="Helvetica Neue"/>
                <a:ea typeface="Helvetica Neue"/>
                <a:cs typeface="Helvetica Neue"/>
                <a:sym typeface="Helvetica Neue"/>
              </a:rPr>
              <a:t>Stream 1 · Name (Phase)</a:t>
            </a:r>
            <a:endParaRPr b="0" i="0" sz="2200" u="none" cap="none" strike="noStrike">
              <a:solidFill>
                <a:schemeClr val="dk1"/>
              </a:solidFill>
              <a:latin typeface="Helvetica Neue"/>
              <a:ea typeface="Helvetica Neue"/>
              <a:cs typeface="Helvetica Neue"/>
              <a:sym typeface="Helvetica Neue"/>
            </a:endParaRPr>
          </a:p>
        </p:txBody>
      </p:sp>
      <p:sp>
        <p:nvSpPr>
          <p:cNvPr id="950" name="Google Shape;950;p40"/>
          <p:cNvSpPr/>
          <p:nvPr/>
        </p:nvSpPr>
        <p:spPr>
          <a:xfrm>
            <a:off x="1280160" y="3154680"/>
            <a:ext cx="4754880" cy="2103120"/>
          </a:xfrm>
          <a:prstGeom prst="rect">
            <a:avLst/>
          </a:prstGeom>
          <a:solidFill>
            <a:schemeClr val="lt2"/>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951" name="Google Shape;951;p40"/>
          <p:cNvSpPr txBox="1"/>
          <p:nvPr/>
        </p:nvSpPr>
        <p:spPr>
          <a:xfrm>
            <a:off x="1554480" y="3337560"/>
            <a:ext cx="274320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400"/>
              <a:buFont typeface="Arial"/>
              <a:buNone/>
            </a:pPr>
            <a:r>
              <a:rPr b="1" i="0" lang="en-US" sz="1400" u="none" cap="none" strike="noStrike">
                <a:solidFill>
                  <a:schemeClr val="accent1"/>
                </a:solidFill>
                <a:latin typeface="Helvetica Neue"/>
                <a:ea typeface="Helvetica Neue"/>
                <a:cs typeface="Helvetica Neue"/>
                <a:sym typeface="Helvetica Neue"/>
              </a:rPr>
              <a:t>STAGE 01</a:t>
            </a:r>
            <a:endParaRPr b="0" i="0" sz="1400" u="none" cap="none" strike="noStrike">
              <a:solidFill>
                <a:schemeClr val="dk1"/>
              </a:solidFill>
              <a:latin typeface="Helvetica Neue"/>
              <a:ea typeface="Helvetica Neue"/>
              <a:cs typeface="Helvetica Neue"/>
              <a:sym typeface="Helvetica Neue"/>
            </a:endParaRPr>
          </a:p>
        </p:txBody>
      </p:sp>
      <p:sp>
        <p:nvSpPr>
          <p:cNvPr id="952" name="Google Shape;952;p40"/>
          <p:cNvSpPr txBox="1"/>
          <p:nvPr/>
        </p:nvSpPr>
        <p:spPr>
          <a:xfrm>
            <a:off x="1554480" y="374904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Helvetica Neue"/>
                <a:ea typeface="Helvetica Neue"/>
                <a:cs typeface="Helvetica Neue"/>
                <a:sym typeface="Helvetica Neue"/>
              </a:rPr>
              <a:t>Stage Name</a:t>
            </a:r>
            <a:endParaRPr b="0" i="0" sz="2000" u="none" cap="none" strike="noStrike">
              <a:solidFill>
                <a:schemeClr val="dk1"/>
              </a:solidFill>
              <a:latin typeface="Helvetica Neue"/>
              <a:ea typeface="Helvetica Neue"/>
              <a:cs typeface="Helvetica Neue"/>
              <a:sym typeface="Helvetica Neue"/>
            </a:endParaRPr>
          </a:p>
        </p:txBody>
      </p:sp>
      <p:sp>
        <p:nvSpPr>
          <p:cNvPr id="953" name="Google Shape;953;p40"/>
          <p:cNvSpPr txBox="1"/>
          <p:nvPr/>
        </p:nvSpPr>
        <p:spPr>
          <a:xfrm>
            <a:off x="1554480" y="4297680"/>
            <a:ext cx="420624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Arial"/>
              <a:buNone/>
            </a:pPr>
            <a:r>
              <a:rPr b="0" i="0" lang="en-US" sz="1600" u="none" cap="none" strike="noStrike">
                <a:solidFill>
                  <a:schemeClr val="dk2"/>
                </a:solidFill>
                <a:latin typeface="Helvetica Neue"/>
                <a:ea typeface="Helvetica Neue"/>
                <a:cs typeface="Helvetica Neue"/>
                <a:sym typeface="Helvetica Neue"/>
              </a:rPr>
              <a:t>One-sentence description.</a:t>
            </a:r>
            <a:endParaRPr b="0" i="0" sz="1600" u="none" cap="none" strike="noStrike">
              <a:solidFill>
                <a:schemeClr val="dk1"/>
              </a:solidFill>
              <a:latin typeface="Helvetica Neue"/>
              <a:ea typeface="Helvetica Neue"/>
              <a:cs typeface="Helvetica Neue"/>
              <a:sym typeface="Helvetica Neue"/>
            </a:endParaRPr>
          </a:p>
        </p:txBody>
      </p:sp>
      <p:cxnSp>
        <p:nvCxnSpPr>
          <p:cNvPr id="954" name="Google Shape;954;p40"/>
          <p:cNvCxnSpPr/>
          <p:nvPr/>
        </p:nvCxnSpPr>
        <p:spPr>
          <a:xfrm>
            <a:off x="6080760" y="4206240"/>
            <a:ext cx="502920" cy="0"/>
          </a:xfrm>
          <a:prstGeom prst="straightConnector1">
            <a:avLst/>
          </a:prstGeom>
          <a:noFill/>
          <a:ln cap="flat" cmpd="sng" w="25400">
            <a:solidFill>
              <a:schemeClr val="accent1"/>
            </a:solidFill>
            <a:prstDash val="solid"/>
            <a:round/>
            <a:headEnd len="sm" w="sm" type="none"/>
            <a:tailEnd len="med" w="med" type="triangle"/>
          </a:ln>
        </p:spPr>
      </p:cxnSp>
      <p:sp>
        <p:nvSpPr>
          <p:cNvPr id="955" name="Google Shape;955;p40"/>
          <p:cNvSpPr/>
          <p:nvPr/>
        </p:nvSpPr>
        <p:spPr>
          <a:xfrm>
            <a:off x="6675120" y="3154680"/>
            <a:ext cx="4754880" cy="2103120"/>
          </a:xfrm>
          <a:prstGeom prst="rect">
            <a:avLst/>
          </a:prstGeom>
          <a:solidFill>
            <a:schemeClr val="lt2"/>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956" name="Google Shape;956;p40"/>
          <p:cNvSpPr txBox="1"/>
          <p:nvPr/>
        </p:nvSpPr>
        <p:spPr>
          <a:xfrm>
            <a:off x="6949440" y="3337560"/>
            <a:ext cx="274320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400"/>
              <a:buFont typeface="Arial"/>
              <a:buNone/>
            </a:pPr>
            <a:r>
              <a:rPr b="1" i="0" lang="en-US" sz="1400" u="none" cap="none" strike="noStrike">
                <a:solidFill>
                  <a:schemeClr val="accent1"/>
                </a:solidFill>
                <a:latin typeface="Helvetica Neue"/>
                <a:ea typeface="Helvetica Neue"/>
                <a:cs typeface="Helvetica Neue"/>
                <a:sym typeface="Helvetica Neue"/>
              </a:rPr>
              <a:t>STAGE 02</a:t>
            </a:r>
            <a:endParaRPr b="0" i="0" sz="1400" u="none" cap="none" strike="noStrike">
              <a:solidFill>
                <a:schemeClr val="dk1"/>
              </a:solidFill>
              <a:latin typeface="Helvetica Neue"/>
              <a:ea typeface="Helvetica Neue"/>
              <a:cs typeface="Helvetica Neue"/>
              <a:sym typeface="Helvetica Neue"/>
            </a:endParaRPr>
          </a:p>
        </p:txBody>
      </p:sp>
      <p:sp>
        <p:nvSpPr>
          <p:cNvPr id="957" name="Google Shape;957;p40"/>
          <p:cNvSpPr txBox="1"/>
          <p:nvPr/>
        </p:nvSpPr>
        <p:spPr>
          <a:xfrm>
            <a:off x="6949440" y="374904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Helvetica Neue"/>
                <a:ea typeface="Helvetica Neue"/>
                <a:cs typeface="Helvetica Neue"/>
                <a:sym typeface="Helvetica Neue"/>
              </a:rPr>
              <a:t>Stage Name</a:t>
            </a:r>
            <a:endParaRPr b="0" i="0" sz="2000" u="none" cap="none" strike="noStrike">
              <a:solidFill>
                <a:schemeClr val="dk1"/>
              </a:solidFill>
              <a:latin typeface="Helvetica Neue"/>
              <a:ea typeface="Helvetica Neue"/>
              <a:cs typeface="Helvetica Neue"/>
              <a:sym typeface="Helvetica Neue"/>
            </a:endParaRPr>
          </a:p>
        </p:txBody>
      </p:sp>
      <p:sp>
        <p:nvSpPr>
          <p:cNvPr id="958" name="Google Shape;958;p40"/>
          <p:cNvSpPr txBox="1"/>
          <p:nvPr/>
        </p:nvSpPr>
        <p:spPr>
          <a:xfrm>
            <a:off x="6949440" y="4297680"/>
            <a:ext cx="420624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Arial"/>
              <a:buNone/>
            </a:pPr>
            <a:r>
              <a:rPr b="0" i="0" lang="en-US" sz="1600" u="none" cap="none" strike="noStrike">
                <a:solidFill>
                  <a:schemeClr val="dk2"/>
                </a:solidFill>
                <a:latin typeface="Helvetica Neue"/>
                <a:ea typeface="Helvetica Neue"/>
                <a:cs typeface="Helvetica Neue"/>
                <a:sym typeface="Helvetica Neue"/>
              </a:rPr>
              <a:t>One-sentence description.</a:t>
            </a:r>
            <a:endParaRPr b="0" i="0" sz="1600" u="none" cap="none" strike="noStrike">
              <a:solidFill>
                <a:schemeClr val="dk1"/>
              </a:solidFill>
              <a:latin typeface="Helvetica Neue"/>
              <a:ea typeface="Helvetica Neue"/>
              <a:cs typeface="Helvetica Neue"/>
              <a:sym typeface="Helvetica Neue"/>
            </a:endParaRPr>
          </a:p>
        </p:txBody>
      </p:sp>
      <p:cxnSp>
        <p:nvCxnSpPr>
          <p:cNvPr id="959" name="Google Shape;959;p40"/>
          <p:cNvCxnSpPr/>
          <p:nvPr/>
        </p:nvCxnSpPr>
        <p:spPr>
          <a:xfrm>
            <a:off x="11475720" y="4206240"/>
            <a:ext cx="502920" cy="0"/>
          </a:xfrm>
          <a:prstGeom prst="straightConnector1">
            <a:avLst/>
          </a:prstGeom>
          <a:noFill/>
          <a:ln cap="flat" cmpd="sng" w="25400">
            <a:solidFill>
              <a:schemeClr val="accent1"/>
            </a:solidFill>
            <a:prstDash val="solid"/>
            <a:round/>
            <a:headEnd len="sm" w="sm" type="none"/>
            <a:tailEnd len="med" w="med" type="triangle"/>
          </a:ln>
        </p:spPr>
      </p:cxnSp>
      <p:sp>
        <p:nvSpPr>
          <p:cNvPr id="960" name="Google Shape;960;p40"/>
          <p:cNvSpPr/>
          <p:nvPr/>
        </p:nvSpPr>
        <p:spPr>
          <a:xfrm>
            <a:off x="12070080" y="3154680"/>
            <a:ext cx="4754880" cy="2103120"/>
          </a:xfrm>
          <a:prstGeom prst="rect">
            <a:avLst/>
          </a:prstGeom>
          <a:solidFill>
            <a:schemeClr val="lt2"/>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961" name="Google Shape;961;p40"/>
          <p:cNvSpPr txBox="1"/>
          <p:nvPr/>
        </p:nvSpPr>
        <p:spPr>
          <a:xfrm>
            <a:off x="12344400" y="3337560"/>
            <a:ext cx="274320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400"/>
              <a:buFont typeface="Arial"/>
              <a:buNone/>
            </a:pPr>
            <a:r>
              <a:rPr b="1" i="0" lang="en-US" sz="1400" u="none" cap="none" strike="noStrike">
                <a:solidFill>
                  <a:schemeClr val="accent1"/>
                </a:solidFill>
                <a:latin typeface="Helvetica Neue"/>
                <a:ea typeface="Helvetica Neue"/>
                <a:cs typeface="Helvetica Neue"/>
                <a:sym typeface="Helvetica Neue"/>
              </a:rPr>
              <a:t>STAGE 03</a:t>
            </a:r>
            <a:endParaRPr b="0" i="0" sz="1400" u="none" cap="none" strike="noStrike">
              <a:solidFill>
                <a:schemeClr val="dk1"/>
              </a:solidFill>
              <a:latin typeface="Helvetica Neue"/>
              <a:ea typeface="Helvetica Neue"/>
              <a:cs typeface="Helvetica Neue"/>
              <a:sym typeface="Helvetica Neue"/>
            </a:endParaRPr>
          </a:p>
        </p:txBody>
      </p:sp>
      <p:sp>
        <p:nvSpPr>
          <p:cNvPr id="962" name="Google Shape;962;p40"/>
          <p:cNvSpPr txBox="1"/>
          <p:nvPr/>
        </p:nvSpPr>
        <p:spPr>
          <a:xfrm>
            <a:off x="12344400" y="374904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Helvetica Neue"/>
                <a:ea typeface="Helvetica Neue"/>
                <a:cs typeface="Helvetica Neue"/>
                <a:sym typeface="Helvetica Neue"/>
              </a:rPr>
              <a:t>Stage Name</a:t>
            </a:r>
            <a:endParaRPr b="0" i="0" sz="2000" u="none" cap="none" strike="noStrike">
              <a:solidFill>
                <a:schemeClr val="dk1"/>
              </a:solidFill>
              <a:latin typeface="Helvetica Neue"/>
              <a:ea typeface="Helvetica Neue"/>
              <a:cs typeface="Helvetica Neue"/>
              <a:sym typeface="Helvetica Neue"/>
            </a:endParaRPr>
          </a:p>
        </p:txBody>
      </p:sp>
      <p:sp>
        <p:nvSpPr>
          <p:cNvPr id="963" name="Google Shape;963;p40"/>
          <p:cNvSpPr txBox="1"/>
          <p:nvPr/>
        </p:nvSpPr>
        <p:spPr>
          <a:xfrm>
            <a:off x="12344400" y="4297680"/>
            <a:ext cx="420624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Arial"/>
              <a:buNone/>
            </a:pPr>
            <a:r>
              <a:rPr b="0" i="0" lang="en-US" sz="1600" u="none" cap="none" strike="noStrike">
                <a:solidFill>
                  <a:schemeClr val="dk2"/>
                </a:solidFill>
                <a:latin typeface="Helvetica Neue"/>
                <a:ea typeface="Helvetica Neue"/>
                <a:cs typeface="Helvetica Neue"/>
                <a:sym typeface="Helvetica Neue"/>
              </a:rPr>
              <a:t>One-sentence description.</a:t>
            </a:r>
            <a:endParaRPr b="0" i="0" sz="1600" u="none" cap="none" strike="noStrike">
              <a:solidFill>
                <a:schemeClr val="dk1"/>
              </a:solidFill>
              <a:latin typeface="Helvetica Neue"/>
              <a:ea typeface="Helvetica Neue"/>
              <a:cs typeface="Helvetica Neue"/>
              <a:sym typeface="Helvetica Neue"/>
            </a:endParaRPr>
          </a:p>
        </p:txBody>
      </p:sp>
      <p:sp>
        <p:nvSpPr>
          <p:cNvPr id="964" name="Google Shape;964;p40"/>
          <p:cNvSpPr/>
          <p:nvPr/>
        </p:nvSpPr>
        <p:spPr>
          <a:xfrm>
            <a:off x="822960" y="5852160"/>
            <a:ext cx="16642080" cy="338328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965" name="Google Shape;965;p40"/>
          <p:cNvSpPr txBox="1"/>
          <p:nvPr/>
        </p:nvSpPr>
        <p:spPr>
          <a:xfrm>
            <a:off x="1280160" y="6126480"/>
            <a:ext cx="109728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z="2200" u="none" cap="none" strike="noStrike">
                <a:solidFill>
                  <a:schemeClr val="dk1"/>
                </a:solidFill>
                <a:latin typeface="Helvetica Neue"/>
                <a:ea typeface="Helvetica Neue"/>
                <a:cs typeface="Helvetica Neue"/>
                <a:sym typeface="Helvetica Neue"/>
              </a:rPr>
              <a:t>Stream 2 · Name (Phase)</a:t>
            </a:r>
            <a:endParaRPr b="0" i="0" sz="2200" u="none" cap="none" strike="noStrike">
              <a:solidFill>
                <a:schemeClr val="dk1"/>
              </a:solidFill>
              <a:latin typeface="Helvetica Neue"/>
              <a:ea typeface="Helvetica Neue"/>
              <a:cs typeface="Helvetica Neue"/>
              <a:sym typeface="Helvetica Neue"/>
            </a:endParaRPr>
          </a:p>
        </p:txBody>
      </p:sp>
      <p:sp>
        <p:nvSpPr>
          <p:cNvPr id="966" name="Google Shape;966;p40"/>
          <p:cNvSpPr/>
          <p:nvPr/>
        </p:nvSpPr>
        <p:spPr>
          <a:xfrm>
            <a:off x="1280160" y="6812280"/>
            <a:ext cx="4754880" cy="2103120"/>
          </a:xfrm>
          <a:prstGeom prst="rect">
            <a:avLst/>
          </a:prstGeom>
          <a:solidFill>
            <a:schemeClr val="lt2"/>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967" name="Google Shape;967;p40"/>
          <p:cNvSpPr txBox="1"/>
          <p:nvPr/>
        </p:nvSpPr>
        <p:spPr>
          <a:xfrm>
            <a:off x="1554480" y="6995160"/>
            <a:ext cx="274320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400"/>
              <a:buFont typeface="Arial"/>
              <a:buNone/>
            </a:pPr>
            <a:r>
              <a:rPr b="1" i="0" lang="en-US" sz="1400" u="none" cap="none" strike="noStrike">
                <a:solidFill>
                  <a:schemeClr val="accent1"/>
                </a:solidFill>
                <a:latin typeface="Helvetica Neue"/>
                <a:ea typeface="Helvetica Neue"/>
                <a:cs typeface="Helvetica Neue"/>
                <a:sym typeface="Helvetica Neue"/>
              </a:rPr>
              <a:t>STAGE 01</a:t>
            </a:r>
            <a:endParaRPr b="0" i="0" sz="1400" u="none" cap="none" strike="noStrike">
              <a:solidFill>
                <a:schemeClr val="dk1"/>
              </a:solidFill>
              <a:latin typeface="Helvetica Neue"/>
              <a:ea typeface="Helvetica Neue"/>
              <a:cs typeface="Helvetica Neue"/>
              <a:sym typeface="Helvetica Neue"/>
            </a:endParaRPr>
          </a:p>
        </p:txBody>
      </p:sp>
      <p:sp>
        <p:nvSpPr>
          <p:cNvPr id="968" name="Google Shape;968;p40"/>
          <p:cNvSpPr txBox="1"/>
          <p:nvPr/>
        </p:nvSpPr>
        <p:spPr>
          <a:xfrm>
            <a:off x="1554480" y="740664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Helvetica Neue"/>
                <a:ea typeface="Helvetica Neue"/>
                <a:cs typeface="Helvetica Neue"/>
                <a:sym typeface="Helvetica Neue"/>
              </a:rPr>
              <a:t>Stage Name</a:t>
            </a:r>
            <a:endParaRPr b="0" i="0" sz="2000" u="none" cap="none" strike="noStrike">
              <a:solidFill>
                <a:schemeClr val="dk1"/>
              </a:solidFill>
              <a:latin typeface="Helvetica Neue"/>
              <a:ea typeface="Helvetica Neue"/>
              <a:cs typeface="Helvetica Neue"/>
              <a:sym typeface="Helvetica Neue"/>
            </a:endParaRPr>
          </a:p>
        </p:txBody>
      </p:sp>
      <p:sp>
        <p:nvSpPr>
          <p:cNvPr id="969" name="Google Shape;969;p40"/>
          <p:cNvSpPr txBox="1"/>
          <p:nvPr/>
        </p:nvSpPr>
        <p:spPr>
          <a:xfrm>
            <a:off x="1554480" y="7955280"/>
            <a:ext cx="420624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Arial"/>
              <a:buNone/>
            </a:pPr>
            <a:r>
              <a:rPr b="0" i="0" lang="en-US" sz="1600" u="none" cap="none" strike="noStrike">
                <a:solidFill>
                  <a:schemeClr val="dk2"/>
                </a:solidFill>
                <a:latin typeface="Helvetica Neue"/>
                <a:ea typeface="Helvetica Neue"/>
                <a:cs typeface="Helvetica Neue"/>
                <a:sym typeface="Helvetica Neue"/>
              </a:rPr>
              <a:t>One-sentence description.</a:t>
            </a:r>
            <a:endParaRPr b="0" i="0" sz="1600" u="none" cap="none" strike="noStrike">
              <a:solidFill>
                <a:schemeClr val="dk1"/>
              </a:solidFill>
              <a:latin typeface="Helvetica Neue"/>
              <a:ea typeface="Helvetica Neue"/>
              <a:cs typeface="Helvetica Neue"/>
              <a:sym typeface="Helvetica Neue"/>
            </a:endParaRPr>
          </a:p>
        </p:txBody>
      </p:sp>
      <p:cxnSp>
        <p:nvCxnSpPr>
          <p:cNvPr id="970" name="Google Shape;970;p40"/>
          <p:cNvCxnSpPr/>
          <p:nvPr/>
        </p:nvCxnSpPr>
        <p:spPr>
          <a:xfrm>
            <a:off x="6080760" y="7863840"/>
            <a:ext cx="502920" cy="0"/>
          </a:xfrm>
          <a:prstGeom prst="straightConnector1">
            <a:avLst/>
          </a:prstGeom>
          <a:noFill/>
          <a:ln cap="flat" cmpd="sng" w="25400">
            <a:solidFill>
              <a:schemeClr val="accent1"/>
            </a:solidFill>
            <a:prstDash val="solid"/>
            <a:round/>
            <a:headEnd len="sm" w="sm" type="none"/>
            <a:tailEnd len="med" w="med" type="triangle"/>
          </a:ln>
        </p:spPr>
      </p:cxnSp>
      <p:sp>
        <p:nvSpPr>
          <p:cNvPr id="971" name="Google Shape;971;p40"/>
          <p:cNvSpPr/>
          <p:nvPr/>
        </p:nvSpPr>
        <p:spPr>
          <a:xfrm>
            <a:off x="6675120" y="6812280"/>
            <a:ext cx="4754880" cy="2103120"/>
          </a:xfrm>
          <a:prstGeom prst="rect">
            <a:avLst/>
          </a:prstGeom>
          <a:solidFill>
            <a:schemeClr val="lt2"/>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972" name="Google Shape;972;p40"/>
          <p:cNvSpPr txBox="1"/>
          <p:nvPr/>
        </p:nvSpPr>
        <p:spPr>
          <a:xfrm>
            <a:off x="6949440" y="6995160"/>
            <a:ext cx="274320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400"/>
              <a:buFont typeface="Arial"/>
              <a:buNone/>
            </a:pPr>
            <a:r>
              <a:rPr b="1" i="0" lang="en-US" sz="1400" u="none" cap="none" strike="noStrike">
                <a:solidFill>
                  <a:schemeClr val="accent1"/>
                </a:solidFill>
                <a:latin typeface="Helvetica Neue"/>
                <a:ea typeface="Helvetica Neue"/>
                <a:cs typeface="Helvetica Neue"/>
                <a:sym typeface="Helvetica Neue"/>
              </a:rPr>
              <a:t>STAGE 02</a:t>
            </a:r>
            <a:endParaRPr b="0" i="0" sz="1400" u="none" cap="none" strike="noStrike">
              <a:solidFill>
                <a:schemeClr val="dk1"/>
              </a:solidFill>
              <a:latin typeface="Helvetica Neue"/>
              <a:ea typeface="Helvetica Neue"/>
              <a:cs typeface="Helvetica Neue"/>
              <a:sym typeface="Helvetica Neue"/>
            </a:endParaRPr>
          </a:p>
        </p:txBody>
      </p:sp>
      <p:sp>
        <p:nvSpPr>
          <p:cNvPr id="973" name="Google Shape;973;p40"/>
          <p:cNvSpPr txBox="1"/>
          <p:nvPr/>
        </p:nvSpPr>
        <p:spPr>
          <a:xfrm>
            <a:off x="6949440" y="740664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Helvetica Neue"/>
                <a:ea typeface="Helvetica Neue"/>
                <a:cs typeface="Helvetica Neue"/>
                <a:sym typeface="Helvetica Neue"/>
              </a:rPr>
              <a:t>Stage Name</a:t>
            </a:r>
            <a:endParaRPr b="0" i="0" sz="2000" u="none" cap="none" strike="noStrike">
              <a:solidFill>
                <a:schemeClr val="dk1"/>
              </a:solidFill>
              <a:latin typeface="Helvetica Neue"/>
              <a:ea typeface="Helvetica Neue"/>
              <a:cs typeface="Helvetica Neue"/>
              <a:sym typeface="Helvetica Neue"/>
            </a:endParaRPr>
          </a:p>
        </p:txBody>
      </p:sp>
      <p:sp>
        <p:nvSpPr>
          <p:cNvPr id="974" name="Google Shape;974;p40"/>
          <p:cNvSpPr txBox="1"/>
          <p:nvPr/>
        </p:nvSpPr>
        <p:spPr>
          <a:xfrm>
            <a:off x="6949440" y="7955280"/>
            <a:ext cx="420624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Arial"/>
              <a:buNone/>
            </a:pPr>
            <a:r>
              <a:rPr b="0" i="0" lang="en-US" sz="1600" u="none" cap="none" strike="noStrike">
                <a:solidFill>
                  <a:schemeClr val="dk2"/>
                </a:solidFill>
                <a:latin typeface="Helvetica Neue"/>
                <a:ea typeface="Helvetica Neue"/>
                <a:cs typeface="Helvetica Neue"/>
                <a:sym typeface="Helvetica Neue"/>
              </a:rPr>
              <a:t>One-sentence description.</a:t>
            </a:r>
            <a:endParaRPr b="0" i="0" sz="1600" u="none" cap="none" strike="noStrike">
              <a:solidFill>
                <a:schemeClr val="dk1"/>
              </a:solidFill>
              <a:latin typeface="Helvetica Neue"/>
              <a:ea typeface="Helvetica Neue"/>
              <a:cs typeface="Helvetica Neue"/>
              <a:sym typeface="Helvetica Neue"/>
            </a:endParaRPr>
          </a:p>
        </p:txBody>
      </p:sp>
      <p:cxnSp>
        <p:nvCxnSpPr>
          <p:cNvPr id="975" name="Google Shape;975;p40"/>
          <p:cNvCxnSpPr/>
          <p:nvPr/>
        </p:nvCxnSpPr>
        <p:spPr>
          <a:xfrm>
            <a:off x="11475720" y="7863840"/>
            <a:ext cx="502920" cy="0"/>
          </a:xfrm>
          <a:prstGeom prst="straightConnector1">
            <a:avLst/>
          </a:prstGeom>
          <a:noFill/>
          <a:ln cap="flat" cmpd="sng" w="25400">
            <a:solidFill>
              <a:schemeClr val="accent1"/>
            </a:solidFill>
            <a:prstDash val="solid"/>
            <a:round/>
            <a:headEnd len="sm" w="sm" type="none"/>
            <a:tailEnd len="med" w="med" type="triangle"/>
          </a:ln>
        </p:spPr>
      </p:cxnSp>
      <p:sp>
        <p:nvSpPr>
          <p:cNvPr id="976" name="Google Shape;976;p40"/>
          <p:cNvSpPr/>
          <p:nvPr/>
        </p:nvSpPr>
        <p:spPr>
          <a:xfrm>
            <a:off x="12070080" y="6812280"/>
            <a:ext cx="4754880" cy="2103120"/>
          </a:xfrm>
          <a:prstGeom prst="rect">
            <a:avLst/>
          </a:prstGeom>
          <a:solidFill>
            <a:schemeClr val="lt2"/>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977" name="Google Shape;977;p40"/>
          <p:cNvSpPr txBox="1"/>
          <p:nvPr/>
        </p:nvSpPr>
        <p:spPr>
          <a:xfrm>
            <a:off x="12344400" y="6995160"/>
            <a:ext cx="274320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400"/>
              <a:buFont typeface="Arial"/>
              <a:buNone/>
            </a:pPr>
            <a:r>
              <a:rPr b="1" i="0" lang="en-US" sz="1400" u="none" cap="none" strike="noStrike">
                <a:solidFill>
                  <a:schemeClr val="accent1"/>
                </a:solidFill>
                <a:latin typeface="Helvetica Neue"/>
                <a:ea typeface="Helvetica Neue"/>
                <a:cs typeface="Helvetica Neue"/>
                <a:sym typeface="Helvetica Neue"/>
              </a:rPr>
              <a:t>STAGE 03</a:t>
            </a:r>
            <a:endParaRPr b="0" i="0" sz="1400" u="none" cap="none" strike="noStrike">
              <a:solidFill>
                <a:schemeClr val="dk1"/>
              </a:solidFill>
              <a:latin typeface="Helvetica Neue"/>
              <a:ea typeface="Helvetica Neue"/>
              <a:cs typeface="Helvetica Neue"/>
              <a:sym typeface="Helvetica Neue"/>
            </a:endParaRPr>
          </a:p>
        </p:txBody>
      </p:sp>
      <p:sp>
        <p:nvSpPr>
          <p:cNvPr id="978" name="Google Shape;978;p40"/>
          <p:cNvSpPr txBox="1"/>
          <p:nvPr/>
        </p:nvSpPr>
        <p:spPr>
          <a:xfrm>
            <a:off x="12344400" y="740664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Helvetica Neue"/>
                <a:ea typeface="Helvetica Neue"/>
                <a:cs typeface="Helvetica Neue"/>
                <a:sym typeface="Helvetica Neue"/>
              </a:rPr>
              <a:t>Stage Name</a:t>
            </a:r>
            <a:endParaRPr b="0" i="0" sz="2000" u="none" cap="none" strike="noStrike">
              <a:solidFill>
                <a:schemeClr val="dk1"/>
              </a:solidFill>
              <a:latin typeface="Helvetica Neue"/>
              <a:ea typeface="Helvetica Neue"/>
              <a:cs typeface="Helvetica Neue"/>
              <a:sym typeface="Helvetica Neue"/>
            </a:endParaRPr>
          </a:p>
        </p:txBody>
      </p:sp>
      <p:sp>
        <p:nvSpPr>
          <p:cNvPr id="979" name="Google Shape;979;p40"/>
          <p:cNvSpPr txBox="1"/>
          <p:nvPr/>
        </p:nvSpPr>
        <p:spPr>
          <a:xfrm>
            <a:off x="12344400" y="7955280"/>
            <a:ext cx="420624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Arial"/>
              <a:buNone/>
            </a:pPr>
            <a:r>
              <a:rPr b="0" i="0" lang="en-US" sz="1600" u="none" cap="none" strike="noStrike">
                <a:solidFill>
                  <a:schemeClr val="dk2"/>
                </a:solidFill>
                <a:latin typeface="Helvetica Neue"/>
                <a:ea typeface="Helvetica Neue"/>
                <a:cs typeface="Helvetica Neue"/>
                <a:sym typeface="Helvetica Neue"/>
              </a:rPr>
              <a:t>One-sentence description.</a:t>
            </a:r>
            <a:endParaRPr b="0" i="0" sz="1600" u="none" cap="none" strike="noStrike">
              <a:solidFill>
                <a:schemeClr val="dk1"/>
              </a:solidFill>
              <a:latin typeface="Helvetica Neue"/>
              <a:ea typeface="Helvetica Neue"/>
              <a:cs typeface="Helvetica Neue"/>
              <a:sym typeface="Helvetica Neue"/>
            </a:endParaRPr>
          </a:p>
        </p:txBody>
      </p:sp>
      <p:sp>
        <p:nvSpPr>
          <p:cNvPr id="980" name="Google Shape;980;p40"/>
          <p:cNvSpPr txBox="1"/>
          <p:nvPr>
            <p:ph idx="4294967295" type="sldNum"/>
          </p:nvPr>
        </p:nvSpPr>
        <p:spPr>
          <a:xfrm>
            <a:off x="16550640" y="9646920"/>
            <a:ext cx="914400" cy="36576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2"/>
                </a:solidFill>
                <a:latin typeface="Helvetica Neue"/>
                <a:ea typeface="Helvetica Neue"/>
                <a:cs typeface="Helvetica Neue"/>
                <a:sym typeface="Helvetica Neue"/>
              </a:rPr>
              <a:t>‹#›</a:t>
            </a:fld>
            <a:endParaRPr b="0" i="0" sz="1200" u="none" cap="none" strike="noStrike">
              <a:solidFill>
                <a:schemeClr val="dk2"/>
              </a:solidFill>
              <a:latin typeface="Helvetica Neue"/>
              <a:ea typeface="Helvetica Neue"/>
              <a:cs typeface="Helvetica Neue"/>
              <a:sym typeface="Helvetica Neue"/>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85" name="Shape 985"/>
        <p:cNvGrpSpPr/>
        <p:nvPr/>
      </p:nvGrpSpPr>
      <p:grpSpPr>
        <a:xfrm>
          <a:off x="0" y="0"/>
          <a:ext cx="0" cy="0"/>
          <a:chOff x="0" y="0"/>
          <a:chExt cx="0" cy="0"/>
        </a:xfrm>
      </p:grpSpPr>
      <p:sp>
        <p:nvSpPr>
          <p:cNvPr id="986" name="Google Shape;986;p41"/>
          <p:cNvSpPr txBox="1"/>
          <p:nvPr>
            <p:ph type="title"/>
          </p:nvPr>
        </p:nvSpPr>
        <p:spPr>
          <a:xfrm>
            <a:off x="822960" y="960120"/>
            <a:ext cx="16642080" cy="8229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Arial"/>
              <a:buNone/>
            </a:pPr>
            <a:r>
              <a:rPr b="1" lang="en-US" sz="3600">
                <a:solidFill>
                  <a:schemeClr val="dk1"/>
                </a:solidFill>
              </a:rPr>
              <a:t>Five Columns with Takeaway Banner</a:t>
            </a:r>
            <a:endParaRPr sz="3600"/>
          </a:p>
        </p:txBody>
      </p:sp>
      <p:sp>
        <p:nvSpPr>
          <p:cNvPr id="987" name="Google Shape;987;p41"/>
          <p:cNvSpPr/>
          <p:nvPr/>
        </p:nvSpPr>
        <p:spPr>
          <a:xfrm>
            <a:off x="822960" y="2194560"/>
            <a:ext cx="3035808" cy="512064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988" name="Google Shape;988;p41"/>
          <p:cNvSpPr/>
          <p:nvPr/>
        </p:nvSpPr>
        <p:spPr>
          <a:xfrm>
            <a:off x="822960" y="2194560"/>
            <a:ext cx="3035808" cy="1280160"/>
          </a:xfrm>
          <a:prstGeom prst="rect">
            <a:avLst/>
          </a:prstGeom>
          <a:solidFill>
            <a:srgbClr val="CFE6E9"/>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989" name="Google Shape;989;p41"/>
          <p:cNvSpPr txBox="1"/>
          <p:nvPr/>
        </p:nvSpPr>
        <p:spPr>
          <a:xfrm>
            <a:off x="822960" y="2423160"/>
            <a:ext cx="3035808" cy="3657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2"/>
              </a:buClr>
              <a:buSzPts val="1400"/>
              <a:buFont typeface="Arial"/>
              <a:buNone/>
            </a:pPr>
            <a:r>
              <a:rPr b="1" i="0" lang="en-US" sz="1400" u="none" cap="none" strike="noStrike">
                <a:solidFill>
                  <a:schemeClr val="dk2"/>
                </a:solidFill>
                <a:latin typeface="Helvetica Neue"/>
                <a:ea typeface="Helvetica Neue"/>
                <a:cs typeface="Helvetica Neue"/>
                <a:sym typeface="Helvetica Neue"/>
              </a:rPr>
              <a:t>STEP 1</a:t>
            </a:r>
            <a:endParaRPr b="0" i="0" sz="1400" u="none" cap="none" strike="noStrike">
              <a:solidFill>
                <a:schemeClr val="dk1"/>
              </a:solidFill>
              <a:latin typeface="Helvetica Neue"/>
              <a:ea typeface="Helvetica Neue"/>
              <a:cs typeface="Helvetica Neue"/>
              <a:sym typeface="Helvetica Neue"/>
            </a:endParaRPr>
          </a:p>
        </p:txBody>
      </p:sp>
      <p:sp>
        <p:nvSpPr>
          <p:cNvPr id="990" name="Google Shape;990;p41"/>
          <p:cNvSpPr txBox="1"/>
          <p:nvPr/>
        </p:nvSpPr>
        <p:spPr>
          <a:xfrm>
            <a:off x="822960" y="2880360"/>
            <a:ext cx="3035808" cy="457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200"/>
              <a:buFont typeface="Arial"/>
              <a:buNone/>
            </a:pPr>
            <a:r>
              <a:rPr b="1" i="0" lang="en-US" sz="2200" u="none" cap="none" strike="noStrike">
                <a:solidFill>
                  <a:schemeClr val="dk1"/>
                </a:solidFill>
                <a:latin typeface="Helvetica Neue"/>
                <a:ea typeface="Helvetica Neue"/>
                <a:cs typeface="Helvetica Neue"/>
                <a:sym typeface="Helvetica Neue"/>
              </a:rPr>
              <a:t>LABEL</a:t>
            </a:r>
            <a:endParaRPr b="0" i="0" sz="2200" u="none" cap="none" strike="noStrike">
              <a:solidFill>
                <a:schemeClr val="dk1"/>
              </a:solidFill>
              <a:latin typeface="Helvetica Neue"/>
              <a:ea typeface="Helvetica Neue"/>
              <a:cs typeface="Helvetica Neue"/>
              <a:sym typeface="Helvetica Neue"/>
            </a:endParaRPr>
          </a:p>
        </p:txBody>
      </p:sp>
      <p:sp>
        <p:nvSpPr>
          <p:cNvPr id="991" name="Google Shape;991;p41"/>
          <p:cNvSpPr txBox="1"/>
          <p:nvPr/>
        </p:nvSpPr>
        <p:spPr>
          <a:xfrm>
            <a:off x="1097280" y="3749040"/>
            <a:ext cx="2487168"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Helvetica Neue"/>
                <a:ea typeface="Helvetica Neue"/>
                <a:cs typeface="Helvetica Neue"/>
                <a:sym typeface="Helvetica Neue"/>
              </a:rPr>
              <a:t>Column Title</a:t>
            </a:r>
            <a:endParaRPr b="0" i="0" sz="2000" u="none" cap="none" strike="noStrike">
              <a:solidFill>
                <a:schemeClr val="dk1"/>
              </a:solidFill>
              <a:latin typeface="Helvetica Neue"/>
              <a:ea typeface="Helvetica Neue"/>
              <a:cs typeface="Helvetica Neue"/>
              <a:sym typeface="Helvetica Neue"/>
            </a:endParaRPr>
          </a:p>
        </p:txBody>
      </p:sp>
      <p:sp>
        <p:nvSpPr>
          <p:cNvPr id="992" name="Google Shape;992;p41"/>
          <p:cNvSpPr txBox="1"/>
          <p:nvPr/>
        </p:nvSpPr>
        <p:spPr>
          <a:xfrm>
            <a:off x="1097280" y="4663440"/>
            <a:ext cx="2487168" cy="2377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Arial"/>
              <a:buNone/>
            </a:pPr>
            <a:r>
              <a:rPr b="0" i="0" lang="en-US" sz="1600" u="none" cap="none" strike="noStrike">
                <a:solidFill>
                  <a:schemeClr val="dk2"/>
                </a:solidFill>
                <a:latin typeface="Helvetica Neue"/>
                <a:ea typeface="Helvetica Neue"/>
                <a:cs typeface="Helvetica Neue"/>
                <a:sym typeface="Helvetica Neue"/>
              </a:rPr>
              <a:t>Short description of this step in plain language.</a:t>
            </a:r>
            <a:endParaRPr b="0" i="0" sz="1600" u="none" cap="none" strike="noStrike">
              <a:solidFill>
                <a:schemeClr val="dk1"/>
              </a:solidFill>
              <a:latin typeface="Helvetica Neue"/>
              <a:ea typeface="Helvetica Neue"/>
              <a:cs typeface="Helvetica Neue"/>
              <a:sym typeface="Helvetica Neue"/>
            </a:endParaRPr>
          </a:p>
        </p:txBody>
      </p:sp>
      <p:sp>
        <p:nvSpPr>
          <p:cNvPr id="993" name="Google Shape;993;p41"/>
          <p:cNvSpPr/>
          <p:nvPr/>
        </p:nvSpPr>
        <p:spPr>
          <a:xfrm>
            <a:off x="4224528" y="2194560"/>
            <a:ext cx="3035808" cy="512064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994" name="Google Shape;994;p41"/>
          <p:cNvSpPr/>
          <p:nvPr/>
        </p:nvSpPr>
        <p:spPr>
          <a:xfrm>
            <a:off x="4224528" y="2194560"/>
            <a:ext cx="3035808" cy="1280160"/>
          </a:xfrm>
          <a:prstGeom prst="rect">
            <a:avLst/>
          </a:prstGeom>
          <a:solidFill>
            <a:srgbClr val="E6D9BC"/>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995" name="Google Shape;995;p41"/>
          <p:cNvSpPr txBox="1"/>
          <p:nvPr/>
        </p:nvSpPr>
        <p:spPr>
          <a:xfrm>
            <a:off x="4224528" y="2423160"/>
            <a:ext cx="3035808" cy="3657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2"/>
              </a:buClr>
              <a:buSzPts val="1400"/>
              <a:buFont typeface="Arial"/>
              <a:buNone/>
            </a:pPr>
            <a:r>
              <a:rPr b="1" i="0" lang="en-US" sz="1400" u="none" cap="none" strike="noStrike">
                <a:solidFill>
                  <a:schemeClr val="dk2"/>
                </a:solidFill>
                <a:latin typeface="Helvetica Neue"/>
                <a:ea typeface="Helvetica Neue"/>
                <a:cs typeface="Helvetica Neue"/>
                <a:sym typeface="Helvetica Neue"/>
              </a:rPr>
              <a:t>STEP 2</a:t>
            </a:r>
            <a:endParaRPr b="0" i="0" sz="1400" u="none" cap="none" strike="noStrike">
              <a:solidFill>
                <a:schemeClr val="dk1"/>
              </a:solidFill>
              <a:latin typeface="Helvetica Neue"/>
              <a:ea typeface="Helvetica Neue"/>
              <a:cs typeface="Helvetica Neue"/>
              <a:sym typeface="Helvetica Neue"/>
            </a:endParaRPr>
          </a:p>
        </p:txBody>
      </p:sp>
      <p:sp>
        <p:nvSpPr>
          <p:cNvPr id="996" name="Google Shape;996;p41"/>
          <p:cNvSpPr txBox="1"/>
          <p:nvPr/>
        </p:nvSpPr>
        <p:spPr>
          <a:xfrm>
            <a:off x="4224528" y="2880360"/>
            <a:ext cx="3035808" cy="457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200"/>
              <a:buFont typeface="Arial"/>
              <a:buNone/>
            </a:pPr>
            <a:r>
              <a:rPr b="1" i="0" lang="en-US" sz="2200" u="none" cap="none" strike="noStrike">
                <a:solidFill>
                  <a:schemeClr val="dk1"/>
                </a:solidFill>
                <a:latin typeface="Helvetica Neue"/>
                <a:ea typeface="Helvetica Neue"/>
                <a:cs typeface="Helvetica Neue"/>
                <a:sym typeface="Helvetica Neue"/>
              </a:rPr>
              <a:t>LABEL</a:t>
            </a:r>
            <a:endParaRPr b="0" i="0" sz="2200" u="none" cap="none" strike="noStrike">
              <a:solidFill>
                <a:schemeClr val="dk1"/>
              </a:solidFill>
              <a:latin typeface="Helvetica Neue"/>
              <a:ea typeface="Helvetica Neue"/>
              <a:cs typeface="Helvetica Neue"/>
              <a:sym typeface="Helvetica Neue"/>
            </a:endParaRPr>
          </a:p>
        </p:txBody>
      </p:sp>
      <p:sp>
        <p:nvSpPr>
          <p:cNvPr id="997" name="Google Shape;997;p41"/>
          <p:cNvSpPr txBox="1"/>
          <p:nvPr/>
        </p:nvSpPr>
        <p:spPr>
          <a:xfrm>
            <a:off x="4498848" y="3749040"/>
            <a:ext cx="2487168"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Helvetica Neue"/>
                <a:ea typeface="Helvetica Neue"/>
                <a:cs typeface="Helvetica Neue"/>
                <a:sym typeface="Helvetica Neue"/>
              </a:rPr>
              <a:t>Column Title</a:t>
            </a:r>
            <a:endParaRPr b="0" i="0" sz="2000" u="none" cap="none" strike="noStrike">
              <a:solidFill>
                <a:schemeClr val="dk1"/>
              </a:solidFill>
              <a:latin typeface="Helvetica Neue"/>
              <a:ea typeface="Helvetica Neue"/>
              <a:cs typeface="Helvetica Neue"/>
              <a:sym typeface="Helvetica Neue"/>
            </a:endParaRPr>
          </a:p>
        </p:txBody>
      </p:sp>
      <p:sp>
        <p:nvSpPr>
          <p:cNvPr id="998" name="Google Shape;998;p41"/>
          <p:cNvSpPr txBox="1"/>
          <p:nvPr/>
        </p:nvSpPr>
        <p:spPr>
          <a:xfrm>
            <a:off x="4498848" y="4663440"/>
            <a:ext cx="2487168" cy="2377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Arial"/>
              <a:buNone/>
            </a:pPr>
            <a:r>
              <a:rPr b="0" i="0" lang="en-US" sz="1600" u="none" cap="none" strike="noStrike">
                <a:solidFill>
                  <a:schemeClr val="dk2"/>
                </a:solidFill>
                <a:latin typeface="Helvetica Neue"/>
                <a:ea typeface="Helvetica Neue"/>
                <a:cs typeface="Helvetica Neue"/>
                <a:sym typeface="Helvetica Neue"/>
              </a:rPr>
              <a:t>Short description of this step in plain language.</a:t>
            </a:r>
            <a:endParaRPr b="0" i="0" sz="1600" u="none" cap="none" strike="noStrike">
              <a:solidFill>
                <a:schemeClr val="dk1"/>
              </a:solidFill>
              <a:latin typeface="Helvetica Neue"/>
              <a:ea typeface="Helvetica Neue"/>
              <a:cs typeface="Helvetica Neue"/>
              <a:sym typeface="Helvetica Neue"/>
            </a:endParaRPr>
          </a:p>
        </p:txBody>
      </p:sp>
      <p:sp>
        <p:nvSpPr>
          <p:cNvPr id="999" name="Google Shape;999;p41"/>
          <p:cNvSpPr/>
          <p:nvPr/>
        </p:nvSpPr>
        <p:spPr>
          <a:xfrm>
            <a:off x="7626096" y="2194560"/>
            <a:ext cx="3035808" cy="512064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1000" name="Google Shape;1000;p41"/>
          <p:cNvSpPr/>
          <p:nvPr/>
        </p:nvSpPr>
        <p:spPr>
          <a:xfrm>
            <a:off x="7626096" y="2194560"/>
            <a:ext cx="3035808" cy="1280160"/>
          </a:xfrm>
          <a:prstGeom prst="rect">
            <a:avLst/>
          </a:prstGeom>
          <a:solidFill>
            <a:srgbClr val="D5E3EA"/>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1001" name="Google Shape;1001;p41"/>
          <p:cNvSpPr txBox="1"/>
          <p:nvPr/>
        </p:nvSpPr>
        <p:spPr>
          <a:xfrm>
            <a:off x="7626096" y="2423160"/>
            <a:ext cx="3035808" cy="3657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2"/>
              </a:buClr>
              <a:buSzPts val="1400"/>
              <a:buFont typeface="Arial"/>
              <a:buNone/>
            </a:pPr>
            <a:r>
              <a:rPr b="1" i="0" lang="en-US" sz="1400" u="none" cap="none" strike="noStrike">
                <a:solidFill>
                  <a:schemeClr val="dk2"/>
                </a:solidFill>
                <a:latin typeface="Helvetica Neue"/>
                <a:ea typeface="Helvetica Neue"/>
                <a:cs typeface="Helvetica Neue"/>
                <a:sym typeface="Helvetica Neue"/>
              </a:rPr>
              <a:t>STEP 3</a:t>
            </a:r>
            <a:endParaRPr b="0" i="0" sz="1400" u="none" cap="none" strike="noStrike">
              <a:solidFill>
                <a:schemeClr val="dk1"/>
              </a:solidFill>
              <a:latin typeface="Helvetica Neue"/>
              <a:ea typeface="Helvetica Neue"/>
              <a:cs typeface="Helvetica Neue"/>
              <a:sym typeface="Helvetica Neue"/>
            </a:endParaRPr>
          </a:p>
        </p:txBody>
      </p:sp>
      <p:sp>
        <p:nvSpPr>
          <p:cNvPr id="1002" name="Google Shape;1002;p41"/>
          <p:cNvSpPr txBox="1"/>
          <p:nvPr/>
        </p:nvSpPr>
        <p:spPr>
          <a:xfrm>
            <a:off x="7626096" y="2880360"/>
            <a:ext cx="3035808" cy="457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200"/>
              <a:buFont typeface="Arial"/>
              <a:buNone/>
            </a:pPr>
            <a:r>
              <a:rPr b="1" i="0" lang="en-US" sz="2200" u="none" cap="none" strike="noStrike">
                <a:solidFill>
                  <a:schemeClr val="dk1"/>
                </a:solidFill>
                <a:latin typeface="Helvetica Neue"/>
                <a:ea typeface="Helvetica Neue"/>
                <a:cs typeface="Helvetica Neue"/>
                <a:sym typeface="Helvetica Neue"/>
              </a:rPr>
              <a:t>LABEL</a:t>
            </a:r>
            <a:endParaRPr b="0" i="0" sz="2200" u="none" cap="none" strike="noStrike">
              <a:solidFill>
                <a:schemeClr val="dk1"/>
              </a:solidFill>
              <a:latin typeface="Helvetica Neue"/>
              <a:ea typeface="Helvetica Neue"/>
              <a:cs typeface="Helvetica Neue"/>
              <a:sym typeface="Helvetica Neue"/>
            </a:endParaRPr>
          </a:p>
        </p:txBody>
      </p:sp>
      <p:sp>
        <p:nvSpPr>
          <p:cNvPr id="1003" name="Google Shape;1003;p41"/>
          <p:cNvSpPr txBox="1"/>
          <p:nvPr/>
        </p:nvSpPr>
        <p:spPr>
          <a:xfrm>
            <a:off x="7900416" y="3749040"/>
            <a:ext cx="2487168"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Helvetica Neue"/>
                <a:ea typeface="Helvetica Neue"/>
                <a:cs typeface="Helvetica Neue"/>
                <a:sym typeface="Helvetica Neue"/>
              </a:rPr>
              <a:t>Column Title</a:t>
            </a:r>
            <a:endParaRPr b="0" i="0" sz="2000" u="none" cap="none" strike="noStrike">
              <a:solidFill>
                <a:schemeClr val="dk1"/>
              </a:solidFill>
              <a:latin typeface="Helvetica Neue"/>
              <a:ea typeface="Helvetica Neue"/>
              <a:cs typeface="Helvetica Neue"/>
              <a:sym typeface="Helvetica Neue"/>
            </a:endParaRPr>
          </a:p>
        </p:txBody>
      </p:sp>
      <p:sp>
        <p:nvSpPr>
          <p:cNvPr id="1004" name="Google Shape;1004;p41"/>
          <p:cNvSpPr txBox="1"/>
          <p:nvPr/>
        </p:nvSpPr>
        <p:spPr>
          <a:xfrm>
            <a:off x="7900416" y="4663440"/>
            <a:ext cx="2487168" cy="2377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Arial"/>
              <a:buNone/>
            </a:pPr>
            <a:r>
              <a:rPr b="0" i="0" lang="en-US" sz="1600" u="none" cap="none" strike="noStrike">
                <a:solidFill>
                  <a:schemeClr val="dk2"/>
                </a:solidFill>
                <a:latin typeface="Helvetica Neue"/>
                <a:ea typeface="Helvetica Neue"/>
                <a:cs typeface="Helvetica Neue"/>
                <a:sym typeface="Helvetica Neue"/>
              </a:rPr>
              <a:t>Short description of this step in plain language.</a:t>
            </a:r>
            <a:endParaRPr b="0" i="0" sz="1600" u="none" cap="none" strike="noStrike">
              <a:solidFill>
                <a:schemeClr val="dk1"/>
              </a:solidFill>
              <a:latin typeface="Helvetica Neue"/>
              <a:ea typeface="Helvetica Neue"/>
              <a:cs typeface="Helvetica Neue"/>
              <a:sym typeface="Helvetica Neue"/>
            </a:endParaRPr>
          </a:p>
        </p:txBody>
      </p:sp>
      <p:sp>
        <p:nvSpPr>
          <p:cNvPr id="1005" name="Google Shape;1005;p41"/>
          <p:cNvSpPr/>
          <p:nvPr/>
        </p:nvSpPr>
        <p:spPr>
          <a:xfrm>
            <a:off x="11027664" y="2194560"/>
            <a:ext cx="3035808" cy="512064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1006" name="Google Shape;1006;p41"/>
          <p:cNvSpPr/>
          <p:nvPr/>
        </p:nvSpPr>
        <p:spPr>
          <a:xfrm>
            <a:off x="11027664" y="2194560"/>
            <a:ext cx="3035808" cy="1280160"/>
          </a:xfrm>
          <a:prstGeom prst="rect">
            <a:avLst/>
          </a:prstGeom>
          <a:solidFill>
            <a:srgbClr val="EBD3C6"/>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1007" name="Google Shape;1007;p41"/>
          <p:cNvSpPr txBox="1"/>
          <p:nvPr/>
        </p:nvSpPr>
        <p:spPr>
          <a:xfrm>
            <a:off x="11027664" y="2423160"/>
            <a:ext cx="3035808" cy="3657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2"/>
              </a:buClr>
              <a:buSzPts val="1400"/>
              <a:buFont typeface="Arial"/>
              <a:buNone/>
            </a:pPr>
            <a:r>
              <a:rPr b="1" i="0" lang="en-US" sz="1400" u="none" cap="none" strike="noStrike">
                <a:solidFill>
                  <a:schemeClr val="dk2"/>
                </a:solidFill>
                <a:latin typeface="Helvetica Neue"/>
                <a:ea typeface="Helvetica Neue"/>
                <a:cs typeface="Helvetica Neue"/>
                <a:sym typeface="Helvetica Neue"/>
              </a:rPr>
              <a:t>STEP 4</a:t>
            </a:r>
            <a:endParaRPr b="0" i="0" sz="1400" u="none" cap="none" strike="noStrike">
              <a:solidFill>
                <a:schemeClr val="dk1"/>
              </a:solidFill>
              <a:latin typeface="Helvetica Neue"/>
              <a:ea typeface="Helvetica Neue"/>
              <a:cs typeface="Helvetica Neue"/>
              <a:sym typeface="Helvetica Neue"/>
            </a:endParaRPr>
          </a:p>
        </p:txBody>
      </p:sp>
      <p:sp>
        <p:nvSpPr>
          <p:cNvPr id="1008" name="Google Shape;1008;p41"/>
          <p:cNvSpPr txBox="1"/>
          <p:nvPr/>
        </p:nvSpPr>
        <p:spPr>
          <a:xfrm>
            <a:off x="11027664" y="2880360"/>
            <a:ext cx="3035808" cy="457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200"/>
              <a:buFont typeface="Arial"/>
              <a:buNone/>
            </a:pPr>
            <a:r>
              <a:rPr b="1" i="0" lang="en-US" sz="2200" u="none" cap="none" strike="noStrike">
                <a:solidFill>
                  <a:schemeClr val="dk1"/>
                </a:solidFill>
                <a:latin typeface="Helvetica Neue"/>
                <a:ea typeface="Helvetica Neue"/>
                <a:cs typeface="Helvetica Neue"/>
                <a:sym typeface="Helvetica Neue"/>
              </a:rPr>
              <a:t>LABEL</a:t>
            </a:r>
            <a:endParaRPr b="0" i="0" sz="2200" u="none" cap="none" strike="noStrike">
              <a:solidFill>
                <a:schemeClr val="dk1"/>
              </a:solidFill>
              <a:latin typeface="Helvetica Neue"/>
              <a:ea typeface="Helvetica Neue"/>
              <a:cs typeface="Helvetica Neue"/>
              <a:sym typeface="Helvetica Neue"/>
            </a:endParaRPr>
          </a:p>
        </p:txBody>
      </p:sp>
      <p:sp>
        <p:nvSpPr>
          <p:cNvPr id="1009" name="Google Shape;1009;p41"/>
          <p:cNvSpPr txBox="1"/>
          <p:nvPr/>
        </p:nvSpPr>
        <p:spPr>
          <a:xfrm>
            <a:off x="11301984" y="3749040"/>
            <a:ext cx="2487168"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Helvetica Neue"/>
                <a:ea typeface="Helvetica Neue"/>
                <a:cs typeface="Helvetica Neue"/>
                <a:sym typeface="Helvetica Neue"/>
              </a:rPr>
              <a:t>Column Title</a:t>
            </a:r>
            <a:endParaRPr b="0" i="0" sz="2000" u="none" cap="none" strike="noStrike">
              <a:solidFill>
                <a:schemeClr val="dk1"/>
              </a:solidFill>
              <a:latin typeface="Helvetica Neue"/>
              <a:ea typeface="Helvetica Neue"/>
              <a:cs typeface="Helvetica Neue"/>
              <a:sym typeface="Helvetica Neue"/>
            </a:endParaRPr>
          </a:p>
        </p:txBody>
      </p:sp>
      <p:sp>
        <p:nvSpPr>
          <p:cNvPr id="1010" name="Google Shape;1010;p41"/>
          <p:cNvSpPr txBox="1"/>
          <p:nvPr/>
        </p:nvSpPr>
        <p:spPr>
          <a:xfrm>
            <a:off x="11301984" y="4663440"/>
            <a:ext cx="2487168" cy="2377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Arial"/>
              <a:buNone/>
            </a:pPr>
            <a:r>
              <a:rPr b="0" i="0" lang="en-US" sz="1600" u="none" cap="none" strike="noStrike">
                <a:solidFill>
                  <a:schemeClr val="dk2"/>
                </a:solidFill>
                <a:latin typeface="Helvetica Neue"/>
                <a:ea typeface="Helvetica Neue"/>
                <a:cs typeface="Helvetica Neue"/>
                <a:sym typeface="Helvetica Neue"/>
              </a:rPr>
              <a:t>Short description of this step in plain language.</a:t>
            </a:r>
            <a:endParaRPr b="0" i="0" sz="1600" u="none" cap="none" strike="noStrike">
              <a:solidFill>
                <a:schemeClr val="dk1"/>
              </a:solidFill>
              <a:latin typeface="Helvetica Neue"/>
              <a:ea typeface="Helvetica Neue"/>
              <a:cs typeface="Helvetica Neue"/>
              <a:sym typeface="Helvetica Neue"/>
            </a:endParaRPr>
          </a:p>
        </p:txBody>
      </p:sp>
      <p:sp>
        <p:nvSpPr>
          <p:cNvPr id="1011" name="Google Shape;1011;p41"/>
          <p:cNvSpPr/>
          <p:nvPr/>
        </p:nvSpPr>
        <p:spPr>
          <a:xfrm>
            <a:off x="14429232" y="2194560"/>
            <a:ext cx="3035808" cy="512064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1012" name="Google Shape;1012;p41"/>
          <p:cNvSpPr/>
          <p:nvPr/>
        </p:nvSpPr>
        <p:spPr>
          <a:xfrm>
            <a:off x="14429232" y="2194560"/>
            <a:ext cx="3035808" cy="1280160"/>
          </a:xfrm>
          <a:prstGeom prst="rect">
            <a:avLst/>
          </a:prstGeom>
          <a:solidFill>
            <a:srgbClr val="D9E6D3"/>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1013" name="Google Shape;1013;p41"/>
          <p:cNvSpPr txBox="1"/>
          <p:nvPr/>
        </p:nvSpPr>
        <p:spPr>
          <a:xfrm>
            <a:off x="14429232" y="2423160"/>
            <a:ext cx="3035808" cy="3657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2"/>
              </a:buClr>
              <a:buSzPts val="1400"/>
              <a:buFont typeface="Arial"/>
              <a:buNone/>
            </a:pPr>
            <a:r>
              <a:rPr b="1" i="0" lang="en-US" sz="1400" u="none" cap="none" strike="noStrike">
                <a:solidFill>
                  <a:schemeClr val="dk2"/>
                </a:solidFill>
                <a:latin typeface="Helvetica Neue"/>
                <a:ea typeface="Helvetica Neue"/>
                <a:cs typeface="Helvetica Neue"/>
                <a:sym typeface="Helvetica Neue"/>
              </a:rPr>
              <a:t>STEP 5</a:t>
            </a:r>
            <a:endParaRPr b="0" i="0" sz="1400" u="none" cap="none" strike="noStrike">
              <a:solidFill>
                <a:schemeClr val="dk1"/>
              </a:solidFill>
              <a:latin typeface="Helvetica Neue"/>
              <a:ea typeface="Helvetica Neue"/>
              <a:cs typeface="Helvetica Neue"/>
              <a:sym typeface="Helvetica Neue"/>
            </a:endParaRPr>
          </a:p>
        </p:txBody>
      </p:sp>
      <p:sp>
        <p:nvSpPr>
          <p:cNvPr id="1014" name="Google Shape;1014;p41"/>
          <p:cNvSpPr txBox="1"/>
          <p:nvPr/>
        </p:nvSpPr>
        <p:spPr>
          <a:xfrm>
            <a:off x="14429232" y="2880360"/>
            <a:ext cx="3035808" cy="457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200"/>
              <a:buFont typeface="Arial"/>
              <a:buNone/>
            </a:pPr>
            <a:r>
              <a:rPr b="1" i="0" lang="en-US" sz="2200" u="none" cap="none" strike="noStrike">
                <a:solidFill>
                  <a:schemeClr val="dk1"/>
                </a:solidFill>
                <a:latin typeface="Helvetica Neue"/>
                <a:ea typeface="Helvetica Neue"/>
                <a:cs typeface="Helvetica Neue"/>
                <a:sym typeface="Helvetica Neue"/>
              </a:rPr>
              <a:t>LABEL</a:t>
            </a:r>
            <a:endParaRPr b="0" i="0" sz="2200" u="none" cap="none" strike="noStrike">
              <a:solidFill>
                <a:schemeClr val="dk1"/>
              </a:solidFill>
              <a:latin typeface="Helvetica Neue"/>
              <a:ea typeface="Helvetica Neue"/>
              <a:cs typeface="Helvetica Neue"/>
              <a:sym typeface="Helvetica Neue"/>
            </a:endParaRPr>
          </a:p>
        </p:txBody>
      </p:sp>
      <p:sp>
        <p:nvSpPr>
          <p:cNvPr id="1015" name="Google Shape;1015;p41"/>
          <p:cNvSpPr txBox="1"/>
          <p:nvPr/>
        </p:nvSpPr>
        <p:spPr>
          <a:xfrm>
            <a:off x="14703552" y="3749040"/>
            <a:ext cx="2487168"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Helvetica Neue"/>
                <a:ea typeface="Helvetica Neue"/>
                <a:cs typeface="Helvetica Neue"/>
                <a:sym typeface="Helvetica Neue"/>
              </a:rPr>
              <a:t>Column Title</a:t>
            </a:r>
            <a:endParaRPr b="0" i="0" sz="2000" u="none" cap="none" strike="noStrike">
              <a:solidFill>
                <a:schemeClr val="dk1"/>
              </a:solidFill>
              <a:latin typeface="Helvetica Neue"/>
              <a:ea typeface="Helvetica Neue"/>
              <a:cs typeface="Helvetica Neue"/>
              <a:sym typeface="Helvetica Neue"/>
            </a:endParaRPr>
          </a:p>
        </p:txBody>
      </p:sp>
      <p:sp>
        <p:nvSpPr>
          <p:cNvPr id="1016" name="Google Shape;1016;p41"/>
          <p:cNvSpPr txBox="1"/>
          <p:nvPr/>
        </p:nvSpPr>
        <p:spPr>
          <a:xfrm>
            <a:off x="14703552" y="4663440"/>
            <a:ext cx="2487168" cy="2377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Arial"/>
              <a:buNone/>
            </a:pPr>
            <a:r>
              <a:rPr b="0" i="0" lang="en-US" sz="1600" u="none" cap="none" strike="noStrike">
                <a:solidFill>
                  <a:schemeClr val="dk2"/>
                </a:solidFill>
                <a:latin typeface="Helvetica Neue"/>
                <a:ea typeface="Helvetica Neue"/>
                <a:cs typeface="Helvetica Neue"/>
                <a:sym typeface="Helvetica Neue"/>
              </a:rPr>
              <a:t>Short description of this step in plain language.</a:t>
            </a:r>
            <a:endParaRPr b="0" i="0" sz="1600" u="none" cap="none" strike="noStrike">
              <a:solidFill>
                <a:schemeClr val="dk1"/>
              </a:solidFill>
              <a:latin typeface="Helvetica Neue"/>
              <a:ea typeface="Helvetica Neue"/>
              <a:cs typeface="Helvetica Neue"/>
              <a:sym typeface="Helvetica Neue"/>
            </a:endParaRPr>
          </a:p>
        </p:txBody>
      </p:sp>
      <p:sp>
        <p:nvSpPr>
          <p:cNvPr id="1017" name="Google Shape;1017;p41"/>
          <p:cNvSpPr/>
          <p:nvPr/>
        </p:nvSpPr>
        <p:spPr>
          <a:xfrm>
            <a:off x="822960" y="7863840"/>
            <a:ext cx="16642080" cy="1188720"/>
          </a:xfrm>
          <a:prstGeom prst="rect">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1018" name="Google Shape;1018;p41"/>
          <p:cNvSpPr txBox="1"/>
          <p:nvPr/>
        </p:nvSpPr>
        <p:spPr>
          <a:xfrm>
            <a:off x="822960" y="7863840"/>
            <a:ext cx="16642080" cy="11887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accent2"/>
              </a:buClr>
              <a:buSzPts val="2600"/>
              <a:buFont typeface="Arial"/>
              <a:buNone/>
            </a:pPr>
            <a:r>
              <a:rPr b="1" i="0" lang="en-US" sz="2600" u="none" cap="none" strike="noStrike">
                <a:solidFill>
                  <a:schemeClr val="accent2"/>
                </a:solidFill>
                <a:latin typeface="Helvetica Neue"/>
                <a:ea typeface="Helvetica Neue"/>
                <a:cs typeface="Helvetica Neue"/>
                <a:sym typeface="Helvetica Neue"/>
              </a:rPr>
              <a:t>“One-sentence takeaway or memorable quote goes here.”</a:t>
            </a:r>
            <a:endParaRPr b="0" i="0" sz="2600" u="none" cap="none" strike="noStrike">
              <a:solidFill>
                <a:schemeClr val="dk1"/>
              </a:solidFill>
              <a:latin typeface="Helvetica Neue"/>
              <a:ea typeface="Helvetica Neue"/>
              <a:cs typeface="Helvetica Neue"/>
              <a:sym typeface="Helvetica Neue"/>
            </a:endParaRPr>
          </a:p>
        </p:txBody>
      </p:sp>
      <p:sp>
        <p:nvSpPr>
          <p:cNvPr id="1019" name="Google Shape;1019;p41"/>
          <p:cNvSpPr txBox="1"/>
          <p:nvPr>
            <p:ph idx="4294967295" type="sldNum"/>
          </p:nvPr>
        </p:nvSpPr>
        <p:spPr>
          <a:xfrm>
            <a:off x="16550640" y="9646920"/>
            <a:ext cx="914400" cy="36576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2"/>
                </a:solidFill>
                <a:latin typeface="Helvetica Neue"/>
                <a:ea typeface="Helvetica Neue"/>
                <a:cs typeface="Helvetica Neue"/>
                <a:sym typeface="Helvetica Neue"/>
              </a:rPr>
              <a:t>‹#›</a:t>
            </a:fld>
            <a:endParaRPr b="0" i="0" sz="1200" u="none" cap="none" strike="noStrike">
              <a:solidFill>
                <a:schemeClr val="dk2"/>
              </a:solidFill>
              <a:latin typeface="Helvetica Neue"/>
              <a:ea typeface="Helvetica Neue"/>
              <a:cs typeface="Helvetica Neue"/>
              <a:sym typeface="Helvetica Neue"/>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24" name="Shape 1024"/>
        <p:cNvGrpSpPr/>
        <p:nvPr/>
      </p:nvGrpSpPr>
      <p:grpSpPr>
        <a:xfrm>
          <a:off x="0" y="0"/>
          <a:ext cx="0" cy="0"/>
          <a:chOff x="0" y="0"/>
          <a:chExt cx="0" cy="0"/>
        </a:xfrm>
      </p:grpSpPr>
      <p:sp>
        <p:nvSpPr>
          <p:cNvPr id="1025" name="Google Shape;1025;p42"/>
          <p:cNvSpPr txBox="1"/>
          <p:nvPr>
            <p:ph type="title"/>
          </p:nvPr>
        </p:nvSpPr>
        <p:spPr>
          <a:xfrm>
            <a:off x="822960" y="960120"/>
            <a:ext cx="16642080" cy="8229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Arial"/>
              <a:buNone/>
            </a:pPr>
            <a:r>
              <a:rPr b="1" lang="en-US" sz="3600">
                <a:solidFill>
                  <a:schemeClr val="dk1"/>
                </a:solidFill>
              </a:rPr>
              <a:t>Key Numbers</a:t>
            </a:r>
            <a:endParaRPr sz="3600"/>
          </a:p>
        </p:txBody>
      </p:sp>
      <p:sp>
        <p:nvSpPr>
          <p:cNvPr id="1026" name="Google Shape;1026;p42"/>
          <p:cNvSpPr/>
          <p:nvPr/>
        </p:nvSpPr>
        <p:spPr>
          <a:xfrm>
            <a:off x="822960" y="2377440"/>
            <a:ext cx="3749040" cy="329184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1027" name="Google Shape;1027;p42"/>
          <p:cNvSpPr txBox="1"/>
          <p:nvPr/>
        </p:nvSpPr>
        <p:spPr>
          <a:xfrm>
            <a:off x="822960" y="2743200"/>
            <a:ext cx="3749040" cy="137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accent1"/>
              </a:buClr>
              <a:buSzPts val="6600"/>
              <a:buFont typeface="Arial"/>
              <a:buNone/>
            </a:pPr>
            <a:r>
              <a:rPr b="1" i="0" lang="en-US" sz="6600" u="none" cap="none" strike="noStrike">
                <a:solidFill>
                  <a:schemeClr val="accent1"/>
                </a:solidFill>
                <a:latin typeface="Helvetica Neue"/>
                <a:ea typeface="Helvetica Neue"/>
                <a:cs typeface="Helvetica Neue"/>
                <a:sym typeface="Helvetica Neue"/>
              </a:rPr>
              <a:t>00%</a:t>
            </a:r>
            <a:endParaRPr b="0" i="0" sz="6600" u="none" cap="none" strike="noStrike">
              <a:solidFill>
                <a:schemeClr val="dk1"/>
              </a:solidFill>
              <a:latin typeface="Helvetica Neue"/>
              <a:ea typeface="Helvetica Neue"/>
              <a:cs typeface="Helvetica Neue"/>
              <a:sym typeface="Helvetica Neue"/>
            </a:endParaRPr>
          </a:p>
        </p:txBody>
      </p:sp>
      <p:sp>
        <p:nvSpPr>
          <p:cNvPr id="1028" name="Google Shape;1028;p42"/>
          <p:cNvSpPr txBox="1"/>
          <p:nvPr/>
        </p:nvSpPr>
        <p:spPr>
          <a:xfrm>
            <a:off x="1097280" y="4389120"/>
            <a:ext cx="3200400" cy="5486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Helvetica Neue"/>
                <a:ea typeface="Helvetica Neue"/>
                <a:cs typeface="Helvetica Neue"/>
                <a:sym typeface="Helvetica Neue"/>
              </a:rPr>
              <a:t>Metric label</a:t>
            </a:r>
            <a:endParaRPr b="0" i="0" sz="2000" u="none" cap="none" strike="noStrike">
              <a:solidFill>
                <a:schemeClr val="dk1"/>
              </a:solidFill>
              <a:latin typeface="Helvetica Neue"/>
              <a:ea typeface="Helvetica Neue"/>
              <a:cs typeface="Helvetica Neue"/>
              <a:sym typeface="Helvetica Neue"/>
            </a:endParaRPr>
          </a:p>
        </p:txBody>
      </p:sp>
      <p:sp>
        <p:nvSpPr>
          <p:cNvPr id="1029" name="Google Shape;1029;p42"/>
          <p:cNvSpPr txBox="1"/>
          <p:nvPr/>
        </p:nvSpPr>
        <p:spPr>
          <a:xfrm>
            <a:off x="1097280" y="4937760"/>
            <a:ext cx="3200400" cy="5486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2"/>
              </a:buClr>
              <a:buSzPts val="1600"/>
              <a:buFont typeface="Arial"/>
              <a:buNone/>
            </a:pPr>
            <a:r>
              <a:rPr b="0" i="0" lang="en-US" sz="1600" u="none" cap="none" strike="noStrike">
                <a:solidFill>
                  <a:schemeClr val="dk2"/>
                </a:solidFill>
                <a:latin typeface="Helvetica Neue"/>
                <a:ea typeface="Helvetica Neue"/>
                <a:cs typeface="Helvetica Neue"/>
                <a:sym typeface="Helvetica Neue"/>
              </a:rPr>
              <a:t>Short context line</a:t>
            </a:r>
            <a:endParaRPr b="0" i="0" sz="1600" u="none" cap="none" strike="noStrike">
              <a:solidFill>
                <a:schemeClr val="dk1"/>
              </a:solidFill>
              <a:latin typeface="Helvetica Neue"/>
              <a:ea typeface="Helvetica Neue"/>
              <a:cs typeface="Helvetica Neue"/>
              <a:sym typeface="Helvetica Neue"/>
            </a:endParaRPr>
          </a:p>
        </p:txBody>
      </p:sp>
      <p:sp>
        <p:nvSpPr>
          <p:cNvPr id="1030" name="Google Shape;1030;p42"/>
          <p:cNvSpPr/>
          <p:nvPr/>
        </p:nvSpPr>
        <p:spPr>
          <a:xfrm>
            <a:off x="5120640" y="2377440"/>
            <a:ext cx="3749040" cy="329184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1031" name="Google Shape;1031;p42"/>
          <p:cNvSpPr txBox="1"/>
          <p:nvPr/>
        </p:nvSpPr>
        <p:spPr>
          <a:xfrm>
            <a:off x="5120640" y="2743200"/>
            <a:ext cx="3749040" cy="137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accent1"/>
              </a:buClr>
              <a:buSzPts val="6600"/>
              <a:buFont typeface="Arial"/>
              <a:buNone/>
            </a:pPr>
            <a:r>
              <a:rPr b="1" i="0" lang="en-US" sz="6600" u="none" cap="none" strike="noStrike">
                <a:solidFill>
                  <a:schemeClr val="accent1"/>
                </a:solidFill>
                <a:latin typeface="Helvetica Neue"/>
                <a:ea typeface="Helvetica Neue"/>
                <a:cs typeface="Helvetica Neue"/>
                <a:sym typeface="Helvetica Neue"/>
              </a:rPr>
              <a:t>00%</a:t>
            </a:r>
            <a:endParaRPr b="0" i="0" sz="6600" u="none" cap="none" strike="noStrike">
              <a:solidFill>
                <a:schemeClr val="dk1"/>
              </a:solidFill>
              <a:latin typeface="Helvetica Neue"/>
              <a:ea typeface="Helvetica Neue"/>
              <a:cs typeface="Helvetica Neue"/>
              <a:sym typeface="Helvetica Neue"/>
            </a:endParaRPr>
          </a:p>
        </p:txBody>
      </p:sp>
      <p:sp>
        <p:nvSpPr>
          <p:cNvPr id="1032" name="Google Shape;1032;p42"/>
          <p:cNvSpPr txBox="1"/>
          <p:nvPr/>
        </p:nvSpPr>
        <p:spPr>
          <a:xfrm>
            <a:off x="5394960" y="4389120"/>
            <a:ext cx="3200400" cy="5486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Helvetica Neue"/>
                <a:ea typeface="Helvetica Neue"/>
                <a:cs typeface="Helvetica Neue"/>
                <a:sym typeface="Helvetica Neue"/>
              </a:rPr>
              <a:t>Metric label</a:t>
            </a:r>
            <a:endParaRPr b="0" i="0" sz="2000" u="none" cap="none" strike="noStrike">
              <a:solidFill>
                <a:schemeClr val="dk1"/>
              </a:solidFill>
              <a:latin typeface="Helvetica Neue"/>
              <a:ea typeface="Helvetica Neue"/>
              <a:cs typeface="Helvetica Neue"/>
              <a:sym typeface="Helvetica Neue"/>
            </a:endParaRPr>
          </a:p>
        </p:txBody>
      </p:sp>
      <p:sp>
        <p:nvSpPr>
          <p:cNvPr id="1033" name="Google Shape;1033;p42"/>
          <p:cNvSpPr txBox="1"/>
          <p:nvPr/>
        </p:nvSpPr>
        <p:spPr>
          <a:xfrm>
            <a:off x="5394960" y="4937760"/>
            <a:ext cx="3200400" cy="5486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2"/>
              </a:buClr>
              <a:buSzPts val="1600"/>
              <a:buFont typeface="Arial"/>
              <a:buNone/>
            </a:pPr>
            <a:r>
              <a:rPr b="0" i="0" lang="en-US" sz="1600" u="none" cap="none" strike="noStrike">
                <a:solidFill>
                  <a:schemeClr val="dk2"/>
                </a:solidFill>
                <a:latin typeface="Helvetica Neue"/>
                <a:ea typeface="Helvetica Neue"/>
                <a:cs typeface="Helvetica Neue"/>
                <a:sym typeface="Helvetica Neue"/>
              </a:rPr>
              <a:t>Short context line</a:t>
            </a:r>
            <a:endParaRPr b="0" i="0" sz="1600" u="none" cap="none" strike="noStrike">
              <a:solidFill>
                <a:schemeClr val="dk1"/>
              </a:solidFill>
              <a:latin typeface="Helvetica Neue"/>
              <a:ea typeface="Helvetica Neue"/>
              <a:cs typeface="Helvetica Neue"/>
              <a:sym typeface="Helvetica Neue"/>
            </a:endParaRPr>
          </a:p>
        </p:txBody>
      </p:sp>
      <p:sp>
        <p:nvSpPr>
          <p:cNvPr id="1034" name="Google Shape;1034;p42"/>
          <p:cNvSpPr/>
          <p:nvPr/>
        </p:nvSpPr>
        <p:spPr>
          <a:xfrm>
            <a:off x="9418320" y="2377440"/>
            <a:ext cx="3749040" cy="329184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1035" name="Google Shape;1035;p42"/>
          <p:cNvSpPr txBox="1"/>
          <p:nvPr/>
        </p:nvSpPr>
        <p:spPr>
          <a:xfrm>
            <a:off x="9418320" y="2743200"/>
            <a:ext cx="3749040" cy="137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accent1"/>
              </a:buClr>
              <a:buSzPts val="6600"/>
              <a:buFont typeface="Arial"/>
              <a:buNone/>
            </a:pPr>
            <a:r>
              <a:rPr b="1" i="0" lang="en-US" sz="6600" u="none" cap="none" strike="noStrike">
                <a:solidFill>
                  <a:schemeClr val="accent1"/>
                </a:solidFill>
                <a:latin typeface="Helvetica Neue"/>
                <a:ea typeface="Helvetica Neue"/>
                <a:cs typeface="Helvetica Neue"/>
                <a:sym typeface="Helvetica Neue"/>
              </a:rPr>
              <a:t>00%</a:t>
            </a:r>
            <a:endParaRPr b="0" i="0" sz="6600" u="none" cap="none" strike="noStrike">
              <a:solidFill>
                <a:schemeClr val="dk1"/>
              </a:solidFill>
              <a:latin typeface="Helvetica Neue"/>
              <a:ea typeface="Helvetica Neue"/>
              <a:cs typeface="Helvetica Neue"/>
              <a:sym typeface="Helvetica Neue"/>
            </a:endParaRPr>
          </a:p>
        </p:txBody>
      </p:sp>
      <p:sp>
        <p:nvSpPr>
          <p:cNvPr id="1036" name="Google Shape;1036;p42"/>
          <p:cNvSpPr txBox="1"/>
          <p:nvPr/>
        </p:nvSpPr>
        <p:spPr>
          <a:xfrm>
            <a:off x="9692640" y="4389120"/>
            <a:ext cx="3200400" cy="5486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Helvetica Neue"/>
                <a:ea typeface="Helvetica Neue"/>
                <a:cs typeface="Helvetica Neue"/>
                <a:sym typeface="Helvetica Neue"/>
              </a:rPr>
              <a:t>Metric label</a:t>
            </a:r>
            <a:endParaRPr b="0" i="0" sz="2000" u="none" cap="none" strike="noStrike">
              <a:solidFill>
                <a:schemeClr val="dk1"/>
              </a:solidFill>
              <a:latin typeface="Helvetica Neue"/>
              <a:ea typeface="Helvetica Neue"/>
              <a:cs typeface="Helvetica Neue"/>
              <a:sym typeface="Helvetica Neue"/>
            </a:endParaRPr>
          </a:p>
        </p:txBody>
      </p:sp>
      <p:sp>
        <p:nvSpPr>
          <p:cNvPr id="1037" name="Google Shape;1037;p42"/>
          <p:cNvSpPr txBox="1"/>
          <p:nvPr/>
        </p:nvSpPr>
        <p:spPr>
          <a:xfrm>
            <a:off x="9692640" y="4937760"/>
            <a:ext cx="3200400" cy="5486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2"/>
              </a:buClr>
              <a:buSzPts val="1600"/>
              <a:buFont typeface="Arial"/>
              <a:buNone/>
            </a:pPr>
            <a:r>
              <a:rPr b="0" i="0" lang="en-US" sz="1600" u="none" cap="none" strike="noStrike">
                <a:solidFill>
                  <a:schemeClr val="dk2"/>
                </a:solidFill>
                <a:latin typeface="Helvetica Neue"/>
                <a:ea typeface="Helvetica Neue"/>
                <a:cs typeface="Helvetica Neue"/>
                <a:sym typeface="Helvetica Neue"/>
              </a:rPr>
              <a:t>Short context line</a:t>
            </a:r>
            <a:endParaRPr b="0" i="0" sz="1600" u="none" cap="none" strike="noStrike">
              <a:solidFill>
                <a:schemeClr val="dk1"/>
              </a:solidFill>
              <a:latin typeface="Helvetica Neue"/>
              <a:ea typeface="Helvetica Neue"/>
              <a:cs typeface="Helvetica Neue"/>
              <a:sym typeface="Helvetica Neue"/>
            </a:endParaRPr>
          </a:p>
        </p:txBody>
      </p:sp>
      <p:sp>
        <p:nvSpPr>
          <p:cNvPr id="1038" name="Google Shape;1038;p42"/>
          <p:cNvSpPr/>
          <p:nvPr/>
        </p:nvSpPr>
        <p:spPr>
          <a:xfrm>
            <a:off x="13716000" y="2377440"/>
            <a:ext cx="3749040" cy="329184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1039" name="Google Shape;1039;p42"/>
          <p:cNvSpPr txBox="1"/>
          <p:nvPr/>
        </p:nvSpPr>
        <p:spPr>
          <a:xfrm>
            <a:off x="13716000" y="2743200"/>
            <a:ext cx="3749040" cy="137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accent1"/>
              </a:buClr>
              <a:buSzPts val="6600"/>
              <a:buFont typeface="Arial"/>
              <a:buNone/>
            </a:pPr>
            <a:r>
              <a:rPr b="1" i="0" lang="en-US" sz="6600" u="none" cap="none" strike="noStrike">
                <a:solidFill>
                  <a:schemeClr val="accent1"/>
                </a:solidFill>
                <a:latin typeface="Helvetica Neue"/>
                <a:ea typeface="Helvetica Neue"/>
                <a:cs typeface="Helvetica Neue"/>
                <a:sym typeface="Helvetica Neue"/>
              </a:rPr>
              <a:t>00%</a:t>
            </a:r>
            <a:endParaRPr b="0" i="0" sz="6600" u="none" cap="none" strike="noStrike">
              <a:solidFill>
                <a:schemeClr val="dk1"/>
              </a:solidFill>
              <a:latin typeface="Helvetica Neue"/>
              <a:ea typeface="Helvetica Neue"/>
              <a:cs typeface="Helvetica Neue"/>
              <a:sym typeface="Helvetica Neue"/>
            </a:endParaRPr>
          </a:p>
        </p:txBody>
      </p:sp>
      <p:sp>
        <p:nvSpPr>
          <p:cNvPr id="1040" name="Google Shape;1040;p42"/>
          <p:cNvSpPr txBox="1"/>
          <p:nvPr/>
        </p:nvSpPr>
        <p:spPr>
          <a:xfrm>
            <a:off x="13990320" y="4389120"/>
            <a:ext cx="3200400" cy="5486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Helvetica Neue"/>
                <a:ea typeface="Helvetica Neue"/>
                <a:cs typeface="Helvetica Neue"/>
                <a:sym typeface="Helvetica Neue"/>
              </a:rPr>
              <a:t>Metric label</a:t>
            </a:r>
            <a:endParaRPr b="0" i="0" sz="2000" u="none" cap="none" strike="noStrike">
              <a:solidFill>
                <a:schemeClr val="dk1"/>
              </a:solidFill>
              <a:latin typeface="Helvetica Neue"/>
              <a:ea typeface="Helvetica Neue"/>
              <a:cs typeface="Helvetica Neue"/>
              <a:sym typeface="Helvetica Neue"/>
            </a:endParaRPr>
          </a:p>
        </p:txBody>
      </p:sp>
      <p:sp>
        <p:nvSpPr>
          <p:cNvPr id="1041" name="Google Shape;1041;p42"/>
          <p:cNvSpPr txBox="1"/>
          <p:nvPr/>
        </p:nvSpPr>
        <p:spPr>
          <a:xfrm>
            <a:off x="13990320" y="4937760"/>
            <a:ext cx="3200400" cy="5486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2"/>
              </a:buClr>
              <a:buSzPts val="1600"/>
              <a:buFont typeface="Arial"/>
              <a:buNone/>
            </a:pPr>
            <a:r>
              <a:rPr b="0" i="0" lang="en-US" sz="1600" u="none" cap="none" strike="noStrike">
                <a:solidFill>
                  <a:schemeClr val="dk2"/>
                </a:solidFill>
                <a:latin typeface="Helvetica Neue"/>
                <a:ea typeface="Helvetica Neue"/>
                <a:cs typeface="Helvetica Neue"/>
                <a:sym typeface="Helvetica Neue"/>
              </a:rPr>
              <a:t>Short context line</a:t>
            </a:r>
            <a:endParaRPr b="0" i="0" sz="1600" u="none" cap="none" strike="noStrike">
              <a:solidFill>
                <a:schemeClr val="dk1"/>
              </a:solidFill>
              <a:latin typeface="Helvetica Neue"/>
              <a:ea typeface="Helvetica Neue"/>
              <a:cs typeface="Helvetica Neue"/>
              <a:sym typeface="Helvetica Neue"/>
            </a:endParaRPr>
          </a:p>
        </p:txBody>
      </p:sp>
      <p:sp>
        <p:nvSpPr>
          <p:cNvPr id="1042" name="Google Shape;1042;p42"/>
          <p:cNvSpPr/>
          <p:nvPr/>
        </p:nvSpPr>
        <p:spPr>
          <a:xfrm>
            <a:off x="822960" y="6583680"/>
            <a:ext cx="16642080" cy="731520"/>
          </a:xfrm>
          <a:prstGeom prst="rect">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1043" name="Google Shape;1043;p42"/>
          <p:cNvSpPr txBox="1"/>
          <p:nvPr/>
        </p:nvSpPr>
        <p:spPr>
          <a:xfrm>
            <a:off x="1188720" y="6583680"/>
            <a:ext cx="15910560"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2"/>
              </a:buClr>
              <a:buSzPts val="2000"/>
              <a:buFont typeface="Arial"/>
              <a:buNone/>
            </a:pPr>
            <a:r>
              <a:rPr b="1" i="0" lang="en-US" sz="2000" u="none" cap="none" strike="noStrike">
                <a:solidFill>
                  <a:schemeClr val="accent2"/>
                </a:solidFill>
                <a:latin typeface="Helvetica Neue"/>
                <a:ea typeface="Helvetica Neue"/>
                <a:cs typeface="Helvetica Neue"/>
                <a:sym typeface="Helvetica Neue"/>
              </a:rPr>
              <a:t>TAKEAWAY: </a:t>
            </a:r>
            <a:r>
              <a:rPr b="0" i="0" lang="en-US" sz="2000" u="none" cap="none" strike="noStrike">
                <a:solidFill>
                  <a:schemeClr val="lt1"/>
                </a:solidFill>
                <a:latin typeface="Helvetica Neue"/>
                <a:ea typeface="Helvetica Neue"/>
                <a:cs typeface="Helvetica Neue"/>
                <a:sym typeface="Helvetica Neue"/>
              </a:rPr>
              <a:t>One sentence explaining what these numbers mean.</a:t>
            </a:r>
            <a:endParaRPr b="0" i="0" sz="2000" u="none" cap="none" strike="noStrike">
              <a:solidFill>
                <a:schemeClr val="dk1"/>
              </a:solidFill>
              <a:latin typeface="Helvetica Neue"/>
              <a:ea typeface="Helvetica Neue"/>
              <a:cs typeface="Helvetica Neue"/>
              <a:sym typeface="Helvetica Neue"/>
            </a:endParaRPr>
          </a:p>
        </p:txBody>
      </p:sp>
      <p:sp>
        <p:nvSpPr>
          <p:cNvPr id="1044" name="Google Shape;1044;p42"/>
          <p:cNvSpPr txBox="1"/>
          <p:nvPr>
            <p:ph idx="4294967295" type="sldNum"/>
          </p:nvPr>
        </p:nvSpPr>
        <p:spPr>
          <a:xfrm>
            <a:off x="16550640" y="9646920"/>
            <a:ext cx="914400" cy="36576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2"/>
                </a:solidFill>
                <a:latin typeface="Helvetica Neue"/>
                <a:ea typeface="Helvetica Neue"/>
                <a:cs typeface="Helvetica Neue"/>
                <a:sym typeface="Helvetica Neue"/>
              </a:rPr>
              <a:t>‹#›</a:t>
            </a:fld>
            <a:endParaRPr b="0" i="0" sz="1200" u="none" cap="none" strike="noStrike">
              <a:solidFill>
                <a:schemeClr val="dk2"/>
              </a:solidFill>
              <a:latin typeface="Helvetica Neue"/>
              <a:ea typeface="Helvetica Neue"/>
              <a:cs typeface="Helvetica Neue"/>
              <a:sym typeface="Helvetica Neue"/>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49" name="Shape 1049"/>
        <p:cNvGrpSpPr/>
        <p:nvPr/>
      </p:nvGrpSpPr>
      <p:grpSpPr>
        <a:xfrm>
          <a:off x="0" y="0"/>
          <a:ext cx="0" cy="0"/>
          <a:chOff x="0" y="0"/>
          <a:chExt cx="0" cy="0"/>
        </a:xfrm>
      </p:grpSpPr>
      <p:sp>
        <p:nvSpPr>
          <p:cNvPr id="1050" name="Google Shape;1050;p43"/>
          <p:cNvSpPr txBox="1"/>
          <p:nvPr>
            <p:ph type="title"/>
          </p:nvPr>
        </p:nvSpPr>
        <p:spPr>
          <a:xfrm>
            <a:off x="822960" y="960120"/>
            <a:ext cx="16642200" cy="822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Arial"/>
              <a:buNone/>
            </a:pPr>
            <a:r>
              <a:rPr b="1" lang="en-US" sz="3600">
                <a:solidFill>
                  <a:schemeClr val="dk1"/>
                </a:solidFill>
              </a:rPr>
              <a:t>Table Slide</a:t>
            </a:r>
            <a:endParaRPr sz="3600"/>
          </a:p>
        </p:txBody>
      </p:sp>
      <p:sp>
        <p:nvSpPr>
          <p:cNvPr id="1051" name="Google Shape;1051;p43"/>
          <p:cNvSpPr txBox="1"/>
          <p:nvPr>
            <p:ph idx="4294967295" type="sldNum"/>
          </p:nvPr>
        </p:nvSpPr>
        <p:spPr>
          <a:xfrm>
            <a:off x="16550640" y="9646920"/>
            <a:ext cx="914400" cy="3657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2"/>
                </a:solidFill>
                <a:latin typeface="Helvetica Neue"/>
                <a:ea typeface="Helvetica Neue"/>
                <a:cs typeface="Helvetica Neue"/>
                <a:sym typeface="Helvetica Neue"/>
              </a:rPr>
              <a:t>‹#›</a:t>
            </a:fld>
            <a:endParaRPr b="0" i="0" sz="1200" u="none" cap="none" strike="noStrike">
              <a:solidFill>
                <a:schemeClr val="dk2"/>
              </a:solidFill>
              <a:latin typeface="Helvetica Neue"/>
              <a:ea typeface="Helvetica Neue"/>
              <a:cs typeface="Helvetica Neue"/>
              <a:sym typeface="Helvetica Neue"/>
            </a:endParaRPr>
          </a:p>
        </p:txBody>
      </p:sp>
      <p:graphicFrame>
        <p:nvGraphicFramePr>
          <p:cNvPr id="1052" name="Google Shape;1052;p43"/>
          <p:cNvGraphicFramePr/>
          <p:nvPr/>
        </p:nvGraphicFramePr>
        <p:xfrm>
          <a:off x="822960" y="2194560"/>
          <a:ext cx="3000000" cy="3000000"/>
        </p:xfrm>
        <a:graphic>
          <a:graphicData uri="http://schemas.openxmlformats.org/drawingml/2006/table">
            <a:tbl>
              <a:tblPr>
                <a:noFill/>
                <a:tableStyleId>{0DFEEF5F-5377-4CFB-AF1D-0F02BC4190C8}</a:tableStyleId>
              </a:tblPr>
              <a:tblGrid>
                <a:gridCol w="5486400"/>
                <a:gridCol w="3840475"/>
                <a:gridCol w="3840475"/>
                <a:gridCol w="3474725"/>
              </a:tblGrid>
              <a:tr h="86867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highlight>
                            <a:srgbClr val="04243C"/>
                          </a:highlight>
                          <a:latin typeface="Helvetica Neue"/>
                          <a:ea typeface="Helvetica Neue"/>
                          <a:cs typeface="Helvetica Neue"/>
                          <a:sym typeface="Helvetica Neue"/>
                        </a:rPr>
                        <a:t>Column A</a:t>
                      </a:r>
                      <a:endParaRPr b="1" i="0" sz="1800" u="none" cap="none" strike="noStrike">
                        <a:solidFill>
                          <a:srgbClr val="FFFFFF"/>
                        </a:solidFill>
                        <a:highlight>
                          <a:srgbClr val="04243C"/>
                        </a:highlight>
                        <a:latin typeface="Helvetica Neue"/>
                        <a:ea typeface="Helvetica Neue"/>
                        <a:cs typeface="Helvetica Neue"/>
                        <a:sym typeface="Helvetica Neue"/>
                      </a:endParaRPr>
                    </a:p>
                  </a:txBody>
                  <a:tcPr marT="137150" marB="137150" marR="137150" marL="137150" anchor="ctr">
                    <a:lnL cap="flat" cmpd="sng" w="12675">
                      <a:solidFill>
                        <a:srgbClr val="CBD5E1"/>
                      </a:solidFill>
                      <a:prstDash val="solid"/>
                      <a:round/>
                      <a:headEnd len="sm" w="sm" type="none"/>
                      <a:tailEnd len="sm" w="sm" type="none"/>
                    </a:lnL>
                    <a:lnR cap="flat" cmpd="sng" w="12675">
                      <a:solidFill>
                        <a:srgbClr val="CBD5E1"/>
                      </a:solidFill>
                      <a:prstDash val="solid"/>
                      <a:round/>
                      <a:headEnd len="sm" w="sm" type="none"/>
                      <a:tailEnd len="sm" w="sm" type="none"/>
                    </a:lnR>
                    <a:lnT cap="flat" cmpd="sng" w="12675">
                      <a:solidFill>
                        <a:srgbClr val="CBD5E1"/>
                      </a:solidFill>
                      <a:prstDash val="solid"/>
                      <a:round/>
                      <a:headEnd len="sm" w="sm" type="none"/>
                      <a:tailEnd len="sm" w="sm" type="none"/>
                    </a:lnT>
                    <a:lnB cap="flat" cmpd="sng" w="12675">
                      <a:solidFill>
                        <a:srgbClr val="CBD5E1"/>
                      </a:solidFill>
                      <a:prstDash val="solid"/>
                      <a:round/>
                      <a:headEnd len="sm" w="sm" type="none"/>
                      <a:tailEnd len="sm" w="sm" type="none"/>
                    </a:lnB>
                    <a:solidFill>
                      <a:srgbClr val="04243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highlight>
                            <a:srgbClr val="04243C"/>
                          </a:highlight>
                          <a:latin typeface="Helvetica Neue"/>
                          <a:ea typeface="Helvetica Neue"/>
                          <a:cs typeface="Helvetica Neue"/>
                          <a:sym typeface="Helvetica Neue"/>
                        </a:rPr>
                        <a:t>Column B</a:t>
                      </a:r>
                      <a:endParaRPr b="1" i="0" sz="1800" u="none" cap="none" strike="noStrike">
                        <a:solidFill>
                          <a:srgbClr val="FFFFFF"/>
                        </a:solidFill>
                        <a:highlight>
                          <a:srgbClr val="04243C"/>
                        </a:highlight>
                        <a:latin typeface="Helvetica Neue"/>
                        <a:ea typeface="Helvetica Neue"/>
                        <a:cs typeface="Helvetica Neue"/>
                        <a:sym typeface="Helvetica Neue"/>
                      </a:endParaRPr>
                    </a:p>
                  </a:txBody>
                  <a:tcPr marT="137150" marB="137150" marR="137150" marL="137150" anchor="ctr">
                    <a:lnL cap="flat" cmpd="sng" w="12675">
                      <a:solidFill>
                        <a:srgbClr val="CBD5E1"/>
                      </a:solidFill>
                      <a:prstDash val="solid"/>
                      <a:round/>
                      <a:headEnd len="sm" w="sm" type="none"/>
                      <a:tailEnd len="sm" w="sm" type="none"/>
                    </a:lnL>
                    <a:lnR cap="flat" cmpd="sng" w="12675">
                      <a:solidFill>
                        <a:srgbClr val="CBD5E1"/>
                      </a:solidFill>
                      <a:prstDash val="solid"/>
                      <a:round/>
                      <a:headEnd len="sm" w="sm" type="none"/>
                      <a:tailEnd len="sm" w="sm" type="none"/>
                    </a:lnR>
                    <a:lnT cap="flat" cmpd="sng" w="12675">
                      <a:solidFill>
                        <a:srgbClr val="CBD5E1"/>
                      </a:solidFill>
                      <a:prstDash val="solid"/>
                      <a:round/>
                      <a:headEnd len="sm" w="sm" type="none"/>
                      <a:tailEnd len="sm" w="sm" type="none"/>
                    </a:lnT>
                    <a:lnB cap="flat" cmpd="sng" w="12675">
                      <a:solidFill>
                        <a:srgbClr val="CBD5E1"/>
                      </a:solidFill>
                      <a:prstDash val="solid"/>
                      <a:round/>
                      <a:headEnd len="sm" w="sm" type="none"/>
                      <a:tailEnd len="sm" w="sm" type="none"/>
                    </a:lnB>
                    <a:solidFill>
                      <a:srgbClr val="04243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highlight>
                            <a:srgbClr val="04243C"/>
                          </a:highlight>
                          <a:latin typeface="Helvetica Neue"/>
                          <a:ea typeface="Helvetica Neue"/>
                          <a:cs typeface="Helvetica Neue"/>
                          <a:sym typeface="Helvetica Neue"/>
                        </a:rPr>
                        <a:t>Column C</a:t>
                      </a:r>
                      <a:endParaRPr b="1" i="0" sz="1800" u="none" cap="none" strike="noStrike">
                        <a:solidFill>
                          <a:srgbClr val="FFFFFF"/>
                        </a:solidFill>
                        <a:highlight>
                          <a:srgbClr val="04243C"/>
                        </a:highlight>
                        <a:latin typeface="Helvetica Neue"/>
                        <a:ea typeface="Helvetica Neue"/>
                        <a:cs typeface="Helvetica Neue"/>
                        <a:sym typeface="Helvetica Neue"/>
                      </a:endParaRPr>
                    </a:p>
                  </a:txBody>
                  <a:tcPr marT="137150" marB="137150" marR="137150" marL="137150" anchor="ctr">
                    <a:lnL cap="flat" cmpd="sng" w="12675">
                      <a:solidFill>
                        <a:srgbClr val="CBD5E1"/>
                      </a:solidFill>
                      <a:prstDash val="solid"/>
                      <a:round/>
                      <a:headEnd len="sm" w="sm" type="none"/>
                      <a:tailEnd len="sm" w="sm" type="none"/>
                    </a:lnL>
                    <a:lnR cap="flat" cmpd="sng" w="12675">
                      <a:solidFill>
                        <a:srgbClr val="CBD5E1"/>
                      </a:solidFill>
                      <a:prstDash val="solid"/>
                      <a:round/>
                      <a:headEnd len="sm" w="sm" type="none"/>
                      <a:tailEnd len="sm" w="sm" type="none"/>
                    </a:lnR>
                    <a:lnT cap="flat" cmpd="sng" w="12675">
                      <a:solidFill>
                        <a:srgbClr val="CBD5E1"/>
                      </a:solidFill>
                      <a:prstDash val="solid"/>
                      <a:round/>
                      <a:headEnd len="sm" w="sm" type="none"/>
                      <a:tailEnd len="sm" w="sm" type="none"/>
                    </a:lnT>
                    <a:lnB cap="flat" cmpd="sng" w="12675">
                      <a:solidFill>
                        <a:srgbClr val="CBD5E1"/>
                      </a:solidFill>
                      <a:prstDash val="solid"/>
                      <a:round/>
                      <a:headEnd len="sm" w="sm" type="none"/>
                      <a:tailEnd len="sm" w="sm" type="none"/>
                    </a:lnB>
                    <a:solidFill>
                      <a:srgbClr val="04243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highlight>
                            <a:srgbClr val="04243C"/>
                          </a:highlight>
                          <a:latin typeface="Helvetica Neue"/>
                          <a:ea typeface="Helvetica Neue"/>
                          <a:cs typeface="Helvetica Neue"/>
                          <a:sym typeface="Helvetica Neue"/>
                        </a:rPr>
                        <a:t>Status</a:t>
                      </a:r>
                      <a:endParaRPr b="1" i="0" sz="1800" u="none" cap="none" strike="noStrike">
                        <a:solidFill>
                          <a:srgbClr val="FFFFFF"/>
                        </a:solidFill>
                        <a:highlight>
                          <a:srgbClr val="04243C"/>
                        </a:highlight>
                        <a:latin typeface="Helvetica Neue"/>
                        <a:ea typeface="Helvetica Neue"/>
                        <a:cs typeface="Helvetica Neue"/>
                        <a:sym typeface="Helvetica Neue"/>
                      </a:endParaRPr>
                    </a:p>
                  </a:txBody>
                  <a:tcPr marT="137150" marB="137150" marR="137150" marL="137150" anchor="ctr">
                    <a:lnL cap="flat" cmpd="sng" w="12675">
                      <a:solidFill>
                        <a:srgbClr val="CBD5E1"/>
                      </a:solidFill>
                      <a:prstDash val="solid"/>
                      <a:round/>
                      <a:headEnd len="sm" w="sm" type="none"/>
                      <a:tailEnd len="sm" w="sm" type="none"/>
                    </a:lnL>
                    <a:lnR cap="flat" cmpd="sng" w="12675">
                      <a:solidFill>
                        <a:srgbClr val="CBD5E1"/>
                      </a:solidFill>
                      <a:prstDash val="solid"/>
                      <a:round/>
                      <a:headEnd len="sm" w="sm" type="none"/>
                      <a:tailEnd len="sm" w="sm" type="none"/>
                    </a:lnR>
                    <a:lnT cap="flat" cmpd="sng" w="12675">
                      <a:solidFill>
                        <a:srgbClr val="CBD5E1"/>
                      </a:solidFill>
                      <a:prstDash val="solid"/>
                      <a:round/>
                      <a:headEnd len="sm" w="sm" type="none"/>
                      <a:tailEnd len="sm" w="sm" type="none"/>
                    </a:lnT>
                    <a:lnB cap="flat" cmpd="sng" w="12675">
                      <a:solidFill>
                        <a:srgbClr val="CBD5E1"/>
                      </a:solidFill>
                      <a:prstDash val="solid"/>
                      <a:round/>
                      <a:headEnd len="sm" w="sm" type="none"/>
                      <a:tailEnd len="sm" w="sm" type="none"/>
                    </a:lnB>
                    <a:solidFill>
                      <a:srgbClr val="04243C"/>
                    </a:solidFill>
                  </a:tcPr>
                </a:tc>
              </a:tr>
              <a:tr h="868675">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75569"/>
                          </a:solidFill>
                          <a:highlight>
                            <a:srgbClr val="FFFFFF"/>
                          </a:highlight>
                          <a:latin typeface="Helvetica Neue"/>
                          <a:ea typeface="Helvetica Neue"/>
                          <a:cs typeface="Helvetica Neue"/>
                          <a:sym typeface="Helvetica Neue"/>
                        </a:rPr>
                        <a:t>Row label</a:t>
                      </a:r>
                      <a:endParaRPr b="0" i="0" sz="1600" u="none" cap="none" strike="noStrike">
                        <a:solidFill>
                          <a:srgbClr val="475569"/>
                        </a:solidFill>
                        <a:highlight>
                          <a:srgbClr val="FFFFFF"/>
                        </a:highlight>
                        <a:latin typeface="Helvetica Neue"/>
                        <a:ea typeface="Helvetica Neue"/>
                        <a:cs typeface="Helvetica Neue"/>
                        <a:sym typeface="Helvetica Neue"/>
                      </a:endParaRPr>
                    </a:p>
                  </a:txBody>
                  <a:tcPr marT="137150" marB="137150" marR="137150" marL="137150" anchor="ctr">
                    <a:lnL cap="flat" cmpd="sng" w="12675">
                      <a:solidFill>
                        <a:srgbClr val="CBD5E1"/>
                      </a:solidFill>
                      <a:prstDash val="solid"/>
                      <a:round/>
                      <a:headEnd len="sm" w="sm" type="none"/>
                      <a:tailEnd len="sm" w="sm" type="none"/>
                    </a:lnL>
                    <a:lnR cap="flat" cmpd="sng" w="12675">
                      <a:solidFill>
                        <a:srgbClr val="CBD5E1"/>
                      </a:solidFill>
                      <a:prstDash val="solid"/>
                      <a:round/>
                      <a:headEnd len="sm" w="sm" type="none"/>
                      <a:tailEnd len="sm" w="sm" type="none"/>
                    </a:lnR>
                    <a:lnT cap="flat" cmpd="sng" w="12675">
                      <a:solidFill>
                        <a:srgbClr val="CBD5E1"/>
                      </a:solidFill>
                      <a:prstDash val="solid"/>
                      <a:round/>
                      <a:headEnd len="sm" w="sm" type="none"/>
                      <a:tailEnd len="sm" w="sm" type="none"/>
                    </a:lnT>
                    <a:lnB cap="flat" cmpd="sng" w="12675">
                      <a:solidFill>
                        <a:srgbClr val="CBD5E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75569"/>
                          </a:solidFill>
                          <a:highlight>
                            <a:srgbClr val="FFFFFF"/>
                          </a:highlight>
                          <a:latin typeface="Helvetica Neue"/>
                          <a:ea typeface="Helvetica Neue"/>
                          <a:cs typeface="Helvetica Neue"/>
                          <a:sym typeface="Helvetica Neue"/>
                        </a:rPr>
                        <a:t>Value</a:t>
                      </a:r>
                      <a:endParaRPr b="0" i="0" sz="1600" u="none" cap="none" strike="noStrike">
                        <a:solidFill>
                          <a:srgbClr val="475569"/>
                        </a:solidFill>
                        <a:highlight>
                          <a:srgbClr val="FFFFFF"/>
                        </a:highlight>
                        <a:latin typeface="Helvetica Neue"/>
                        <a:ea typeface="Helvetica Neue"/>
                        <a:cs typeface="Helvetica Neue"/>
                        <a:sym typeface="Helvetica Neue"/>
                      </a:endParaRPr>
                    </a:p>
                  </a:txBody>
                  <a:tcPr marT="137150" marB="137150" marR="137150" marL="137150" anchor="ctr">
                    <a:lnL cap="flat" cmpd="sng" w="12675">
                      <a:solidFill>
                        <a:srgbClr val="CBD5E1"/>
                      </a:solidFill>
                      <a:prstDash val="solid"/>
                      <a:round/>
                      <a:headEnd len="sm" w="sm" type="none"/>
                      <a:tailEnd len="sm" w="sm" type="none"/>
                    </a:lnL>
                    <a:lnR cap="flat" cmpd="sng" w="12675">
                      <a:solidFill>
                        <a:srgbClr val="CBD5E1"/>
                      </a:solidFill>
                      <a:prstDash val="solid"/>
                      <a:round/>
                      <a:headEnd len="sm" w="sm" type="none"/>
                      <a:tailEnd len="sm" w="sm" type="none"/>
                    </a:lnR>
                    <a:lnT cap="flat" cmpd="sng" w="12675">
                      <a:solidFill>
                        <a:srgbClr val="CBD5E1"/>
                      </a:solidFill>
                      <a:prstDash val="solid"/>
                      <a:round/>
                      <a:headEnd len="sm" w="sm" type="none"/>
                      <a:tailEnd len="sm" w="sm" type="none"/>
                    </a:lnT>
                    <a:lnB cap="flat" cmpd="sng" w="12675">
                      <a:solidFill>
                        <a:srgbClr val="CBD5E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75569"/>
                          </a:solidFill>
                          <a:highlight>
                            <a:srgbClr val="FFFFFF"/>
                          </a:highlight>
                          <a:latin typeface="Helvetica Neue"/>
                          <a:ea typeface="Helvetica Neue"/>
                          <a:cs typeface="Helvetica Neue"/>
                          <a:sym typeface="Helvetica Neue"/>
                        </a:rPr>
                        <a:t>Value</a:t>
                      </a:r>
                      <a:endParaRPr b="0" i="0" sz="1600" u="none" cap="none" strike="noStrike">
                        <a:solidFill>
                          <a:srgbClr val="475569"/>
                        </a:solidFill>
                        <a:highlight>
                          <a:srgbClr val="FFFFFF"/>
                        </a:highlight>
                        <a:latin typeface="Helvetica Neue"/>
                        <a:ea typeface="Helvetica Neue"/>
                        <a:cs typeface="Helvetica Neue"/>
                        <a:sym typeface="Helvetica Neue"/>
                      </a:endParaRPr>
                    </a:p>
                  </a:txBody>
                  <a:tcPr marT="137150" marB="137150" marR="137150" marL="137150" anchor="ctr">
                    <a:lnL cap="flat" cmpd="sng" w="12675">
                      <a:solidFill>
                        <a:srgbClr val="CBD5E1"/>
                      </a:solidFill>
                      <a:prstDash val="solid"/>
                      <a:round/>
                      <a:headEnd len="sm" w="sm" type="none"/>
                      <a:tailEnd len="sm" w="sm" type="none"/>
                    </a:lnL>
                    <a:lnR cap="flat" cmpd="sng" w="12675">
                      <a:solidFill>
                        <a:srgbClr val="CBD5E1"/>
                      </a:solidFill>
                      <a:prstDash val="solid"/>
                      <a:round/>
                      <a:headEnd len="sm" w="sm" type="none"/>
                      <a:tailEnd len="sm" w="sm" type="none"/>
                    </a:lnR>
                    <a:lnT cap="flat" cmpd="sng" w="12675">
                      <a:solidFill>
                        <a:srgbClr val="CBD5E1"/>
                      </a:solidFill>
                      <a:prstDash val="solid"/>
                      <a:round/>
                      <a:headEnd len="sm" w="sm" type="none"/>
                      <a:tailEnd len="sm" w="sm" type="none"/>
                    </a:lnT>
                    <a:lnB cap="flat" cmpd="sng" w="12675">
                      <a:solidFill>
                        <a:srgbClr val="CBD5E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75569"/>
                          </a:solidFill>
                          <a:highlight>
                            <a:srgbClr val="FFFFFF"/>
                          </a:highlight>
                          <a:latin typeface="Helvetica Neue"/>
                          <a:ea typeface="Helvetica Neue"/>
                          <a:cs typeface="Helvetica Neue"/>
                          <a:sym typeface="Helvetica Neue"/>
                        </a:rPr>
                        <a:t>Status</a:t>
                      </a:r>
                      <a:endParaRPr b="0" i="0" sz="1600" u="none" cap="none" strike="noStrike">
                        <a:solidFill>
                          <a:srgbClr val="475569"/>
                        </a:solidFill>
                        <a:highlight>
                          <a:srgbClr val="FFFFFF"/>
                        </a:highlight>
                        <a:latin typeface="Helvetica Neue"/>
                        <a:ea typeface="Helvetica Neue"/>
                        <a:cs typeface="Helvetica Neue"/>
                        <a:sym typeface="Helvetica Neue"/>
                      </a:endParaRPr>
                    </a:p>
                  </a:txBody>
                  <a:tcPr marT="137150" marB="137150" marR="137150" marL="137150" anchor="ctr">
                    <a:lnL cap="flat" cmpd="sng" w="12675">
                      <a:solidFill>
                        <a:srgbClr val="CBD5E1"/>
                      </a:solidFill>
                      <a:prstDash val="solid"/>
                      <a:round/>
                      <a:headEnd len="sm" w="sm" type="none"/>
                      <a:tailEnd len="sm" w="sm" type="none"/>
                    </a:lnL>
                    <a:lnR cap="flat" cmpd="sng" w="12675">
                      <a:solidFill>
                        <a:srgbClr val="CBD5E1"/>
                      </a:solidFill>
                      <a:prstDash val="solid"/>
                      <a:round/>
                      <a:headEnd len="sm" w="sm" type="none"/>
                      <a:tailEnd len="sm" w="sm" type="none"/>
                    </a:lnR>
                    <a:lnT cap="flat" cmpd="sng" w="12675">
                      <a:solidFill>
                        <a:srgbClr val="CBD5E1"/>
                      </a:solidFill>
                      <a:prstDash val="solid"/>
                      <a:round/>
                      <a:headEnd len="sm" w="sm" type="none"/>
                      <a:tailEnd len="sm" w="sm" type="none"/>
                    </a:lnT>
                    <a:lnB cap="flat" cmpd="sng" w="12675">
                      <a:solidFill>
                        <a:srgbClr val="CBD5E1"/>
                      </a:solidFill>
                      <a:prstDash val="solid"/>
                      <a:round/>
                      <a:headEnd len="sm" w="sm" type="none"/>
                      <a:tailEnd len="sm" w="sm" type="none"/>
                    </a:lnB>
                    <a:solidFill>
                      <a:srgbClr val="FFFFFF"/>
                    </a:solidFill>
                  </a:tcPr>
                </a:tc>
              </a:tr>
              <a:tr h="868675">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75569"/>
                          </a:solidFill>
                          <a:highlight>
                            <a:srgbClr val="F8FAFC"/>
                          </a:highlight>
                          <a:latin typeface="Helvetica Neue"/>
                          <a:ea typeface="Helvetica Neue"/>
                          <a:cs typeface="Helvetica Neue"/>
                          <a:sym typeface="Helvetica Neue"/>
                        </a:rPr>
                        <a:t>Row label</a:t>
                      </a:r>
                      <a:endParaRPr b="0" i="0" sz="1600" u="none" cap="none" strike="noStrike">
                        <a:solidFill>
                          <a:srgbClr val="475569"/>
                        </a:solidFill>
                        <a:highlight>
                          <a:srgbClr val="F8FAFC"/>
                        </a:highlight>
                        <a:latin typeface="Helvetica Neue"/>
                        <a:ea typeface="Helvetica Neue"/>
                        <a:cs typeface="Helvetica Neue"/>
                        <a:sym typeface="Helvetica Neue"/>
                      </a:endParaRPr>
                    </a:p>
                  </a:txBody>
                  <a:tcPr marT="137150" marB="137150" marR="137150" marL="137150" anchor="ctr">
                    <a:lnL cap="flat" cmpd="sng" w="12675">
                      <a:solidFill>
                        <a:srgbClr val="CBD5E1"/>
                      </a:solidFill>
                      <a:prstDash val="solid"/>
                      <a:round/>
                      <a:headEnd len="sm" w="sm" type="none"/>
                      <a:tailEnd len="sm" w="sm" type="none"/>
                    </a:lnL>
                    <a:lnR cap="flat" cmpd="sng" w="12675">
                      <a:solidFill>
                        <a:srgbClr val="CBD5E1"/>
                      </a:solidFill>
                      <a:prstDash val="solid"/>
                      <a:round/>
                      <a:headEnd len="sm" w="sm" type="none"/>
                      <a:tailEnd len="sm" w="sm" type="none"/>
                    </a:lnR>
                    <a:lnT cap="flat" cmpd="sng" w="12675">
                      <a:solidFill>
                        <a:srgbClr val="CBD5E1"/>
                      </a:solidFill>
                      <a:prstDash val="solid"/>
                      <a:round/>
                      <a:headEnd len="sm" w="sm" type="none"/>
                      <a:tailEnd len="sm" w="sm" type="none"/>
                    </a:lnT>
                    <a:lnB cap="flat" cmpd="sng" w="12675">
                      <a:solidFill>
                        <a:srgbClr val="CBD5E1"/>
                      </a:solidFill>
                      <a:prstDash val="solid"/>
                      <a:round/>
                      <a:headEnd len="sm" w="sm" type="none"/>
                      <a:tailEnd len="sm" w="sm" type="none"/>
                    </a:lnB>
                    <a:solidFill>
                      <a:srgbClr val="F8FAFC"/>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75569"/>
                          </a:solidFill>
                          <a:highlight>
                            <a:srgbClr val="F8FAFC"/>
                          </a:highlight>
                          <a:latin typeface="Helvetica Neue"/>
                          <a:ea typeface="Helvetica Neue"/>
                          <a:cs typeface="Helvetica Neue"/>
                          <a:sym typeface="Helvetica Neue"/>
                        </a:rPr>
                        <a:t>Value</a:t>
                      </a:r>
                      <a:endParaRPr b="0" i="0" sz="1600" u="none" cap="none" strike="noStrike">
                        <a:solidFill>
                          <a:srgbClr val="475569"/>
                        </a:solidFill>
                        <a:highlight>
                          <a:srgbClr val="F8FAFC"/>
                        </a:highlight>
                        <a:latin typeface="Helvetica Neue"/>
                        <a:ea typeface="Helvetica Neue"/>
                        <a:cs typeface="Helvetica Neue"/>
                        <a:sym typeface="Helvetica Neue"/>
                      </a:endParaRPr>
                    </a:p>
                  </a:txBody>
                  <a:tcPr marT="137150" marB="137150" marR="137150" marL="137150" anchor="ctr">
                    <a:lnL cap="flat" cmpd="sng" w="12675">
                      <a:solidFill>
                        <a:srgbClr val="CBD5E1"/>
                      </a:solidFill>
                      <a:prstDash val="solid"/>
                      <a:round/>
                      <a:headEnd len="sm" w="sm" type="none"/>
                      <a:tailEnd len="sm" w="sm" type="none"/>
                    </a:lnL>
                    <a:lnR cap="flat" cmpd="sng" w="12675">
                      <a:solidFill>
                        <a:srgbClr val="CBD5E1"/>
                      </a:solidFill>
                      <a:prstDash val="solid"/>
                      <a:round/>
                      <a:headEnd len="sm" w="sm" type="none"/>
                      <a:tailEnd len="sm" w="sm" type="none"/>
                    </a:lnR>
                    <a:lnT cap="flat" cmpd="sng" w="12675">
                      <a:solidFill>
                        <a:srgbClr val="CBD5E1"/>
                      </a:solidFill>
                      <a:prstDash val="solid"/>
                      <a:round/>
                      <a:headEnd len="sm" w="sm" type="none"/>
                      <a:tailEnd len="sm" w="sm" type="none"/>
                    </a:lnT>
                    <a:lnB cap="flat" cmpd="sng" w="12675">
                      <a:solidFill>
                        <a:srgbClr val="CBD5E1"/>
                      </a:solidFill>
                      <a:prstDash val="solid"/>
                      <a:round/>
                      <a:headEnd len="sm" w="sm" type="none"/>
                      <a:tailEnd len="sm" w="sm" type="none"/>
                    </a:lnB>
                    <a:solidFill>
                      <a:srgbClr val="F8FAFC"/>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75569"/>
                          </a:solidFill>
                          <a:highlight>
                            <a:srgbClr val="F8FAFC"/>
                          </a:highlight>
                          <a:latin typeface="Helvetica Neue"/>
                          <a:ea typeface="Helvetica Neue"/>
                          <a:cs typeface="Helvetica Neue"/>
                          <a:sym typeface="Helvetica Neue"/>
                        </a:rPr>
                        <a:t>Value</a:t>
                      </a:r>
                      <a:endParaRPr b="0" i="0" sz="1600" u="none" cap="none" strike="noStrike">
                        <a:solidFill>
                          <a:srgbClr val="475569"/>
                        </a:solidFill>
                        <a:highlight>
                          <a:srgbClr val="F8FAFC"/>
                        </a:highlight>
                        <a:latin typeface="Helvetica Neue"/>
                        <a:ea typeface="Helvetica Neue"/>
                        <a:cs typeface="Helvetica Neue"/>
                        <a:sym typeface="Helvetica Neue"/>
                      </a:endParaRPr>
                    </a:p>
                  </a:txBody>
                  <a:tcPr marT="137150" marB="137150" marR="137150" marL="137150" anchor="ctr">
                    <a:lnL cap="flat" cmpd="sng" w="12675">
                      <a:solidFill>
                        <a:srgbClr val="CBD5E1"/>
                      </a:solidFill>
                      <a:prstDash val="solid"/>
                      <a:round/>
                      <a:headEnd len="sm" w="sm" type="none"/>
                      <a:tailEnd len="sm" w="sm" type="none"/>
                    </a:lnL>
                    <a:lnR cap="flat" cmpd="sng" w="12675">
                      <a:solidFill>
                        <a:srgbClr val="CBD5E1"/>
                      </a:solidFill>
                      <a:prstDash val="solid"/>
                      <a:round/>
                      <a:headEnd len="sm" w="sm" type="none"/>
                      <a:tailEnd len="sm" w="sm" type="none"/>
                    </a:lnR>
                    <a:lnT cap="flat" cmpd="sng" w="12675">
                      <a:solidFill>
                        <a:srgbClr val="CBD5E1"/>
                      </a:solidFill>
                      <a:prstDash val="solid"/>
                      <a:round/>
                      <a:headEnd len="sm" w="sm" type="none"/>
                      <a:tailEnd len="sm" w="sm" type="none"/>
                    </a:lnT>
                    <a:lnB cap="flat" cmpd="sng" w="12675">
                      <a:solidFill>
                        <a:srgbClr val="CBD5E1"/>
                      </a:solidFill>
                      <a:prstDash val="solid"/>
                      <a:round/>
                      <a:headEnd len="sm" w="sm" type="none"/>
                      <a:tailEnd len="sm" w="sm" type="none"/>
                    </a:lnB>
                    <a:solidFill>
                      <a:srgbClr val="F8FAFC"/>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75569"/>
                          </a:solidFill>
                          <a:highlight>
                            <a:srgbClr val="F8FAFC"/>
                          </a:highlight>
                          <a:latin typeface="Helvetica Neue"/>
                          <a:ea typeface="Helvetica Neue"/>
                          <a:cs typeface="Helvetica Neue"/>
                          <a:sym typeface="Helvetica Neue"/>
                        </a:rPr>
                        <a:t>Status</a:t>
                      </a:r>
                      <a:endParaRPr b="0" i="0" sz="1600" u="none" cap="none" strike="noStrike">
                        <a:solidFill>
                          <a:srgbClr val="475569"/>
                        </a:solidFill>
                        <a:highlight>
                          <a:srgbClr val="F8FAFC"/>
                        </a:highlight>
                        <a:latin typeface="Helvetica Neue"/>
                        <a:ea typeface="Helvetica Neue"/>
                        <a:cs typeface="Helvetica Neue"/>
                        <a:sym typeface="Helvetica Neue"/>
                      </a:endParaRPr>
                    </a:p>
                  </a:txBody>
                  <a:tcPr marT="137150" marB="137150" marR="137150" marL="137150" anchor="ctr">
                    <a:lnL cap="flat" cmpd="sng" w="12675">
                      <a:solidFill>
                        <a:srgbClr val="CBD5E1"/>
                      </a:solidFill>
                      <a:prstDash val="solid"/>
                      <a:round/>
                      <a:headEnd len="sm" w="sm" type="none"/>
                      <a:tailEnd len="sm" w="sm" type="none"/>
                    </a:lnL>
                    <a:lnR cap="flat" cmpd="sng" w="12675">
                      <a:solidFill>
                        <a:srgbClr val="CBD5E1"/>
                      </a:solidFill>
                      <a:prstDash val="solid"/>
                      <a:round/>
                      <a:headEnd len="sm" w="sm" type="none"/>
                      <a:tailEnd len="sm" w="sm" type="none"/>
                    </a:lnR>
                    <a:lnT cap="flat" cmpd="sng" w="12675">
                      <a:solidFill>
                        <a:srgbClr val="CBD5E1"/>
                      </a:solidFill>
                      <a:prstDash val="solid"/>
                      <a:round/>
                      <a:headEnd len="sm" w="sm" type="none"/>
                      <a:tailEnd len="sm" w="sm" type="none"/>
                    </a:lnT>
                    <a:lnB cap="flat" cmpd="sng" w="12675">
                      <a:solidFill>
                        <a:srgbClr val="CBD5E1"/>
                      </a:solidFill>
                      <a:prstDash val="solid"/>
                      <a:round/>
                      <a:headEnd len="sm" w="sm" type="none"/>
                      <a:tailEnd len="sm" w="sm" type="none"/>
                    </a:lnB>
                    <a:solidFill>
                      <a:srgbClr val="F8FAFC"/>
                    </a:solidFill>
                  </a:tcPr>
                </a:tc>
              </a:tr>
              <a:tr h="868675">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75569"/>
                          </a:solidFill>
                          <a:highlight>
                            <a:srgbClr val="FFFFFF"/>
                          </a:highlight>
                          <a:latin typeface="Helvetica Neue"/>
                          <a:ea typeface="Helvetica Neue"/>
                          <a:cs typeface="Helvetica Neue"/>
                          <a:sym typeface="Helvetica Neue"/>
                        </a:rPr>
                        <a:t>Row label</a:t>
                      </a:r>
                      <a:endParaRPr b="0" i="0" sz="1600" u="none" cap="none" strike="noStrike">
                        <a:solidFill>
                          <a:srgbClr val="475569"/>
                        </a:solidFill>
                        <a:highlight>
                          <a:srgbClr val="FFFFFF"/>
                        </a:highlight>
                        <a:latin typeface="Helvetica Neue"/>
                        <a:ea typeface="Helvetica Neue"/>
                        <a:cs typeface="Helvetica Neue"/>
                        <a:sym typeface="Helvetica Neue"/>
                      </a:endParaRPr>
                    </a:p>
                  </a:txBody>
                  <a:tcPr marT="137150" marB="137150" marR="137150" marL="137150" anchor="ctr">
                    <a:lnL cap="flat" cmpd="sng" w="12675">
                      <a:solidFill>
                        <a:srgbClr val="CBD5E1"/>
                      </a:solidFill>
                      <a:prstDash val="solid"/>
                      <a:round/>
                      <a:headEnd len="sm" w="sm" type="none"/>
                      <a:tailEnd len="sm" w="sm" type="none"/>
                    </a:lnL>
                    <a:lnR cap="flat" cmpd="sng" w="12675">
                      <a:solidFill>
                        <a:srgbClr val="CBD5E1"/>
                      </a:solidFill>
                      <a:prstDash val="solid"/>
                      <a:round/>
                      <a:headEnd len="sm" w="sm" type="none"/>
                      <a:tailEnd len="sm" w="sm" type="none"/>
                    </a:lnR>
                    <a:lnT cap="flat" cmpd="sng" w="12675">
                      <a:solidFill>
                        <a:srgbClr val="CBD5E1"/>
                      </a:solidFill>
                      <a:prstDash val="solid"/>
                      <a:round/>
                      <a:headEnd len="sm" w="sm" type="none"/>
                      <a:tailEnd len="sm" w="sm" type="none"/>
                    </a:lnT>
                    <a:lnB cap="flat" cmpd="sng" w="12675">
                      <a:solidFill>
                        <a:srgbClr val="CBD5E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75569"/>
                          </a:solidFill>
                          <a:highlight>
                            <a:srgbClr val="FFFFFF"/>
                          </a:highlight>
                          <a:latin typeface="Helvetica Neue"/>
                          <a:ea typeface="Helvetica Neue"/>
                          <a:cs typeface="Helvetica Neue"/>
                          <a:sym typeface="Helvetica Neue"/>
                        </a:rPr>
                        <a:t>Value</a:t>
                      </a:r>
                      <a:endParaRPr b="0" i="0" sz="1600" u="none" cap="none" strike="noStrike">
                        <a:solidFill>
                          <a:srgbClr val="475569"/>
                        </a:solidFill>
                        <a:highlight>
                          <a:srgbClr val="FFFFFF"/>
                        </a:highlight>
                        <a:latin typeface="Helvetica Neue"/>
                        <a:ea typeface="Helvetica Neue"/>
                        <a:cs typeface="Helvetica Neue"/>
                        <a:sym typeface="Helvetica Neue"/>
                      </a:endParaRPr>
                    </a:p>
                  </a:txBody>
                  <a:tcPr marT="137150" marB="137150" marR="137150" marL="137150" anchor="ctr">
                    <a:lnL cap="flat" cmpd="sng" w="12675">
                      <a:solidFill>
                        <a:srgbClr val="CBD5E1"/>
                      </a:solidFill>
                      <a:prstDash val="solid"/>
                      <a:round/>
                      <a:headEnd len="sm" w="sm" type="none"/>
                      <a:tailEnd len="sm" w="sm" type="none"/>
                    </a:lnL>
                    <a:lnR cap="flat" cmpd="sng" w="12675">
                      <a:solidFill>
                        <a:srgbClr val="CBD5E1"/>
                      </a:solidFill>
                      <a:prstDash val="solid"/>
                      <a:round/>
                      <a:headEnd len="sm" w="sm" type="none"/>
                      <a:tailEnd len="sm" w="sm" type="none"/>
                    </a:lnR>
                    <a:lnT cap="flat" cmpd="sng" w="12675">
                      <a:solidFill>
                        <a:srgbClr val="CBD5E1"/>
                      </a:solidFill>
                      <a:prstDash val="solid"/>
                      <a:round/>
                      <a:headEnd len="sm" w="sm" type="none"/>
                      <a:tailEnd len="sm" w="sm" type="none"/>
                    </a:lnT>
                    <a:lnB cap="flat" cmpd="sng" w="12675">
                      <a:solidFill>
                        <a:srgbClr val="CBD5E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75569"/>
                          </a:solidFill>
                          <a:highlight>
                            <a:srgbClr val="FFFFFF"/>
                          </a:highlight>
                          <a:latin typeface="Helvetica Neue"/>
                          <a:ea typeface="Helvetica Neue"/>
                          <a:cs typeface="Helvetica Neue"/>
                          <a:sym typeface="Helvetica Neue"/>
                        </a:rPr>
                        <a:t>Value</a:t>
                      </a:r>
                      <a:endParaRPr b="0" i="0" sz="1600" u="none" cap="none" strike="noStrike">
                        <a:solidFill>
                          <a:srgbClr val="475569"/>
                        </a:solidFill>
                        <a:highlight>
                          <a:srgbClr val="FFFFFF"/>
                        </a:highlight>
                        <a:latin typeface="Helvetica Neue"/>
                        <a:ea typeface="Helvetica Neue"/>
                        <a:cs typeface="Helvetica Neue"/>
                        <a:sym typeface="Helvetica Neue"/>
                      </a:endParaRPr>
                    </a:p>
                  </a:txBody>
                  <a:tcPr marT="137150" marB="137150" marR="137150" marL="137150" anchor="ctr">
                    <a:lnL cap="flat" cmpd="sng" w="12675">
                      <a:solidFill>
                        <a:srgbClr val="CBD5E1"/>
                      </a:solidFill>
                      <a:prstDash val="solid"/>
                      <a:round/>
                      <a:headEnd len="sm" w="sm" type="none"/>
                      <a:tailEnd len="sm" w="sm" type="none"/>
                    </a:lnL>
                    <a:lnR cap="flat" cmpd="sng" w="12675">
                      <a:solidFill>
                        <a:srgbClr val="CBD5E1"/>
                      </a:solidFill>
                      <a:prstDash val="solid"/>
                      <a:round/>
                      <a:headEnd len="sm" w="sm" type="none"/>
                      <a:tailEnd len="sm" w="sm" type="none"/>
                    </a:lnR>
                    <a:lnT cap="flat" cmpd="sng" w="12675">
                      <a:solidFill>
                        <a:srgbClr val="CBD5E1"/>
                      </a:solidFill>
                      <a:prstDash val="solid"/>
                      <a:round/>
                      <a:headEnd len="sm" w="sm" type="none"/>
                      <a:tailEnd len="sm" w="sm" type="none"/>
                    </a:lnT>
                    <a:lnB cap="flat" cmpd="sng" w="12675">
                      <a:solidFill>
                        <a:srgbClr val="CBD5E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75569"/>
                          </a:solidFill>
                          <a:highlight>
                            <a:srgbClr val="FFFFFF"/>
                          </a:highlight>
                          <a:latin typeface="Helvetica Neue"/>
                          <a:ea typeface="Helvetica Neue"/>
                          <a:cs typeface="Helvetica Neue"/>
                          <a:sym typeface="Helvetica Neue"/>
                        </a:rPr>
                        <a:t>Status</a:t>
                      </a:r>
                      <a:endParaRPr b="0" i="0" sz="1600" u="none" cap="none" strike="noStrike">
                        <a:solidFill>
                          <a:srgbClr val="475569"/>
                        </a:solidFill>
                        <a:highlight>
                          <a:srgbClr val="FFFFFF"/>
                        </a:highlight>
                        <a:latin typeface="Helvetica Neue"/>
                        <a:ea typeface="Helvetica Neue"/>
                        <a:cs typeface="Helvetica Neue"/>
                        <a:sym typeface="Helvetica Neue"/>
                      </a:endParaRPr>
                    </a:p>
                  </a:txBody>
                  <a:tcPr marT="137150" marB="137150" marR="137150" marL="137150" anchor="ctr">
                    <a:lnL cap="flat" cmpd="sng" w="12675">
                      <a:solidFill>
                        <a:srgbClr val="CBD5E1"/>
                      </a:solidFill>
                      <a:prstDash val="solid"/>
                      <a:round/>
                      <a:headEnd len="sm" w="sm" type="none"/>
                      <a:tailEnd len="sm" w="sm" type="none"/>
                    </a:lnL>
                    <a:lnR cap="flat" cmpd="sng" w="12675">
                      <a:solidFill>
                        <a:srgbClr val="CBD5E1"/>
                      </a:solidFill>
                      <a:prstDash val="solid"/>
                      <a:round/>
                      <a:headEnd len="sm" w="sm" type="none"/>
                      <a:tailEnd len="sm" w="sm" type="none"/>
                    </a:lnR>
                    <a:lnT cap="flat" cmpd="sng" w="12675">
                      <a:solidFill>
                        <a:srgbClr val="CBD5E1"/>
                      </a:solidFill>
                      <a:prstDash val="solid"/>
                      <a:round/>
                      <a:headEnd len="sm" w="sm" type="none"/>
                      <a:tailEnd len="sm" w="sm" type="none"/>
                    </a:lnT>
                    <a:lnB cap="flat" cmpd="sng" w="12675">
                      <a:solidFill>
                        <a:srgbClr val="CBD5E1"/>
                      </a:solidFill>
                      <a:prstDash val="solid"/>
                      <a:round/>
                      <a:headEnd len="sm" w="sm" type="none"/>
                      <a:tailEnd len="sm" w="sm" type="none"/>
                    </a:lnB>
                    <a:solidFill>
                      <a:srgbClr val="FFFFFF"/>
                    </a:solidFill>
                  </a:tcPr>
                </a:tc>
              </a:tr>
              <a:tr h="868675">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75569"/>
                          </a:solidFill>
                          <a:highlight>
                            <a:srgbClr val="F8FAFC"/>
                          </a:highlight>
                          <a:latin typeface="Helvetica Neue"/>
                          <a:ea typeface="Helvetica Neue"/>
                          <a:cs typeface="Helvetica Neue"/>
                          <a:sym typeface="Helvetica Neue"/>
                        </a:rPr>
                        <a:t>Row label</a:t>
                      </a:r>
                      <a:endParaRPr b="0" i="0" sz="1600" u="none" cap="none" strike="noStrike">
                        <a:solidFill>
                          <a:srgbClr val="475569"/>
                        </a:solidFill>
                        <a:highlight>
                          <a:srgbClr val="F8FAFC"/>
                        </a:highlight>
                        <a:latin typeface="Helvetica Neue"/>
                        <a:ea typeface="Helvetica Neue"/>
                        <a:cs typeface="Helvetica Neue"/>
                        <a:sym typeface="Helvetica Neue"/>
                      </a:endParaRPr>
                    </a:p>
                  </a:txBody>
                  <a:tcPr marT="137150" marB="137150" marR="137150" marL="137150" anchor="ctr">
                    <a:lnL cap="flat" cmpd="sng" w="12675">
                      <a:solidFill>
                        <a:srgbClr val="CBD5E1"/>
                      </a:solidFill>
                      <a:prstDash val="solid"/>
                      <a:round/>
                      <a:headEnd len="sm" w="sm" type="none"/>
                      <a:tailEnd len="sm" w="sm" type="none"/>
                    </a:lnL>
                    <a:lnR cap="flat" cmpd="sng" w="12675">
                      <a:solidFill>
                        <a:srgbClr val="CBD5E1"/>
                      </a:solidFill>
                      <a:prstDash val="solid"/>
                      <a:round/>
                      <a:headEnd len="sm" w="sm" type="none"/>
                      <a:tailEnd len="sm" w="sm" type="none"/>
                    </a:lnR>
                    <a:lnT cap="flat" cmpd="sng" w="12675">
                      <a:solidFill>
                        <a:srgbClr val="CBD5E1"/>
                      </a:solidFill>
                      <a:prstDash val="solid"/>
                      <a:round/>
                      <a:headEnd len="sm" w="sm" type="none"/>
                      <a:tailEnd len="sm" w="sm" type="none"/>
                    </a:lnT>
                    <a:lnB cap="flat" cmpd="sng" w="12675">
                      <a:solidFill>
                        <a:srgbClr val="CBD5E1"/>
                      </a:solidFill>
                      <a:prstDash val="solid"/>
                      <a:round/>
                      <a:headEnd len="sm" w="sm" type="none"/>
                      <a:tailEnd len="sm" w="sm" type="none"/>
                    </a:lnB>
                    <a:solidFill>
                      <a:srgbClr val="F8FAFC"/>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75569"/>
                          </a:solidFill>
                          <a:highlight>
                            <a:srgbClr val="F8FAFC"/>
                          </a:highlight>
                          <a:latin typeface="Helvetica Neue"/>
                          <a:ea typeface="Helvetica Neue"/>
                          <a:cs typeface="Helvetica Neue"/>
                          <a:sym typeface="Helvetica Neue"/>
                        </a:rPr>
                        <a:t>Value</a:t>
                      </a:r>
                      <a:endParaRPr b="0" i="0" sz="1600" u="none" cap="none" strike="noStrike">
                        <a:solidFill>
                          <a:srgbClr val="475569"/>
                        </a:solidFill>
                        <a:highlight>
                          <a:srgbClr val="F8FAFC"/>
                        </a:highlight>
                        <a:latin typeface="Helvetica Neue"/>
                        <a:ea typeface="Helvetica Neue"/>
                        <a:cs typeface="Helvetica Neue"/>
                        <a:sym typeface="Helvetica Neue"/>
                      </a:endParaRPr>
                    </a:p>
                  </a:txBody>
                  <a:tcPr marT="137150" marB="137150" marR="137150" marL="137150" anchor="ctr">
                    <a:lnL cap="flat" cmpd="sng" w="12675">
                      <a:solidFill>
                        <a:srgbClr val="CBD5E1"/>
                      </a:solidFill>
                      <a:prstDash val="solid"/>
                      <a:round/>
                      <a:headEnd len="sm" w="sm" type="none"/>
                      <a:tailEnd len="sm" w="sm" type="none"/>
                    </a:lnL>
                    <a:lnR cap="flat" cmpd="sng" w="12675">
                      <a:solidFill>
                        <a:srgbClr val="CBD5E1"/>
                      </a:solidFill>
                      <a:prstDash val="solid"/>
                      <a:round/>
                      <a:headEnd len="sm" w="sm" type="none"/>
                      <a:tailEnd len="sm" w="sm" type="none"/>
                    </a:lnR>
                    <a:lnT cap="flat" cmpd="sng" w="12675">
                      <a:solidFill>
                        <a:srgbClr val="CBD5E1"/>
                      </a:solidFill>
                      <a:prstDash val="solid"/>
                      <a:round/>
                      <a:headEnd len="sm" w="sm" type="none"/>
                      <a:tailEnd len="sm" w="sm" type="none"/>
                    </a:lnT>
                    <a:lnB cap="flat" cmpd="sng" w="12675">
                      <a:solidFill>
                        <a:srgbClr val="CBD5E1"/>
                      </a:solidFill>
                      <a:prstDash val="solid"/>
                      <a:round/>
                      <a:headEnd len="sm" w="sm" type="none"/>
                      <a:tailEnd len="sm" w="sm" type="none"/>
                    </a:lnB>
                    <a:solidFill>
                      <a:srgbClr val="F8FAFC"/>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75569"/>
                          </a:solidFill>
                          <a:highlight>
                            <a:srgbClr val="F8FAFC"/>
                          </a:highlight>
                          <a:latin typeface="Helvetica Neue"/>
                          <a:ea typeface="Helvetica Neue"/>
                          <a:cs typeface="Helvetica Neue"/>
                          <a:sym typeface="Helvetica Neue"/>
                        </a:rPr>
                        <a:t>Value</a:t>
                      </a:r>
                      <a:endParaRPr b="0" i="0" sz="1600" u="none" cap="none" strike="noStrike">
                        <a:solidFill>
                          <a:srgbClr val="475569"/>
                        </a:solidFill>
                        <a:highlight>
                          <a:srgbClr val="F8FAFC"/>
                        </a:highlight>
                        <a:latin typeface="Helvetica Neue"/>
                        <a:ea typeface="Helvetica Neue"/>
                        <a:cs typeface="Helvetica Neue"/>
                        <a:sym typeface="Helvetica Neue"/>
                      </a:endParaRPr>
                    </a:p>
                  </a:txBody>
                  <a:tcPr marT="137150" marB="137150" marR="137150" marL="137150" anchor="ctr">
                    <a:lnL cap="flat" cmpd="sng" w="12675">
                      <a:solidFill>
                        <a:srgbClr val="CBD5E1"/>
                      </a:solidFill>
                      <a:prstDash val="solid"/>
                      <a:round/>
                      <a:headEnd len="sm" w="sm" type="none"/>
                      <a:tailEnd len="sm" w="sm" type="none"/>
                    </a:lnL>
                    <a:lnR cap="flat" cmpd="sng" w="12675">
                      <a:solidFill>
                        <a:srgbClr val="CBD5E1"/>
                      </a:solidFill>
                      <a:prstDash val="solid"/>
                      <a:round/>
                      <a:headEnd len="sm" w="sm" type="none"/>
                      <a:tailEnd len="sm" w="sm" type="none"/>
                    </a:lnR>
                    <a:lnT cap="flat" cmpd="sng" w="12675">
                      <a:solidFill>
                        <a:srgbClr val="CBD5E1"/>
                      </a:solidFill>
                      <a:prstDash val="solid"/>
                      <a:round/>
                      <a:headEnd len="sm" w="sm" type="none"/>
                      <a:tailEnd len="sm" w="sm" type="none"/>
                    </a:lnT>
                    <a:lnB cap="flat" cmpd="sng" w="12675">
                      <a:solidFill>
                        <a:srgbClr val="CBD5E1"/>
                      </a:solidFill>
                      <a:prstDash val="solid"/>
                      <a:round/>
                      <a:headEnd len="sm" w="sm" type="none"/>
                      <a:tailEnd len="sm" w="sm" type="none"/>
                    </a:lnB>
                    <a:solidFill>
                      <a:srgbClr val="F8FAFC"/>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75569"/>
                          </a:solidFill>
                          <a:highlight>
                            <a:srgbClr val="F8FAFC"/>
                          </a:highlight>
                          <a:latin typeface="Helvetica Neue"/>
                          <a:ea typeface="Helvetica Neue"/>
                          <a:cs typeface="Helvetica Neue"/>
                          <a:sym typeface="Helvetica Neue"/>
                        </a:rPr>
                        <a:t>Status</a:t>
                      </a:r>
                      <a:endParaRPr b="0" i="0" sz="1600" u="none" cap="none" strike="noStrike">
                        <a:solidFill>
                          <a:srgbClr val="475569"/>
                        </a:solidFill>
                        <a:highlight>
                          <a:srgbClr val="F8FAFC"/>
                        </a:highlight>
                        <a:latin typeface="Helvetica Neue"/>
                        <a:ea typeface="Helvetica Neue"/>
                        <a:cs typeface="Helvetica Neue"/>
                        <a:sym typeface="Helvetica Neue"/>
                      </a:endParaRPr>
                    </a:p>
                  </a:txBody>
                  <a:tcPr marT="137150" marB="137150" marR="137150" marL="137150" anchor="ctr">
                    <a:lnL cap="flat" cmpd="sng" w="12675">
                      <a:solidFill>
                        <a:srgbClr val="CBD5E1"/>
                      </a:solidFill>
                      <a:prstDash val="solid"/>
                      <a:round/>
                      <a:headEnd len="sm" w="sm" type="none"/>
                      <a:tailEnd len="sm" w="sm" type="none"/>
                    </a:lnL>
                    <a:lnR cap="flat" cmpd="sng" w="12675">
                      <a:solidFill>
                        <a:srgbClr val="CBD5E1"/>
                      </a:solidFill>
                      <a:prstDash val="solid"/>
                      <a:round/>
                      <a:headEnd len="sm" w="sm" type="none"/>
                      <a:tailEnd len="sm" w="sm" type="none"/>
                    </a:lnR>
                    <a:lnT cap="flat" cmpd="sng" w="12675">
                      <a:solidFill>
                        <a:srgbClr val="CBD5E1"/>
                      </a:solidFill>
                      <a:prstDash val="solid"/>
                      <a:round/>
                      <a:headEnd len="sm" w="sm" type="none"/>
                      <a:tailEnd len="sm" w="sm" type="none"/>
                    </a:lnT>
                    <a:lnB cap="flat" cmpd="sng" w="12675">
                      <a:solidFill>
                        <a:srgbClr val="CBD5E1"/>
                      </a:solidFill>
                      <a:prstDash val="solid"/>
                      <a:round/>
                      <a:headEnd len="sm" w="sm" type="none"/>
                      <a:tailEnd len="sm" w="sm" type="none"/>
                    </a:lnB>
                    <a:solidFill>
                      <a:srgbClr val="F8FAFC"/>
                    </a:solidFill>
                  </a:tcPr>
                </a:tc>
              </a:tr>
              <a:tr h="868675">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75569"/>
                          </a:solidFill>
                          <a:highlight>
                            <a:srgbClr val="FFFFFF"/>
                          </a:highlight>
                          <a:latin typeface="Helvetica Neue"/>
                          <a:ea typeface="Helvetica Neue"/>
                          <a:cs typeface="Helvetica Neue"/>
                          <a:sym typeface="Helvetica Neue"/>
                        </a:rPr>
                        <a:t>Row label</a:t>
                      </a:r>
                      <a:endParaRPr b="0" i="0" sz="1600" u="none" cap="none" strike="noStrike">
                        <a:solidFill>
                          <a:srgbClr val="475569"/>
                        </a:solidFill>
                        <a:highlight>
                          <a:srgbClr val="FFFFFF"/>
                        </a:highlight>
                        <a:latin typeface="Helvetica Neue"/>
                        <a:ea typeface="Helvetica Neue"/>
                        <a:cs typeface="Helvetica Neue"/>
                        <a:sym typeface="Helvetica Neue"/>
                      </a:endParaRPr>
                    </a:p>
                  </a:txBody>
                  <a:tcPr marT="137150" marB="137150" marR="137150" marL="137150" anchor="ctr">
                    <a:lnL cap="flat" cmpd="sng" w="12675">
                      <a:solidFill>
                        <a:srgbClr val="CBD5E1"/>
                      </a:solidFill>
                      <a:prstDash val="solid"/>
                      <a:round/>
                      <a:headEnd len="sm" w="sm" type="none"/>
                      <a:tailEnd len="sm" w="sm" type="none"/>
                    </a:lnL>
                    <a:lnR cap="flat" cmpd="sng" w="12675">
                      <a:solidFill>
                        <a:srgbClr val="CBD5E1"/>
                      </a:solidFill>
                      <a:prstDash val="solid"/>
                      <a:round/>
                      <a:headEnd len="sm" w="sm" type="none"/>
                      <a:tailEnd len="sm" w="sm" type="none"/>
                    </a:lnR>
                    <a:lnT cap="flat" cmpd="sng" w="12675">
                      <a:solidFill>
                        <a:srgbClr val="CBD5E1"/>
                      </a:solidFill>
                      <a:prstDash val="solid"/>
                      <a:round/>
                      <a:headEnd len="sm" w="sm" type="none"/>
                      <a:tailEnd len="sm" w="sm" type="none"/>
                    </a:lnT>
                    <a:lnB cap="flat" cmpd="sng" w="12675">
                      <a:solidFill>
                        <a:srgbClr val="CBD5E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75569"/>
                          </a:solidFill>
                          <a:highlight>
                            <a:srgbClr val="FFFFFF"/>
                          </a:highlight>
                          <a:latin typeface="Helvetica Neue"/>
                          <a:ea typeface="Helvetica Neue"/>
                          <a:cs typeface="Helvetica Neue"/>
                          <a:sym typeface="Helvetica Neue"/>
                        </a:rPr>
                        <a:t>Value</a:t>
                      </a:r>
                      <a:endParaRPr b="0" i="0" sz="1600" u="none" cap="none" strike="noStrike">
                        <a:solidFill>
                          <a:srgbClr val="475569"/>
                        </a:solidFill>
                        <a:highlight>
                          <a:srgbClr val="FFFFFF"/>
                        </a:highlight>
                        <a:latin typeface="Helvetica Neue"/>
                        <a:ea typeface="Helvetica Neue"/>
                        <a:cs typeface="Helvetica Neue"/>
                        <a:sym typeface="Helvetica Neue"/>
                      </a:endParaRPr>
                    </a:p>
                  </a:txBody>
                  <a:tcPr marT="137150" marB="137150" marR="137150" marL="137150" anchor="ctr">
                    <a:lnL cap="flat" cmpd="sng" w="12675">
                      <a:solidFill>
                        <a:srgbClr val="CBD5E1"/>
                      </a:solidFill>
                      <a:prstDash val="solid"/>
                      <a:round/>
                      <a:headEnd len="sm" w="sm" type="none"/>
                      <a:tailEnd len="sm" w="sm" type="none"/>
                    </a:lnL>
                    <a:lnR cap="flat" cmpd="sng" w="12675">
                      <a:solidFill>
                        <a:srgbClr val="CBD5E1"/>
                      </a:solidFill>
                      <a:prstDash val="solid"/>
                      <a:round/>
                      <a:headEnd len="sm" w="sm" type="none"/>
                      <a:tailEnd len="sm" w="sm" type="none"/>
                    </a:lnR>
                    <a:lnT cap="flat" cmpd="sng" w="12675">
                      <a:solidFill>
                        <a:srgbClr val="CBD5E1"/>
                      </a:solidFill>
                      <a:prstDash val="solid"/>
                      <a:round/>
                      <a:headEnd len="sm" w="sm" type="none"/>
                      <a:tailEnd len="sm" w="sm" type="none"/>
                    </a:lnT>
                    <a:lnB cap="flat" cmpd="sng" w="12675">
                      <a:solidFill>
                        <a:srgbClr val="CBD5E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75569"/>
                          </a:solidFill>
                          <a:highlight>
                            <a:srgbClr val="FFFFFF"/>
                          </a:highlight>
                          <a:latin typeface="Helvetica Neue"/>
                          <a:ea typeface="Helvetica Neue"/>
                          <a:cs typeface="Helvetica Neue"/>
                          <a:sym typeface="Helvetica Neue"/>
                        </a:rPr>
                        <a:t>Value</a:t>
                      </a:r>
                      <a:endParaRPr b="0" i="0" sz="1600" u="none" cap="none" strike="noStrike">
                        <a:solidFill>
                          <a:srgbClr val="475569"/>
                        </a:solidFill>
                        <a:highlight>
                          <a:srgbClr val="FFFFFF"/>
                        </a:highlight>
                        <a:latin typeface="Helvetica Neue"/>
                        <a:ea typeface="Helvetica Neue"/>
                        <a:cs typeface="Helvetica Neue"/>
                        <a:sym typeface="Helvetica Neue"/>
                      </a:endParaRPr>
                    </a:p>
                  </a:txBody>
                  <a:tcPr marT="137150" marB="137150" marR="137150" marL="137150" anchor="ctr">
                    <a:lnL cap="flat" cmpd="sng" w="12675">
                      <a:solidFill>
                        <a:srgbClr val="CBD5E1"/>
                      </a:solidFill>
                      <a:prstDash val="solid"/>
                      <a:round/>
                      <a:headEnd len="sm" w="sm" type="none"/>
                      <a:tailEnd len="sm" w="sm" type="none"/>
                    </a:lnL>
                    <a:lnR cap="flat" cmpd="sng" w="12675">
                      <a:solidFill>
                        <a:srgbClr val="CBD5E1"/>
                      </a:solidFill>
                      <a:prstDash val="solid"/>
                      <a:round/>
                      <a:headEnd len="sm" w="sm" type="none"/>
                      <a:tailEnd len="sm" w="sm" type="none"/>
                    </a:lnR>
                    <a:lnT cap="flat" cmpd="sng" w="12675">
                      <a:solidFill>
                        <a:srgbClr val="CBD5E1"/>
                      </a:solidFill>
                      <a:prstDash val="solid"/>
                      <a:round/>
                      <a:headEnd len="sm" w="sm" type="none"/>
                      <a:tailEnd len="sm" w="sm" type="none"/>
                    </a:lnT>
                    <a:lnB cap="flat" cmpd="sng" w="12675">
                      <a:solidFill>
                        <a:srgbClr val="CBD5E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75569"/>
                          </a:solidFill>
                          <a:highlight>
                            <a:srgbClr val="FFFFFF"/>
                          </a:highlight>
                          <a:latin typeface="Helvetica Neue"/>
                          <a:ea typeface="Helvetica Neue"/>
                          <a:cs typeface="Helvetica Neue"/>
                          <a:sym typeface="Helvetica Neue"/>
                        </a:rPr>
                        <a:t>Status</a:t>
                      </a:r>
                      <a:endParaRPr b="0" i="0" sz="1600" u="none" cap="none" strike="noStrike">
                        <a:solidFill>
                          <a:srgbClr val="475569"/>
                        </a:solidFill>
                        <a:highlight>
                          <a:srgbClr val="FFFFFF"/>
                        </a:highlight>
                        <a:latin typeface="Helvetica Neue"/>
                        <a:ea typeface="Helvetica Neue"/>
                        <a:cs typeface="Helvetica Neue"/>
                        <a:sym typeface="Helvetica Neue"/>
                      </a:endParaRPr>
                    </a:p>
                  </a:txBody>
                  <a:tcPr marT="137150" marB="137150" marR="137150" marL="137150" anchor="ctr">
                    <a:lnL cap="flat" cmpd="sng" w="12675">
                      <a:solidFill>
                        <a:srgbClr val="CBD5E1"/>
                      </a:solidFill>
                      <a:prstDash val="solid"/>
                      <a:round/>
                      <a:headEnd len="sm" w="sm" type="none"/>
                      <a:tailEnd len="sm" w="sm" type="none"/>
                    </a:lnL>
                    <a:lnR cap="flat" cmpd="sng" w="12675">
                      <a:solidFill>
                        <a:srgbClr val="CBD5E1"/>
                      </a:solidFill>
                      <a:prstDash val="solid"/>
                      <a:round/>
                      <a:headEnd len="sm" w="sm" type="none"/>
                      <a:tailEnd len="sm" w="sm" type="none"/>
                    </a:lnR>
                    <a:lnT cap="flat" cmpd="sng" w="12675">
                      <a:solidFill>
                        <a:srgbClr val="CBD5E1"/>
                      </a:solidFill>
                      <a:prstDash val="solid"/>
                      <a:round/>
                      <a:headEnd len="sm" w="sm" type="none"/>
                      <a:tailEnd len="sm" w="sm" type="none"/>
                    </a:lnT>
                    <a:lnB cap="flat" cmpd="sng" w="12675">
                      <a:solidFill>
                        <a:srgbClr val="CBD5E1"/>
                      </a:solidFill>
                      <a:prstDash val="solid"/>
                      <a:round/>
                      <a:headEnd len="sm" w="sm" type="none"/>
                      <a:tailEnd len="sm" w="sm" type="none"/>
                    </a:lnB>
                    <a:solidFill>
                      <a:srgbClr val="FFFFFF"/>
                    </a:solidFill>
                  </a:tcPr>
                </a:tc>
              </a:tr>
              <a:tr h="868675">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75569"/>
                          </a:solidFill>
                          <a:highlight>
                            <a:srgbClr val="F8FAFC"/>
                          </a:highlight>
                          <a:latin typeface="Helvetica Neue"/>
                          <a:ea typeface="Helvetica Neue"/>
                          <a:cs typeface="Helvetica Neue"/>
                          <a:sym typeface="Helvetica Neue"/>
                        </a:rPr>
                        <a:t>Row label</a:t>
                      </a:r>
                      <a:endParaRPr b="0" i="0" sz="1600" u="none" cap="none" strike="noStrike">
                        <a:solidFill>
                          <a:srgbClr val="475569"/>
                        </a:solidFill>
                        <a:highlight>
                          <a:srgbClr val="F8FAFC"/>
                        </a:highlight>
                        <a:latin typeface="Helvetica Neue"/>
                        <a:ea typeface="Helvetica Neue"/>
                        <a:cs typeface="Helvetica Neue"/>
                        <a:sym typeface="Helvetica Neue"/>
                      </a:endParaRPr>
                    </a:p>
                  </a:txBody>
                  <a:tcPr marT="137150" marB="137150" marR="137150" marL="137150" anchor="ctr">
                    <a:lnL cap="flat" cmpd="sng" w="12675">
                      <a:solidFill>
                        <a:srgbClr val="CBD5E1"/>
                      </a:solidFill>
                      <a:prstDash val="solid"/>
                      <a:round/>
                      <a:headEnd len="sm" w="sm" type="none"/>
                      <a:tailEnd len="sm" w="sm" type="none"/>
                    </a:lnL>
                    <a:lnR cap="flat" cmpd="sng" w="12675">
                      <a:solidFill>
                        <a:srgbClr val="CBD5E1"/>
                      </a:solidFill>
                      <a:prstDash val="solid"/>
                      <a:round/>
                      <a:headEnd len="sm" w="sm" type="none"/>
                      <a:tailEnd len="sm" w="sm" type="none"/>
                    </a:lnR>
                    <a:lnT cap="flat" cmpd="sng" w="12675">
                      <a:solidFill>
                        <a:srgbClr val="CBD5E1"/>
                      </a:solidFill>
                      <a:prstDash val="solid"/>
                      <a:round/>
                      <a:headEnd len="sm" w="sm" type="none"/>
                      <a:tailEnd len="sm" w="sm" type="none"/>
                    </a:lnT>
                    <a:lnB cap="flat" cmpd="sng" w="12675">
                      <a:solidFill>
                        <a:srgbClr val="CBD5E1"/>
                      </a:solidFill>
                      <a:prstDash val="solid"/>
                      <a:round/>
                      <a:headEnd len="sm" w="sm" type="none"/>
                      <a:tailEnd len="sm" w="sm" type="none"/>
                    </a:lnB>
                    <a:solidFill>
                      <a:srgbClr val="F8FAFC"/>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75569"/>
                          </a:solidFill>
                          <a:highlight>
                            <a:srgbClr val="F8FAFC"/>
                          </a:highlight>
                          <a:latin typeface="Helvetica Neue"/>
                          <a:ea typeface="Helvetica Neue"/>
                          <a:cs typeface="Helvetica Neue"/>
                          <a:sym typeface="Helvetica Neue"/>
                        </a:rPr>
                        <a:t>Value</a:t>
                      </a:r>
                      <a:endParaRPr b="0" i="0" sz="1600" u="none" cap="none" strike="noStrike">
                        <a:solidFill>
                          <a:srgbClr val="475569"/>
                        </a:solidFill>
                        <a:highlight>
                          <a:srgbClr val="F8FAFC"/>
                        </a:highlight>
                        <a:latin typeface="Helvetica Neue"/>
                        <a:ea typeface="Helvetica Neue"/>
                        <a:cs typeface="Helvetica Neue"/>
                        <a:sym typeface="Helvetica Neue"/>
                      </a:endParaRPr>
                    </a:p>
                  </a:txBody>
                  <a:tcPr marT="137150" marB="137150" marR="137150" marL="137150" anchor="ctr">
                    <a:lnL cap="flat" cmpd="sng" w="12675">
                      <a:solidFill>
                        <a:srgbClr val="CBD5E1"/>
                      </a:solidFill>
                      <a:prstDash val="solid"/>
                      <a:round/>
                      <a:headEnd len="sm" w="sm" type="none"/>
                      <a:tailEnd len="sm" w="sm" type="none"/>
                    </a:lnL>
                    <a:lnR cap="flat" cmpd="sng" w="12675">
                      <a:solidFill>
                        <a:srgbClr val="CBD5E1"/>
                      </a:solidFill>
                      <a:prstDash val="solid"/>
                      <a:round/>
                      <a:headEnd len="sm" w="sm" type="none"/>
                      <a:tailEnd len="sm" w="sm" type="none"/>
                    </a:lnR>
                    <a:lnT cap="flat" cmpd="sng" w="12675">
                      <a:solidFill>
                        <a:srgbClr val="CBD5E1"/>
                      </a:solidFill>
                      <a:prstDash val="solid"/>
                      <a:round/>
                      <a:headEnd len="sm" w="sm" type="none"/>
                      <a:tailEnd len="sm" w="sm" type="none"/>
                    </a:lnT>
                    <a:lnB cap="flat" cmpd="sng" w="12675">
                      <a:solidFill>
                        <a:srgbClr val="CBD5E1"/>
                      </a:solidFill>
                      <a:prstDash val="solid"/>
                      <a:round/>
                      <a:headEnd len="sm" w="sm" type="none"/>
                      <a:tailEnd len="sm" w="sm" type="none"/>
                    </a:lnB>
                    <a:solidFill>
                      <a:srgbClr val="F8FAFC"/>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75569"/>
                          </a:solidFill>
                          <a:highlight>
                            <a:srgbClr val="F8FAFC"/>
                          </a:highlight>
                          <a:latin typeface="Helvetica Neue"/>
                          <a:ea typeface="Helvetica Neue"/>
                          <a:cs typeface="Helvetica Neue"/>
                          <a:sym typeface="Helvetica Neue"/>
                        </a:rPr>
                        <a:t>Value</a:t>
                      </a:r>
                      <a:endParaRPr b="0" i="0" sz="1600" u="none" cap="none" strike="noStrike">
                        <a:solidFill>
                          <a:srgbClr val="475569"/>
                        </a:solidFill>
                        <a:highlight>
                          <a:srgbClr val="F8FAFC"/>
                        </a:highlight>
                        <a:latin typeface="Helvetica Neue"/>
                        <a:ea typeface="Helvetica Neue"/>
                        <a:cs typeface="Helvetica Neue"/>
                        <a:sym typeface="Helvetica Neue"/>
                      </a:endParaRPr>
                    </a:p>
                  </a:txBody>
                  <a:tcPr marT="137150" marB="137150" marR="137150" marL="137150" anchor="ctr">
                    <a:lnL cap="flat" cmpd="sng" w="12675">
                      <a:solidFill>
                        <a:srgbClr val="CBD5E1"/>
                      </a:solidFill>
                      <a:prstDash val="solid"/>
                      <a:round/>
                      <a:headEnd len="sm" w="sm" type="none"/>
                      <a:tailEnd len="sm" w="sm" type="none"/>
                    </a:lnL>
                    <a:lnR cap="flat" cmpd="sng" w="12675">
                      <a:solidFill>
                        <a:srgbClr val="CBD5E1"/>
                      </a:solidFill>
                      <a:prstDash val="solid"/>
                      <a:round/>
                      <a:headEnd len="sm" w="sm" type="none"/>
                      <a:tailEnd len="sm" w="sm" type="none"/>
                    </a:lnR>
                    <a:lnT cap="flat" cmpd="sng" w="12675">
                      <a:solidFill>
                        <a:srgbClr val="CBD5E1"/>
                      </a:solidFill>
                      <a:prstDash val="solid"/>
                      <a:round/>
                      <a:headEnd len="sm" w="sm" type="none"/>
                      <a:tailEnd len="sm" w="sm" type="none"/>
                    </a:lnT>
                    <a:lnB cap="flat" cmpd="sng" w="12675">
                      <a:solidFill>
                        <a:srgbClr val="CBD5E1"/>
                      </a:solidFill>
                      <a:prstDash val="solid"/>
                      <a:round/>
                      <a:headEnd len="sm" w="sm" type="none"/>
                      <a:tailEnd len="sm" w="sm" type="none"/>
                    </a:lnB>
                    <a:solidFill>
                      <a:srgbClr val="F8FAFC"/>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75569"/>
                          </a:solidFill>
                          <a:highlight>
                            <a:srgbClr val="F8FAFC"/>
                          </a:highlight>
                          <a:latin typeface="Helvetica Neue"/>
                          <a:ea typeface="Helvetica Neue"/>
                          <a:cs typeface="Helvetica Neue"/>
                          <a:sym typeface="Helvetica Neue"/>
                        </a:rPr>
                        <a:t>Status</a:t>
                      </a:r>
                      <a:endParaRPr b="0" i="0" sz="1600" u="none" cap="none" strike="noStrike">
                        <a:solidFill>
                          <a:srgbClr val="475569"/>
                        </a:solidFill>
                        <a:highlight>
                          <a:srgbClr val="F8FAFC"/>
                        </a:highlight>
                        <a:latin typeface="Helvetica Neue"/>
                        <a:ea typeface="Helvetica Neue"/>
                        <a:cs typeface="Helvetica Neue"/>
                        <a:sym typeface="Helvetica Neue"/>
                      </a:endParaRPr>
                    </a:p>
                  </a:txBody>
                  <a:tcPr marT="137150" marB="137150" marR="137150" marL="137150" anchor="ctr">
                    <a:lnL cap="flat" cmpd="sng" w="12675">
                      <a:solidFill>
                        <a:srgbClr val="CBD5E1"/>
                      </a:solidFill>
                      <a:prstDash val="solid"/>
                      <a:round/>
                      <a:headEnd len="sm" w="sm" type="none"/>
                      <a:tailEnd len="sm" w="sm" type="none"/>
                    </a:lnL>
                    <a:lnR cap="flat" cmpd="sng" w="12675">
                      <a:solidFill>
                        <a:srgbClr val="CBD5E1"/>
                      </a:solidFill>
                      <a:prstDash val="solid"/>
                      <a:round/>
                      <a:headEnd len="sm" w="sm" type="none"/>
                      <a:tailEnd len="sm" w="sm" type="none"/>
                    </a:lnR>
                    <a:lnT cap="flat" cmpd="sng" w="12675">
                      <a:solidFill>
                        <a:srgbClr val="CBD5E1"/>
                      </a:solidFill>
                      <a:prstDash val="solid"/>
                      <a:round/>
                      <a:headEnd len="sm" w="sm" type="none"/>
                      <a:tailEnd len="sm" w="sm" type="none"/>
                    </a:lnT>
                    <a:lnB cap="flat" cmpd="sng" w="12675">
                      <a:solidFill>
                        <a:srgbClr val="CBD5E1"/>
                      </a:solidFill>
                      <a:prstDash val="solid"/>
                      <a:round/>
                      <a:headEnd len="sm" w="sm" type="none"/>
                      <a:tailEnd len="sm" w="sm" type="none"/>
                    </a:lnB>
                    <a:solidFill>
                      <a:srgbClr val="F8FAFC"/>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57" name="Shape 1057"/>
        <p:cNvGrpSpPr/>
        <p:nvPr/>
      </p:nvGrpSpPr>
      <p:grpSpPr>
        <a:xfrm>
          <a:off x="0" y="0"/>
          <a:ext cx="0" cy="0"/>
          <a:chOff x="0" y="0"/>
          <a:chExt cx="0" cy="0"/>
        </a:xfrm>
      </p:grpSpPr>
      <p:sp>
        <p:nvSpPr>
          <p:cNvPr id="1058" name="Google Shape;1058;p44"/>
          <p:cNvSpPr txBox="1"/>
          <p:nvPr>
            <p:ph type="title"/>
          </p:nvPr>
        </p:nvSpPr>
        <p:spPr>
          <a:xfrm>
            <a:off x="822960" y="960120"/>
            <a:ext cx="16642080" cy="8229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Arial"/>
              <a:buNone/>
            </a:pPr>
            <a:r>
              <a:rPr b="1" lang="en-US" sz="3600">
                <a:solidFill>
                  <a:schemeClr val="dk1"/>
                </a:solidFill>
              </a:rPr>
              <a:t>Chart with Commentary</a:t>
            </a:r>
            <a:endParaRPr sz="3600"/>
          </a:p>
        </p:txBody>
      </p:sp>
      <p:sp>
        <p:nvSpPr>
          <p:cNvPr id="1059" name="Google Shape;1059;p44"/>
          <p:cNvSpPr/>
          <p:nvPr/>
        </p:nvSpPr>
        <p:spPr>
          <a:xfrm>
            <a:off x="822960" y="2194560"/>
            <a:ext cx="10789920" cy="694944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pic>
        <p:nvPicPr>
          <p:cNvPr id="1060" name="Google Shape;1060;p44"/>
          <p:cNvPicPr preferRelativeResize="0"/>
          <p:nvPr/>
        </p:nvPicPr>
        <p:blipFill rotWithShape="1">
          <a:blip r:embed="rId3">
            <a:alphaModFix/>
          </a:blip>
          <a:srcRect b="0" l="0" r="0" t="0"/>
          <a:stretch/>
        </p:blipFill>
        <p:spPr>
          <a:xfrm>
            <a:off x="1097280" y="2468880"/>
            <a:ext cx="10241280" cy="6400800"/>
          </a:xfrm>
          <a:prstGeom prst="rect">
            <a:avLst/>
          </a:prstGeom>
          <a:noFill/>
          <a:ln>
            <a:noFill/>
          </a:ln>
        </p:spPr>
      </p:pic>
      <p:sp>
        <p:nvSpPr>
          <p:cNvPr id="1061" name="Google Shape;1061;p44"/>
          <p:cNvSpPr/>
          <p:nvPr/>
        </p:nvSpPr>
        <p:spPr>
          <a:xfrm>
            <a:off x="11887200" y="2194560"/>
            <a:ext cx="5577840" cy="694944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1062" name="Google Shape;1062;p44"/>
          <p:cNvSpPr txBox="1"/>
          <p:nvPr/>
        </p:nvSpPr>
        <p:spPr>
          <a:xfrm>
            <a:off x="12252960" y="2560320"/>
            <a:ext cx="484632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Helvetica Neue"/>
                <a:ea typeface="Helvetica Neue"/>
                <a:cs typeface="Helvetica Neue"/>
                <a:sym typeface="Helvetica Neue"/>
              </a:rPr>
              <a:t>Key Takeaways</a:t>
            </a:r>
            <a:endParaRPr b="0" i="0" sz="2400" u="none" cap="none" strike="noStrike">
              <a:solidFill>
                <a:schemeClr val="dk1"/>
              </a:solidFill>
              <a:latin typeface="Helvetica Neue"/>
              <a:ea typeface="Helvetica Neue"/>
              <a:cs typeface="Helvetica Neue"/>
              <a:sym typeface="Helvetica Neue"/>
            </a:endParaRPr>
          </a:p>
        </p:txBody>
      </p:sp>
      <p:sp>
        <p:nvSpPr>
          <p:cNvPr id="1063" name="Google Shape;1063;p44"/>
          <p:cNvSpPr txBox="1"/>
          <p:nvPr/>
        </p:nvSpPr>
        <p:spPr>
          <a:xfrm>
            <a:off x="12252960" y="3383280"/>
            <a:ext cx="4846320" cy="530352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chemeClr val="dk2"/>
              </a:buClr>
              <a:buSzPts val="1800"/>
              <a:buFont typeface="Arial"/>
              <a:buChar char="•"/>
            </a:pPr>
            <a:r>
              <a:rPr b="0" i="0" lang="en-US" sz="1800" u="none" cap="none" strike="noStrike">
                <a:solidFill>
                  <a:schemeClr val="dk2"/>
                </a:solidFill>
                <a:latin typeface="Helvetica Neue"/>
                <a:ea typeface="Helvetica Neue"/>
                <a:cs typeface="Helvetica Neue"/>
                <a:sym typeface="Helvetica Neue"/>
              </a:rPr>
              <a:t>First takeaway from the chart</a:t>
            </a:r>
            <a:endParaRPr b="0" i="0" sz="1800" u="none" cap="none" strike="noStrike">
              <a:solidFill>
                <a:schemeClr val="dk1"/>
              </a:solidFill>
              <a:latin typeface="Helvetica Neue"/>
              <a:ea typeface="Helvetica Neue"/>
              <a:cs typeface="Helvetica Neue"/>
              <a:sym typeface="Helvetica Neue"/>
            </a:endParaRPr>
          </a:p>
          <a:p>
            <a:pPr indent="-342900" lvl="0" marL="342900" marR="0" rtl="0" algn="l">
              <a:lnSpc>
                <a:spcPct val="100000"/>
              </a:lnSpc>
              <a:spcBef>
                <a:spcPts val="1600"/>
              </a:spcBef>
              <a:spcAft>
                <a:spcPts val="0"/>
              </a:spcAft>
              <a:buClr>
                <a:schemeClr val="dk2"/>
              </a:buClr>
              <a:buSzPts val="1800"/>
              <a:buFont typeface="Arial"/>
              <a:buChar char="•"/>
            </a:pPr>
            <a:r>
              <a:rPr b="0" i="0" lang="en-US" sz="1800" u="none" cap="none" strike="noStrike">
                <a:solidFill>
                  <a:schemeClr val="dk2"/>
                </a:solidFill>
                <a:latin typeface="Helvetica Neue"/>
                <a:ea typeface="Helvetica Neue"/>
                <a:cs typeface="Helvetica Neue"/>
                <a:sym typeface="Helvetica Neue"/>
              </a:rPr>
              <a:t>Second takeaway from the chart</a:t>
            </a:r>
            <a:endParaRPr b="0" i="0" sz="1800" u="none" cap="none" strike="noStrike">
              <a:solidFill>
                <a:schemeClr val="dk1"/>
              </a:solidFill>
              <a:latin typeface="Helvetica Neue"/>
              <a:ea typeface="Helvetica Neue"/>
              <a:cs typeface="Helvetica Neue"/>
              <a:sym typeface="Helvetica Neue"/>
            </a:endParaRPr>
          </a:p>
          <a:p>
            <a:pPr indent="-342900" lvl="0" marL="342900" marR="0" rtl="0" algn="l">
              <a:lnSpc>
                <a:spcPct val="100000"/>
              </a:lnSpc>
              <a:spcBef>
                <a:spcPts val="1600"/>
              </a:spcBef>
              <a:spcAft>
                <a:spcPts val="0"/>
              </a:spcAft>
              <a:buClr>
                <a:schemeClr val="dk2"/>
              </a:buClr>
              <a:buSzPts val="1800"/>
              <a:buFont typeface="Arial"/>
              <a:buChar char="•"/>
            </a:pPr>
            <a:r>
              <a:rPr b="0" i="0" lang="en-US" sz="1800" u="none" cap="none" strike="noStrike">
                <a:solidFill>
                  <a:schemeClr val="dk2"/>
                </a:solidFill>
                <a:latin typeface="Helvetica Neue"/>
                <a:ea typeface="Helvetica Neue"/>
                <a:cs typeface="Helvetica Neue"/>
                <a:sym typeface="Helvetica Neue"/>
              </a:rPr>
              <a:t>Third takeaway from the chart</a:t>
            </a:r>
            <a:endParaRPr b="0" i="0" sz="1800" u="none" cap="none" strike="noStrike">
              <a:solidFill>
                <a:schemeClr val="dk1"/>
              </a:solidFill>
              <a:latin typeface="Helvetica Neue"/>
              <a:ea typeface="Helvetica Neue"/>
              <a:cs typeface="Helvetica Neue"/>
              <a:sym typeface="Helvetica Neue"/>
            </a:endParaRPr>
          </a:p>
        </p:txBody>
      </p:sp>
      <p:sp>
        <p:nvSpPr>
          <p:cNvPr id="1064" name="Google Shape;1064;p44"/>
          <p:cNvSpPr txBox="1"/>
          <p:nvPr>
            <p:ph idx="4294967295" type="sldNum"/>
          </p:nvPr>
        </p:nvSpPr>
        <p:spPr>
          <a:xfrm>
            <a:off x="16550640" y="9646920"/>
            <a:ext cx="914400" cy="36576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2"/>
                </a:solidFill>
                <a:latin typeface="Helvetica Neue"/>
                <a:ea typeface="Helvetica Neue"/>
                <a:cs typeface="Helvetica Neue"/>
                <a:sym typeface="Helvetica Neue"/>
              </a:rPr>
              <a:t>‹#›</a:t>
            </a:fld>
            <a:endParaRPr b="0" i="0" sz="1200" u="none" cap="none" strike="noStrike">
              <a:solidFill>
                <a:schemeClr val="dk2"/>
              </a:solidFill>
              <a:latin typeface="Helvetica Neue"/>
              <a:ea typeface="Helvetica Neue"/>
              <a:cs typeface="Helvetica Neue"/>
              <a:sym typeface="Helvetica Neue"/>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69" name="Shape 1069"/>
        <p:cNvGrpSpPr/>
        <p:nvPr/>
      </p:nvGrpSpPr>
      <p:grpSpPr>
        <a:xfrm>
          <a:off x="0" y="0"/>
          <a:ext cx="0" cy="0"/>
          <a:chOff x="0" y="0"/>
          <a:chExt cx="0" cy="0"/>
        </a:xfrm>
      </p:grpSpPr>
      <p:sp>
        <p:nvSpPr>
          <p:cNvPr id="1070" name="Google Shape;1070;p45"/>
          <p:cNvSpPr txBox="1"/>
          <p:nvPr>
            <p:ph type="title"/>
          </p:nvPr>
        </p:nvSpPr>
        <p:spPr>
          <a:xfrm>
            <a:off x="822960" y="960120"/>
            <a:ext cx="16642080" cy="8229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Arial"/>
              <a:buNone/>
            </a:pPr>
            <a:r>
              <a:rPr b="1" lang="en-US" sz="3600">
                <a:solidFill>
                  <a:schemeClr val="dk1"/>
                </a:solidFill>
              </a:rPr>
              <a:t>Questions and Discussion Points</a:t>
            </a:r>
            <a:endParaRPr sz="3600"/>
          </a:p>
        </p:txBody>
      </p:sp>
      <p:sp>
        <p:nvSpPr>
          <p:cNvPr id="1071" name="Google Shape;1071;p45"/>
          <p:cNvSpPr/>
          <p:nvPr/>
        </p:nvSpPr>
        <p:spPr>
          <a:xfrm>
            <a:off x="822960" y="2194560"/>
            <a:ext cx="16642080" cy="109728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1072" name="Google Shape;1072;p45"/>
          <p:cNvSpPr txBox="1"/>
          <p:nvPr/>
        </p:nvSpPr>
        <p:spPr>
          <a:xfrm>
            <a:off x="1188720" y="2194560"/>
            <a:ext cx="1097280" cy="10972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2800"/>
              <a:buFont typeface="Arial"/>
              <a:buNone/>
            </a:pPr>
            <a:r>
              <a:rPr b="1" i="0" lang="en-US" sz="2800" u="none" cap="none" strike="noStrike">
                <a:solidFill>
                  <a:schemeClr val="accent1"/>
                </a:solidFill>
                <a:latin typeface="Helvetica Neue"/>
                <a:ea typeface="Helvetica Neue"/>
                <a:cs typeface="Helvetica Neue"/>
                <a:sym typeface="Helvetica Neue"/>
              </a:rPr>
              <a:t>01</a:t>
            </a:r>
            <a:endParaRPr b="0" i="0" sz="2800" u="none" cap="none" strike="noStrike">
              <a:solidFill>
                <a:schemeClr val="dk1"/>
              </a:solidFill>
              <a:latin typeface="Helvetica Neue"/>
              <a:ea typeface="Helvetica Neue"/>
              <a:cs typeface="Helvetica Neue"/>
              <a:sym typeface="Helvetica Neue"/>
            </a:endParaRPr>
          </a:p>
        </p:txBody>
      </p:sp>
      <p:sp>
        <p:nvSpPr>
          <p:cNvPr id="1073" name="Google Shape;1073;p45"/>
          <p:cNvSpPr txBox="1"/>
          <p:nvPr/>
        </p:nvSpPr>
        <p:spPr>
          <a:xfrm>
            <a:off x="2468880" y="2194560"/>
            <a:ext cx="14630400" cy="10972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z="2200" u="none" cap="none" strike="noStrike">
                <a:solidFill>
                  <a:schemeClr val="dk1"/>
                </a:solidFill>
                <a:latin typeface="Helvetica Neue"/>
                <a:ea typeface="Helvetica Neue"/>
                <a:cs typeface="Helvetica Neue"/>
                <a:sym typeface="Helvetica Neue"/>
              </a:rPr>
              <a:t>Question or discussion point goes here, written as one clear sentence?</a:t>
            </a:r>
            <a:endParaRPr b="0" i="0" sz="2200" u="none" cap="none" strike="noStrike">
              <a:solidFill>
                <a:schemeClr val="dk1"/>
              </a:solidFill>
              <a:latin typeface="Helvetica Neue"/>
              <a:ea typeface="Helvetica Neue"/>
              <a:cs typeface="Helvetica Neue"/>
              <a:sym typeface="Helvetica Neue"/>
            </a:endParaRPr>
          </a:p>
        </p:txBody>
      </p:sp>
      <p:sp>
        <p:nvSpPr>
          <p:cNvPr id="1074" name="Google Shape;1074;p45"/>
          <p:cNvSpPr/>
          <p:nvPr/>
        </p:nvSpPr>
        <p:spPr>
          <a:xfrm>
            <a:off x="822960" y="3566160"/>
            <a:ext cx="16642080" cy="109728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1075" name="Google Shape;1075;p45"/>
          <p:cNvSpPr txBox="1"/>
          <p:nvPr/>
        </p:nvSpPr>
        <p:spPr>
          <a:xfrm>
            <a:off x="1188720" y="3566160"/>
            <a:ext cx="1097280" cy="10972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2800"/>
              <a:buFont typeface="Arial"/>
              <a:buNone/>
            </a:pPr>
            <a:r>
              <a:rPr b="1" i="0" lang="en-US" sz="2800" u="none" cap="none" strike="noStrike">
                <a:solidFill>
                  <a:schemeClr val="accent1"/>
                </a:solidFill>
                <a:latin typeface="Helvetica Neue"/>
                <a:ea typeface="Helvetica Neue"/>
                <a:cs typeface="Helvetica Neue"/>
                <a:sym typeface="Helvetica Neue"/>
              </a:rPr>
              <a:t>02</a:t>
            </a:r>
            <a:endParaRPr b="0" i="0" sz="2800" u="none" cap="none" strike="noStrike">
              <a:solidFill>
                <a:schemeClr val="dk1"/>
              </a:solidFill>
              <a:latin typeface="Helvetica Neue"/>
              <a:ea typeface="Helvetica Neue"/>
              <a:cs typeface="Helvetica Neue"/>
              <a:sym typeface="Helvetica Neue"/>
            </a:endParaRPr>
          </a:p>
        </p:txBody>
      </p:sp>
      <p:sp>
        <p:nvSpPr>
          <p:cNvPr id="1076" name="Google Shape;1076;p45"/>
          <p:cNvSpPr txBox="1"/>
          <p:nvPr/>
        </p:nvSpPr>
        <p:spPr>
          <a:xfrm>
            <a:off x="2468880" y="3566160"/>
            <a:ext cx="14630400" cy="10972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z="2200" u="none" cap="none" strike="noStrike">
                <a:solidFill>
                  <a:schemeClr val="dk1"/>
                </a:solidFill>
                <a:latin typeface="Helvetica Neue"/>
                <a:ea typeface="Helvetica Neue"/>
                <a:cs typeface="Helvetica Neue"/>
                <a:sym typeface="Helvetica Neue"/>
              </a:rPr>
              <a:t>Question or discussion point goes here, written as one clear sentence?</a:t>
            </a:r>
            <a:endParaRPr b="0" i="0" sz="2200" u="none" cap="none" strike="noStrike">
              <a:solidFill>
                <a:schemeClr val="dk1"/>
              </a:solidFill>
              <a:latin typeface="Helvetica Neue"/>
              <a:ea typeface="Helvetica Neue"/>
              <a:cs typeface="Helvetica Neue"/>
              <a:sym typeface="Helvetica Neue"/>
            </a:endParaRPr>
          </a:p>
        </p:txBody>
      </p:sp>
      <p:sp>
        <p:nvSpPr>
          <p:cNvPr id="1077" name="Google Shape;1077;p45"/>
          <p:cNvSpPr/>
          <p:nvPr/>
        </p:nvSpPr>
        <p:spPr>
          <a:xfrm>
            <a:off x="822960" y="4937760"/>
            <a:ext cx="16642080" cy="109728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1078" name="Google Shape;1078;p45"/>
          <p:cNvSpPr txBox="1"/>
          <p:nvPr/>
        </p:nvSpPr>
        <p:spPr>
          <a:xfrm>
            <a:off x="1188720" y="4937760"/>
            <a:ext cx="1097280" cy="10972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2800"/>
              <a:buFont typeface="Arial"/>
              <a:buNone/>
            </a:pPr>
            <a:r>
              <a:rPr b="1" i="0" lang="en-US" sz="2800" u="none" cap="none" strike="noStrike">
                <a:solidFill>
                  <a:schemeClr val="accent1"/>
                </a:solidFill>
                <a:latin typeface="Helvetica Neue"/>
                <a:ea typeface="Helvetica Neue"/>
                <a:cs typeface="Helvetica Neue"/>
                <a:sym typeface="Helvetica Neue"/>
              </a:rPr>
              <a:t>03</a:t>
            </a:r>
            <a:endParaRPr b="0" i="0" sz="2800" u="none" cap="none" strike="noStrike">
              <a:solidFill>
                <a:schemeClr val="dk1"/>
              </a:solidFill>
              <a:latin typeface="Helvetica Neue"/>
              <a:ea typeface="Helvetica Neue"/>
              <a:cs typeface="Helvetica Neue"/>
              <a:sym typeface="Helvetica Neue"/>
            </a:endParaRPr>
          </a:p>
        </p:txBody>
      </p:sp>
      <p:sp>
        <p:nvSpPr>
          <p:cNvPr id="1079" name="Google Shape;1079;p45"/>
          <p:cNvSpPr txBox="1"/>
          <p:nvPr/>
        </p:nvSpPr>
        <p:spPr>
          <a:xfrm>
            <a:off x="2468880" y="4937760"/>
            <a:ext cx="14630400" cy="10972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z="2200" u="none" cap="none" strike="noStrike">
                <a:solidFill>
                  <a:schemeClr val="dk1"/>
                </a:solidFill>
                <a:latin typeface="Helvetica Neue"/>
                <a:ea typeface="Helvetica Neue"/>
                <a:cs typeface="Helvetica Neue"/>
                <a:sym typeface="Helvetica Neue"/>
              </a:rPr>
              <a:t>Question or discussion point goes here, written as one clear sentence?</a:t>
            </a:r>
            <a:endParaRPr b="0" i="0" sz="2200" u="none" cap="none" strike="noStrike">
              <a:solidFill>
                <a:schemeClr val="dk1"/>
              </a:solidFill>
              <a:latin typeface="Helvetica Neue"/>
              <a:ea typeface="Helvetica Neue"/>
              <a:cs typeface="Helvetica Neue"/>
              <a:sym typeface="Helvetica Neue"/>
            </a:endParaRPr>
          </a:p>
        </p:txBody>
      </p:sp>
      <p:sp>
        <p:nvSpPr>
          <p:cNvPr id="1080" name="Google Shape;1080;p45"/>
          <p:cNvSpPr/>
          <p:nvPr/>
        </p:nvSpPr>
        <p:spPr>
          <a:xfrm>
            <a:off x="822960" y="6309360"/>
            <a:ext cx="16642080" cy="109728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1081" name="Google Shape;1081;p45"/>
          <p:cNvSpPr txBox="1"/>
          <p:nvPr/>
        </p:nvSpPr>
        <p:spPr>
          <a:xfrm>
            <a:off x="1188720" y="6309360"/>
            <a:ext cx="1097280" cy="10972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2800"/>
              <a:buFont typeface="Arial"/>
              <a:buNone/>
            </a:pPr>
            <a:r>
              <a:rPr b="1" i="0" lang="en-US" sz="2800" u="none" cap="none" strike="noStrike">
                <a:solidFill>
                  <a:schemeClr val="accent1"/>
                </a:solidFill>
                <a:latin typeface="Helvetica Neue"/>
                <a:ea typeface="Helvetica Neue"/>
                <a:cs typeface="Helvetica Neue"/>
                <a:sym typeface="Helvetica Neue"/>
              </a:rPr>
              <a:t>04</a:t>
            </a:r>
            <a:endParaRPr b="0" i="0" sz="2800" u="none" cap="none" strike="noStrike">
              <a:solidFill>
                <a:schemeClr val="dk1"/>
              </a:solidFill>
              <a:latin typeface="Helvetica Neue"/>
              <a:ea typeface="Helvetica Neue"/>
              <a:cs typeface="Helvetica Neue"/>
              <a:sym typeface="Helvetica Neue"/>
            </a:endParaRPr>
          </a:p>
        </p:txBody>
      </p:sp>
      <p:sp>
        <p:nvSpPr>
          <p:cNvPr id="1082" name="Google Shape;1082;p45"/>
          <p:cNvSpPr txBox="1"/>
          <p:nvPr/>
        </p:nvSpPr>
        <p:spPr>
          <a:xfrm>
            <a:off x="2468880" y="6309360"/>
            <a:ext cx="14630400" cy="10972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z="2200" u="none" cap="none" strike="noStrike">
                <a:solidFill>
                  <a:schemeClr val="dk1"/>
                </a:solidFill>
                <a:latin typeface="Helvetica Neue"/>
                <a:ea typeface="Helvetica Neue"/>
                <a:cs typeface="Helvetica Neue"/>
                <a:sym typeface="Helvetica Neue"/>
              </a:rPr>
              <a:t>Question or discussion point goes here, written as one clear sentence?</a:t>
            </a:r>
            <a:endParaRPr b="0" i="0" sz="2200" u="none" cap="none" strike="noStrike">
              <a:solidFill>
                <a:schemeClr val="dk1"/>
              </a:solidFill>
              <a:latin typeface="Helvetica Neue"/>
              <a:ea typeface="Helvetica Neue"/>
              <a:cs typeface="Helvetica Neue"/>
              <a:sym typeface="Helvetica Neue"/>
            </a:endParaRPr>
          </a:p>
        </p:txBody>
      </p:sp>
      <p:sp>
        <p:nvSpPr>
          <p:cNvPr id="1083" name="Google Shape;1083;p45"/>
          <p:cNvSpPr/>
          <p:nvPr/>
        </p:nvSpPr>
        <p:spPr>
          <a:xfrm>
            <a:off x="822960" y="7680960"/>
            <a:ext cx="16642080" cy="109728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1084" name="Google Shape;1084;p45"/>
          <p:cNvSpPr txBox="1"/>
          <p:nvPr/>
        </p:nvSpPr>
        <p:spPr>
          <a:xfrm>
            <a:off x="1188720" y="7680960"/>
            <a:ext cx="1097280" cy="10972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2800"/>
              <a:buFont typeface="Arial"/>
              <a:buNone/>
            </a:pPr>
            <a:r>
              <a:rPr b="1" i="0" lang="en-US" sz="2800" u="none" cap="none" strike="noStrike">
                <a:solidFill>
                  <a:schemeClr val="accent1"/>
                </a:solidFill>
                <a:latin typeface="Helvetica Neue"/>
                <a:ea typeface="Helvetica Neue"/>
                <a:cs typeface="Helvetica Neue"/>
                <a:sym typeface="Helvetica Neue"/>
              </a:rPr>
              <a:t>05</a:t>
            </a:r>
            <a:endParaRPr b="0" i="0" sz="2800" u="none" cap="none" strike="noStrike">
              <a:solidFill>
                <a:schemeClr val="dk1"/>
              </a:solidFill>
              <a:latin typeface="Helvetica Neue"/>
              <a:ea typeface="Helvetica Neue"/>
              <a:cs typeface="Helvetica Neue"/>
              <a:sym typeface="Helvetica Neue"/>
            </a:endParaRPr>
          </a:p>
        </p:txBody>
      </p:sp>
      <p:sp>
        <p:nvSpPr>
          <p:cNvPr id="1085" name="Google Shape;1085;p45"/>
          <p:cNvSpPr txBox="1"/>
          <p:nvPr/>
        </p:nvSpPr>
        <p:spPr>
          <a:xfrm>
            <a:off x="2468880" y="7680960"/>
            <a:ext cx="14630400" cy="10972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z="2200" u="none" cap="none" strike="noStrike">
                <a:solidFill>
                  <a:schemeClr val="dk1"/>
                </a:solidFill>
                <a:latin typeface="Helvetica Neue"/>
                <a:ea typeface="Helvetica Neue"/>
                <a:cs typeface="Helvetica Neue"/>
                <a:sym typeface="Helvetica Neue"/>
              </a:rPr>
              <a:t>Question or discussion point goes here, written as one clear sentence?</a:t>
            </a:r>
            <a:endParaRPr b="0" i="0" sz="2200" u="none" cap="none" strike="noStrike">
              <a:solidFill>
                <a:schemeClr val="dk1"/>
              </a:solidFill>
              <a:latin typeface="Helvetica Neue"/>
              <a:ea typeface="Helvetica Neue"/>
              <a:cs typeface="Helvetica Neue"/>
              <a:sym typeface="Helvetica Neue"/>
            </a:endParaRPr>
          </a:p>
        </p:txBody>
      </p:sp>
      <p:sp>
        <p:nvSpPr>
          <p:cNvPr id="1086" name="Google Shape;1086;p45"/>
          <p:cNvSpPr txBox="1"/>
          <p:nvPr>
            <p:ph idx="4294967295" type="sldNum"/>
          </p:nvPr>
        </p:nvSpPr>
        <p:spPr>
          <a:xfrm>
            <a:off x="16550640" y="9646920"/>
            <a:ext cx="914400" cy="36576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2"/>
                </a:solidFill>
                <a:latin typeface="Helvetica Neue"/>
                <a:ea typeface="Helvetica Neue"/>
                <a:cs typeface="Helvetica Neue"/>
                <a:sym typeface="Helvetica Neue"/>
              </a:rPr>
              <a:t>‹#›</a:t>
            </a:fld>
            <a:endParaRPr b="0" i="0" sz="1200" u="none" cap="none" strike="noStrike">
              <a:solidFill>
                <a:schemeClr val="dk2"/>
              </a:solidFill>
              <a:latin typeface="Helvetica Neue"/>
              <a:ea typeface="Helvetica Neue"/>
              <a:cs typeface="Helvetica Neue"/>
              <a:sym typeface="Helvetica Neue"/>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91" name="Shape 1091"/>
        <p:cNvGrpSpPr/>
        <p:nvPr/>
      </p:nvGrpSpPr>
      <p:grpSpPr>
        <a:xfrm>
          <a:off x="0" y="0"/>
          <a:ext cx="0" cy="0"/>
          <a:chOff x="0" y="0"/>
          <a:chExt cx="0" cy="0"/>
        </a:xfrm>
      </p:grpSpPr>
      <p:sp>
        <p:nvSpPr>
          <p:cNvPr id="1092" name="Google Shape;1092;p46"/>
          <p:cNvSpPr txBox="1"/>
          <p:nvPr/>
        </p:nvSpPr>
        <p:spPr>
          <a:xfrm>
            <a:off x="1097280" y="2926080"/>
            <a:ext cx="10972800" cy="1463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8000"/>
              <a:buFont typeface="Arial"/>
              <a:buNone/>
            </a:pPr>
            <a:r>
              <a:rPr b="1" i="0" lang="en-US" sz="8000" u="none" cap="none" strike="noStrike">
                <a:solidFill>
                  <a:schemeClr val="dk1"/>
                </a:solidFill>
                <a:latin typeface="Helvetica Neue"/>
                <a:ea typeface="Helvetica Neue"/>
                <a:cs typeface="Helvetica Neue"/>
                <a:sym typeface="Helvetica Neue"/>
              </a:rPr>
              <a:t>Questions?</a:t>
            </a:r>
            <a:endParaRPr b="0" i="0" sz="8000" u="none" cap="none" strike="noStrike">
              <a:solidFill>
                <a:schemeClr val="dk1"/>
              </a:solidFill>
              <a:latin typeface="Helvetica Neue"/>
              <a:ea typeface="Helvetica Neue"/>
              <a:cs typeface="Helvetica Neue"/>
              <a:sym typeface="Helvetica Neue"/>
            </a:endParaRPr>
          </a:p>
        </p:txBody>
      </p:sp>
      <p:sp>
        <p:nvSpPr>
          <p:cNvPr id="1093" name="Google Shape;1093;p46"/>
          <p:cNvSpPr txBox="1"/>
          <p:nvPr/>
        </p:nvSpPr>
        <p:spPr>
          <a:xfrm>
            <a:off x="1097280" y="4480560"/>
            <a:ext cx="1280160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2800"/>
              <a:buFont typeface="Arial"/>
              <a:buNone/>
            </a:pPr>
            <a:r>
              <a:rPr b="1" i="0" lang="en-US" sz="2800" u="none" cap="none" strike="noStrike">
                <a:solidFill>
                  <a:schemeClr val="accent1"/>
                </a:solidFill>
                <a:latin typeface="Helvetica Neue"/>
                <a:ea typeface="Helvetica Neue"/>
                <a:cs typeface="Helvetica Neue"/>
                <a:sym typeface="Helvetica Neue"/>
              </a:rPr>
              <a:t>We'd love to hear your feedback and answer any questions.</a:t>
            </a:r>
            <a:endParaRPr b="0" i="0" sz="2800" u="none" cap="none" strike="noStrike">
              <a:solidFill>
                <a:schemeClr val="dk1"/>
              </a:solidFill>
              <a:latin typeface="Helvetica Neue"/>
              <a:ea typeface="Helvetica Neue"/>
              <a:cs typeface="Helvetica Neue"/>
              <a:sym typeface="Helvetica Neue"/>
            </a:endParaRPr>
          </a:p>
        </p:txBody>
      </p:sp>
      <p:sp>
        <p:nvSpPr>
          <p:cNvPr id="1094" name="Google Shape;1094;p46"/>
          <p:cNvSpPr txBox="1"/>
          <p:nvPr/>
        </p:nvSpPr>
        <p:spPr>
          <a:xfrm>
            <a:off x="1097280" y="5303520"/>
            <a:ext cx="12801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2000"/>
              <a:buFont typeface="Arial"/>
              <a:buNone/>
            </a:pPr>
            <a:r>
              <a:rPr b="0" i="0" lang="en-US" sz="2000" u="none" cap="none" strike="noStrike">
                <a:solidFill>
                  <a:schemeClr val="dk2"/>
                </a:solidFill>
                <a:latin typeface="Helvetica Neue"/>
                <a:ea typeface="Helvetica Neue"/>
                <a:cs typeface="Helvetica Neue"/>
                <a:sym typeface="Helvetica Neue"/>
              </a:rPr>
              <a:t>Thank you for your time and continued support.</a:t>
            </a:r>
            <a:endParaRPr b="0" i="0" sz="2000" u="none" cap="none" strike="noStrike">
              <a:solidFill>
                <a:schemeClr val="dk1"/>
              </a:solidFill>
              <a:latin typeface="Helvetica Neue"/>
              <a:ea typeface="Helvetica Neue"/>
              <a:cs typeface="Helvetica Neue"/>
              <a:sym typeface="Helvetica Neue"/>
            </a:endParaRPr>
          </a:p>
        </p:txBody>
      </p:sp>
      <p:sp>
        <p:nvSpPr>
          <p:cNvPr id="1095" name="Google Shape;1095;p46"/>
          <p:cNvSpPr txBox="1"/>
          <p:nvPr/>
        </p:nvSpPr>
        <p:spPr>
          <a:xfrm>
            <a:off x="1097280" y="7589520"/>
            <a:ext cx="128016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Helvetica Neue"/>
                <a:ea typeface="Helvetica Neue"/>
                <a:cs typeface="Helvetica Neue"/>
                <a:sym typeface="Helvetica Neue"/>
              </a:rPr>
              <a:t>Corporate Action Intelligence Team</a:t>
            </a:r>
            <a:endParaRPr b="1" i="0" sz="24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600"/>
              </a:spcBef>
              <a:spcAft>
                <a:spcPts val="0"/>
              </a:spcAft>
              <a:buClr>
                <a:srgbClr val="000000"/>
              </a:buClr>
              <a:buSzPts val="2000"/>
              <a:buFont typeface="Arial"/>
              <a:buNone/>
            </a:pPr>
            <a:r>
              <a:rPr b="0" i="0" lang="en-US" sz="2000" u="none" cap="none" strike="noStrike">
                <a:solidFill>
                  <a:schemeClr val="dk2"/>
                </a:solidFill>
                <a:latin typeface="Helvetica Neue"/>
                <a:ea typeface="Helvetica Neue"/>
                <a:cs typeface="Helvetica Neue"/>
                <a:sym typeface="Helvetica Neue"/>
              </a:rPr>
              <a:t>Aesha Gandhi, Pranshul Bhatnagar, Alex Li, Kedar Vaidya, Aaron Jiang</a:t>
            </a:r>
            <a:endParaRPr b="1" i="0" sz="20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2"/>
              </a:buClr>
              <a:buSzPts val="1800"/>
              <a:buFont typeface="Arial"/>
              <a:buNone/>
            </a:pPr>
            <a:r>
              <a:t/>
            </a:r>
            <a:endParaRPr b="1" i="0" sz="1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2"/>
              </a:buClr>
              <a:buSzPts val="1800"/>
              <a:buFont typeface="Arial"/>
              <a:buNone/>
            </a:pPr>
            <a:r>
              <a:t/>
            </a:r>
            <a:endParaRPr b="1"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00" name="Shape 1100"/>
        <p:cNvGrpSpPr/>
        <p:nvPr/>
      </p:nvGrpSpPr>
      <p:grpSpPr>
        <a:xfrm>
          <a:off x="0" y="0"/>
          <a:ext cx="0" cy="0"/>
          <a:chOff x="0" y="0"/>
          <a:chExt cx="0" cy="0"/>
        </a:xfrm>
      </p:grpSpPr>
      <p:sp>
        <p:nvSpPr>
          <p:cNvPr id="1101" name="Google Shape;1101;p47"/>
          <p:cNvSpPr txBox="1"/>
          <p:nvPr/>
        </p:nvSpPr>
        <p:spPr>
          <a:xfrm>
            <a:off x="1028700" y="571500"/>
            <a:ext cx="16230600" cy="95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2B9CAE"/>
                </a:solidFill>
                <a:latin typeface="Helvetica Neue"/>
                <a:ea typeface="Helvetica Neue"/>
                <a:cs typeface="Helvetica Neue"/>
                <a:sym typeface="Helvetica Neue"/>
              </a:rPr>
              <a:t>CORPORATE ACTION INTELLIGENCE</a:t>
            </a:r>
            <a:endParaRPr b="1" i="0" sz="1300" u="none" cap="none" strike="noStrike">
              <a:solidFill>
                <a:srgbClr val="2B9CAE"/>
              </a:solidFill>
              <a:latin typeface="Helvetica Neue"/>
              <a:ea typeface="Helvetica Neue"/>
              <a:cs typeface="Helvetica Neue"/>
              <a:sym typeface="Helvetica Neue"/>
            </a:endParaRPr>
          </a:p>
          <a:p>
            <a:pPr indent="0" lvl="0" marL="0" marR="0" rtl="0" algn="l">
              <a:lnSpc>
                <a:spcPct val="100000"/>
              </a:lnSpc>
              <a:spcBef>
                <a:spcPts val="450"/>
              </a:spcBef>
              <a:spcAft>
                <a:spcPts val="0"/>
              </a:spcAft>
              <a:buClr>
                <a:srgbClr val="000000"/>
              </a:buClr>
              <a:buSzPts val="3600"/>
              <a:buFont typeface="Arial"/>
              <a:buNone/>
            </a:pPr>
            <a:r>
              <a:rPr b="1" i="0" lang="en-US" sz="3600" u="none" cap="none" strike="noStrike">
                <a:solidFill>
                  <a:srgbClr val="04243C"/>
                </a:solidFill>
                <a:latin typeface="Helvetica Neue"/>
                <a:ea typeface="Helvetica Neue"/>
                <a:cs typeface="Helvetica Neue"/>
                <a:sym typeface="Helvetica Neue"/>
              </a:rPr>
              <a:t>Problem Statement &amp; Solution Architecture</a:t>
            </a:r>
            <a:endParaRPr b="1" i="0" sz="3600" u="none" cap="none" strike="noStrike">
              <a:solidFill>
                <a:srgbClr val="04243C"/>
              </a:solidFill>
              <a:latin typeface="Helvetica Neue"/>
              <a:ea typeface="Helvetica Neue"/>
              <a:cs typeface="Helvetica Neue"/>
              <a:sym typeface="Helvetica Neue"/>
            </a:endParaRPr>
          </a:p>
        </p:txBody>
      </p:sp>
      <p:grpSp>
        <p:nvGrpSpPr>
          <p:cNvPr id="1102" name="Google Shape;1102;p47"/>
          <p:cNvGrpSpPr/>
          <p:nvPr/>
        </p:nvGrpSpPr>
        <p:grpSpPr>
          <a:xfrm>
            <a:off x="1028700" y="1666875"/>
            <a:ext cx="5219700" cy="1571700"/>
            <a:chOff x="0" y="0"/>
            <a:chExt cx="5219700" cy="1571700"/>
          </a:xfrm>
        </p:grpSpPr>
        <p:sp>
          <p:nvSpPr>
            <p:cNvPr id="1103" name="Google Shape;1103;p47"/>
            <p:cNvSpPr/>
            <p:nvPr/>
          </p:nvSpPr>
          <p:spPr>
            <a:xfrm>
              <a:off x="0" y="0"/>
              <a:ext cx="5219700" cy="1571700"/>
            </a:xfrm>
            <a:prstGeom prst="roundRect">
              <a:avLst>
                <a:gd fmla="val 7271" name="adj"/>
              </a:avLst>
            </a:prstGeom>
            <a:solidFill>
              <a:srgbClr val="FFFFFF"/>
            </a:solidFill>
            <a:ln cap="flat" cmpd="sng" w="14300">
              <a:solidFill>
                <a:srgbClr val="D5E0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4" name="Google Shape;1104;p47"/>
            <p:cNvSpPr/>
            <p:nvPr/>
          </p:nvSpPr>
          <p:spPr>
            <a:xfrm>
              <a:off x="0" y="0"/>
              <a:ext cx="57300" cy="1571700"/>
            </a:xfrm>
            <a:prstGeom prst="roundRect">
              <a:avLst>
                <a:gd fmla="val 49999" name="adj"/>
              </a:avLst>
            </a:prstGeom>
            <a:solidFill>
              <a:srgbClr val="2B9CAE"/>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5" name="Google Shape;1105;p47"/>
            <p:cNvSpPr txBox="1"/>
            <p:nvPr/>
          </p:nvSpPr>
          <p:spPr>
            <a:xfrm>
              <a:off x="266700" y="171450"/>
              <a:ext cx="4724400" cy="12384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4243C"/>
                  </a:solidFill>
                  <a:latin typeface="Helvetica Neue"/>
                  <a:ea typeface="Helvetica Neue"/>
                  <a:cs typeface="Helvetica Neue"/>
                  <a:sym typeface="Helvetica Neue"/>
                </a:rPr>
                <a:t>Large &amp; Complex Documents</a:t>
              </a:r>
              <a:endParaRPr b="1" i="0" sz="2100" u="none" cap="none" strike="noStrike">
                <a:solidFill>
                  <a:srgbClr val="04243C"/>
                </a:solidFill>
                <a:latin typeface="Helvetica Neue"/>
                <a:ea typeface="Helvetica Neue"/>
                <a:cs typeface="Helvetica Neue"/>
                <a:sym typeface="Helvetica Neue"/>
              </a:endParaRPr>
            </a:p>
            <a:p>
              <a:pPr indent="0" lvl="0" marL="0" marR="0" rtl="0" algn="l">
                <a:lnSpc>
                  <a:spcPct val="100000"/>
                </a:lnSpc>
                <a:spcBef>
                  <a:spcPts val="600"/>
                </a:spcBef>
                <a:spcAft>
                  <a:spcPts val="0"/>
                </a:spcAft>
                <a:buClr>
                  <a:srgbClr val="000000"/>
                </a:buClr>
                <a:buSzPts val="500"/>
                <a:buFont typeface="Arial"/>
                <a:buNone/>
              </a:pPr>
              <a:r>
                <a:t/>
              </a:r>
              <a:endParaRPr b="1" i="0" sz="500" u="none" cap="none" strike="noStrike">
                <a:solidFill>
                  <a:srgbClr val="04243C"/>
                </a:solidFill>
                <a:latin typeface="Helvetica Neue"/>
                <a:ea typeface="Helvetica Neue"/>
                <a:cs typeface="Helvetica Neue"/>
                <a:sym typeface="Helvetica Neue"/>
              </a:endParaRPr>
            </a:p>
            <a:p>
              <a:pPr indent="0" lvl="0" marL="0" marR="0" rtl="0" algn="l">
                <a:lnSpc>
                  <a:spcPct val="100000"/>
                </a:lnSpc>
                <a:spcBef>
                  <a:spcPts val="600"/>
                </a:spcBef>
                <a:spcAft>
                  <a:spcPts val="0"/>
                </a:spcAft>
                <a:buClr>
                  <a:srgbClr val="000000"/>
                </a:buClr>
                <a:buSzPts val="1400"/>
                <a:buFont typeface="Arial"/>
                <a:buNone/>
              </a:pPr>
              <a:r>
                <a:rPr b="0" i="0" lang="en-US" sz="1400" u="none" cap="none" strike="noStrike">
                  <a:solidFill>
                    <a:srgbClr val="475569"/>
                  </a:solidFill>
                  <a:latin typeface="Helvetica Neue"/>
                  <a:ea typeface="Helvetica Neue"/>
                  <a:cs typeface="Helvetica Neue"/>
                  <a:sym typeface="Helvetica Neue"/>
                </a:rPr>
                <a:t>Relevant information is spread across lengthy filings, footnotes, and supporting exhibits.</a:t>
              </a:r>
              <a:endParaRPr b="1" i="0" sz="1400" u="none" cap="none" strike="noStrike">
                <a:solidFill>
                  <a:srgbClr val="2B9CAE"/>
                </a:solidFill>
                <a:latin typeface="Helvetica Neue"/>
                <a:ea typeface="Helvetica Neue"/>
                <a:cs typeface="Helvetica Neue"/>
                <a:sym typeface="Helvetica Neue"/>
              </a:endParaRPr>
            </a:p>
          </p:txBody>
        </p:sp>
      </p:grpSp>
      <p:grpSp>
        <p:nvGrpSpPr>
          <p:cNvPr id="1106" name="Google Shape;1106;p47"/>
          <p:cNvGrpSpPr/>
          <p:nvPr/>
        </p:nvGrpSpPr>
        <p:grpSpPr>
          <a:xfrm>
            <a:off x="6534150" y="1666875"/>
            <a:ext cx="5219700" cy="1571700"/>
            <a:chOff x="0" y="0"/>
            <a:chExt cx="5219700" cy="1571700"/>
          </a:xfrm>
        </p:grpSpPr>
        <p:sp>
          <p:nvSpPr>
            <p:cNvPr id="1107" name="Google Shape;1107;p47"/>
            <p:cNvSpPr/>
            <p:nvPr/>
          </p:nvSpPr>
          <p:spPr>
            <a:xfrm>
              <a:off x="0" y="0"/>
              <a:ext cx="5219700" cy="1571700"/>
            </a:xfrm>
            <a:prstGeom prst="roundRect">
              <a:avLst>
                <a:gd fmla="val 7271" name="adj"/>
              </a:avLst>
            </a:prstGeom>
            <a:solidFill>
              <a:srgbClr val="FFFFFF"/>
            </a:solidFill>
            <a:ln cap="flat" cmpd="sng" w="14300">
              <a:solidFill>
                <a:srgbClr val="D5E0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8" name="Google Shape;1108;p47"/>
            <p:cNvSpPr/>
            <p:nvPr/>
          </p:nvSpPr>
          <p:spPr>
            <a:xfrm>
              <a:off x="0" y="0"/>
              <a:ext cx="57300" cy="1571700"/>
            </a:xfrm>
            <a:prstGeom prst="roundRect">
              <a:avLst>
                <a:gd fmla="val 49999" name="adj"/>
              </a:avLst>
            </a:prstGeom>
            <a:solidFill>
              <a:srgbClr val="2B9CAE"/>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9" name="Google Shape;1109;p47"/>
            <p:cNvSpPr txBox="1"/>
            <p:nvPr/>
          </p:nvSpPr>
          <p:spPr>
            <a:xfrm>
              <a:off x="266700" y="171450"/>
              <a:ext cx="4724400" cy="12384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B9CAE"/>
                  </a:solidFill>
                  <a:latin typeface="Helvetica Neue"/>
                  <a:ea typeface="Helvetica Neue"/>
                  <a:cs typeface="Helvetica Neue"/>
                  <a:sym typeface="Helvetica Neue"/>
                </a:rPr>
                <a:t> </a:t>
              </a:r>
              <a:r>
                <a:rPr b="1" i="0" lang="en-US" sz="2100" u="none" cap="none" strike="noStrike">
                  <a:solidFill>
                    <a:srgbClr val="04243C"/>
                  </a:solidFill>
                  <a:latin typeface="Helvetica Neue"/>
                  <a:ea typeface="Helvetica Neue"/>
                  <a:cs typeface="Helvetica Neue"/>
                  <a:sym typeface="Helvetica Neue"/>
                </a:rPr>
                <a:t>Terms Change Over Time</a:t>
              </a:r>
              <a:endParaRPr b="1" i="0" sz="2100" u="none" cap="none" strike="noStrike">
                <a:solidFill>
                  <a:srgbClr val="04243C"/>
                </a:solidFill>
                <a:latin typeface="Helvetica Neue"/>
                <a:ea typeface="Helvetica Neue"/>
                <a:cs typeface="Helvetica Neue"/>
                <a:sym typeface="Helvetica Neue"/>
              </a:endParaRPr>
            </a:p>
            <a:p>
              <a:pPr indent="0" lvl="0" marL="0" marR="0" rtl="0" algn="l">
                <a:lnSpc>
                  <a:spcPct val="100000"/>
                </a:lnSpc>
                <a:spcBef>
                  <a:spcPts val="600"/>
                </a:spcBef>
                <a:spcAft>
                  <a:spcPts val="0"/>
                </a:spcAft>
                <a:buClr>
                  <a:srgbClr val="000000"/>
                </a:buClr>
                <a:buSzPts val="500"/>
                <a:buFont typeface="Arial"/>
                <a:buNone/>
              </a:pPr>
              <a:r>
                <a:t/>
              </a:r>
              <a:endParaRPr b="1" i="0" sz="500" u="none" cap="none" strike="noStrike">
                <a:solidFill>
                  <a:srgbClr val="04243C"/>
                </a:solidFill>
                <a:latin typeface="Helvetica Neue"/>
                <a:ea typeface="Helvetica Neue"/>
                <a:cs typeface="Helvetica Neue"/>
                <a:sym typeface="Helvetica Neue"/>
              </a:endParaRPr>
            </a:p>
            <a:p>
              <a:pPr indent="0" lvl="0" marL="0" marR="0" rtl="0" algn="l">
                <a:lnSpc>
                  <a:spcPct val="100000"/>
                </a:lnSpc>
                <a:spcBef>
                  <a:spcPts val="600"/>
                </a:spcBef>
                <a:spcAft>
                  <a:spcPts val="0"/>
                </a:spcAft>
                <a:buClr>
                  <a:srgbClr val="000000"/>
                </a:buClr>
                <a:buSzPts val="1400"/>
                <a:buFont typeface="Arial"/>
                <a:buNone/>
              </a:pPr>
              <a:r>
                <a:rPr b="0" i="0" lang="en-US" sz="1400" u="none" cap="none" strike="noStrike">
                  <a:solidFill>
                    <a:srgbClr val="475569"/>
                  </a:solidFill>
                  <a:latin typeface="Helvetica Neue"/>
                  <a:ea typeface="Helvetica Neue"/>
                  <a:cs typeface="Helvetica Neue"/>
                  <a:sym typeface="Helvetica Neue"/>
                </a:rPr>
                <a:t>Amendments dynamically revise transaction prices, key dates, and execution conditions.</a:t>
              </a:r>
              <a:endParaRPr b="1" i="0" sz="1400" u="none" cap="none" strike="noStrike">
                <a:solidFill>
                  <a:srgbClr val="2B9CAE"/>
                </a:solidFill>
                <a:latin typeface="Helvetica Neue"/>
                <a:ea typeface="Helvetica Neue"/>
                <a:cs typeface="Helvetica Neue"/>
                <a:sym typeface="Helvetica Neue"/>
              </a:endParaRPr>
            </a:p>
          </p:txBody>
        </p:sp>
      </p:grpSp>
      <p:grpSp>
        <p:nvGrpSpPr>
          <p:cNvPr id="1110" name="Google Shape;1110;p47"/>
          <p:cNvGrpSpPr/>
          <p:nvPr/>
        </p:nvGrpSpPr>
        <p:grpSpPr>
          <a:xfrm>
            <a:off x="12039600" y="1666875"/>
            <a:ext cx="5219700" cy="1571700"/>
            <a:chOff x="0" y="0"/>
            <a:chExt cx="5219700" cy="1571700"/>
          </a:xfrm>
        </p:grpSpPr>
        <p:sp>
          <p:nvSpPr>
            <p:cNvPr id="1111" name="Google Shape;1111;p47"/>
            <p:cNvSpPr/>
            <p:nvPr/>
          </p:nvSpPr>
          <p:spPr>
            <a:xfrm>
              <a:off x="0" y="0"/>
              <a:ext cx="5219700" cy="1571700"/>
            </a:xfrm>
            <a:prstGeom prst="roundRect">
              <a:avLst>
                <a:gd fmla="val 7271" name="adj"/>
              </a:avLst>
            </a:prstGeom>
            <a:solidFill>
              <a:srgbClr val="FFFFFF"/>
            </a:solidFill>
            <a:ln cap="flat" cmpd="sng" w="14300">
              <a:solidFill>
                <a:srgbClr val="D5E0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2" name="Google Shape;1112;p47"/>
            <p:cNvSpPr/>
            <p:nvPr/>
          </p:nvSpPr>
          <p:spPr>
            <a:xfrm>
              <a:off x="0" y="0"/>
              <a:ext cx="57300" cy="1571700"/>
            </a:xfrm>
            <a:prstGeom prst="roundRect">
              <a:avLst>
                <a:gd fmla="val 49999" name="adj"/>
              </a:avLst>
            </a:prstGeom>
            <a:solidFill>
              <a:srgbClr val="2B9CAE"/>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3" name="Google Shape;1113;p47"/>
            <p:cNvSpPr txBox="1"/>
            <p:nvPr/>
          </p:nvSpPr>
          <p:spPr>
            <a:xfrm>
              <a:off x="266700" y="171450"/>
              <a:ext cx="4724400" cy="12384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4243C"/>
                  </a:solidFill>
                  <a:latin typeface="Helvetica Neue"/>
                  <a:ea typeface="Helvetica Neue"/>
                  <a:cs typeface="Helvetica Neue"/>
                  <a:sym typeface="Helvetica Neue"/>
                </a:rPr>
                <a:t>Values Need Context</a:t>
              </a:r>
              <a:endParaRPr b="1" i="0" sz="2100" u="none" cap="none" strike="noStrike">
                <a:solidFill>
                  <a:srgbClr val="04243C"/>
                </a:solidFill>
                <a:latin typeface="Helvetica Neue"/>
                <a:ea typeface="Helvetica Neue"/>
                <a:cs typeface="Helvetica Neue"/>
                <a:sym typeface="Helvetica Neue"/>
              </a:endParaRPr>
            </a:p>
            <a:p>
              <a:pPr indent="0" lvl="0" marL="0" marR="0" rtl="0" algn="l">
                <a:lnSpc>
                  <a:spcPct val="100000"/>
                </a:lnSpc>
                <a:spcBef>
                  <a:spcPts val="600"/>
                </a:spcBef>
                <a:spcAft>
                  <a:spcPts val="0"/>
                </a:spcAft>
                <a:buClr>
                  <a:srgbClr val="000000"/>
                </a:buClr>
                <a:buSzPts val="500"/>
                <a:buFont typeface="Arial"/>
                <a:buNone/>
              </a:pPr>
              <a:r>
                <a:t/>
              </a:r>
              <a:endParaRPr b="1" i="0" sz="500" u="none" cap="none" strike="noStrike">
                <a:solidFill>
                  <a:srgbClr val="04243C"/>
                </a:solidFill>
                <a:latin typeface="Helvetica Neue"/>
                <a:ea typeface="Helvetica Neue"/>
                <a:cs typeface="Helvetica Neue"/>
                <a:sym typeface="Helvetica Neue"/>
              </a:endParaRPr>
            </a:p>
            <a:p>
              <a:pPr indent="0" lvl="0" marL="0" marR="0" rtl="0" algn="l">
                <a:lnSpc>
                  <a:spcPct val="100000"/>
                </a:lnSpc>
                <a:spcBef>
                  <a:spcPts val="600"/>
                </a:spcBef>
                <a:spcAft>
                  <a:spcPts val="0"/>
                </a:spcAft>
                <a:buClr>
                  <a:srgbClr val="000000"/>
                </a:buClr>
                <a:buSzPts val="1400"/>
                <a:buFont typeface="Arial"/>
                <a:buNone/>
              </a:pPr>
              <a:r>
                <a:rPr b="0" i="0" lang="en-US" sz="1400" u="none" cap="none" strike="noStrike">
                  <a:solidFill>
                    <a:srgbClr val="475569"/>
                  </a:solidFill>
                  <a:latin typeface="Helvetica Neue"/>
                  <a:ea typeface="Helvetica Neue"/>
                  <a:cs typeface="Helvetica Neue"/>
                  <a:sym typeface="Helvetica Neue"/>
                </a:rPr>
                <a:t>Key numerical values must be linked to the correct event, field, and verified source.</a:t>
              </a:r>
              <a:endParaRPr b="1" i="0" sz="1400" u="none" cap="none" strike="noStrike">
                <a:solidFill>
                  <a:srgbClr val="2B9CAE"/>
                </a:solidFill>
                <a:latin typeface="Helvetica Neue"/>
                <a:ea typeface="Helvetica Neue"/>
                <a:cs typeface="Helvetica Neue"/>
                <a:sym typeface="Helvetica Neue"/>
              </a:endParaRPr>
            </a:p>
          </p:txBody>
        </p:sp>
      </p:grpSp>
      <p:grpSp>
        <p:nvGrpSpPr>
          <p:cNvPr id="1114" name="Google Shape;1114;p47"/>
          <p:cNvGrpSpPr/>
          <p:nvPr/>
        </p:nvGrpSpPr>
        <p:grpSpPr>
          <a:xfrm>
            <a:off x="1028700" y="4457700"/>
            <a:ext cx="16230600" cy="647700"/>
            <a:chOff x="0" y="0"/>
            <a:chExt cx="16230600" cy="647700"/>
          </a:xfrm>
        </p:grpSpPr>
        <p:sp>
          <p:nvSpPr>
            <p:cNvPr id="1115" name="Google Shape;1115;p47"/>
            <p:cNvSpPr/>
            <p:nvPr/>
          </p:nvSpPr>
          <p:spPr>
            <a:xfrm>
              <a:off x="0" y="0"/>
              <a:ext cx="16230600" cy="647700"/>
            </a:xfrm>
            <a:prstGeom prst="roundRect">
              <a:avLst>
                <a:gd fmla="val 14705" name="adj"/>
              </a:avLst>
            </a:prstGeom>
            <a:solidFill>
              <a:srgbClr val="04243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1116" name="Google Shape;1116;p47"/>
            <p:cNvSpPr txBox="1"/>
            <p:nvPr/>
          </p:nvSpPr>
          <p:spPr>
            <a:xfrm>
              <a:off x="285750" y="0"/>
              <a:ext cx="15659100" cy="647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2B9CAE"/>
                  </a:solidFill>
                  <a:latin typeface="Helvetica Neue"/>
                  <a:ea typeface="Helvetica Neue"/>
                  <a:cs typeface="Helvetica Neue"/>
                  <a:sym typeface="Helvetica Neue"/>
                </a:rPr>
                <a:t>GOAL:</a:t>
              </a:r>
              <a:r>
                <a:rPr b="0" i="0" lang="en-US" sz="1700" u="none" cap="none" strike="noStrike">
                  <a:solidFill>
                    <a:srgbClr val="FFFFFF"/>
                  </a:solidFill>
                  <a:latin typeface="Helvetica Neue"/>
                  <a:ea typeface="Helvetica Neue"/>
                  <a:cs typeface="Helvetica Neue"/>
                  <a:sym typeface="Helvetica Neue"/>
                </a:rPr>
                <a:t> Build a structured corporate-action dataset with traceable evidence for review and downstream automated processing.</a:t>
              </a:r>
              <a:endParaRPr b="0" i="0" sz="1700" u="none" cap="none" strike="noStrike">
                <a:solidFill>
                  <a:srgbClr val="FFFFFF"/>
                </a:solidFill>
                <a:latin typeface="Helvetica Neue"/>
                <a:ea typeface="Helvetica Neue"/>
                <a:cs typeface="Helvetica Neue"/>
                <a:sym typeface="Helvetica Neue"/>
              </a:endParaRPr>
            </a:p>
          </p:txBody>
        </p:sp>
      </p:grpSp>
      <p:grpSp>
        <p:nvGrpSpPr>
          <p:cNvPr id="1117" name="Google Shape;1117;p47"/>
          <p:cNvGrpSpPr/>
          <p:nvPr/>
        </p:nvGrpSpPr>
        <p:grpSpPr>
          <a:xfrm>
            <a:off x="1028700" y="5470301"/>
            <a:ext cx="3838500" cy="2857500"/>
            <a:chOff x="0" y="0"/>
            <a:chExt cx="3838500" cy="2857500"/>
          </a:xfrm>
        </p:grpSpPr>
        <p:sp>
          <p:nvSpPr>
            <p:cNvPr id="1118" name="Google Shape;1118;p47"/>
            <p:cNvSpPr/>
            <p:nvPr/>
          </p:nvSpPr>
          <p:spPr>
            <a:xfrm>
              <a:off x="0" y="0"/>
              <a:ext cx="3838500" cy="2857500"/>
            </a:xfrm>
            <a:prstGeom prst="roundRect">
              <a:avLst>
                <a:gd fmla="val 3999" name="adj"/>
              </a:avLst>
            </a:prstGeom>
            <a:solidFill>
              <a:srgbClr val="FFFFFF"/>
            </a:solidFill>
            <a:ln cap="flat" cmpd="sng" w="14300">
              <a:solidFill>
                <a:srgbClr val="D5E0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9" name="Google Shape;1119;p47"/>
            <p:cNvSpPr txBox="1"/>
            <p:nvPr/>
          </p:nvSpPr>
          <p:spPr>
            <a:xfrm>
              <a:off x="228600" y="228600"/>
              <a:ext cx="3381300" cy="24003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2B9CAE"/>
                  </a:solidFill>
                  <a:highlight>
                    <a:srgbClr val="04243C"/>
                  </a:highlight>
                  <a:latin typeface="Mate"/>
                  <a:ea typeface="Mate"/>
                  <a:cs typeface="Mate"/>
                  <a:sym typeface="Mate"/>
                </a:rPr>
                <a:t>input</a:t>
              </a:r>
              <a:r>
                <a:rPr b="1" i="0" lang="en-US" sz="2200" u="none" cap="none" strike="noStrike">
                  <a:solidFill>
                    <a:srgbClr val="2B9CAE"/>
                  </a:solidFill>
                  <a:latin typeface="Helvetica Neue"/>
                  <a:ea typeface="Helvetica Neue"/>
                  <a:cs typeface="Helvetica Neue"/>
                  <a:sym typeface="Helvetica Neue"/>
                </a:rPr>
                <a:t> 01</a:t>
              </a:r>
              <a:endParaRPr b="1" i="0" sz="2200" u="none" cap="none" strike="noStrike">
                <a:solidFill>
                  <a:srgbClr val="2B9CAE"/>
                </a:solidFill>
                <a:latin typeface="Helvetica Neue"/>
                <a:ea typeface="Helvetica Neue"/>
                <a:cs typeface="Helvetica Neue"/>
                <a:sym typeface="Helvetica Neue"/>
              </a:endParaRPr>
            </a:p>
            <a:p>
              <a:pPr indent="0" lvl="0" marL="0" marR="0" rtl="0" algn="l">
                <a:lnSpc>
                  <a:spcPct val="100000"/>
                </a:lnSpc>
                <a:spcBef>
                  <a:spcPts val="1000"/>
                </a:spcBef>
                <a:spcAft>
                  <a:spcPts val="0"/>
                </a:spcAft>
                <a:buClr>
                  <a:srgbClr val="000000"/>
                </a:buClr>
                <a:buSzPts val="700"/>
                <a:buFont typeface="Arial"/>
                <a:buNone/>
              </a:pPr>
              <a:r>
                <a:t/>
              </a:r>
              <a:endParaRPr b="1" i="0" sz="700" u="none" cap="none" strike="noStrike">
                <a:solidFill>
                  <a:srgbClr val="2B9CAE"/>
                </a:solidFill>
                <a:latin typeface="Helvetica Neue"/>
                <a:ea typeface="Helvetica Neue"/>
                <a:cs typeface="Helvetica Neue"/>
                <a:sym typeface="Helvetica Neue"/>
              </a:endParaRPr>
            </a:p>
            <a:p>
              <a:pPr indent="0" lvl="0" marL="0" marR="0" rtl="0" algn="l">
                <a:lnSpc>
                  <a:spcPct val="100000"/>
                </a:lnSpc>
                <a:spcBef>
                  <a:spcPts val="1000"/>
                </a:spcBef>
                <a:spcAft>
                  <a:spcPts val="0"/>
                </a:spcAft>
                <a:buClr>
                  <a:srgbClr val="000000"/>
                </a:buClr>
                <a:buSzPts val="2200"/>
                <a:buFont typeface="Arial"/>
                <a:buNone/>
              </a:pPr>
              <a:r>
                <a:rPr b="1" i="0" lang="en-US" sz="2200" u="none" cap="none" strike="noStrike">
                  <a:solidFill>
                    <a:srgbClr val="04243C"/>
                  </a:solidFill>
                  <a:latin typeface="Helvetica Neue"/>
                  <a:ea typeface="Helvetica Neue"/>
                  <a:cs typeface="Helvetica Neue"/>
                  <a:sym typeface="Helvetica Neue"/>
                </a:rPr>
                <a:t>Intake &amp; Classification</a:t>
              </a:r>
              <a:endParaRPr b="0" i="0" sz="2200" u="none" cap="none" strike="noStrike">
                <a:solidFill>
                  <a:srgbClr val="2B9CAE"/>
                </a:solidFill>
                <a:latin typeface="Mate"/>
                <a:ea typeface="Mate"/>
                <a:cs typeface="Mate"/>
                <a:sym typeface="Mate"/>
              </a:endParaRPr>
            </a:p>
            <a:p>
              <a:pPr indent="0" lvl="0" marL="0" marR="0" rtl="0" algn="l">
                <a:lnSpc>
                  <a:spcPct val="100000"/>
                </a:lnSpc>
                <a:spcBef>
                  <a:spcPts val="800"/>
                </a:spcBef>
                <a:spcAft>
                  <a:spcPts val="0"/>
                </a:spcAft>
                <a:buClr>
                  <a:srgbClr val="000000"/>
                </a:buClr>
                <a:buSzPts val="1450"/>
                <a:buFont typeface="Arial"/>
                <a:buNone/>
              </a:pPr>
              <a:r>
                <a:t/>
              </a:r>
              <a:endParaRPr b="0" i="0" sz="1450" u="none" cap="none" strike="noStrike">
                <a:solidFill>
                  <a:srgbClr val="2B9CAE"/>
                </a:solidFill>
                <a:latin typeface="Mate"/>
                <a:ea typeface="Mate"/>
                <a:cs typeface="Mate"/>
                <a:sym typeface="Mate"/>
              </a:endParaRPr>
            </a:p>
          </p:txBody>
        </p:sp>
      </p:grpSp>
      <p:grpSp>
        <p:nvGrpSpPr>
          <p:cNvPr id="1120" name="Google Shape;1120;p47"/>
          <p:cNvGrpSpPr/>
          <p:nvPr/>
        </p:nvGrpSpPr>
        <p:grpSpPr>
          <a:xfrm>
            <a:off x="5153025" y="5470301"/>
            <a:ext cx="3838500" cy="2857500"/>
            <a:chOff x="0" y="0"/>
            <a:chExt cx="3838500" cy="2857500"/>
          </a:xfrm>
        </p:grpSpPr>
        <p:sp>
          <p:nvSpPr>
            <p:cNvPr id="1121" name="Google Shape;1121;p47"/>
            <p:cNvSpPr/>
            <p:nvPr/>
          </p:nvSpPr>
          <p:spPr>
            <a:xfrm>
              <a:off x="0" y="0"/>
              <a:ext cx="3838500" cy="2857500"/>
            </a:xfrm>
            <a:prstGeom prst="roundRect">
              <a:avLst>
                <a:gd fmla="val 3999" name="adj"/>
              </a:avLst>
            </a:prstGeom>
            <a:solidFill>
              <a:srgbClr val="FFFFFF"/>
            </a:solidFill>
            <a:ln cap="flat" cmpd="sng" w="14300">
              <a:solidFill>
                <a:srgbClr val="D5E0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2" name="Google Shape;1122;p47"/>
            <p:cNvSpPr txBox="1"/>
            <p:nvPr/>
          </p:nvSpPr>
          <p:spPr>
            <a:xfrm>
              <a:off x="228600" y="228600"/>
              <a:ext cx="3381300" cy="24003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2B9CAE"/>
                  </a:solidFill>
                  <a:highlight>
                    <a:srgbClr val="04243C"/>
                  </a:highlight>
                  <a:latin typeface="Mate"/>
                  <a:ea typeface="Mate"/>
                  <a:cs typeface="Mate"/>
                  <a:sym typeface="Mate"/>
                </a:rPr>
                <a:t>timeline</a:t>
              </a:r>
              <a:r>
                <a:rPr b="1" i="0" lang="en-US" sz="2200" u="none" cap="none" strike="noStrike">
                  <a:solidFill>
                    <a:srgbClr val="2B9CAE"/>
                  </a:solidFill>
                  <a:latin typeface="Helvetica Neue"/>
                  <a:ea typeface="Helvetica Neue"/>
                  <a:cs typeface="Helvetica Neue"/>
                  <a:sym typeface="Helvetica Neue"/>
                </a:rPr>
                <a:t> 02</a:t>
              </a:r>
              <a:endParaRPr b="1" i="0" sz="2200" u="none" cap="none" strike="noStrike">
                <a:solidFill>
                  <a:srgbClr val="2B9CAE"/>
                </a:solidFill>
                <a:latin typeface="Helvetica Neue"/>
                <a:ea typeface="Helvetica Neue"/>
                <a:cs typeface="Helvetica Neue"/>
                <a:sym typeface="Helvetica Neue"/>
              </a:endParaRPr>
            </a:p>
            <a:p>
              <a:pPr indent="0" lvl="0" marL="0" marR="0" rtl="0" algn="l">
                <a:lnSpc>
                  <a:spcPct val="100000"/>
                </a:lnSpc>
                <a:spcBef>
                  <a:spcPts val="1000"/>
                </a:spcBef>
                <a:spcAft>
                  <a:spcPts val="0"/>
                </a:spcAft>
                <a:buClr>
                  <a:srgbClr val="000000"/>
                </a:buClr>
                <a:buSzPts val="700"/>
                <a:buFont typeface="Arial"/>
                <a:buNone/>
              </a:pPr>
              <a:r>
                <a:t/>
              </a:r>
              <a:endParaRPr b="1" i="0" sz="700" u="none" cap="none" strike="noStrike">
                <a:solidFill>
                  <a:srgbClr val="2B9CAE"/>
                </a:solidFill>
                <a:latin typeface="Helvetica Neue"/>
                <a:ea typeface="Helvetica Neue"/>
                <a:cs typeface="Helvetica Neue"/>
                <a:sym typeface="Helvetica Neue"/>
              </a:endParaRPr>
            </a:p>
            <a:p>
              <a:pPr indent="0" lvl="0" marL="0" marR="0" rtl="0" algn="l">
                <a:lnSpc>
                  <a:spcPct val="100000"/>
                </a:lnSpc>
                <a:spcBef>
                  <a:spcPts val="1000"/>
                </a:spcBef>
                <a:spcAft>
                  <a:spcPts val="0"/>
                </a:spcAft>
                <a:buClr>
                  <a:srgbClr val="000000"/>
                </a:buClr>
                <a:buSzPts val="2200"/>
                <a:buFont typeface="Arial"/>
                <a:buNone/>
              </a:pPr>
              <a:r>
                <a:rPr b="1" i="0" lang="en-US" sz="2200" u="none" cap="none" strike="noStrike">
                  <a:solidFill>
                    <a:srgbClr val="04243C"/>
                  </a:solidFill>
                  <a:latin typeface="Helvetica Neue"/>
                  <a:ea typeface="Helvetica Neue"/>
                  <a:cs typeface="Helvetica Neue"/>
                  <a:sym typeface="Helvetica Neue"/>
                </a:rPr>
                <a:t>Temporal Event Tracking</a:t>
              </a:r>
              <a:endParaRPr b="0" i="0" sz="2200" u="none" cap="none" strike="noStrike">
                <a:solidFill>
                  <a:srgbClr val="2B9CAE"/>
                </a:solidFill>
                <a:latin typeface="Mate"/>
                <a:ea typeface="Mate"/>
                <a:cs typeface="Mate"/>
                <a:sym typeface="Mate"/>
              </a:endParaRPr>
            </a:p>
            <a:p>
              <a:pPr indent="0" lvl="0" marL="0" marR="0" rtl="0" algn="l">
                <a:lnSpc>
                  <a:spcPct val="100000"/>
                </a:lnSpc>
                <a:spcBef>
                  <a:spcPts val="800"/>
                </a:spcBef>
                <a:spcAft>
                  <a:spcPts val="0"/>
                </a:spcAft>
                <a:buClr>
                  <a:srgbClr val="000000"/>
                </a:buClr>
                <a:buSzPts val="1450"/>
                <a:buFont typeface="Arial"/>
                <a:buNone/>
              </a:pPr>
              <a:r>
                <a:t/>
              </a:r>
              <a:endParaRPr b="0" i="0" sz="1450" u="none" cap="none" strike="noStrike">
                <a:solidFill>
                  <a:srgbClr val="2B9CAE"/>
                </a:solidFill>
                <a:latin typeface="Mate"/>
                <a:ea typeface="Mate"/>
                <a:cs typeface="Mate"/>
                <a:sym typeface="Mate"/>
              </a:endParaRPr>
            </a:p>
          </p:txBody>
        </p:sp>
      </p:grpSp>
      <p:grpSp>
        <p:nvGrpSpPr>
          <p:cNvPr id="1123" name="Google Shape;1123;p47"/>
          <p:cNvGrpSpPr/>
          <p:nvPr/>
        </p:nvGrpSpPr>
        <p:grpSpPr>
          <a:xfrm>
            <a:off x="9286875" y="5470301"/>
            <a:ext cx="3838500" cy="2857500"/>
            <a:chOff x="0" y="0"/>
            <a:chExt cx="3838500" cy="2857500"/>
          </a:xfrm>
        </p:grpSpPr>
        <p:sp>
          <p:nvSpPr>
            <p:cNvPr id="1124" name="Google Shape;1124;p47"/>
            <p:cNvSpPr/>
            <p:nvPr/>
          </p:nvSpPr>
          <p:spPr>
            <a:xfrm>
              <a:off x="0" y="0"/>
              <a:ext cx="3838500" cy="2857500"/>
            </a:xfrm>
            <a:prstGeom prst="roundRect">
              <a:avLst>
                <a:gd fmla="val 3999" name="adj"/>
              </a:avLst>
            </a:prstGeom>
            <a:solidFill>
              <a:srgbClr val="FFFFFF"/>
            </a:solidFill>
            <a:ln cap="flat" cmpd="sng" w="14300">
              <a:solidFill>
                <a:srgbClr val="D5E0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5" name="Google Shape;1125;p47"/>
            <p:cNvSpPr txBox="1"/>
            <p:nvPr/>
          </p:nvSpPr>
          <p:spPr>
            <a:xfrm>
              <a:off x="228600" y="228600"/>
              <a:ext cx="3381300" cy="24003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2B9CAE"/>
                  </a:solidFill>
                  <a:highlight>
                    <a:srgbClr val="04243C"/>
                  </a:highlight>
                  <a:latin typeface="Mate"/>
                  <a:ea typeface="Mate"/>
                  <a:cs typeface="Mate"/>
                  <a:sym typeface="Mate"/>
                </a:rPr>
                <a:t>settings</a:t>
              </a:r>
              <a:r>
                <a:rPr b="1" i="0" lang="en-US" sz="2200" u="none" cap="none" strike="noStrike">
                  <a:solidFill>
                    <a:srgbClr val="2B9CAE"/>
                  </a:solidFill>
                  <a:latin typeface="Helvetica Neue"/>
                  <a:ea typeface="Helvetica Neue"/>
                  <a:cs typeface="Helvetica Neue"/>
                  <a:sym typeface="Helvetica Neue"/>
                </a:rPr>
                <a:t> 03</a:t>
              </a:r>
              <a:endParaRPr b="1" i="0" sz="2200" u="none" cap="none" strike="noStrike">
                <a:solidFill>
                  <a:srgbClr val="2B9CAE"/>
                </a:solidFill>
                <a:latin typeface="Helvetica Neue"/>
                <a:ea typeface="Helvetica Neue"/>
                <a:cs typeface="Helvetica Neue"/>
                <a:sym typeface="Helvetica Neue"/>
              </a:endParaRPr>
            </a:p>
            <a:p>
              <a:pPr indent="0" lvl="0" marL="0" marR="0" rtl="0" algn="l">
                <a:lnSpc>
                  <a:spcPct val="100000"/>
                </a:lnSpc>
                <a:spcBef>
                  <a:spcPts val="1000"/>
                </a:spcBef>
                <a:spcAft>
                  <a:spcPts val="0"/>
                </a:spcAft>
                <a:buClr>
                  <a:srgbClr val="000000"/>
                </a:buClr>
                <a:buSzPts val="700"/>
                <a:buFont typeface="Arial"/>
                <a:buNone/>
              </a:pPr>
              <a:r>
                <a:t/>
              </a:r>
              <a:endParaRPr b="1" i="0" sz="700" u="none" cap="none" strike="noStrike">
                <a:solidFill>
                  <a:srgbClr val="2B9CAE"/>
                </a:solidFill>
                <a:latin typeface="Helvetica Neue"/>
                <a:ea typeface="Helvetica Neue"/>
                <a:cs typeface="Helvetica Neue"/>
                <a:sym typeface="Helvetica Neue"/>
              </a:endParaRPr>
            </a:p>
            <a:p>
              <a:pPr indent="0" lvl="0" marL="0" marR="0" rtl="0" algn="l">
                <a:lnSpc>
                  <a:spcPct val="100000"/>
                </a:lnSpc>
                <a:spcBef>
                  <a:spcPts val="1000"/>
                </a:spcBef>
                <a:spcAft>
                  <a:spcPts val="0"/>
                </a:spcAft>
                <a:buClr>
                  <a:srgbClr val="000000"/>
                </a:buClr>
                <a:buSzPts val="2200"/>
                <a:buFont typeface="Arial"/>
                <a:buNone/>
              </a:pPr>
              <a:r>
                <a:rPr b="1" i="0" lang="en-US" sz="2200" u="none" cap="none" strike="noStrike">
                  <a:solidFill>
                    <a:srgbClr val="04243C"/>
                  </a:solidFill>
                  <a:latin typeface="Helvetica Neue"/>
                  <a:ea typeface="Helvetica Neue"/>
                  <a:cs typeface="Helvetica Neue"/>
                  <a:sym typeface="Helvetica Neue"/>
                </a:rPr>
                <a:t>Downstream Processing</a:t>
              </a:r>
              <a:endParaRPr b="0" i="0" sz="2200" u="none" cap="none" strike="noStrike">
                <a:solidFill>
                  <a:srgbClr val="2B9CAE"/>
                </a:solidFill>
                <a:latin typeface="Mate"/>
                <a:ea typeface="Mate"/>
                <a:cs typeface="Mate"/>
                <a:sym typeface="Mate"/>
              </a:endParaRPr>
            </a:p>
            <a:p>
              <a:pPr indent="0" lvl="0" marL="0" marR="0" rtl="0" algn="l">
                <a:lnSpc>
                  <a:spcPct val="100000"/>
                </a:lnSpc>
                <a:spcBef>
                  <a:spcPts val="800"/>
                </a:spcBef>
                <a:spcAft>
                  <a:spcPts val="0"/>
                </a:spcAft>
                <a:buClr>
                  <a:srgbClr val="000000"/>
                </a:buClr>
                <a:buSzPts val="1450"/>
                <a:buFont typeface="Arial"/>
                <a:buNone/>
              </a:pPr>
              <a:r>
                <a:t/>
              </a:r>
              <a:endParaRPr b="0" i="0" sz="1450" u="none" cap="none" strike="noStrike">
                <a:solidFill>
                  <a:srgbClr val="2B9CAE"/>
                </a:solidFill>
                <a:latin typeface="Mate"/>
                <a:ea typeface="Mate"/>
                <a:cs typeface="Mate"/>
                <a:sym typeface="Mate"/>
              </a:endParaRPr>
            </a:p>
          </p:txBody>
        </p:sp>
      </p:grpSp>
      <p:grpSp>
        <p:nvGrpSpPr>
          <p:cNvPr id="1126" name="Google Shape;1126;p47"/>
          <p:cNvGrpSpPr/>
          <p:nvPr/>
        </p:nvGrpSpPr>
        <p:grpSpPr>
          <a:xfrm>
            <a:off x="1028700" y="3619538"/>
            <a:ext cx="16230600" cy="695287"/>
            <a:chOff x="0" y="-238087"/>
            <a:chExt cx="16230600" cy="695287"/>
          </a:xfrm>
        </p:grpSpPr>
        <p:sp>
          <p:nvSpPr>
            <p:cNvPr id="1127" name="Google Shape;1127;p47"/>
            <p:cNvSpPr/>
            <p:nvPr/>
          </p:nvSpPr>
          <p:spPr>
            <a:xfrm>
              <a:off x="0" y="0"/>
              <a:ext cx="16230600" cy="457200"/>
            </a:xfrm>
            <a:prstGeom prst="roundRect">
              <a:avLst>
                <a:gd fmla="val 16666" name="adj"/>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1128" name="Google Shape;1128;p47"/>
            <p:cNvSpPr txBox="1"/>
            <p:nvPr/>
          </p:nvSpPr>
          <p:spPr>
            <a:xfrm>
              <a:off x="0" y="-238087"/>
              <a:ext cx="162306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2B9CAE"/>
                  </a:solidFill>
                  <a:latin typeface="Helvetica Neue"/>
                  <a:ea typeface="Helvetica Neue"/>
                  <a:cs typeface="Helvetica Neue"/>
                  <a:sym typeface="Helvetica Neue"/>
                </a:rPr>
                <a:t>Covered Event Types: </a:t>
              </a:r>
              <a:r>
                <a:rPr b="0" i="0" lang="en-US" sz="1600" u="none" cap="none" strike="noStrike">
                  <a:solidFill>
                    <a:srgbClr val="2B9CAE"/>
                  </a:solidFill>
                  <a:latin typeface="Arial"/>
                  <a:ea typeface="Arial"/>
                  <a:cs typeface="Arial"/>
                  <a:sym typeface="Arial"/>
                </a:rPr>
                <a:t>Mergers  •  </a:t>
              </a:r>
              <a:r>
                <a:rPr b="0" i="0" lang="en-US" sz="1600" u="none" cap="none" strike="noStrike">
                  <a:solidFill>
                    <a:srgbClr val="2B9CAE"/>
                  </a:solidFill>
                  <a:latin typeface="Helvetica Neue"/>
                  <a:ea typeface="Helvetica Neue"/>
                  <a:cs typeface="Helvetica Neue"/>
                  <a:sym typeface="Helvetica Neue"/>
                </a:rPr>
                <a:t>Tender Offers  •  Exchange Offers  •  Rights Issues  •  Conversions </a:t>
              </a:r>
              <a:endParaRPr b="1" i="0" sz="1600" u="none" cap="none" strike="noStrike">
                <a:solidFill>
                  <a:srgbClr val="2B9CAE"/>
                </a:solidFill>
                <a:latin typeface="Helvetica Neue"/>
                <a:ea typeface="Helvetica Neue"/>
                <a:cs typeface="Helvetica Neue"/>
                <a:sym typeface="Helvetica Neue"/>
              </a:endParaRPr>
            </a:p>
          </p:txBody>
        </p:sp>
      </p:grpSp>
      <p:grpSp>
        <p:nvGrpSpPr>
          <p:cNvPr id="1129" name="Google Shape;1129;p47"/>
          <p:cNvGrpSpPr/>
          <p:nvPr/>
        </p:nvGrpSpPr>
        <p:grpSpPr>
          <a:xfrm>
            <a:off x="13411200" y="5470301"/>
            <a:ext cx="3838500" cy="2857500"/>
            <a:chOff x="0" y="0"/>
            <a:chExt cx="3838500" cy="2857500"/>
          </a:xfrm>
        </p:grpSpPr>
        <p:sp>
          <p:nvSpPr>
            <p:cNvPr id="1130" name="Google Shape;1130;p47"/>
            <p:cNvSpPr/>
            <p:nvPr/>
          </p:nvSpPr>
          <p:spPr>
            <a:xfrm>
              <a:off x="0" y="0"/>
              <a:ext cx="3838500" cy="2857500"/>
            </a:xfrm>
            <a:prstGeom prst="roundRect">
              <a:avLst>
                <a:gd fmla="val 3999" name="adj"/>
              </a:avLst>
            </a:prstGeom>
            <a:solidFill>
              <a:srgbClr val="FFFFFF"/>
            </a:solidFill>
            <a:ln cap="flat" cmpd="sng" w="14300">
              <a:solidFill>
                <a:srgbClr val="D5E0E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1" name="Google Shape;1131;p47"/>
            <p:cNvSpPr txBox="1"/>
            <p:nvPr/>
          </p:nvSpPr>
          <p:spPr>
            <a:xfrm>
              <a:off x="228600" y="228600"/>
              <a:ext cx="3381300" cy="24003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2B9CAE"/>
                  </a:solidFill>
                  <a:highlight>
                    <a:srgbClr val="04243C"/>
                  </a:highlight>
                  <a:latin typeface="Mate"/>
                  <a:ea typeface="Mate"/>
                  <a:cs typeface="Mate"/>
                  <a:sym typeface="Mate"/>
                </a:rPr>
                <a:t>verified_user</a:t>
              </a:r>
              <a:r>
                <a:rPr b="1" i="0" lang="en-US" sz="2200" u="none" cap="none" strike="noStrike">
                  <a:solidFill>
                    <a:srgbClr val="2B9CAE"/>
                  </a:solidFill>
                  <a:latin typeface="Helvetica Neue"/>
                  <a:ea typeface="Helvetica Neue"/>
                  <a:cs typeface="Helvetica Neue"/>
                  <a:sym typeface="Helvetica Neue"/>
                </a:rPr>
                <a:t> 04</a:t>
              </a:r>
              <a:endParaRPr b="1" i="0" sz="2200" u="none" cap="none" strike="noStrike">
                <a:solidFill>
                  <a:srgbClr val="2B9CAE"/>
                </a:solidFill>
                <a:latin typeface="Helvetica Neue"/>
                <a:ea typeface="Helvetica Neue"/>
                <a:cs typeface="Helvetica Neue"/>
                <a:sym typeface="Helvetica Neue"/>
              </a:endParaRPr>
            </a:p>
            <a:p>
              <a:pPr indent="0" lvl="0" marL="0" marR="0" rtl="0" algn="l">
                <a:lnSpc>
                  <a:spcPct val="100000"/>
                </a:lnSpc>
                <a:spcBef>
                  <a:spcPts val="1000"/>
                </a:spcBef>
                <a:spcAft>
                  <a:spcPts val="0"/>
                </a:spcAft>
                <a:buClr>
                  <a:srgbClr val="000000"/>
                </a:buClr>
                <a:buSzPts val="700"/>
                <a:buFont typeface="Arial"/>
                <a:buNone/>
              </a:pPr>
              <a:r>
                <a:t/>
              </a:r>
              <a:endParaRPr b="1" i="0" sz="700" u="none" cap="none" strike="noStrike">
                <a:solidFill>
                  <a:srgbClr val="2B9CAE"/>
                </a:solidFill>
                <a:latin typeface="Helvetica Neue"/>
                <a:ea typeface="Helvetica Neue"/>
                <a:cs typeface="Helvetica Neue"/>
                <a:sym typeface="Helvetica Neue"/>
              </a:endParaRPr>
            </a:p>
            <a:p>
              <a:pPr indent="0" lvl="0" marL="0" marR="0" rtl="0" algn="l">
                <a:lnSpc>
                  <a:spcPct val="100000"/>
                </a:lnSpc>
                <a:spcBef>
                  <a:spcPts val="1000"/>
                </a:spcBef>
                <a:spcAft>
                  <a:spcPts val="0"/>
                </a:spcAft>
                <a:buClr>
                  <a:srgbClr val="000000"/>
                </a:buClr>
                <a:buSzPts val="2200"/>
                <a:buFont typeface="Arial"/>
                <a:buNone/>
              </a:pPr>
              <a:r>
                <a:rPr b="1" i="0" lang="en-US" sz="2200" u="none" cap="none" strike="noStrike">
                  <a:solidFill>
                    <a:srgbClr val="04243C"/>
                  </a:solidFill>
                  <a:latin typeface="Helvetica Neue"/>
                  <a:ea typeface="Helvetica Neue"/>
                  <a:cs typeface="Helvetica Neue"/>
                  <a:sym typeface="Helvetica Neue"/>
                </a:rPr>
                <a:t>Audit &amp; Exceptions</a:t>
              </a:r>
              <a:endParaRPr b="0" i="0" sz="2200" u="none" cap="none" strike="noStrike">
                <a:solidFill>
                  <a:srgbClr val="2B9CAE"/>
                </a:solidFill>
                <a:latin typeface="Mate"/>
                <a:ea typeface="Mate"/>
                <a:cs typeface="Mate"/>
                <a:sym typeface="Mate"/>
              </a:endParaRPr>
            </a:p>
            <a:p>
              <a:pPr indent="0" lvl="0" marL="0" marR="0" rtl="0" algn="l">
                <a:lnSpc>
                  <a:spcPct val="100000"/>
                </a:lnSpc>
                <a:spcBef>
                  <a:spcPts val="800"/>
                </a:spcBef>
                <a:spcAft>
                  <a:spcPts val="0"/>
                </a:spcAft>
                <a:buClr>
                  <a:srgbClr val="000000"/>
                </a:buClr>
                <a:buSzPts val="1450"/>
                <a:buFont typeface="Arial"/>
                <a:buNone/>
              </a:pPr>
              <a:r>
                <a:t/>
              </a:r>
              <a:endParaRPr b="0" i="0" sz="1450" u="none" cap="none" strike="noStrike">
                <a:solidFill>
                  <a:srgbClr val="2B9CAE"/>
                </a:solidFill>
                <a:latin typeface="Mate"/>
                <a:ea typeface="Mate"/>
                <a:cs typeface="Mate"/>
                <a:sym typeface="Mate"/>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39" name="Shape 1139"/>
        <p:cNvGrpSpPr/>
        <p:nvPr/>
      </p:nvGrpSpPr>
      <p:grpSpPr>
        <a:xfrm>
          <a:off x="0" y="0"/>
          <a:ext cx="0" cy="0"/>
          <a:chOff x="0" y="0"/>
          <a:chExt cx="0" cy="0"/>
        </a:xfrm>
      </p:grpSpPr>
      <p:grpSp>
        <p:nvGrpSpPr>
          <p:cNvPr id="1140" name="Google Shape;1140;p48"/>
          <p:cNvGrpSpPr/>
          <p:nvPr/>
        </p:nvGrpSpPr>
        <p:grpSpPr>
          <a:xfrm>
            <a:off x="1028700" y="942750"/>
            <a:ext cx="16230600" cy="781200"/>
            <a:chOff x="0" y="0"/>
            <a:chExt cx="16230600" cy="781200"/>
          </a:xfrm>
        </p:grpSpPr>
        <p:sp>
          <p:nvSpPr>
            <p:cNvPr id="1141" name="Google Shape;1141;p48"/>
            <p:cNvSpPr txBox="1"/>
            <p:nvPr/>
          </p:nvSpPr>
          <p:spPr>
            <a:xfrm>
              <a:off x="0" y="0"/>
              <a:ext cx="16230600" cy="2859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2B9CAE"/>
                  </a:solidFill>
                  <a:latin typeface="Helvetica Neue"/>
                  <a:ea typeface="Helvetica Neue"/>
                  <a:cs typeface="Helvetica Neue"/>
                  <a:sym typeface="Helvetica Neue"/>
                </a:rPr>
                <a:t>DATA PREPROCESSING &amp; REASONING ARCHITECTURE</a:t>
              </a:r>
              <a:endParaRPr b="1" i="0" sz="1400" u="none" cap="none" strike="noStrike">
                <a:solidFill>
                  <a:srgbClr val="2B9CAE"/>
                </a:solidFill>
                <a:latin typeface="Helvetica Neue"/>
                <a:ea typeface="Helvetica Neue"/>
                <a:cs typeface="Helvetica Neue"/>
                <a:sym typeface="Helvetica Neue"/>
              </a:endParaRPr>
            </a:p>
          </p:txBody>
        </p:sp>
        <p:sp>
          <p:nvSpPr>
            <p:cNvPr id="1142" name="Google Shape;1142;p48"/>
            <p:cNvSpPr txBox="1"/>
            <p:nvPr/>
          </p:nvSpPr>
          <p:spPr>
            <a:xfrm>
              <a:off x="0" y="304800"/>
              <a:ext cx="16230600" cy="4764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160"/>
                <a:buFont typeface="Arial"/>
                <a:buNone/>
              </a:pPr>
              <a:r>
                <a:rPr b="1" i="0" lang="en-US" sz="3160" u="none" cap="none" strike="noStrike">
                  <a:solidFill>
                    <a:srgbClr val="04243C"/>
                  </a:solidFill>
                  <a:latin typeface="Helvetica Neue"/>
                  <a:ea typeface="Helvetica Neue"/>
                  <a:cs typeface="Helvetica Neue"/>
                  <a:sym typeface="Helvetica Neue"/>
                </a:rPr>
                <a:t>End-to-End Event Pipeline</a:t>
              </a:r>
              <a:endParaRPr b="1" i="0" sz="3160" u="none" cap="none" strike="noStrike">
                <a:solidFill>
                  <a:srgbClr val="04243C"/>
                </a:solidFill>
                <a:latin typeface="Helvetica Neue"/>
                <a:ea typeface="Helvetica Neue"/>
                <a:cs typeface="Helvetica Neue"/>
                <a:sym typeface="Helvetica Neue"/>
              </a:endParaRPr>
            </a:p>
          </p:txBody>
        </p:sp>
      </p:grpSp>
      <p:grpSp>
        <p:nvGrpSpPr>
          <p:cNvPr id="1143" name="Google Shape;1143;p48"/>
          <p:cNvGrpSpPr/>
          <p:nvPr/>
        </p:nvGrpSpPr>
        <p:grpSpPr>
          <a:xfrm>
            <a:off x="1047750" y="2428950"/>
            <a:ext cx="3619500" cy="2000100"/>
            <a:chOff x="0" y="0"/>
            <a:chExt cx="3619500" cy="2000100"/>
          </a:xfrm>
        </p:grpSpPr>
        <p:sp>
          <p:nvSpPr>
            <p:cNvPr id="1144" name="Google Shape;1144;p48"/>
            <p:cNvSpPr/>
            <p:nvPr/>
          </p:nvSpPr>
          <p:spPr>
            <a:xfrm>
              <a:off x="0" y="0"/>
              <a:ext cx="3619500" cy="2000100"/>
            </a:xfrm>
            <a:prstGeom prst="roundRect">
              <a:avLst>
                <a:gd fmla="val 571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5" name="Google Shape;1145;p48"/>
            <p:cNvSpPr txBox="1"/>
            <p:nvPr/>
          </p:nvSpPr>
          <p:spPr>
            <a:xfrm>
              <a:off x="190500" y="142875"/>
              <a:ext cx="32385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380"/>
                <a:buFont typeface="Arial"/>
                <a:buNone/>
              </a:pPr>
              <a:r>
                <a:rPr b="1" i="0" lang="en-US" sz="2380" u="none" cap="none" strike="noStrike">
                  <a:solidFill>
                    <a:srgbClr val="2B9CAE"/>
                  </a:solidFill>
                  <a:latin typeface="Helvetica Neue"/>
                  <a:ea typeface="Helvetica Neue"/>
                  <a:cs typeface="Helvetica Neue"/>
                  <a:sym typeface="Helvetica Neue"/>
                </a:rPr>
                <a:t>01</a:t>
              </a:r>
              <a:endParaRPr b="1" i="0" sz="2380" u="none" cap="none" strike="noStrike">
                <a:solidFill>
                  <a:srgbClr val="2B9CAE"/>
                </a:solidFill>
                <a:latin typeface="Helvetica Neue"/>
                <a:ea typeface="Helvetica Neue"/>
                <a:cs typeface="Helvetica Neue"/>
                <a:sym typeface="Helvetica Neue"/>
              </a:endParaRPr>
            </a:p>
          </p:txBody>
        </p:sp>
        <p:sp>
          <p:nvSpPr>
            <p:cNvPr id="1146" name="Google Shape;1146;p48"/>
            <p:cNvSpPr txBox="1"/>
            <p:nvPr/>
          </p:nvSpPr>
          <p:spPr>
            <a:xfrm>
              <a:off x="190500" y="523875"/>
              <a:ext cx="32385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4243C"/>
                  </a:solidFill>
                  <a:latin typeface="Helvetica Neue"/>
                  <a:ea typeface="Helvetica Neue"/>
                  <a:cs typeface="Helvetica Neue"/>
                  <a:sym typeface="Helvetica Neue"/>
                </a:rPr>
                <a:t>SEC Metadata</a:t>
              </a:r>
              <a:endParaRPr b="1" i="0" sz="2000" u="none" cap="none" strike="noStrike">
                <a:solidFill>
                  <a:srgbClr val="04243C"/>
                </a:solidFill>
                <a:latin typeface="Helvetica Neue"/>
                <a:ea typeface="Helvetica Neue"/>
                <a:cs typeface="Helvetica Neue"/>
                <a:sym typeface="Helvetica Neue"/>
              </a:endParaRPr>
            </a:p>
          </p:txBody>
        </p:sp>
        <p:sp>
          <p:nvSpPr>
            <p:cNvPr id="1147" name="Google Shape;1147;p48"/>
            <p:cNvSpPr txBox="1"/>
            <p:nvPr/>
          </p:nvSpPr>
          <p:spPr>
            <a:xfrm>
              <a:off x="190500" y="952500"/>
              <a:ext cx="3238500" cy="8574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75569"/>
                  </a:solidFill>
                  <a:latin typeface="Helvetica Neue"/>
                  <a:ea typeface="Helvetica Neue"/>
                  <a:cs typeface="Helvetica Neue"/>
                  <a:sym typeface="Helvetica Neue"/>
                </a:rPr>
                <a:t>Initial discovery and indexing via SEC EDGAR</a:t>
              </a:r>
              <a:endParaRPr b="0" i="0" sz="1600" u="none" cap="none" strike="noStrike">
                <a:solidFill>
                  <a:srgbClr val="475569"/>
                </a:solidFill>
                <a:latin typeface="Helvetica Neue"/>
                <a:ea typeface="Helvetica Neue"/>
                <a:cs typeface="Helvetica Neue"/>
                <a:sym typeface="Helvetica Neue"/>
              </a:endParaRPr>
            </a:p>
          </p:txBody>
        </p:sp>
      </p:grpSp>
      <p:grpSp>
        <p:nvGrpSpPr>
          <p:cNvPr id="1148" name="Google Shape;1148;p48"/>
          <p:cNvGrpSpPr/>
          <p:nvPr/>
        </p:nvGrpSpPr>
        <p:grpSpPr>
          <a:xfrm>
            <a:off x="5238750" y="2428950"/>
            <a:ext cx="3619500" cy="2000100"/>
            <a:chOff x="0" y="0"/>
            <a:chExt cx="3619500" cy="2000100"/>
          </a:xfrm>
        </p:grpSpPr>
        <p:sp>
          <p:nvSpPr>
            <p:cNvPr id="1149" name="Google Shape;1149;p48"/>
            <p:cNvSpPr/>
            <p:nvPr/>
          </p:nvSpPr>
          <p:spPr>
            <a:xfrm>
              <a:off x="0" y="0"/>
              <a:ext cx="3619500" cy="2000100"/>
            </a:xfrm>
            <a:prstGeom prst="roundRect">
              <a:avLst>
                <a:gd fmla="val 571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0" name="Google Shape;1150;p48"/>
            <p:cNvSpPr txBox="1"/>
            <p:nvPr/>
          </p:nvSpPr>
          <p:spPr>
            <a:xfrm>
              <a:off x="190500" y="142875"/>
              <a:ext cx="32385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380"/>
                <a:buFont typeface="Arial"/>
                <a:buNone/>
              </a:pPr>
              <a:r>
                <a:rPr b="1" i="0" lang="en-US" sz="2380" u="none" cap="none" strike="noStrike">
                  <a:solidFill>
                    <a:srgbClr val="2B9CAE"/>
                  </a:solidFill>
                  <a:latin typeface="Helvetica Neue"/>
                  <a:ea typeface="Helvetica Neue"/>
                  <a:cs typeface="Helvetica Neue"/>
                  <a:sym typeface="Helvetica Neue"/>
                </a:rPr>
                <a:t>02</a:t>
              </a:r>
              <a:endParaRPr b="1" i="0" sz="2380" u="none" cap="none" strike="noStrike">
                <a:solidFill>
                  <a:srgbClr val="2B9CAE"/>
                </a:solidFill>
                <a:latin typeface="Helvetica Neue"/>
                <a:ea typeface="Helvetica Neue"/>
                <a:cs typeface="Helvetica Neue"/>
                <a:sym typeface="Helvetica Neue"/>
              </a:endParaRPr>
            </a:p>
          </p:txBody>
        </p:sp>
        <p:sp>
          <p:nvSpPr>
            <p:cNvPr id="1151" name="Google Shape;1151;p48"/>
            <p:cNvSpPr txBox="1"/>
            <p:nvPr/>
          </p:nvSpPr>
          <p:spPr>
            <a:xfrm>
              <a:off x="190500" y="523875"/>
              <a:ext cx="32385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4243C"/>
                  </a:solidFill>
                  <a:latin typeface="Helvetica Neue"/>
                  <a:ea typeface="Helvetica Neue"/>
                  <a:cs typeface="Helvetica Neue"/>
                  <a:sym typeface="Helvetica Neue"/>
                </a:rPr>
                <a:t>Retrieve Filing Bundle</a:t>
              </a:r>
              <a:endParaRPr b="1" i="0" sz="2000" u="none" cap="none" strike="noStrike">
                <a:solidFill>
                  <a:srgbClr val="04243C"/>
                </a:solidFill>
                <a:latin typeface="Helvetica Neue"/>
                <a:ea typeface="Helvetica Neue"/>
                <a:cs typeface="Helvetica Neue"/>
                <a:sym typeface="Helvetica Neue"/>
              </a:endParaRPr>
            </a:p>
          </p:txBody>
        </p:sp>
        <p:sp>
          <p:nvSpPr>
            <p:cNvPr id="1152" name="Google Shape;1152;p48"/>
            <p:cNvSpPr txBox="1"/>
            <p:nvPr/>
          </p:nvSpPr>
          <p:spPr>
            <a:xfrm>
              <a:off x="190500" y="952500"/>
              <a:ext cx="3238500" cy="8574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75569"/>
                  </a:solidFill>
                  <a:latin typeface="Helvetica Neue"/>
                  <a:ea typeface="Helvetica Neue"/>
                  <a:cs typeface="Helvetica Neue"/>
                  <a:sym typeface="Helvetica Neue"/>
                </a:rPr>
                <a:t>Fetch complete source documents and exhibits from SEC EDGAR.</a:t>
              </a:r>
              <a:endParaRPr b="0" i="0" sz="1600" u="none" cap="none" strike="noStrike">
                <a:solidFill>
                  <a:srgbClr val="475569"/>
                </a:solidFill>
                <a:latin typeface="Helvetica Neue"/>
                <a:ea typeface="Helvetica Neue"/>
                <a:cs typeface="Helvetica Neue"/>
                <a:sym typeface="Helvetica Neue"/>
              </a:endParaRPr>
            </a:p>
          </p:txBody>
        </p:sp>
      </p:grpSp>
      <p:grpSp>
        <p:nvGrpSpPr>
          <p:cNvPr id="1153" name="Google Shape;1153;p48"/>
          <p:cNvGrpSpPr/>
          <p:nvPr/>
        </p:nvGrpSpPr>
        <p:grpSpPr>
          <a:xfrm>
            <a:off x="9429750" y="2428950"/>
            <a:ext cx="3619500" cy="2000100"/>
            <a:chOff x="0" y="0"/>
            <a:chExt cx="3619500" cy="2000100"/>
          </a:xfrm>
        </p:grpSpPr>
        <p:sp>
          <p:nvSpPr>
            <p:cNvPr id="1154" name="Google Shape;1154;p48"/>
            <p:cNvSpPr/>
            <p:nvPr/>
          </p:nvSpPr>
          <p:spPr>
            <a:xfrm>
              <a:off x="0" y="0"/>
              <a:ext cx="3619500" cy="2000100"/>
            </a:xfrm>
            <a:prstGeom prst="roundRect">
              <a:avLst>
                <a:gd fmla="val 571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5" name="Google Shape;1155;p48"/>
            <p:cNvSpPr txBox="1"/>
            <p:nvPr/>
          </p:nvSpPr>
          <p:spPr>
            <a:xfrm>
              <a:off x="190500" y="142875"/>
              <a:ext cx="32385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380"/>
                <a:buFont typeface="Arial"/>
                <a:buNone/>
              </a:pPr>
              <a:r>
                <a:rPr b="1" i="0" lang="en-US" sz="2380" u="none" cap="none" strike="noStrike">
                  <a:solidFill>
                    <a:srgbClr val="2B9CAE"/>
                  </a:solidFill>
                  <a:latin typeface="Helvetica Neue"/>
                  <a:ea typeface="Helvetica Neue"/>
                  <a:cs typeface="Helvetica Neue"/>
                  <a:sym typeface="Helvetica Neue"/>
                </a:rPr>
                <a:t>03</a:t>
              </a:r>
              <a:endParaRPr b="1" i="0" sz="2380" u="none" cap="none" strike="noStrike">
                <a:solidFill>
                  <a:srgbClr val="2B9CAE"/>
                </a:solidFill>
                <a:latin typeface="Helvetica Neue"/>
                <a:ea typeface="Helvetica Neue"/>
                <a:cs typeface="Helvetica Neue"/>
                <a:sym typeface="Helvetica Neue"/>
              </a:endParaRPr>
            </a:p>
          </p:txBody>
        </p:sp>
        <p:sp>
          <p:nvSpPr>
            <p:cNvPr id="1156" name="Google Shape;1156;p48"/>
            <p:cNvSpPr txBox="1"/>
            <p:nvPr/>
          </p:nvSpPr>
          <p:spPr>
            <a:xfrm>
              <a:off x="190500" y="523875"/>
              <a:ext cx="32385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4243C"/>
                  </a:solidFill>
                  <a:latin typeface="Helvetica Neue"/>
                  <a:ea typeface="Helvetica Neue"/>
                  <a:cs typeface="Helvetica Neue"/>
                  <a:sym typeface="Helvetica Neue"/>
                </a:rPr>
                <a:t>Normalize Documents</a:t>
              </a:r>
              <a:endParaRPr b="1" i="0" sz="2000" u="none" cap="none" strike="noStrike">
                <a:solidFill>
                  <a:srgbClr val="04243C"/>
                </a:solidFill>
                <a:latin typeface="Helvetica Neue"/>
                <a:ea typeface="Helvetica Neue"/>
                <a:cs typeface="Helvetica Neue"/>
                <a:sym typeface="Helvetica Neue"/>
              </a:endParaRPr>
            </a:p>
          </p:txBody>
        </p:sp>
        <p:sp>
          <p:nvSpPr>
            <p:cNvPr id="1157" name="Google Shape;1157;p48"/>
            <p:cNvSpPr txBox="1"/>
            <p:nvPr/>
          </p:nvSpPr>
          <p:spPr>
            <a:xfrm>
              <a:off x="190500" y="952500"/>
              <a:ext cx="3238500" cy="8574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75569"/>
                  </a:solidFill>
                  <a:latin typeface="Helvetica Neue"/>
                  <a:ea typeface="Helvetica Neue"/>
                  <a:cs typeface="Helvetica Neue"/>
                  <a:sym typeface="Helvetica Neue"/>
                </a:rPr>
                <a:t>Convert raw HTML into clean, searchable plain text.</a:t>
              </a:r>
              <a:endParaRPr b="0" i="0" sz="1600" u="none" cap="none" strike="noStrike">
                <a:solidFill>
                  <a:srgbClr val="475569"/>
                </a:solidFill>
                <a:latin typeface="Helvetica Neue"/>
                <a:ea typeface="Helvetica Neue"/>
                <a:cs typeface="Helvetica Neue"/>
                <a:sym typeface="Helvetica Neue"/>
              </a:endParaRPr>
            </a:p>
          </p:txBody>
        </p:sp>
      </p:grpSp>
      <p:grpSp>
        <p:nvGrpSpPr>
          <p:cNvPr id="1158" name="Google Shape;1158;p48"/>
          <p:cNvGrpSpPr/>
          <p:nvPr/>
        </p:nvGrpSpPr>
        <p:grpSpPr>
          <a:xfrm>
            <a:off x="13620750" y="2428950"/>
            <a:ext cx="3619500" cy="2000100"/>
            <a:chOff x="0" y="0"/>
            <a:chExt cx="3619500" cy="2000100"/>
          </a:xfrm>
        </p:grpSpPr>
        <p:sp>
          <p:nvSpPr>
            <p:cNvPr id="1159" name="Google Shape;1159;p48"/>
            <p:cNvSpPr/>
            <p:nvPr/>
          </p:nvSpPr>
          <p:spPr>
            <a:xfrm>
              <a:off x="0" y="0"/>
              <a:ext cx="3619500" cy="2000100"/>
            </a:xfrm>
            <a:prstGeom prst="roundRect">
              <a:avLst>
                <a:gd fmla="val 571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0" name="Google Shape;1160;p48"/>
            <p:cNvSpPr txBox="1"/>
            <p:nvPr/>
          </p:nvSpPr>
          <p:spPr>
            <a:xfrm>
              <a:off x="190500" y="142875"/>
              <a:ext cx="32385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380"/>
                <a:buFont typeface="Arial"/>
                <a:buNone/>
              </a:pPr>
              <a:r>
                <a:rPr b="1" i="0" lang="en-US" sz="2380" u="none" cap="none" strike="noStrike">
                  <a:solidFill>
                    <a:srgbClr val="2B9CAE"/>
                  </a:solidFill>
                  <a:latin typeface="Helvetica Neue"/>
                  <a:ea typeface="Helvetica Neue"/>
                  <a:cs typeface="Helvetica Neue"/>
                  <a:sym typeface="Helvetica Neue"/>
                </a:rPr>
                <a:t>04</a:t>
              </a:r>
              <a:endParaRPr b="1" i="0" sz="2380" u="none" cap="none" strike="noStrike">
                <a:solidFill>
                  <a:srgbClr val="2B9CAE"/>
                </a:solidFill>
                <a:latin typeface="Helvetica Neue"/>
                <a:ea typeface="Helvetica Neue"/>
                <a:cs typeface="Helvetica Neue"/>
                <a:sym typeface="Helvetica Neue"/>
              </a:endParaRPr>
            </a:p>
          </p:txBody>
        </p:sp>
        <p:sp>
          <p:nvSpPr>
            <p:cNvPr id="1161" name="Google Shape;1161;p48"/>
            <p:cNvSpPr txBox="1"/>
            <p:nvPr/>
          </p:nvSpPr>
          <p:spPr>
            <a:xfrm>
              <a:off x="190500" y="523875"/>
              <a:ext cx="32385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4243C"/>
                  </a:solidFill>
                  <a:latin typeface="Helvetica Neue"/>
                  <a:ea typeface="Helvetica Neue"/>
                  <a:cs typeface="Helvetica Neue"/>
                  <a:sym typeface="Helvetica Neue"/>
                </a:rPr>
                <a:t>Extract Candidate Facts</a:t>
              </a:r>
              <a:endParaRPr b="1" i="0" sz="2000" u="none" cap="none" strike="noStrike">
                <a:solidFill>
                  <a:srgbClr val="04243C"/>
                </a:solidFill>
                <a:latin typeface="Helvetica Neue"/>
                <a:ea typeface="Helvetica Neue"/>
                <a:cs typeface="Helvetica Neue"/>
                <a:sym typeface="Helvetica Neue"/>
              </a:endParaRPr>
            </a:p>
          </p:txBody>
        </p:sp>
        <p:sp>
          <p:nvSpPr>
            <p:cNvPr id="1162" name="Google Shape;1162;p48"/>
            <p:cNvSpPr txBox="1"/>
            <p:nvPr/>
          </p:nvSpPr>
          <p:spPr>
            <a:xfrm>
              <a:off x="190500" y="952500"/>
              <a:ext cx="3238500" cy="8574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75569"/>
                  </a:solidFill>
                  <a:latin typeface="Helvetica Neue"/>
                  <a:ea typeface="Helvetica Neue"/>
                  <a:cs typeface="Helvetica Neue"/>
                  <a:sym typeface="Helvetica Neue"/>
                </a:rPr>
                <a:t>AI layer (GliNER) extracts structured candidate fact payloads.</a:t>
              </a:r>
              <a:endParaRPr b="0" i="0" sz="1600" u="none" cap="none" strike="noStrike">
                <a:solidFill>
                  <a:srgbClr val="475569"/>
                </a:solidFill>
                <a:latin typeface="Helvetica Neue"/>
                <a:ea typeface="Helvetica Neue"/>
                <a:cs typeface="Helvetica Neue"/>
                <a:sym typeface="Helvetica Neue"/>
              </a:endParaRPr>
            </a:p>
          </p:txBody>
        </p:sp>
      </p:grpSp>
      <p:grpSp>
        <p:nvGrpSpPr>
          <p:cNvPr id="1163" name="Google Shape;1163;p48"/>
          <p:cNvGrpSpPr/>
          <p:nvPr/>
        </p:nvGrpSpPr>
        <p:grpSpPr>
          <a:xfrm>
            <a:off x="1047750" y="5857950"/>
            <a:ext cx="3619500" cy="2000100"/>
            <a:chOff x="0" y="0"/>
            <a:chExt cx="3619500" cy="2000100"/>
          </a:xfrm>
        </p:grpSpPr>
        <p:sp>
          <p:nvSpPr>
            <p:cNvPr id="1164" name="Google Shape;1164;p48"/>
            <p:cNvSpPr/>
            <p:nvPr/>
          </p:nvSpPr>
          <p:spPr>
            <a:xfrm>
              <a:off x="0" y="0"/>
              <a:ext cx="3619500" cy="2000100"/>
            </a:xfrm>
            <a:prstGeom prst="roundRect">
              <a:avLst>
                <a:gd fmla="val 5714" name="adj"/>
              </a:avLst>
            </a:prstGeom>
            <a:solidFill>
              <a:srgbClr val="FFFFF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5" name="Google Shape;1165;p48"/>
            <p:cNvSpPr txBox="1"/>
            <p:nvPr/>
          </p:nvSpPr>
          <p:spPr>
            <a:xfrm>
              <a:off x="190500" y="142875"/>
              <a:ext cx="3238500" cy="381000"/>
            </a:xfrm>
            <a:prstGeom prst="rect">
              <a:avLst/>
            </a:prstGeom>
            <a:solidFill>
              <a:srgbClr val="FFFFF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380"/>
                <a:buFont typeface="Arial"/>
                <a:buNone/>
              </a:pPr>
              <a:r>
                <a:rPr b="1" i="0" lang="en-US" sz="2380" u="none" cap="none" strike="noStrike">
                  <a:solidFill>
                    <a:srgbClr val="2B9CAE"/>
                  </a:solidFill>
                  <a:latin typeface="Helvetica Neue"/>
                  <a:ea typeface="Helvetica Neue"/>
                  <a:cs typeface="Helvetica Neue"/>
                  <a:sym typeface="Helvetica Neue"/>
                </a:rPr>
                <a:t>05</a:t>
              </a:r>
              <a:endParaRPr b="1" i="0" sz="2380" u="none" cap="none" strike="noStrike">
                <a:solidFill>
                  <a:srgbClr val="2B9CAE"/>
                </a:solidFill>
                <a:latin typeface="Helvetica Neue"/>
                <a:ea typeface="Helvetica Neue"/>
                <a:cs typeface="Helvetica Neue"/>
                <a:sym typeface="Helvetica Neue"/>
              </a:endParaRPr>
            </a:p>
          </p:txBody>
        </p:sp>
        <p:sp>
          <p:nvSpPr>
            <p:cNvPr id="1166" name="Google Shape;1166;p48"/>
            <p:cNvSpPr txBox="1"/>
            <p:nvPr/>
          </p:nvSpPr>
          <p:spPr>
            <a:xfrm>
              <a:off x="190500" y="523875"/>
              <a:ext cx="3238500" cy="381000"/>
            </a:xfrm>
            <a:prstGeom prst="rect">
              <a:avLst/>
            </a:pr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4243C"/>
                  </a:solidFill>
                  <a:latin typeface="Helvetica Neue"/>
                  <a:ea typeface="Helvetica Neue"/>
                  <a:cs typeface="Helvetica Neue"/>
                  <a:sym typeface="Helvetica Neue"/>
                </a:rPr>
                <a:t>Concise Representation</a:t>
              </a:r>
              <a:endParaRPr b="1" i="0" sz="2000" u="none" cap="none" strike="noStrike">
                <a:solidFill>
                  <a:srgbClr val="04243C"/>
                </a:solidFill>
                <a:latin typeface="Helvetica Neue"/>
                <a:ea typeface="Helvetica Neue"/>
                <a:cs typeface="Helvetica Neue"/>
                <a:sym typeface="Helvetica Neue"/>
              </a:endParaRPr>
            </a:p>
          </p:txBody>
        </p:sp>
        <p:sp>
          <p:nvSpPr>
            <p:cNvPr id="1167" name="Google Shape;1167;p48"/>
            <p:cNvSpPr txBox="1"/>
            <p:nvPr/>
          </p:nvSpPr>
          <p:spPr>
            <a:xfrm>
              <a:off x="190500" y="952500"/>
              <a:ext cx="3238500" cy="857400"/>
            </a:xfrm>
            <a:prstGeom prst="rect">
              <a:avLst/>
            </a:pr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75569"/>
                  </a:solidFill>
                  <a:latin typeface="Helvetica Neue"/>
                  <a:ea typeface="Helvetica Neue"/>
                  <a:cs typeface="Helvetica Neue"/>
                  <a:sym typeface="Helvetica Neue"/>
                </a:rPr>
                <a:t>Compact event representation preserving evidence &amp; context.</a:t>
              </a:r>
              <a:endParaRPr b="0" i="0" sz="1600" u="none" cap="none" strike="noStrike">
                <a:solidFill>
                  <a:srgbClr val="475569"/>
                </a:solidFill>
                <a:latin typeface="Helvetica Neue"/>
                <a:ea typeface="Helvetica Neue"/>
                <a:cs typeface="Helvetica Neue"/>
                <a:sym typeface="Helvetica Neue"/>
              </a:endParaRPr>
            </a:p>
          </p:txBody>
        </p:sp>
      </p:grpSp>
      <p:grpSp>
        <p:nvGrpSpPr>
          <p:cNvPr id="1168" name="Google Shape;1168;p48"/>
          <p:cNvGrpSpPr/>
          <p:nvPr/>
        </p:nvGrpSpPr>
        <p:grpSpPr>
          <a:xfrm>
            <a:off x="5238750" y="5857950"/>
            <a:ext cx="3619500" cy="2000100"/>
            <a:chOff x="0" y="0"/>
            <a:chExt cx="3619500" cy="2000100"/>
          </a:xfrm>
        </p:grpSpPr>
        <p:sp>
          <p:nvSpPr>
            <p:cNvPr id="1169" name="Google Shape;1169;p48"/>
            <p:cNvSpPr/>
            <p:nvPr/>
          </p:nvSpPr>
          <p:spPr>
            <a:xfrm>
              <a:off x="0" y="0"/>
              <a:ext cx="3619500" cy="2000100"/>
            </a:xfrm>
            <a:prstGeom prst="roundRect">
              <a:avLst>
                <a:gd fmla="val 571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0" name="Google Shape;1170;p48"/>
            <p:cNvSpPr txBox="1"/>
            <p:nvPr/>
          </p:nvSpPr>
          <p:spPr>
            <a:xfrm>
              <a:off x="190500" y="142875"/>
              <a:ext cx="32385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380"/>
                <a:buFont typeface="Arial"/>
                <a:buNone/>
              </a:pPr>
              <a:r>
                <a:rPr b="1" i="0" lang="en-US" sz="2380" u="none" cap="none" strike="noStrike">
                  <a:solidFill>
                    <a:srgbClr val="2B9CAE"/>
                  </a:solidFill>
                  <a:latin typeface="Helvetica Neue"/>
                  <a:ea typeface="Helvetica Neue"/>
                  <a:cs typeface="Helvetica Neue"/>
                  <a:sym typeface="Helvetica Neue"/>
                </a:rPr>
                <a:t>06</a:t>
              </a:r>
              <a:endParaRPr b="1" i="0" sz="2380" u="none" cap="none" strike="noStrike">
                <a:solidFill>
                  <a:srgbClr val="2B9CAE"/>
                </a:solidFill>
                <a:latin typeface="Helvetica Neue"/>
                <a:ea typeface="Helvetica Neue"/>
                <a:cs typeface="Helvetica Neue"/>
                <a:sym typeface="Helvetica Neue"/>
              </a:endParaRPr>
            </a:p>
          </p:txBody>
        </p:sp>
        <p:sp>
          <p:nvSpPr>
            <p:cNvPr id="1171" name="Google Shape;1171;p48"/>
            <p:cNvSpPr txBox="1"/>
            <p:nvPr/>
          </p:nvSpPr>
          <p:spPr>
            <a:xfrm>
              <a:off x="190500" y="523875"/>
              <a:ext cx="32385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4243C"/>
                  </a:solidFill>
                  <a:latin typeface="Helvetica Neue"/>
                  <a:ea typeface="Helvetica Neue"/>
                  <a:cs typeface="Helvetica Neue"/>
                  <a:sym typeface="Helvetica Neue"/>
                </a:rPr>
                <a:t>Reason / Verify / Resolve</a:t>
              </a:r>
              <a:endParaRPr b="1" i="0" sz="2000" u="none" cap="none" strike="noStrike">
                <a:solidFill>
                  <a:srgbClr val="04243C"/>
                </a:solidFill>
                <a:latin typeface="Helvetica Neue"/>
                <a:ea typeface="Helvetica Neue"/>
                <a:cs typeface="Helvetica Neue"/>
                <a:sym typeface="Helvetica Neue"/>
              </a:endParaRPr>
            </a:p>
          </p:txBody>
        </p:sp>
        <p:sp>
          <p:nvSpPr>
            <p:cNvPr id="1172" name="Google Shape;1172;p48"/>
            <p:cNvSpPr txBox="1"/>
            <p:nvPr/>
          </p:nvSpPr>
          <p:spPr>
            <a:xfrm>
              <a:off x="190500" y="952500"/>
              <a:ext cx="3238500" cy="8574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75569"/>
                  </a:solidFill>
                  <a:latin typeface="Helvetica Neue"/>
                  <a:ea typeface="Helvetica Neue"/>
                  <a:cs typeface="Helvetica Neue"/>
                  <a:sym typeface="Helvetica Neue"/>
                </a:rPr>
                <a:t>Process amendments and resolve canonical facts.</a:t>
              </a:r>
              <a:endParaRPr b="0" i="0" sz="1600" u="none" cap="none" strike="noStrike">
                <a:solidFill>
                  <a:srgbClr val="475569"/>
                </a:solidFill>
                <a:latin typeface="Helvetica Neue"/>
                <a:ea typeface="Helvetica Neue"/>
                <a:cs typeface="Helvetica Neue"/>
                <a:sym typeface="Helvetica Neue"/>
              </a:endParaRPr>
            </a:p>
          </p:txBody>
        </p:sp>
      </p:grpSp>
      <p:grpSp>
        <p:nvGrpSpPr>
          <p:cNvPr id="1173" name="Google Shape;1173;p48"/>
          <p:cNvGrpSpPr/>
          <p:nvPr/>
        </p:nvGrpSpPr>
        <p:grpSpPr>
          <a:xfrm>
            <a:off x="9429750" y="5857950"/>
            <a:ext cx="3619500" cy="2000100"/>
            <a:chOff x="0" y="0"/>
            <a:chExt cx="3619500" cy="2000100"/>
          </a:xfrm>
        </p:grpSpPr>
        <p:sp>
          <p:nvSpPr>
            <p:cNvPr id="1174" name="Google Shape;1174;p48"/>
            <p:cNvSpPr/>
            <p:nvPr/>
          </p:nvSpPr>
          <p:spPr>
            <a:xfrm>
              <a:off x="0" y="0"/>
              <a:ext cx="3619500" cy="2000100"/>
            </a:xfrm>
            <a:prstGeom prst="roundRect">
              <a:avLst>
                <a:gd fmla="val 571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5" name="Google Shape;1175;p48"/>
            <p:cNvSpPr txBox="1"/>
            <p:nvPr/>
          </p:nvSpPr>
          <p:spPr>
            <a:xfrm>
              <a:off x="190500" y="142875"/>
              <a:ext cx="32385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380"/>
                <a:buFont typeface="Arial"/>
                <a:buNone/>
              </a:pPr>
              <a:r>
                <a:rPr b="1" i="0" lang="en-US" sz="2380" u="none" cap="none" strike="noStrike">
                  <a:solidFill>
                    <a:srgbClr val="2B9CAE"/>
                  </a:solidFill>
                  <a:latin typeface="Helvetica Neue"/>
                  <a:ea typeface="Helvetica Neue"/>
                  <a:cs typeface="Helvetica Neue"/>
                  <a:sym typeface="Helvetica Neue"/>
                </a:rPr>
                <a:t>07</a:t>
              </a:r>
              <a:endParaRPr b="1" i="0" sz="2380" u="none" cap="none" strike="noStrike">
                <a:solidFill>
                  <a:srgbClr val="2B9CAE"/>
                </a:solidFill>
                <a:latin typeface="Helvetica Neue"/>
                <a:ea typeface="Helvetica Neue"/>
                <a:cs typeface="Helvetica Neue"/>
                <a:sym typeface="Helvetica Neue"/>
              </a:endParaRPr>
            </a:p>
          </p:txBody>
        </p:sp>
        <p:sp>
          <p:nvSpPr>
            <p:cNvPr id="1176" name="Google Shape;1176;p48"/>
            <p:cNvSpPr txBox="1"/>
            <p:nvPr/>
          </p:nvSpPr>
          <p:spPr>
            <a:xfrm>
              <a:off x="190500" y="523875"/>
              <a:ext cx="32385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4243C"/>
                  </a:solidFill>
                  <a:latin typeface="Helvetica Neue"/>
                  <a:ea typeface="Helvetica Neue"/>
                  <a:cs typeface="Helvetica Neue"/>
                  <a:sym typeface="Helvetica Neue"/>
                </a:rPr>
                <a:t>Canonical Event State</a:t>
              </a:r>
              <a:endParaRPr b="1" i="0" sz="2000" u="none" cap="none" strike="noStrike">
                <a:solidFill>
                  <a:srgbClr val="04243C"/>
                </a:solidFill>
                <a:latin typeface="Helvetica Neue"/>
                <a:ea typeface="Helvetica Neue"/>
                <a:cs typeface="Helvetica Neue"/>
                <a:sym typeface="Helvetica Neue"/>
              </a:endParaRPr>
            </a:p>
          </p:txBody>
        </p:sp>
        <p:sp>
          <p:nvSpPr>
            <p:cNvPr id="1177" name="Google Shape;1177;p48"/>
            <p:cNvSpPr txBox="1"/>
            <p:nvPr/>
          </p:nvSpPr>
          <p:spPr>
            <a:xfrm>
              <a:off x="190500" y="952500"/>
              <a:ext cx="3238500" cy="8574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75569"/>
                  </a:solidFill>
                  <a:latin typeface="Helvetica Neue"/>
                  <a:ea typeface="Helvetica Neue"/>
                  <a:cs typeface="Helvetica Neue"/>
                  <a:sym typeface="Helvetica Neue"/>
                </a:rPr>
                <a:t>Single source of truth for verified corporate action facts.</a:t>
              </a:r>
              <a:endParaRPr b="0" i="0" sz="1600" u="none" cap="none" strike="noStrike">
                <a:solidFill>
                  <a:srgbClr val="475569"/>
                </a:solidFill>
                <a:latin typeface="Helvetica Neue"/>
                <a:ea typeface="Helvetica Neue"/>
                <a:cs typeface="Helvetica Neue"/>
                <a:sym typeface="Helvetica Neue"/>
              </a:endParaRPr>
            </a:p>
          </p:txBody>
        </p:sp>
      </p:grpSp>
      <p:grpSp>
        <p:nvGrpSpPr>
          <p:cNvPr id="1178" name="Google Shape;1178;p48"/>
          <p:cNvGrpSpPr/>
          <p:nvPr/>
        </p:nvGrpSpPr>
        <p:grpSpPr>
          <a:xfrm>
            <a:off x="13620750" y="5857950"/>
            <a:ext cx="3619500" cy="2000100"/>
            <a:chOff x="0" y="0"/>
            <a:chExt cx="3619500" cy="2000100"/>
          </a:xfrm>
        </p:grpSpPr>
        <p:sp>
          <p:nvSpPr>
            <p:cNvPr id="1179" name="Google Shape;1179;p48"/>
            <p:cNvSpPr/>
            <p:nvPr/>
          </p:nvSpPr>
          <p:spPr>
            <a:xfrm>
              <a:off x="0" y="0"/>
              <a:ext cx="3619500" cy="2000100"/>
            </a:xfrm>
            <a:prstGeom prst="roundRect">
              <a:avLst>
                <a:gd fmla="val 571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0" name="Google Shape;1180;p48"/>
            <p:cNvSpPr txBox="1"/>
            <p:nvPr/>
          </p:nvSpPr>
          <p:spPr>
            <a:xfrm>
              <a:off x="190500" y="142875"/>
              <a:ext cx="32385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380"/>
                <a:buFont typeface="Arial"/>
                <a:buNone/>
              </a:pPr>
              <a:r>
                <a:rPr b="1" i="0" lang="en-US" sz="2380" u="none" cap="none" strike="noStrike">
                  <a:solidFill>
                    <a:srgbClr val="2B9CAE"/>
                  </a:solidFill>
                  <a:latin typeface="Helvetica Neue"/>
                  <a:ea typeface="Helvetica Neue"/>
                  <a:cs typeface="Helvetica Neue"/>
                  <a:sym typeface="Helvetica Neue"/>
                </a:rPr>
                <a:t>08</a:t>
              </a:r>
              <a:endParaRPr b="1" i="0" sz="2380" u="none" cap="none" strike="noStrike">
                <a:solidFill>
                  <a:srgbClr val="2B9CAE"/>
                </a:solidFill>
                <a:latin typeface="Helvetica Neue"/>
                <a:ea typeface="Helvetica Neue"/>
                <a:cs typeface="Helvetica Neue"/>
                <a:sym typeface="Helvetica Neue"/>
              </a:endParaRPr>
            </a:p>
          </p:txBody>
        </p:sp>
        <p:sp>
          <p:nvSpPr>
            <p:cNvPr id="1181" name="Google Shape;1181;p48"/>
            <p:cNvSpPr txBox="1"/>
            <p:nvPr/>
          </p:nvSpPr>
          <p:spPr>
            <a:xfrm>
              <a:off x="190500" y="523875"/>
              <a:ext cx="32385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4243C"/>
                  </a:solidFill>
                  <a:latin typeface="Helvetica Neue"/>
                  <a:ea typeface="Helvetica Neue"/>
                  <a:cs typeface="Helvetica Neue"/>
                  <a:sym typeface="Helvetica Neue"/>
                </a:rPr>
                <a:t>BNY Client Notification</a:t>
              </a:r>
              <a:endParaRPr b="1" i="0" sz="2000" u="none" cap="none" strike="noStrike">
                <a:solidFill>
                  <a:srgbClr val="04243C"/>
                </a:solidFill>
                <a:latin typeface="Helvetica Neue"/>
                <a:ea typeface="Helvetica Neue"/>
                <a:cs typeface="Helvetica Neue"/>
                <a:sym typeface="Helvetica Neue"/>
              </a:endParaRPr>
            </a:p>
          </p:txBody>
        </p:sp>
        <p:sp>
          <p:nvSpPr>
            <p:cNvPr id="1182" name="Google Shape;1182;p48"/>
            <p:cNvSpPr txBox="1"/>
            <p:nvPr/>
          </p:nvSpPr>
          <p:spPr>
            <a:xfrm>
              <a:off x="190500" y="952500"/>
              <a:ext cx="3238500" cy="8574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75569"/>
                  </a:solidFill>
                  <a:latin typeface="Helvetica Neue"/>
                  <a:ea typeface="Helvetica Neue"/>
                  <a:cs typeface="Helvetica Neue"/>
                  <a:sym typeface="Helvetica Neue"/>
                </a:rPr>
                <a:t>Enriched internal context integrated for downstream alerts.</a:t>
              </a:r>
              <a:endParaRPr b="0" i="0" sz="1600" u="none" cap="none" strike="noStrike">
                <a:solidFill>
                  <a:srgbClr val="475569"/>
                </a:solidFill>
                <a:latin typeface="Helvetica Neue"/>
                <a:ea typeface="Helvetica Neue"/>
                <a:cs typeface="Helvetica Neue"/>
                <a:sym typeface="Helvetica Neue"/>
              </a:endParaRPr>
            </a:p>
          </p:txBody>
        </p:sp>
      </p:grpSp>
      <p:pic>
        <p:nvPicPr>
          <p:cNvPr id="1183" name="Google Shape;1183;p48"/>
          <p:cNvPicPr preferRelativeResize="0"/>
          <p:nvPr/>
        </p:nvPicPr>
        <p:blipFill rotWithShape="1">
          <a:blip r:embed="rId3">
            <a:alphaModFix/>
          </a:blip>
          <a:srcRect b="0" l="0" r="0" t="0"/>
          <a:stretch/>
        </p:blipFill>
        <p:spPr>
          <a:xfrm>
            <a:off x="4667250" y="3419550"/>
            <a:ext cx="476400" cy="19200"/>
          </a:xfrm>
          <a:prstGeom prst="rect">
            <a:avLst/>
          </a:prstGeom>
          <a:noFill/>
          <a:ln>
            <a:noFill/>
          </a:ln>
        </p:spPr>
      </p:pic>
      <p:sp>
        <p:nvSpPr>
          <p:cNvPr id="1184" name="Google Shape;1184;p48"/>
          <p:cNvSpPr/>
          <p:nvPr/>
        </p:nvSpPr>
        <p:spPr>
          <a:xfrm>
            <a:off x="5143500" y="3381451"/>
            <a:ext cx="95400" cy="95400"/>
          </a:xfrm>
          <a:custGeom>
            <a:rect b="b" l="l" r="r" t="t"/>
            <a:pathLst>
              <a:path extrusionOk="0" h="120000" w="120000">
                <a:moveTo>
                  <a:pt x="0" y="0"/>
                </a:moveTo>
                <a:lnTo>
                  <a:pt x="120000" y="60000"/>
                </a:lnTo>
                <a:lnTo>
                  <a:pt x="0" y="120000"/>
                </a:lnTo>
                <a:close/>
              </a:path>
            </a:pathLst>
          </a:custGeom>
          <a:solidFill>
            <a:srgbClr val="2B9CAE"/>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85" name="Google Shape;1185;p48"/>
          <p:cNvPicPr preferRelativeResize="0"/>
          <p:nvPr/>
        </p:nvPicPr>
        <p:blipFill rotWithShape="1">
          <a:blip r:embed="rId3">
            <a:alphaModFix/>
          </a:blip>
          <a:srcRect b="0" l="0" r="0" t="0"/>
          <a:stretch/>
        </p:blipFill>
        <p:spPr>
          <a:xfrm>
            <a:off x="8858250" y="3419550"/>
            <a:ext cx="476400" cy="19200"/>
          </a:xfrm>
          <a:prstGeom prst="rect">
            <a:avLst/>
          </a:prstGeom>
          <a:noFill/>
          <a:ln>
            <a:noFill/>
          </a:ln>
        </p:spPr>
      </p:pic>
      <p:sp>
        <p:nvSpPr>
          <p:cNvPr id="1186" name="Google Shape;1186;p48"/>
          <p:cNvSpPr/>
          <p:nvPr/>
        </p:nvSpPr>
        <p:spPr>
          <a:xfrm>
            <a:off x="9334500" y="3381451"/>
            <a:ext cx="95400" cy="95400"/>
          </a:xfrm>
          <a:custGeom>
            <a:rect b="b" l="l" r="r" t="t"/>
            <a:pathLst>
              <a:path extrusionOk="0" h="120000" w="120000">
                <a:moveTo>
                  <a:pt x="0" y="0"/>
                </a:moveTo>
                <a:lnTo>
                  <a:pt x="120000" y="60000"/>
                </a:lnTo>
                <a:lnTo>
                  <a:pt x="0" y="120000"/>
                </a:lnTo>
                <a:close/>
              </a:path>
            </a:pathLst>
          </a:custGeom>
          <a:solidFill>
            <a:srgbClr val="2B9CAE"/>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87" name="Google Shape;1187;p48"/>
          <p:cNvPicPr preferRelativeResize="0"/>
          <p:nvPr/>
        </p:nvPicPr>
        <p:blipFill rotWithShape="1">
          <a:blip r:embed="rId3">
            <a:alphaModFix/>
          </a:blip>
          <a:srcRect b="0" l="0" r="0" t="0"/>
          <a:stretch/>
        </p:blipFill>
        <p:spPr>
          <a:xfrm>
            <a:off x="13049250" y="3419550"/>
            <a:ext cx="476400" cy="19200"/>
          </a:xfrm>
          <a:prstGeom prst="rect">
            <a:avLst/>
          </a:prstGeom>
          <a:noFill/>
          <a:ln>
            <a:noFill/>
          </a:ln>
        </p:spPr>
      </p:pic>
      <p:sp>
        <p:nvSpPr>
          <p:cNvPr id="1188" name="Google Shape;1188;p48"/>
          <p:cNvSpPr/>
          <p:nvPr/>
        </p:nvSpPr>
        <p:spPr>
          <a:xfrm>
            <a:off x="13525500" y="3381451"/>
            <a:ext cx="95400" cy="95400"/>
          </a:xfrm>
          <a:custGeom>
            <a:rect b="b" l="l" r="r" t="t"/>
            <a:pathLst>
              <a:path extrusionOk="0" h="120000" w="120000">
                <a:moveTo>
                  <a:pt x="0" y="0"/>
                </a:moveTo>
                <a:lnTo>
                  <a:pt x="120000" y="60000"/>
                </a:lnTo>
                <a:lnTo>
                  <a:pt x="0" y="120000"/>
                </a:lnTo>
                <a:close/>
              </a:path>
            </a:pathLst>
          </a:custGeom>
          <a:solidFill>
            <a:srgbClr val="2B9CAE"/>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89" name="Google Shape;1189;p48"/>
          <p:cNvPicPr preferRelativeResize="0"/>
          <p:nvPr/>
        </p:nvPicPr>
        <p:blipFill rotWithShape="1">
          <a:blip r:embed="rId4">
            <a:alphaModFix/>
          </a:blip>
          <a:srcRect b="0" l="0" r="0" t="0"/>
          <a:stretch/>
        </p:blipFill>
        <p:spPr>
          <a:xfrm>
            <a:off x="2834560" y="5134050"/>
            <a:ext cx="6315000" cy="609600"/>
          </a:xfrm>
          <a:prstGeom prst="rect">
            <a:avLst/>
          </a:prstGeom>
          <a:noFill/>
          <a:ln>
            <a:noFill/>
          </a:ln>
        </p:spPr>
      </p:pic>
      <p:sp>
        <p:nvSpPr>
          <p:cNvPr id="1190" name="Google Shape;1190;p48"/>
          <p:cNvSpPr/>
          <p:nvPr/>
        </p:nvSpPr>
        <p:spPr>
          <a:xfrm>
            <a:off x="2809875" y="5762701"/>
            <a:ext cx="95400" cy="95400"/>
          </a:xfrm>
          <a:custGeom>
            <a:rect b="b" l="l" r="r" t="t"/>
            <a:pathLst>
              <a:path extrusionOk="0" h="120000" w="120000">
                <a:moveTo>
                  <a:pt x="0" y="0"/>
                </a:moveTo>
                <a:lnTo>
                  <a:pt x="60000" y="120000"/>
                </a:lnTo>
                <a:lnTo>
                  <a:pt x="120000" y="0"/>
                </a:lnTo>
                <a:close/>
              </a:path>
            </a:pathLst>
          </a:custGeom>
          <a:solidFill>
            <a:srgbClr val="2B9CAE"/>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91" name="Google Shape;1191;p48"/>
          <p:cNvPicPr preferRelativeResize="0"/>
          <p:nvPr/>
        </p:nvPicPr>
        <p:blipFill rotWithShape="1">
          <a:blip r:embed="rId3">
            <a:alphaModFix/>
          </a:blip>
          <a:srcRect b="0" l="0" r="0" t="0"/>
          <a:stretch/>
        </p:blipFill>
        <p:spPr>
          <a:xfrm>
            <a:off x="4667250" y="6848550"/>
            <a:ext cx="476400" cy="19200"/>
          </a:xfrm>
          <a:prstGeom prst="rect">
            <a:avLst/>
          </a:prstGeom>
          <a:noFill/>
          <a:ln>
            <a:noFill/>
          </a:ln>
        </p:spPr>
      </p:pic>
      <p:sp>
        <p:nvSpPr>
          <p:cNvPr id="1192" name="Google Shape;1192;p48"/>
          <p:cNvSpPr/>
          <p:nvPr/>
        </p:nvSpPr>
        <p:spPr>
          <a:xfrm>
            <a:off x="5143500" y="6810451"/>
            <a:ext cx="95400" cy="95400"/>
          </a:xfrm>
          <a:custGeom>
            <a:rect b="b" l="l" r="r" t="t"/>
            <a:pathLst>
              <a:path extrusionOk="0" h="120000" w="120000">
                <a:moveTo>
                  <a:pt x="0" y="0"/>
                </a:moveTo>
                <a:lnTo>
                  <a:pt x="120000" y="60000"/>
                </a:lnTo>
                <a:lnTo>
                  <a:pt x="0" y="120000"/>
                </a:lnTo>
                <a:close/>
              </a:path>
            </a:pathLst>
          </a:custGeom>
          <a:solidFill>
            <a:srgbClr val="2B9CAE"/>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93" name="Google Shape;1193;p48"/>
          <p:cNvPicPr preferRelativeResize="0"/>
          <p:nvPr/>
        </p:nvPicPr>
        <p:blipFill rotWithShape="1">
          <a:blip r:embed="rId3">
            <a:alphaModFix/>
          </a:blip>
          <a:srcRect b="0" l="0" r="0" t="0"/>
          <a:stretch/>
        </p:blipFill>
        <p:spPr>
          <a:xfrm>
            <a:off x="8858250" y="6848550"/>
            <a:ext cx="476400" cy="19200"/>
          </a:xfrm>
          <a:prstGeom prst="rect">
            <a:avLst/>
          </a:prstGeom>
          <a:noFill/>
          <a:ln>
            <a:noFill/>
          </a:ln>
        </p:spPr>
      </p:pic>
      <p:sp>
        <p:nvSpPr>
          <p:cNvPr id="1194" name="Google Shape;1194;p48"/>
          <p:cNvSpPr/>
          <p:nvPr/>
        </p:nvSpPr>
        <p:spPr>
          <a:xfrm>
            <a:off x="9334500" y="6810451"/>
            <a:ext cx="95400" cy="95400"/>
          </a:xfrm>
          <a:custGeom>
            <a:rect b="b" l="l" r="r" t="t"/>
            <a:pathLst>
              <a:path extrusionOk="0" h="120000" w="120000">
                <a:moveTo>
                  <a:pt x="0" y="0"/>
                </a:moveTo>
                <a:lnTo>
                  <a:pt x="120000" y="60000"/>
                </a:lnTo>
                <a:lnTo>
                  <a:pt x="0" y="120000"/>
                </a:lnTo>
                <a:close/>
              </a:path>
            </a:pathLst>
          </a:custGeom>
          <a:solidFill>
            <a:srgbClr val="2B9CAE"/>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95" name="Google Shape;1195;p48"/>
          <p:cNvPicPr preferRelativeResize="0"/>
          <p:nvPr/>
        </p:nvPicPr>
        <p:blipFill rotWithShape="1">
          <a:blip r:embed="rId3">
            <a:alphaModFix/>
          </a:blip>
          <a:srcRect b="0" l="0" r="0" t="0"/>
          <a:stretch/>
        </p:blipFill>
        <p:spPr>
          <a:xfrm>
            <a:off x="13049250" y="6848550"/>
            <a:ext cx="476400" cy="19200"/>
          </a:xfrm>
          <a:prstGeom prst="rect">
            <a:avLst/>
          </a:prstGeom>
          <a:noFill/>
          <a:ln>
            <a:noFill/>
          </a:ln>
        </p:spPr>
      </p:pic>
      <p:sp>
        <p:nvSpPr>
          <p:cNvPr id="1196" name="Google Shape;1196;p48"/>
          <p:cNvSpPr/>
          <p:nvPr/>
        </p:nvSpPr>
        <p:spPr>
          <a:xfrm>
            <a:off x="13525500" y="6810451"/>
            <a:ext cx="95400" cy="95400"/>
          </a:xfrm>
          <a:custGeom>
            <a:rect b="b" l="l" r="r" t="t"/>
            <a:pathLst>
              <a:path extrusionOk="0" h="120000" w="120000">
                <a:moveTo>
                  <a:pt x="0" y="0"/>
                </a:moveTo>
                <a:lnTo>
                  <a:pt x="120000" y="60000"/>
                </a:lnTo>
                <a:lnTo>
                  <a:pt x="0" y="120000"/>
                </a:lnTo>
                <a:close/>
              </a:path>
            </a:pathLst>
          </a:custGeom>
          <a:solidFill>
            <a:srgbClr val="2B9CAE"/>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97" name="Google Shape;1197;p48"/>
          <p:cNvPicPr preferRelativeResize="0"/>
          <p:nvPr/>
        </p:nvPicPr>
        <p:blipFill rotWithShape="1">
          <a:blip r:embed="rId4">
            <a:alphaModFix/>
          </a:blip>
          <a:srcRect b="0" l="0" r="0" t="0"/>
          <a:stretch/>
        </p:blipFill>
        <p:spPr>
          <a:xfrm rot="10800000">
            <a:off x="8873347" y="4432127"/>
            <a:ext cx="7579200" cy="7317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01" name="Shape 1201"/>
        <p:cNvGrpSpPr/>
        <p:nvPr/>
      </p:nvGrpSpPr>
      <p:grpSpPr>
        <a:xfrm>
          <a:off x="0" y="0"/>
          <a:ext cx="0" cy="0"/>
          <a:chOff x="0" y="0"/>
          <a:chExt cx="0" cy="0"/>
        </a:xfrm>
      </p:grpSpPr>
      <p:sp>
        <p:nvSpPr>
          <p:cNvPr id="1202" name="Google Shape;1202;p49"/>
          <p:cNvSpPr txBox="1"/>
          <p:nvPr/>
        </p:nvSpPr>
        <p:spPr>
          <a:xfrm>
            <a:off x="1760029" y="619125"/>
            <a:ext cx="14767800" cy="9525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2B9CAE"/>
                </a:solidFill>
                <a:latin typeface="Helvetica Neue"/>
                <a:ea typeface="Helvetica Neue"/>
                <a:cs typeface="Helvetica Neue"/>
                <a:sym typeface="Helvetica Neue"/>
              </a:rPr>
              <a:t>CORPORATE ACTION INTELLIGENCE</a:t>
            </a:r>
            <a:endParaRPr b="1" i="0" sz="1400" u="none" cap="none" strike="noStrike">
              <a:solidFill>
                <a:srgbClr val="2B9CAE"/>
              </a:solidFill>
              <a:latin typeface="Helvetica Neue"/>
              <a:ea typeface="Helvetica Neue"/>
              <a:cs typeface="Helvetica Neue"/>
              <a:sym typeface="Helvetica Neue"/>
            </a:endParaRPr>
          </a:p>
          <a:p>
            <a:pPr indent="0" lvl="0" marL="0" marR="0" rtl="0" algn="l">
              <a:lnSpc>
                <a:spcPct val="100000"/>
              </a:lnSpc>
              <a:spcBef>
                <a:spcPts val="400"/>
              </a:spcBef>
              <a:spcAft>
                <a:spcPts val="0"/>
              </a:spcAft>
              <a:buClr>
                <a:srgbClr val="000000"/>
              </a:buClr>
              <a:buSzPts val="4000"/>
              <a:buFont typeface="Arial"/>
              <a:buNone/>
            </a:pPr>
            <a:r>
              <a:rPr b="1" i="0" lang="en-US" sz="4000" u="none" cap="none" strike="noStrike">
                <a:solidFill>
                  <a:srgbClr val="04243C"/>
                </a:solidFill>
                <a:latin typeface="Helvetica Neue"/>
                <a:ea typeface="Helvetica Neue"/>
                <a:cs typeface="Helvetica Neue"/>
                <a:sym typeface="Helvetica Neue"/>
              </a:rPr>
              <a:t>Filings Monitor Demo</a:t>
            </a:r>
            <a:endParaRPr b="1" i="0" sz="4000" u="none" cap="none" strike="noStrike">
              <a:solidFill>
                <a:srgbClr val="04243C"/>
              </a:solidFill>
              <a:latin typeface="Helvetica Neue"/>
              <a:ea typeface="Helvetica Neue"/>
              <a:cs typeface="Helvetica Neue"/>
              <a:sym typeface="Helvetica Neue"/>
            </a:endParaRPr>
          </a:p>
        </p:txBody>
      </p:sp>
      <p:pic>
        <p:nvPicPr>
          <p:cNvPr id="1203" name="Google Shape;1203;p49" title="Image 10-15-26 at 1.18 PM.jpg"/>
          <p:cNvPicPr preferRelativeResize="0"/>
          <p:nvPr/>
        </p:nvPicPr>
        <p:blipFill rotWithShape="1">
          <a:blip r:embed="rId3">
            <a:alphaModFix/>
          </a:blip>
          <a:srcRect b="0" l="0" r="0" t="0"/>
          <a:stretch/>
        </p:blipFill>
        <p:spPr>
          <a:xfrm>
            <a:off x="1760025" y="1677450"/>
            <a:ext cx="14767949" cy="8047376"/>
          </a:xfrm>
          <a:prstGeom prst="rect">
            <a:avLst/>
          </a:prstGeom>
          <a:noFill/>
          <a:ln>
            <a:noFill/>
          </a:ln>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01" name="Google Shape;601;p26"/>
          <p:cNvSpPr txBox="1"/>
          <p:nvPr>
            <p:ph type="title"/>
          </p:nvPr>
        </p:nvSpPr>
        <p:spPr>
          <a:xfrm>
            <a:off x="822960" y="960119"/>
            <a:ext cx="16642200" cy="822900"/>
          </a:xfrm>
          <a:prstGeom prst="rect">
            <a:avLst/>
          </a:prstGeom>
          <a:noFill/>
          <a:ln>
            <a:noFill/>
          </a:ln>
        </p:spPr>
        <p:txBody>
          <a:bodyPr anchorCtr="0" anchor="t" bIns="45675" lIns="45675" spcFirstLastPara="1" rIns="45675" wrap="square" tIns="45675">
            <a:normAutofit/>
          </a:bodyPr>
          <a:lstStyle/>
          <a:p>
            <a:pPr indent="0" lvl="0" marL="0" rtl="0" algn="l">
              <a:lnSpc>
                <a:spcPct val="100000"/>
              </a:lnSpc>
              <a:spcBef>
                <a:spcPts val="0"/>
              </a:spcBef>
              <a:spcAft>
                <a:spcPts val="0"/>
              </a:spcAft>
              <a:buClr>
                <a:srgbClr val="04243C"/>
              </a:buClr>
              <a:buSzPts val="3600"/>
              <a:buFont typeface="Helvetica Neue"/>
              <a:buNone/>
            </a:pPr>
            <a:r>
              <a:rPr b="1" lang="en-US" sz="3600">
                <a:solidFill>
                  <a:srgbClr val="04243C"/>
                </a:solidFill>
                <a:latin typeface="Helvetica Neue"/>
                <a:ea typeface="Helvetica Neue"/>
                <a:cs typeface="Helvetica Neue"/>
                <a:sym typeface="Helvetica Neue"/>
              </a:rPr>
              <a:t>Appendix: does the build pay for itself within five years?</a:t>
            </a:r>
            <a:endParaRPr/>
          </a:p>
        </p:txBody>
      </p:sp>
      <p:sp>
        <p:nvSpPr>
          <p:cNvPr id="602" name="TextBox 601"/>
          <p:cNvSpPr txBox="1"/>
          <p:nvPr/>
        </p:nvSpPr>
        <p:spPr>
          <a:xfrm>
            <a:off x="822960" y="1874519"/>
            <a:ext cx="16642080" cy="457200"/>
          </a:xfrm>
          <a:prstGeom prst="rect">
            <a:avLst/>
          </a:prstGeom>
          <a:noFill/>
        </p:spPr>
        <p:txBody>
          <a:bodyPr wrap="square" lIns="0" rIns="0" tIns="0" bIns="0" anchor="t">
            <a:spAutoFit/>
          </a:bodyPr>
          <a:lstStyle/>
          <a:p>
            <a:pPr algn="l"/>
            <a:r>
              <a:rPr sz="1700" b="0">
                <a:solidFill>
                  <a:srgbClr val="475569"/>
                </a:solidFill>
                <a:latin typeface="Helvetica Neue"/>
              </a:rPr>
              <a:t>Our formula-first ROI framework. Inputs are placeholders until confirmed with BNY.</a:t>
            </a:r>
          </a:p>
        </p:txBody>
      </p:sp>
      <p:sp>
        <p:nvSpPr>
          <p:cNvPr id="603" name="Rounded Rectangle 602"/>
          <p:cNvSpPr/>
          <p:nvPr/>
        </p:nvSpPr>
        <p:spPr>
          <a:xfrm>
            <a:off x="822960" y="2606040"/>
            <a:ext cx="4206240" cy="4480560"/>
          </a:xfrm>
          <a:prstGeom prst="roundRect">
            <a:avLst>
              <a:gd name="adj" fmla="val 4347"/>
            </a:avLst>
          </a:prstGeom>
          <a:solidFill>
            <a:srgbClr val="FFFFFF"/>
          </a:solidFill>
          <a:ln>
            <a:noFill/>
          </a:ln>
          <a:effectLst>
            <a:outerShdw blurRad="203200" dist="50800" dir="5400000" algn="t" rotWithShape="0">
              <a:srgbClr val="0F172A">
                <a:alpha val="13000"/>
              </a:srgbClr>
            </a:outerShdw>
          </a:effectLst>
        </p:spPr>
        <p:txBody>
          <a:bodyPr rtlCol="0" anchor="ctr"/>
          <a:lstStyle/>
          <a:p>
            <a:pPr algn="ctr"/>
          </a:p>
        </p:txBody>
      </p:sp>
      <p:sp>
        <p:nvSpPr>
          <p:cNvPr id="604" name="Rectangle 603"/>
          <p:cNvSpPr/>
          <p:nvPr/>
        </p:nvSpPr>
        <p:spPr>
          <a:xfrm>
            <a:off x="822960" y="2606040"/>
            <a:ext cx="4206240" cy="777240"/>
          </a:xfrm>
          <a:prstGeom prst="round2SameRect">
            <a:avLst>
              <a:gd name="adj1" fmla="val 23529"/>
              <a:gd name="adj2" fmla="val 0"/>
            </a:avLst>
          </a:prstGeom>
          <a:solidFill>
            <a:srgbClr val="2B9CAE"/>
          </a:solidFill>
          <a:ln>
            <a:noFill/>
          </a:ln>
        </p:spPr>
        <p:txBody>
          <a:bodyPr rtlCol="0" anchor="ctr"/>
          <a:lstStyle/>
          <a:p>
            <a:pPr algn="ctr"/>
          </a:p>
        </p:txBody>
      </p:sp>
      <p:sp>
        <p:nvSpPr>
          <p:cNvPr id="605" name="TextBox 604"/>
          <p:cNvSpPr txBox="1"/>
          <p:nvPr/>
        </p:nvSpPr>
        <p:spPr>
          <a:xfrm>
            <a:off x="822960" y="2606040"/>
            <a:ext cx="4206240" cy="777240"/>
          </a:xfrm>
          <a:prstGeom prst="rect">
            <a:avLst/>
          </a:prstGeom>
          <a:noFill/>
        </p:spPr>
        <p:txBody>
          <a:bodyPr wrap="square" lIns="0" rIns="0" tIns="0" bIns="0" anchor="ctr">
            <a:spAutoFit/>
          </a:bodyPr>
          <a:lstStyle/>
          <a:p>
            <a:pPr algn="ctr"/>
            <a:r>
              <a:rPr sz="2200" b="1">
                <a:solidFill>
                  <a:srgbClr val="FFFFFF"/>
                </a:solidFill>
                <a:latin typeface="Helvetica Neue"/>
              </a:rPr>
              <a:t>Benefits</a:t>
            </a:r>
          </a:p>
        </p:txBody>
      </p:sp>
      <p:sp>
        <p:nvSpPr>
          <p:cNvPr id="606" name="TextBox 605"/>
          <p:cNvSpPr txBox="1"/>
          <p:nvPr/>
        </p:nvSpPr>
        <p:spPr>
          <a:xfrm>
            <a:off x="1097280" y="3657600"/>
            <a:ext cx="3657599" cy="3246120"/>
          </a:xfrm>
          <a:prstGeom prst="rect">
            <a:avLst/>
          </a:prstGeom>
          <a:noFill/>
        </p:spPr>
        <p:txBody>
          <a:bodyPr wrap="square" lIns="0" rIns="0" tIns="0" bIns="0" anchor="t">
            <a:spAutoFit/>
          </a:bodyPr>
          <a:lstStyle/>
          <a:p>
            <a:pPr algn="l">
              <a:spcAft>
                <a:spcPts val="900"/>
              </a:spcAft>
            </a:pPr>
            <a:r>
              <a:rPr sz="1700" b="1">
                <a:solidFill>
                  <a:srgbClr val="04243C"/>
                </a:solidFill>
                <a:latin typeface="Helvetica Neue"/>
              </a:rPr>
              <a:t>Released hours</a:t>
            </a:r>
          </a:p>
          <a:p>
            <a:pPr algn="l">
              <a:spcAft>
                <a:spcPts val="900"/>
              </a:spcAft>
            </a:pPr>
            <a:r>
              <a:rPr sz="1400" b="0">
                <a:solidFill>
                  <a:srgbClr val="475569"/>
                </a:solidFill>
                <a:latin typeface="Helvetica Neue"/>
              </a:rPr>
              <a:t>Hours freed × cost per FTE × realisation rate, from automating some events fully and shortening review on the rest</a:t>
            </a:r>
          </a:p>
          <a:p>
            <a:pPr algn="l">
              <a:spcAft>
                <a:spcPts val="900"/>
              </a:spcAft>
            </a:pPr>
            <a:r>
              <a:rPr sz="1700" b="1">
                <a:solidFill>
                  <a:srgbClr val="04243C"/>
                </a:solidFill>
                <a:latin typeface="Helvetica Neue"/>
              </a:rPr>
              <a:t>Avoided errors</a:t>
            </a:r>
          </a:p>
          <a:p>
            <a:pPr algn="l">
              <a:spcAft>
                <a:spcPts val="900"/>
              </a:spcAft>
            </a:pPr>
            <a:r>
              <a:rPr sz="1400" b="0">
                <a:solidFill>
                  <a:srgbClr val="475569"/>
                </a:solidFill>
                <a:latin typeface="Helvetica Neue"/>
              </a:rPr>
              <a:t>Annual error cost × share caused by data sourcing × share the AI removes</a:t>
            </a:r>
          </a:p>
        </p:txBody>
      </p:sp>
      <p:sp>
        <p:nvSpPr>
          <p:cNvPr id="607" name="TextBox 606"/>
          <p:cNvSpPr txBox="1"/>
          <p:nvPr/>
        </p:nvSpPr>
        <p:spPr>
          <a:xfrm>
            <a:off x="5029200" y="4389120"/>
            <a:ext cx="640080" cy="914400"/>
          </a:xfrm>
          <a:prstGeom prst="rect">
            <a:avLst/>
          </a:prstGeom>
          <a:noFill/>
        </p:spPr>
        <p:txBody>
          <a:bodyPr wrap="square" lIns="0" rIns="0" tIns="0" bIns="0" anchor="ctr">
            <a:spAutoFit/>
          </a:bodyPr>
          <a:lstStyle/>
          <a:p>
            <a:pPr algn="ctr"/>
            <a:r>
              <a:rPr sz="4800" b="1">
                <a:solidFill>
                  <a:srgbClr val="04243C"/>
                </a:solidFill>
                <a:latin typeface="Helvetica Neue"/>
              </a:rPr>
              <a:t>−</a:t>
            </a:r>
          </a:p>
        </p:txBody>
      </p:sp>
      <p:sp>
        <p:nvSpPr>
          <p:cNvPr id="608" name="Rounded Rectangle 607"/>
          <p:cNvSpPr/>
          <p:nvPr/>
        </p:nvSpPr>
        <p:spPr>
          <a:xfrm>
            <a:off x="5669280" y="2606040"/>
            <a:ext cx="4206240" cy="4480560"/>
          </a:xfrm>
          <a:prstGeom prst="roundRect">
            <a:avLst>
              <a:gd name="adj" fmla="val 4347"/>
            </a:avLst>
          </a:prstGeom>
          <a:solidFill>
            <a:srgbClr val="FFFFFF"/>
          </a:solidFill>
          <a:ln>
            <a:noFill/>
          </a:ln>
          <a:effectLst>
            <a:outerShdw blurRad="203200" dist="50800" dir="5400000" algn="t" rotWithShape="0">
              <a:srgbClr val="0F172A">
                <a:alpha val="13000"/>
              </a:srgbClr>
            </a:outerShdw>
          </a:effectLst>
        </p:spPr>
        <p:txBody>
          <a:bodyPr rtlCol="0" anchor="ctr"/>
          <a:lstStyle/>
          <a:p>
            <a:pPr algn="ctr"/>
          </a:p>
        </p:txBody>
      </p:sp>
      <p:sp>
        <p:nvSpPr>
          <p:cNvPr id="609" name="Rectangle 608"/>
          <p:cNvSpPr/>
          <p:nvPr/>
        </p:nvSpPr>
        <p:spPr>
          <a:xfrm>
            <a:off x="5669280" y="2606040"/>
            <a:ext cx="4206240" cy="777240"/>
          </a:xfrm>
          <a:prstGeom prst="round2SameRect">
            <a:avLst>
              <a:gd name="adj1" fmla="val 23529"/>
              <a:gd name="adj2" fmla="val 0"/>
            </a:avLst>
          </a:prstGeom>
          <a:solidFill>
            <a:srgbClr val="00539B"/>
          </a:solidFill>
          <a:ln>
            <a:noFill/>
          </a:ln>
        </p:spPr>
        <p:txBody>
          <a:bodyPr rtlCol="0" anchor="ctr"/>
          <a:lstStyle/>
          <a:p>
            <a:pPr algn="ctr"/>
          </a:p>
        </p:txBody>
      </p:sp>
      <p:sp>
        <p:nvSpPr>
          <p:cNvPr id="610" name="TextBox 609"/>
          <p:cNvSpPr txBox="1"/>
          <p:nvPr/>
        </p:nvSpPr>
        <p:spPr>
          <a:xfrm>
            <a:off x="5669280" y="2606040"/>
            <a:ext cx="4206240" cy="777240"/>
          </a:xfrm>
          <a:prstGeom prst="rect">
            <a:avLst/>
          </a:prstGeom>
          <a:noFill/>
        </p:spPr>
        <p:txBody>
          <a:bodyPr wrap="square" lIns="0" rIns="0" tIns="0" bIns="0" anchor="ctr">
            <a:spAutoFit/>
          </a:bodyPr>
          <a:lstStyle/>
          <a:p>
            <a:pPr algn="ctr"/>
            <a:r>
              <a:rPr sz="2200" b="1">
                <a:solidFill>
                  <a:srgbClr val="FFFFFF"/>
                </a:solidFill>
                <a:latin typeface="Helvetica Neue"/>
              </a:rPr>
              <a:t>Costs</a:t>
            </a:r>
          </a:p>
        </p:txBody>
      </p:sp>
      <p:sp>
        <p:nvSpPr>
          <p:cNvPr id="611" name="TextBox 610"/>
          <p:cNvSpPr txBox="1"/>
          <p:nvPr/>
        </p:nvSpPr>
        <p:spPr>
          <a:xfrm>
            <a:off x="5943600" y="3657600"/>
            <a:ext cx="3657599" cy="3246120"/>
          </a:xfrm>
          <a:prstGeom prst="rect">
            <a:avLst/>
          </a:prstGeom>
          <a:noFill/>
        </p:spPr>
        <p:txBody>
          <a:bodyPr wrap="square" lIns="0" rIns="0" tIns="0" bIns="0" anchor="t">
            <a:spAutoFit/>
          </a:bodyPr>
          <a:lstStyle/>
          <a:p>
            <a:pPr algn="l">
              <a:spcAft>
                <a:spcPts val="900"/>
              </a:spcAft>
            </a:pPr>
            <a:r>
              <a:rPr sz="1700" b="1">
                <a:solidFill>
                  <a:srgbClr val="04243C"/>
                </a:solidFill>
                <a:latin typeface="Helvetica Neue"/>
              </a:rPr>
              <a:t>Build and integration</a:t>
            </a:r>
          </a:p>
          <a:p>
            <a:pPr algn="l">
              <a:spcAft>
                <a:spcPts val="900"/>
              </a:spcAft>
            </a:pPr>
            <a:r>
              <a:rPr sz="1400" b="0">
                <a:solidFill>
                  <a:srgbClr val="475569"/>
                </a:solidFill>
                <a:latin typeface="Helvetica Neue"/>
              </a:rPr>
              <a:t>One-time, in year 0</a:t>
            </a:r>
          </a:p>
          <a:p>
            <a:pPr algn="l">
              <a:spcAft>
                <a:spcPts val="900"/>
              </a:spcAft>
            </a:pPr>
            <a:r>
              <a:rPr sz="1700" b="1">
                <a:solidFill>
                  <a:srgbClr val="04243C"/>
                </a:solidFill>
                <a:latin typeface="Helvetica Neue"/>
              </a:rPr>
              <a:t>Run and maintenance</a:t>
            </a:r>
          </a:p>
          <a:p>
            <a:pPr algn="l">
              <a:spcAft>
                <a:spcPts val="900"/>
              </a:spcAft>
            </a:pPr>
            <a:r>
              <a:rPr sz="1400" b="0">
                <a:solidFill>
                  <a:srgbClr val="475569"/>
                </a:solidFill>
                <a:latin typeface="Helvetica Neue"/>
              </a:rPr>
              <a:t>Yearly, as a share of the build cost</a:t>
            </a:r>
          </a:p>
          <a:p>
            <a:pPr algn="l">
              <a:spcAft>
                <a:spcPts val="900"/>
              </a:spcAft>
            </a:pPr>
            <a:r>
              <a:rPr sz="1700" b="1">
                <a:solidFill>
                  <a:srgbClr val="04243C"/>
                </a:solidFill>
                <a:latin typeface="Helvetica Neue"/>
              </a:rPr>
              <a:t>AI processing</a:t>
            </a:r>
          </a:p>
          <a:p>
            <a:pPr algn="l">
              <a:spcAft>
                <a:spcPts val="900"/>
              </a:spcAft>
            </a:pPr>
            <a:r>
              <a:rPr sz="1400" b="0">
                <a:solidFill>
                  <a:srgbClr val="475569"/>
                </a:solidFill>
                <a:latin typeface="Helvetica Neue"/>
              </a:rPr>
              <a:t>Per event; grows with adoption</a:t>
            </a:r>
          </a:p>
          <a:p>
            <a:pPr algn="l">
              <a:spcAft>
                <a:spcPts val="900"/>
              </a:spcAft>
            </a:pPr>
            <a:r>
              <a:rPr sz="1700" b="1">
                <a:solidFill>
                  <a:srgbClr val="04243C"/>
                </a:solidFill>
                <a:latin typeface="Helvetica Neue"/>
              </a:rPr>
              <a:t>Governance and platform</a:t>
            </a:r>
          </a:p>
          <a:p>
            <a:pPr algn="l">
              <a:spcAft>
                <a:spcPts val="900"/>
              </a:spcAft>
            </a:pPr>
            <a:r>
              <a:rPr sz="1400" b="0">
                <a:solidFill>
                  <a:srgbClr val="475569"/>
                </a:solidFill>
                <a:latin typeface="Helvetica Neue"/>
              </a:rPr>
              <a:t>Yearly model-risk, oversight and platform</a:t>
            </a:r>
          </a:p>
        </p:txBody>
      </p:sp>
      <p:sp>
        <p:nvSpPr>
          <p:cNvPr id="612" name="TextBox 611"/>
          <p:cNvSpPr txBox="1"/>
          <p:nvPr/>
        </p:nvSpPr>
        <p:spPr>
          <a:xfrm>
            <a:off x="9875520" y="4389120"/>
            <a:ext cx="640080" cy="914400"/>
          </a:xfrm>
          <a:prstGeom prst="rect">
            <a:avLst/>
          </a:prstGeom>
          <a:noFill/>
        </p:spPr>
        <p:txBody>
          <a:bodyPr wrap="square" lIns="0" rIns="0" tIns="0" bIns="0" anchor="ctr">
            <a:spAutoFit/>
          </a:bodyPr>
          <a:lstStyle/>
          <a:p>
            <a:pPr algn="ctr"/>
            <a:r>
              <a:rPr sz="4800" b="1">
                <a:solidFill>
                  <a:srgbClr val="04243C"/>
                </a:solidFill>
                <a:latin typeface="Helvetica Neue"/>
              </a:rPr>
              <a:t>=</a:t>
            </a:r>
          </a:p>
        </p:txBody>
      </p:sp>
      <p:sp>
        <p:nvSpPr>
          <p:cNvPr id="613" name="Oval 612"/>
          <p:cNvSpPr/>
          <p:nvPr/>
        </p:nvSpPr>
        <p:spPr>
          <a:xfrm>
            <a:off x="10561320" y="3794760"/>
            <a:ext cx="2103120" cy="2103120"/>
          </a:xfrm>
          <a:prstGeom prst="ellipse">
            <a:avLst/>
          </a:prstGeom>
          <a:solidFill>
            <a:srgbClr val="012169"/>
          </a:solidFill>
          <a:ln>
            <a:noFill/>
          </a:ln>
          <a:effectLst>
            <a:outerShdw blurRad="203200" dist="50800" dir="5400000" algn="t" rotWithShape="0">
              <a:srgbClr val="0F172A">
                <a:alpha val="13000"/>
              </a:srgbClr>
            </a:outerShdw>
          </a:effectLst>
        </p:spPr>
        <p:txBody>
          <a:bodyPr rtlCol="0" anchor="ctr"/>
          <a:lstStyle/>
          <a:p>
            <a:pPr algn="ctr"/>
          </a:p>
        </p:txBody>
      </p:sp>
      <p:sp>
        <p:nvSpPr>
          <p:cNvPr id="614" name="TextBox 613"/>
          <p:cNvSpPr txBox="1"/>
          <p:nvPr/>
        </p:nvSpPr>
        <p:spPr>
          <a:xfrm>
            <a:off x="10561320" y="3794760"/>
            <a:ext cx="2103120" cy="2103120"/>
          </a:xfrm>
          <a:prstGeom prst="rect">
            <a:avLst/>
          </a:prstGeom>
          <a:noFill/>
        </p:spPr>
        <p:txBody>
          <a:bodyPr wrap="square" lIns="0" rIns="0" tIns="0" bIns="0" anchor="ctr">
            <a:spAutoFit/>
          </a:bodyPr>
          <a:lstStyle/>
          <a:p>
            <a:pPr algn="ctr"/>
            <a:r>
              <a:rPr sz="2000" b="1">
                <a:solidFill>
                  <a:srgbClr val="FFFFFF"/>
                </a:solidFill>
                <a:latin typeface="Helvetica Neue"/>
              </a:rPr>
              <a:t>Yearly net</a:t>
            </a:r>
          </a:p>
          <a:p>
            <a:pPr algn="ctr"/>
            <a:r>
              <a:rPr sz="1500" b="0">
                <a:solidFill>
                  <a:srgbClr val="CFE6E9"/>
                </a:solidFill>
                <a:latin typeface="Helvetica Neue"/>
              </a:rPr>
              <a:t>years 1–5</a:t>
            </a:r>
          </a:p>
        </p:txBody>
      </p:sp>
      <p:cxnSp>
        <p:nvCxnSpPr>
          <p:cNvPr id="615" name="Connector 614"/>
          <p:cNvCxnSpPr/>
          <p:nvPr/>
        </p:nvCxnSpPr>
        <p:spPr>
          <a:xfrm>
            <a:off x="12755880" y="4846320"/>
            <a:ext cx="411480" cy="0"/>
          </a:xfrm>
          <a:prstGeom prst="line">
            <a:avLst/>
          </a:prstGeom>
          <a:ln w="31750">
            <a:solidFill>
              <a:srgbClr val="2B9CAE"/>
            </a:solidFill>
            <a:tailEnd type="triangle" w="med" len="med"/>
          </a:ln>
        </p:spPr>
      </p:cxnSp>
      <p:sp>
        <p:nvSpPr>
          <p:cNvPr id="616" name="Rounded Rectangle 615"/>
          <p:cNvSpPr/>
          <p:nvPr/>
        </p:nvSpPr>
        <p:spPr>
          <a:xfrm>
            <a:off x="13258800" y="2606040"/>
            <a:ext cx="4206240" cy="4480560"/>
          </a:xfrm>
          <a:prstGeom prst="roundRect">
            <a:avLst>
              <a:gd name="adj" fmla="val 4347"/>
            </a:avLst>
          </a:prstGeom>
          <a:solidFill>
            <a:srgbClr val="FFFFFF"/>
          </a:solidFill>
          <a:ln>
            <a:noFill/>
          </a:ln>
          <a:effectLst>
            <a:outerShdw blurRad="203200" dist="50800" dir="5400000" algn="t" rotWithShape="0">
              <a:srgbClr val="0F172A">
                <a:alpha val="13000"/>
              </a:srgbClr>
            </a:outerShdw>
          </a:effectLst>
        </p:spPr>
        <p:txBody>
          <a:bodyPr rtlCol="0" anchor="ctr"/>
          <a:lstStyle/>
          <a:p>
            <a:pPr algn="ctr"/>
          </a:p>
        </p:txBody>
      </p:sp>
      <p:sp>
        <p:nvSpPr>
          <p:cNvPr id="617" name="Rectangle 616"/>
          <p:cNvSpPr/>
          <p:nvPr/>
        </p:nvSpPr>
        <p:spPr>
          <a:xfrm>
            <a:off x="13258800" y="2606040"/>
            <a:ext cx="4206240" cy="777240"/>
          </a:xfrm>
          <a:prstGeom prst="round2SameRect">
            <a:avLst>
              <a:gd name="adj1" fmla="val 23529"/>
              <a:gd name="adj2" fmla="val 0"/>
            </a:avLst>
          </a:prstGeom>
          <a:solidFill>
            <a:srgbClr val="04243C"/>
          </a:solidFill>
          <a:ln>
            <a:noFill/>
          </a:ln>
        </p:spPr>
        <p:txBody>
          <a:bodyPr rtlCol="0" anchor="ctr"/>
          <a:lstStyle/>
          <a:p>
            <a:pPr algn="ctr"/>
          </a:p>
        </p:txBody>
      </p:sp>
      <p:sp>
        <p:nvSpPr>
          <p:cNvPr id="618" name="TextBox 617"/>
          <p:cNvSpPr txBox="1"/>
          <p:nvPr/>
        </p:nvSpPr>
        <p:spPr>
          <a:xfrm>
            <a:off x="13258800" y="2606040"/>
            <a:ext cx="4206240" cy="777240"/>
          </a:xfrm>
          <a:prstGeom prst="rect">
            <a:avLst/>
          </a:prstGeom>
          <a:noFill/>
        </p:spPr>
        <p:txBody>
          <a:bodyPr wrap="square" lIns="0" rIns="0" tIns="0" bIns="0" anchor="ctr">
            <a:spAutoFit/>
          </a:bodyPr>
          <a:lstStyle/>
          <a:p>
            <a:pPr algn="ctr"/>
            <a:r>
              <a:rPr sz="2200" b="1">
                <a:solidFill>
                  <a:srgbClr val="FFFFFF"/>
                </a:solidFill>
                <a:latin typeface="Helvetica Neue"/>
              </a:rPr>
              <a:t>Outputs</a:t>
            </a:r>
          </a:p>
        </p:txBody>
      </p:sp>
      <p:sp>
        <p:nvSpPr>
          <p:cNvPr id="619" name="TextBox 618"/>
          <p:cNvSpPr txBox="1"/>
          <p:nvPr/>
        </p:nvSpPr>
        <p:spPr>
          <a:xfrm>
            <a:off x="13533120" y="3657600"/>
            <a:ext cx="3657599" cy="3246120"/>
          </a:xfrm>
          <a:prstGeom prst="rect">
            <a:avLst/>
          </a:prstGeom>
          <a:noFill/>
        </p:spPr>
        <p:txBody>
          <a:bodyPr wrap="square" lIns="0" rIns="0" tIns="0" bIns="0" anchor="t">
            <a:spAutoFit/>
          </a:bodyPr>
          <a:lstStyle/>
          <a:p>
            <a:pPr algn="l">
              <a:spcAft>
                <a:spcPts val="900"/>
              </a:spcAft>
            </a:pPr>
            <a:r>
              <a:rPr sz="1700" b="1">
                <a:solidFill>
                  <a:srgbClr val="04243C"/>
                </a:solidFill>
                <a:latin typeface="Helvetica Neue"/>
              </a:rPr>
              <a:t>Payback</a:t>
            </a:r>
          </a:p>
          <a:p>
            <a:pPr algn="l">
              <a:spcAft>
                <a:spcPts val="900"/>
              </a:spcAft>
            </a:pPr>
            <a:r>
              <a:rPr sz="1400" b="0">
                <a:solidFill>
                  <a:srgbClr val="475569"/>
                </a:solidFill>
                <a:latin typeface="Helvetica Neue"/>
              </a:rPr>
              <a:t>Years until savings cover the build</a:t>
            </a:r>
          </a:p>
          <a:p>
            <a:pPr algn="l">
              <a:spcAft>
                <a:spcPts val="900"/>
              </a:spcAft>
            </a:pPr>
            <a:r>
              <a:rPr sz="1700" b="1">
                <a:solidFill>
                  <a:srgbClr val="04243C"/>
                </a:solidFill>
                <a:latin typeface="Helvetica Neue"/>
              </a:rPr>
              <a:t>ROI on upfront investment</a:t>
            </a:r>
          </a:p>
          <a:p>
            <a:pPr algn="l">
              <a:spcAft>
                <a:spcPts val="900"/>
              </a:spcAft>
            </a:pPr>
            <a:r>
              <a:rPr sz="1400" b="0">
                <a:solidFill>
                  <a:srgbClr val="475569"/>
                </a:solidFill>
                <a:latin typeface="Helvetica Neue"/>
              </a:rPr>
              <a:t>Net benefit earned on the build, 5-year and per year</a:t>
            </a:r>
          </a:p>
          <a:p>
            <a:pPr algn="l">
              <a:spcAft>
                <a:spcPts val="900"/>
              </a:spcAft>
            </a:pPr>
            <a:r>
              <a:rPr sz="1700" b="1">
                <a:solidFill>
                  <a:srgbClr val="04243C"/>
                </a:solidFill>
                <a:latin typeface="Helvetica Neue"/>
              </a:rPr>
              <a:t>Break-even build cost</a:t>
            </a:r>
          </a:p>
          <a:p>
            <a:pPr algn="l">
              <a:spcAft>
                <a:spcPts val="900"/>
              </a:spcAft>
            </a:pPr>
            <a:r>
              <a:rPr sz="1400" b="0">
                <a:solidFill>
                  <a:srgbClr val="475569"/>
                </a:solidFill>
                <a:latin typeface="Helvetica Neue"/>
              </a:rPr>
              <a:t>The most the build could cost and still pay off</a:t>
            </a:r>
          </a:p>
          <a:p>
            <a:pPr algn="l">
              <a:spcAft>
                <a:spcPts val="900"/>
              </a:spcAft>
            </a:pPr>
            <a:r>
              <a:rPr sz="1700" b="1">
                <a:solidFill>
                  <a:srgbClr val="04243C"/>
                </a:solidFill>
                <a:latin typeface="Helvetica Neue"/>
              </a:rPr>
              <a:t>NPV and IRR</a:t>
            </a:r>
          </a:p>
          <a:p>
            <a:pPr algn="l">
              <a:spcAft>
                <a:spcPts val="900"/>
              </a:spcAft>
            </a:pPr>
            <a:r>
              <a:rPr sz="1400" b="0">
                <a:solidFill>
                  <a:srgbClr val="475569"/>
                </a:solidFill>
                <a:latin typeface="Helvetica Neue"/>
              </a:rPr>
              <a:t>Value in today's dollars and the equivalent annual return</a:t>
            </a:r>
          </a:p>
        </p:txBody>
      </p:sp>
      <p:sp>
        <p:nvSpPr>
          <p:cNvPr id="620" name="TextBox 619"/>
          <p:cNvSpPr txBox="1"/>
          <p:nvPr/>
        </p:nvSpPr>
        <p:spPr>
          <a:xfrm>
            <a:off x="822960" y="7589520"/>
            <a:ext cx="16642080" cy="548640"/>
          </a:xfrm>
          <a:prstGeom prst="rect">
            <a:avLst/>
          </a:prstGeom>
          <a:noFill/>
        </p:spPr>
        <p:txBody>
          <a:bodyPr wrap="square" lIns="0" rIns="0" tIns="0" bIns="0" anchor="t">
            <a:spAutoFit/>
          </a:bodyPr>
          <a:lstStyle/>
          <a:p>
            <a:pPr algn="l"/>
            <a:r>
              <a:rPr sz="1800" b="1">
                <a:solidFill>
                  <a:srgbClr val="2B9CAE"/>
                </a:solidFill>
                <a:latin typeface="Helvetica Neue"/>
              </a:rPr>
              <a:t>Decision test: </a:t>
            </a:r>
            <a:r>
              <a:rPr sz="1800" b="0">
                <a:solidFill>
                  <a:srgbClr val="04243C"/>
                </a:solidFill>
                <a:latin typeface="Helvetica Neue"/>
              </a:rPr>
              <a:t>five years of net benefit, valued in today's dollars, must cover the year-0 build (NPV ≥ 0).</a:t>
            </a:r>
          </a:p>
        </p:txBody>
      </p:sp>
    </p:spTree>
  </p:cSld>
  <p:clrMapOvr>
    <a:masterClrMapping/>
  </p:clrMapOvr>
</p:sld>
</file>

<file path=ppt/theme/theme1.xml><?xml version="1.0" encoding="utf-8"?>
<a:theme xmlns:a="http://schemas.openxmlformats.org/drawingml/2006/main" xmlns:r="http://schemas.openxmlformats.org/officeDocument/2006/relationships" name="BNY Client Template">
  <a:themeElements>
    <a:clrScheme name="BNY Client Template">
      <a:dk1>
        <a:srgbClr val="04243C"/>
      </a:dk1>
      <a:lt1>
        <a:srgbClr val="FFFFFF"/>
      </a:lt1>
      <a:dk2>
        <a:srgbClr val="475569"/>
      </a:dk2>
      <a:lt2>
        <a:srgbClr val="EEEEEE"/>
      </a:lt2>
      <a:accent1>
        <a:srgbClr val="2B9CAE"/>
      </a:accent1>
      <a:accent2>
        <a:srgbClr val="CFE6E9"/>
      </a:accent2>
      <a:accent3>
        <a:srgbClr val="D8CDB8"/>
      </a:accent3>
      <a:accent4>
        <a:srgbClr val="1E5A7A"/>
      </a:accent4>
      <a:accent5>
        <a:srgbClr val="C9A66B"/>
      </a:accent5>
      <a:accent6>
        <a:srgbClr val="B4552D"/>
      </a:accent6>
      <a:hlink>
        <a:srgbClr val="2B9CAE"/>
      </a:hlink>
      <a:folHlink>
        <a:srgbClr val="47556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NY Client Template">
  <a:themeElements>
    <a:clrScheme name="BNY Client Template">
      <a:dk1>
        <a:srgbClr val="04243C"/>
      </a:dk1>
      <a:lt1>
        <a:srgbClr val="FFFFFF"/>
      </a:lt1>
      <a:dk2>
        <a:srgbClr val="475569"/>
      </a:dk2>
      <a:lt2>
        <a:srgbClr val="F3EBDD"/>
      </a:lt2>
      <a:accent1>
        <a:srgbClr val="2B9CAE"/>
      </a:accent1>
      <a:accent2>
        <a:srgbClr val="CFE6E9"/>
      </a:accent2>
      <a:accent3>
        <a:srgbClr val="D8CDB8"/>
      </a:accent3>
      <a:accent4>
        <a:srgbClr val="1E5A7A"/>
      </a:accent4>
      <a:accent5>
        <a:srgbClr val="C9A66B"/>
      </a:accent5>
      <a:accent6>
        <a:srgbClr val="B4552D"/>
      </a:accent6>
      <a:hlink>
        <a:srgbClr val="2B9CAE"/>
      </a:hlink>
      <a:folHlink>
        <a:srgbClr val="47556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