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</p:sldIdLst>
  <p:sldSz cy="10287000" cx="18288000"/>
  <p:notesSz cx="6858000" cy="9144000"/>
  <p:embeddedFontLst>
    <p:embeddedFont>
      <p:font typeface="Barlow Condensed"/>
      <p:bold r:id="rId8"/>
      <p:boldItalic r:id="rId9"/>
    </p:embeddedFont>
    <p:embeddedFont>
      <p:font typeface="Barlow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-bold.fntdata"/><Relationship Id="rId10" Type="http://schemas.openxmlformats.org/officeDocument/2006/relationships/font" Target="fonts/Barlow-regular.fntdata"/><Relationship Id="rId13" Type="http://schemas.openxmlformats.org/officeDocument/2006/relationships/font" Target="fonts/Barlow-boldItalic.fntdata"/><Relationship Id="rId12" Type="http://schemas.openxmlformats.org/officeDocument/2006/relationships/font" Target="fonts/Barlow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Barlow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5f4af6847654f19e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5f4af6847654f19e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f4af6847654f19e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5f4af6847654f19e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f4af6847654f19e_7_0)">
  <p:cSld name="Generated (h5f4af6847654f19e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18287700" cy="164700"/>
          </a:xfrm>
          <a:prstGeom prst="rect">
            <a:avLst/>
          </a:prstGeom>
          <a:solidFill>
            <a:srgbClr val="17324D"/>
          </a:solidFill>
          <a:ln cap="flat" cmpd="sng" w="19050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795528" y="301752"/>
            <a:ext cx="7406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885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6C7885"/>
                </a:solidFill>
                <a:latin typeface="Arial"/>
                <a:ea typeface="Arial"/>
                <a:cs typeface="Arial"/>
                <a:sym typeface="Arial"/>
              </a:rPr>
              <a:t>BNY CAPSTONE · CORPORATE ACTION INTELLIGENCE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7213580" y="9710928"/>
            <a:ext cx="12003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5"/>
          <p:cNvGrpSpPr/>
          <p:nvPr/>
        </p:nvGrpSpPr>
        <p:grpSpPr>
          <a:xfrm>
            <a:off x="1143000" y="1660427"/>
            <a:ext cx="15674100" cy="5111700"/>
            <a:chOff x="0" y="0"/>
            <a:chExt cx="15674100" cy="5111700"/>
          </a:xfrm>
        </p:grpSpPr>
        <p:sp>
          <p:nvSpPr>
            <p:cNvPr id="60" name="Google Shape;60;p15"/>
            <p:cNvSpPr/>
            <p:nvPr/>
          </p:nvSpPr>
          <p:spPr>
            <a:xfrm>
              <a:off x="0" y="0"/>
              <a:ext cx="15674100" cy="5111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5"/>
            <p:cNvSpPr txBox="1"/>
            <p:nvPr/>
          </p:nvSpPr>
          <p:spPr>
            <a:xfrm>
              <a:off x="0" y="0"/>
              <a:ext cx="15674100" cy="511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BNY</a:t>
              </a:r>
              <a:endParaRPr b="1" sz="150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0">
                  <a:solidFill>
                    <a:srgbClr val="4472C4"/>
                  </a:solidFill>
                  <a:latin typeface="Arial"/>
                  <a:ea typeface="Arial"/>
                  <a:cs typeface="Arial"/>
                  <a:sym typeface="Arial"/>
                </a:rPr>
                <a:t>Corporate Actions – Demo Prep &amp; Pipeline</a:t>
              </a:r>
              <a:endParaRPr/>
            </a:p>
          </p:txBody>
        </p:sp>
      </p:grpSp>
      <p:sp>
        <p:nvSpPr>
          <p:cNvPr id="62" name="Google Shape;62;p15"/>
          <p:cNvSpPr/>
          <p:nvPr/>
        </p:nvSpPr>
        <p:spPr>
          <a:xfrm>
            <a:off x="1285999" y="7703334"/>
            <a:ext cx="14372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1286000" y="7703335"/>
            <a:ext cx="14372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Week 5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Gandhi,  Pranshul Bhatnagar,  Alex Li,  Kedar Vaidya,  Aaron Jiang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952500" y="857250"/>
            <a:ext cx="1638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Objectives for the Week</a:t>
            </a:r>
            <a:endParaRPr b="1" sz="400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69" name="Google Shape;69;p16"/>
          <p:cNvGrpSpPr/>
          <p:nvPr/>
        </p:nvGrpSpPr>
        <p:grpSpPr>
          <a:xfrm>
            <a:off x="952500" y="2095500"/>
            <a:ext cx="3619500" cy="4000500"/>
            <a:chOff x="0" y="0"/>
            <a:chExt cx="3619500" cy="4000500"/>
          </a:xfrm>
        </p:grpSpPr>
        <p:sp>
          <p:nvSpPr>
            <p:cNvPr id="70" name="Google Shape;70;p16"/>
            <p:cNvSpPr/>
            <p:nvPr/>
          </p:nvSpPr>
          <p:spPr>
            <a:xfrm>
              <a:off x="0" y="0"/>
              <a:ext cx="3619500" cy="4000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6"/>
            <p:cNvSpPr txBox="1"/>
            <p:nvPr/>
          </p:nvSpPr>
          <p:spPr>
            <a:xfrm>
              <a:off x="304800" y="304800"/>
              <a:ext cx="3009900" cy="3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Data Extraction</a:t>
              </a:r>
              <a:endParaRPr b="1" sz="2800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Processing and Extraction Techniques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75B"/>
                  </a:solidFill>
                  <a:latin typeface="Barlow"/>
                  <a:ea typeface="Barlow"/>
                  <a:cs typeface="Barlow"/>
                  <a:sym typeface="Barlow"/>
                </a:rPr>
                <a:t>Using regex, pattern matching, GLINER, and potential github tooling frameworks for clean parsing</a:t>
              </a:r>
              <a:endParaRPr sz="1300">
                <a:solidFill>
                  <a:srgbClr val="33475B"/>
                </a:solidFill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75B"/>
                  </a:solidFill>
                  <a:latin typeface="Barlow"/>
                  <a:ea typeface="Barlow"/>
                  <a:cs typeface="Barlow"/>
                  <a:sym typeface="Barlow"/>
                </a:rPr>
                <a:t>Focus on Tender Offers and Mergers first</a:t>
              </a:r>
              <a:endParaRPr sz="1300">
                <a:solidFill>
                  <a:srgbClr val="33475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2" name="Google Shape;72;p16"/>
          <p:cNvGrpSpPr/>
          <p:nvPr/>
        </p:nvGrpSpPr>
        <p:grpSpPr>
          <a:xfrm>
            <a:off x="5181600" y="2095500"/>
            <a:ext cx="3619500" cy="4000500"/>
            <a:chOff x="0" y="0"/>
            <a:chExt cx="3619500" cy="4000500"/>
          </a:xfrm>
        </p:grpSpPr>
        <p:sp>
          <p:nvSpPr>
            <p:cNvPr id="73" name="Google Shape;73;p16"/>
            <p:cNvSpPr/>
            <p:nvPr/>
          </p:nvSpPr>
          <p:spPr>
            <a:xfrm>
              <a:off x="0" y="0"/>
              <a:ext cx="3619500" cy="4000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 txBox="1"/>
            <p:nvPr/>
          </p:nvSpPr>
          <p:spPr>
            <a:xfrm>
              <a:off x="304800" y="304800"/>
              <a:ext cx="3009900" cy="3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Data Validation</a:t>
              </a:r>
              <a:endParaRPr b="1" sz="2800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LLM Assisted Field Extraction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75B"/>
                  </a:solidFill>
                  <a:latin typeface="Barlow"/>
                  <a:ea typeface="Barlow"/>
                  <a:cs typeface="Barlow"/>
                  <a:sym typeface="Barlow"/>
                </a:rPr>
                <a:t>Using LLMs to assist in creating ground truth data extraction, built from our team’s verified schema and standardized prompts</a:t>
              </a:r>
              <a:endParaRPr sz="1300">
                <a:solidFill>
                  <a:srgbClr val="33475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5" name="Google Shape;75;p16"/>
          <p:cNvGrpSpPr/>
          <p:nvPr/>
        </p:nvGrpSpPr>
        <p:grpSpPr>
          <a:xfrm>
            <a:off x="9410700" y="2095500"/>
            <a:ext cx="3619500" cy="4000500"/>
            <a:chOff x="0" y="0"/>
            <a:chExt cx="3619500" cy="4000500"/>
          </a:xfrm>
        </p:grpSpPr>
        <p:sp>
          <p:nvSpPr>
            <p:cNvPr id="76" name="Google Shape;76;p16"/>
            <p:cNvSpPr/>
            <p:nvPr/>
          </p:nvSpPr>
          <p:spPr>
            <a:xfrm>
              <a:off x="0" y="0"/>
              <a:ext cx="3619500" cy="4000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 txBox="1"/>
            <p:nvPr/>
          </p:nvSpPr>
          <p:spPr>
            <a:xfrm>
              <a:off x="304800" y="304800"/>
              <a:ext cx="3009900" cy="3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Demo Preparation</a:t>
              </a:r>
              <a:endParaRPr b="1" sz="2800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Putting the Pieces Together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75B"/>
                  </a:solidFill>
                  <a:latin typeface="Barlow"/>
                  <a:ea typeface="Barlow"/>
                  <a:cs typeface="Barlow"/>
                  <a:sym typeface="Barlow"/>
                </a:rPr>
                <a:t>Combining the steps of our workflow and pipeline to build an end-to-end presentable demo to Corporate Action Team</a:t>
              </a:r>
              <a:endParaRPr sz="1300">
                <a:solidFill>
                  <a:srgbClr val="33475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8" name="Google Shape;78;p16"/>
          <p:cNvGrpSpPr/>
          <p:nvPr/>
        </p:nvGrpSpPr>
        <p:grpSpPr>
          <a:xfrm>
            <a:off x="13639800" y="2095500"/>
            <a:ext cx="3619500" cy="4000500"/>
            <a:chOff x="0" y="0"/>
            <a:chExt cx="3619500" cy="4000500"/>
          </a:xfrm>
        </p:grpSpPr>
        <p:sp>
          <p:nvSpPr>
            <p:cNvPr id="79" name="Google Shape;79;p16"/>
            <p:cNvSpPr/>
            <p:nvPr/>
          </p:nvSpPr>
          <p:spPr>
            <a:xfrm>
              <a:off x="0" y="0"/>
              <a:ext cx="3619500" cy="4000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304800" y="304800"/>
              <a:ext cx="3009900" cy="3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Funding</a:t>
              </a:r>
              <a:endParaRPr b="1" sz="2800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Acquiring Funding via Duke and BNY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300">
                  <a:solidFill>
                    <a:srgbClr val="33475B"/>
                  </a:solidFill>
                  <a:latin typeface="Barlow"/>
                  <a:ea typeface="Barlow"/>
                  <a:cs typeface="Barlow"/>
                  <a:sym typeface="Barlow"/>
                </a:rPr>
                <a:t>LLM APIs and AWS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33475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81" name="Google Shape;81;p16"/>
          <p:cNvSpPr/>
          <p:nvPr/>
        </p:nvSpPr>
        <p:spPr>
          <a:xfrm>
            <a:off x="4686300" y="4010025"/>
            <a:ext cx="238200" cy="133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05600" y="60000"/>
                </a:lnTo>
                <a:moveTo>
                  <a:pt x="76800" y="0"/>
                </a:moveTo>
                <a:lnTo>
                  <a:pt x="120000" y="60000"/>
                </a:lnTo>
                <a:lnTo>
                  <a:pt x="768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38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8915400" y="4010025"/>
            <a:ext cx="238200" cy="133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05600" y="60000"/>
                </a:lnTo>
                <a:moveTo>
                  <a:pt x="76800" y="0"/>
                </a:moveTo>
                <a:lnTo>
                  <a:pt x="120000" y="60000"/>
                </a:lnTo>
                <a:lnTo>
                  <a:pt x="768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38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13144500" y="4010025"/>
            <a:ext cx="238200" cy="133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05600" y="60000"/>
                </a:lnTo>
                <a:moveTo>
                  <a:pt x="76800" y="0"/>
                </a:moveTo>
                <a:lnTo>
                  <a:pt x="120000" y="60000"/>
                </a:lnTo>
                <a:lnTo>
                  <a:pt x="768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38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