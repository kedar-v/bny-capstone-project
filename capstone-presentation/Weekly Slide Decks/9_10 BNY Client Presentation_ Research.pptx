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10287000" cx="18288000"/>
  <p:notesSz cx="10287000" cy="18288000"/>
  <p:embeddedFontLst>
    <p:embeddedFont>
      <p:font typeface="Barlow Condensed"/>
      <p:regular r:id="rId26"/>
      <p:bold r:id="rId27"/>
      <p:italic r:id="rId28"/>
      <p:boldItalic r:id="rId29"/>
    </p:embeddedFont>
    <p:embeddedFont>
      <p:font typeface="Barlow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Condensed-regular.fntdata"/><Relationship Id="rId25" Type="http://schemas.openxmlformats.org/officeDocument/2006/relationships/slide" Target="slides/slide21.xml"/><Relationship Id="rId28" Type="http://schemas.openxmlformats.org/officeDocument/2006/relationships/font" Target="fonts/BarlowCondensed-italic.fntdata"/><Relationship Id="rId27" Type="http://schemas.openxmlformats.org/officeDocument/2006/relationships/font" Target="fonts/BarlowCondense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Condense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-bold.fntdata"/><Relationship Id="rId30" Type="http://schemas.openxmlformats.org/officeDocument/2006/relationships/font" Target="fonts/Barlow-regular.fntdata"/><Relationship Id="rId11" Type="http://schemas.openxmlformats.org/officeDocument/2006/relationships/slide" Target="slides/slide7.xml"/><Relationship Id="rId33" Type="http://schemas.openxmlformats.org/officeDocument/2006/relationships/font" Target="fonts/Barlow-boldItalic.fntdata"/><Relationship Id="rId10" Type="http://schemas.openxmlformats.org/officeDocument/2006/relationships/slide" Target="slides/slide6.xml"/><Relationship Id="rId32" Type="http://schemas.openxmlformats.org/officeDocument/2006/relationships/font" Target="fonts/Barlow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notes for the BNY capstone: which public data sources support corporate-action extraction and validation, and which event types to prioritize.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core capabilities plus a stretch goal. Everything downstream in this deck serves these.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What happened? ↓ Parse the notice 2. Is this new or an update? ↓ Compare against prior events 3. Who/what is affected? ↓ Check positions / accounts 4. What needs to happen because of this? ↓ Calculate / notify / create instructions 5. Is anything unclear? ↓ Escalate to human if needed 6. Record what happened ↓ Audit trail</a:t>
            </a:r>
            <a:endParaRPr/>
          </a:p>
        </p:txBody>
      </p:sp>
      <p:sp>
        <p:nvSpPr>
          <p:cNvPr id="28" name="Google Shape;28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six steps when a public notice moves a dividend payment date from Sept 15 to Sept 22. The LLM handles language; code handles calculations and the audit trail.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real goal is to take the information from the notice and turn it into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operational actions a custodian like BNY would need to carry out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7b93dec4_6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fa7b93dec4_6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a7b93dec4_6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7b93dec4_6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fa7b93dec4_6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a7b93dec4_6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7b93dec4_6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fa7b93dec4_6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a7b93dec4_6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incumbents — rule-based, configuration-driven automation. SmartStream is the closest analog to the full pipeline.</a:t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a7b93dec4_5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fa7b93dec4_5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a7b93dec4_5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a7b93dec4_6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fa7b93dec4_6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a7b93dec4_6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a7b93dec4_6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fa7b93dec4_6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with frequent mandatory actions that are easy to validate, then add one complex reorganization to exercise temporal tracking.</a:t>
            </a:r>
            <a:endParaRPr/>
          </a:p>
        </p:txBody>
      </p:sp>
      <p:sp>
        <p:nvSpPr>
          <p:cNvPr id="273" name="Google Shape;273;g3fa7b93dec4_6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a7b93dec4_6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fa7b93dec4_6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a7b93dec4_6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a7b93dec4_6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fa7b93dec4_6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why-now / why-this-approach framing for the proposal.</a:t>
            </a:r>
            <a:endParaRPr/>
          </a:p>
        </p:txBody>
      </p:sp>
      <p:sp>
        <p:nvSpPr>
          <p:cNvPr id="310" name="Google Shape;310;g3fa7b93dec4_6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a7b93dec4_6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fa7b93dec4_6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a7b93dec4_6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1660424"/>
            <a:ext cx="156741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Arial"/>
              <a:buNone/>
            </a:pPr>
            <a:r>
              <a:rPr b="1" lang="en-US" sz="15000">
                <a:solidFill>
                  <a:srgbClr val="1D1F20"/>
                </a:solidFill>
              </a:rPr>
              <a:t>Research</a:t>
            </a:r>
            <a:endParaRPr b="1" sz="15000">
              <a:solidFill>
                <a:srgbClr val="1D1F20"/>
              </a:solidFill>
            </a:endParaRPr>
          </a:p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Arial"/>
              <a:buNone/>
            </a:pPr>
            <a:r>
              <a:t/>
            </a:r>
            <a:endParaRPr b="1" sz="8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Arial"/>
              <a:buNone/>
            </a:pPr>
            <a:r>
              <a:rPr b="1" i="0" lang="en-US" sz="8000" u="none" cap="none" strike="noStrike">
                <a:solidFill>
                  <a:schemeClr val="accent1"/>
                </a:solidFill>
              </a:rPr>
              <a:t>Corporate Actions </a:t>
            </a:r>
            <a:r>
              <a:rPr b="1" lang="en-US" sz="8000">
                <a:solidFill>
                  <a:schemeClr val="accent1"/>
                </a:solidFill>
              </a:rPr>
              <a:t>and</a:t>
            </a:r>
            <a:r>
              <a:rPr b="1" i="0" lang="en-US" sz="8000" u="none" cap="none" strike="noStrike">
                <a:solidFill>
                  <a:schemeClr val="accent1"/>
                </a:solidFill>
              </a:rPr>
              <a:t> Public Data</a:t>
            </a:r>
            <a:endParaRPr b="1" i="0" sz="8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286000" y="7703335"/>
            <a:ext cx="14372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1" lang="en-US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Week 1</a:t>
            </a:r>
            <a:endParaRPr b="1" sz="1800">
              <a:solidFill>
                <a:srgbClr val="1D1F2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1" lang="en-US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Corporate Action Intelligence Team</a:t>
            </a:r>
            <a:endParaRPr b="1" sz="1800">
              <a:solidFill>
                <a:srgbClr val="1D1F2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Aesha Gandhi,  Pranshul Bhatnagar,  Alex Li,  Kedar Vaidya,  Aaron Jiang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78471" y="2514600"/>
            <a:ext cx="3641177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1095524" y="7132290"/>
            <a:ext cx="5463771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context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Our Idea of the Project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" name="Google Shape;31;p5"/>
          <p:cNvGrpSpPr/>
          <p:nvPr/>
        </p:nvGrpSpPr>
        <p:grpSpPr>
          <a:xfrm>
            <a:off x="1428750" y="3810000"/>
            <a:ext cx="15430425" cy="3810000"/>
            <a:chOff x="1428750" y="3810000"/>
            <a:chExt cx="15430425" cy="3810000"/>
          </a:xfrm>
        </p:grpSpPr>
        <p:sp>
          <p:nvSpPr>
            <p:cNvPr id="32" name="Google Shape;32;p5"/>
            <p:cNvSpPr txBox="1"/>
            <p:nvPr/>
          </p:nvSpPr>
          <p:spPr>
            <a:xfrm>
              <a:off x="1428750" y="3810000"/>
              <a:ext cx="30003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01 </a:t>
              </a:r>
              <a:r>
                <a:rPr lang="en-US" sz="3600">
                  <a:solidFill>
                    <a:srgbClr val="5980A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input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Intake and classification</a:t>
              </a:r>
              <a:endParaRPr b="1" sz="28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5A5C5E"/>
                  </a:solidFill>
                  <a:latin typeface="Barlow"/>
                  <a:ea typeface="Barlow"/>
                  <a:cs typeface="Barlow"/>
                  <a:sym typeface="Barlow"/>
                </a:rPr>
                <a:t>Turn unstructured notices into structured event fields.</a:t>
              </a:r>
              <a:endParaRPr b="0" sz="1800">
                <a:solidFill>
                  <a:srgbClr val="5A5C5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" name="Google Shape;33;p5"/>
            <p:cNvSpPr txBox="1"/>
            <p:nvPr/>
          </p:nvSpPr>
          <p:spPr>
            <a:xfrm>
              <a:off x="5572125" y="3810000"/>
              <a:ext cx="30003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02</a:t>
              </a:r>
              <a:r>
                <a:rPr lang="en-US" sz="3600">
                  <a:solidFill>
                    <a:srgbClr val="5980A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timeline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Temporal event tracking</a:t>
              </a:r>
              <a:endParaRPr b="1" sz="28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5A5C5E"/>
                  </a:solidFill>
                  <a:latin typeface="Barlow"/>
                  <a:ea typeface="Barlow"/>
                  <a:cs typeface="Barlow"/>
                  <a:sym typeface="Barlow"/>
                </a:rPr>
                <a:t>Link multiple notices to the same event and identify what changed or superseded prior information.</a:t>
              </a:r>
              <a:endParaRPr b="0" sz="1800">
                <a:solidFill>
                  <a:srgbClr val="5A5C5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" name="Google Shape;34;p5"/>
            <p:cNvSpPr txBox="1"/>
            <p:nvPr/>
          </p:nvSpPr>
          <p:spPr>
            <a:xfrm>
              <a:off x="9715500" y="3810000"/>
              <a:ext cx="30003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03</a:t>
              </a:r>
              <a:r>
                <a:rPr lang="en-US" sz="3600">
                  <a:solidFill>
                    <a:srgbClr val="5980A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Downstream processing</a:t>
              </a:r>
              <a:endParaRPr b="1" sz="28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5A5C5E"/>
                  </a:solidFill>
                  <a:latin typeface="Barlow"/>
                  <a:ea typeface="Barlow"/>
                  <a:cs typeface="Barlow"/>
                  <a:sym typeface="Barlow"/>
                </a:rPr>
                <a:t>Determine required actions such as calculations, notifications and settlement-related steps.</a:t>
              </a:r>
              <a:endParaRPr b="0" sz="1800">
                <a:solidFill>
                  <a:srgbClr val="5A5C5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" name="Google Shape;35;p5"/>
            <p:cNvSpPr txBox="1"/>
            <p:nvPr/>
          </p:nvSpPr>
          <p:spPr>
            <a:xfrm>
              <a:off x="13858875" y="3810000"/>
              <a:ext cx="30003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04</a:t>
              </a:r>
              <a:r>
                <a:rPr lang="en-US" sz="3600">
                  <a:solidFill>
                    <a:srgbClr val="5980A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Audit and exceptions</a:t>
              </a:r>
              <a:endParaRPr b="1" sz="28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5A5C5E"/>
                  </a:solidFill>
                  <a:latin typeface="Barlow"/>
                  <a:ea typeface="Barlow"/>
                  <a:cs typeface="Barlow"/>
                  <a:sym typeface="Barlow"/>
                </a:rPr>
                <a:t>Log decisions and evidence; route ambiguous or high-risk cases to human review.</a:t>
              </a:r>
              <a:endParaRPr b="0" sz="1800">
                <a:solidFill>
                  <a:srgbClr val="5A5C5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Example Workflow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1143000" y="3429000"/>
            <a:ext cx="5029200" cy="1828800"/>
          </a:xfrm>
          <a:prstGeom prst="rect">
            <a:avLst/>
          </a:prstGeom>
          <a:noFill/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1419225" y="3705225"/>
            <a:ext cx="4924425" cy="3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 · PUBLIC NOTICE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1419225" y="4173810"/>
            <a:ext cx="4924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Payment date revised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1419225" y="4707210"/>
            <a:ext cx="49244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463"/>
              </a:lnSpc>
              <a:spcBef>
                <a:spcPts val="0"/>
              </a:spcBef>
              <a:spcAft>
                <a:spcPts val="0"/>
              </a:spcAft>
              <a:buClr>
                <a:srgbClr val="1C1F1F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C1F1F"/>
                </a:solidFill>
                <a:latin typeface="Barlow"/>
                <a:ea typeface="Barlow"/>
                <a:cs typeface="Barlow"/>
                <a:sym typeface="Barlow"/>
              </a:rPr>
              <a:t>Sept 15 → Sept 22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6248400" y="4343400"/>
            <a:ext cx="304800" cy="19050"/>
          </a:xfrm>
          <a:prstGeom prst="rect">
            <a:avLst/>
          </a:prstGeom>
          <a:solidFill>
            <a:srgbClr val="598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6629400" y="3429000"/>
            <a:ext cx="5029200" cy="1828800"/>
          </a:xfrm>
          <a:prstGeom prst="rect">
            <a:avLst/>
          </a:prstGeom>
          <a:noFill/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6905625" y="3705225"/>
            <a:ext cx="4924425" cy="3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 · INTAKE / 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6905625" y="4126773"/>
            <a:ext cx="492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Extract the event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905625" y="4554340"/>
            <a:ext cx="4611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463"/>
              </a:lnSpc>
              <a:spcBef>
                <a:spcPts val="0"/>
              </a:spcBef>
              <a:spcAft>
                <a:spcPts val="0"/>
              </a:spcAft>
              <a:buClr>
                <a:srgbClr val="1C1F1F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C1F1F"/>
                </a:solidFill>
                <a:latin typeface="Barlow"/>
                <a:ea typeface="Barlow"/>
                <a:cs typeface="Barlow"/>
                <a:sym typeface="Barlow"/>
              </a:rPr>
              <a:t>Event type, issuer, amount, dates, amendment flag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1734800" y="4343400"/>
            <a:ext cx="304800" cy="19050"/>
          </a:xfrm>
          <a:prstGeom prst="rect">
            <a:avLst/>
          </a:prstGeom>
          <a:solidFill>
            <a:srgbClr val="598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12115800" y="3429000"/>
            <a:ext cx="5029200" cy="1828800"/>
          </a:xfrm>
          <a:prstGeom prst="rect">
            <a:avLst/>
          </a:prstGeom>
          <a:noFill/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12392025" y="3705225"/>
            <a:ext cx="4924425" cy="3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 · RETRIEVE HISTORY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2392025" y="4173810"/>
            <a:ext cx="4924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Find the prior event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2392025" y="4707210"/>
            <a:ext cx="49244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463"/>
              </a:lnSpc>
              <a:spcBef>
                <a:spcPts val="0"/>
              </a:spcBef>
              <a:spcAft>
                <a:spcPts val="0"/>
              </a:spcAft>
              <a:buClr>
                <a:srgbClr val="1C1F1F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C1F1F"/>
                </a:solidFill>
                <a:latin typeface="Barlow"/>
                <a:ea typeface="Barlow"/>
                <a:cs typeface="Barlow"/>
                <a:sym typeface="Barlow"/>
              </a:rPr>
              <a:t>Related filings and notices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4620875" y="5334000"/>
            <a:ext cx="19050" cy="304800"/>
          </a:xfrm>
          <a:prstGeom prst="rect">
            <a:avLst/>
          </a:prstGeom>
          <a:solidFill>
            <a:srgbClr val="598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12115800" y="5715000"/>
            <a:ext cx="5029200" cy="1714500"/>
          </a:xfrm>
          <a:prstGeom prst="rect">
            <a:avLst/>
          </a:prstGeom>
          <a:noFill/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2392025" y="5991225"/>
            <a:ext cx="4924425" cy="3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 · TEMPORAL REASONING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2392025" y="6459810"/>
            <a:ext cx="4924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Same event? What changed?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2392025" y="6993210"/>
            <a:ext cx="49244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463"/>
              </a:lnSpc>
              <a:spcBef>
                <a:spcPts val="0"/>
              </a:spcBef>
              <a:spcAft>
                <a:spcPts val="0"/>
              </a:spcAft>
              <a:buClr>
                <a:srgbClr val="1C1F1F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C1F1F"/>
                </a:solidFill>
                <a:latin typeface="Barlow"/>
                <a:ea typeface="Barlow"/>
                <a:cs typeface="Barlow"/>
                <a:sym typeface="Barlow"/>
              </a:rPr>
              <a:t>Sept 15 → Sept 22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1734800" y="6572250"/>
            <a:ext cx="304800" cy="19050"/>
          </a:xfrm>
          <a:prstGeom prst="rect">
            <a:avLst/>
          </a:prstGeom>
          <a:solidFill>
            <a:srgbClr val="598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6629400" y="5715000"/>
            <a:ext cx="5029200" cy="1714500"/>
          </a:xfrm>
          <a:prstGeom prst="rect">
            <a:avLst/>
          </a:prstGeom>
          <a:noFill/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6905625" y="5991225"/>
            <a:ext cx="4924425" cy="3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5 · PROCESSING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905625" y="6459810"/>
            <a:ext cx="4924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Deterministic entitlement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6905625" y="6993210"/>
            <a:ext cx="49244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463"/>
              </a:lnSpc>
              <a:spcBef>
                <a:spcPts val="0"/>
              </a:spcBef>
              <a:spcAft>
                <a:spcPts val="0"/>
              </a:spcAft>
              <a:buClr>
                <a:srgbClr val="1C1F1F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C1F1F"/>
                </a:solidFill>
                <a:latin typeface="Barlow"/>
                <a:ea typeface="Barlow"/>
                <a:cs typeface="Barlow"/>
                <a:sym typeface="Barlow"/>
              </a:rPr>
              <a:t>Calculated on synthetic positions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6248400" y="6572250"/>
            <a:ext cx="304800" cy="19050"/>
          </a:xfrm>
          <a:prstGeom prst="rect">
            <a:avLst/>
          </a:prstGeom>
          <a:solidFill>
            <a:srgbClr val="598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143000" y="5715000"/>
            <a:ext cx="5029200" cy="1714500"/>
          </a:xfrm>
          <a:prstGeom prst="rect">
            <a:avLst/>
          </a:prstGeom>
          <a:noFill/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1419225" y="5991225"/>
            <a:ext cx="4924425" cy="3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6 · AUDIT / EXCEPTION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419225" y="6459810"/>
            <a:ext cx="4924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Log sources and changes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419225" y="6993210"/>
            <a:ext cx="49244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463"/>
              </a:lnSpc>
              <a:spcBef>
                <a:spcPts val="0"/>
              </a:spcBef>
              <a:spcAft>
                <a:spcPts val="0"/>
              </a:spcAft>
              <a:buClr>
                <a:srgbClr val="1C1F1F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C1F1F"/>
                </a:solidFill>
                <a:latin typeface="Barlow"/>
                <a:ea typeface="Barlow"/>
                <a:cs typeface="Barlow"/>
                <a:sym typeface="Barlow"/>
              </a:rPr>
              <a:t>Escalate if ambiguous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978471" y="2514600"/>
            <a:ext cx="45714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</a:t>
            </a:r>
            <a:r>
              <a:rPr b="1" lang="en-US" sz="3600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95524" y="7132290"/>
            <a:ext cx="144591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Our Understanding of Corporate Actions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1143000" y="6442695"/>
            <a:ext cx="8184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F2F2F4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F2F2F4"/>
                </a:solidFill>
                <a:latin typeface="Barlow"/>
                <a:ea typeface="Barlow"/>
                <a:cs typeface="Barlow"/>
                <a:sym typeface="Barlow"/>
              </a:rPr>
              <a:t>Task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Corporate</a:t>
            </a: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Action</a:t>
            </a: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</a:t>
            </a: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vents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158725" y="3179924"/>
            <a:ext cx="2714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4679044" y="3164805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BENEFIT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9186939" y="3179924"/>
            <a:ext cx="4709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158725" y="4208624"/>
            <a:ext cx="2714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Cash dividend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4679044" y="4193505"/>
            <a:ext cx="4009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Simple cash entitlement; common custody / income event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9186939" y="4208624"/>
            <a:ext cx="4709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Looks deceptively easy; amendments and special dividends still matter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1158725" y="5237324"/>
            <a:ext cx="2714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Forward / reverse stock split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679044" y="5222205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Position adjustment rather than cash; clean extraction and validation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9186939" y="5237324"/>
            <a:ext cx="4709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Needs ratio and effective-date precision; handling of fractional shares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158725" y="6380324"/>
            <a:ext cx="2714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Spin-off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679044" y="6365205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Introduces parent + new security and richer entitlement logic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9186939" y="6380324"/>
            <a:ext cx="4709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Multiple identifiers/securities; fractional treatment; changing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1158725" y="7523324"/>
            <a:ext cx="2714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Merger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679044" y="7508205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Excellent temporal-tracking / reorganization use case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9186939" y="7523324"/>
            <a:ext cx="4709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Cash, stock or mixed consideration; event evolves over many filings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Later-phase </a:t>
            </a: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</a:t>
            </a: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vents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1149072" y="2514674"/>
            <a:ext cx="2714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006572" y="25146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CUSTODY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5835372" y="2514674"/>
            <a:ext cx="144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FIT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7435572" y="25146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BENEFIT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11550372" y="2514674"/>
            <a:ext cx="4709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149072" y="3543374"/>
            <a:ext cx="2714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Stock dividend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006572" y="3543374"/>
            <a:ext cx="167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High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5835372" y="3543374"/>
            <a:ext cx="1447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Good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7435572" y="3543374"/>
            <a:ext cx="4009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Useful share-distribution event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11550372" y="3543374"/>
            <a:ext cx="4709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Conceptually overlaps with the dividend / split MVP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149072" y="4572074"/>
            <a:ext cx="2714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Tender / exchange offer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4006572" y="45720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Very high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835372" y="4572074"/>
            <a:ext cx="144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Moderate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7435572" y="4572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Shows voluntary elections, deadlines, proration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11550372" y="4572074"/>
            <a:ext cx="4709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Hard without real client election data; complex lifecycle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149072" y="5715074"/>
            <a:ext cx="2714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Rights issue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006572" y="57150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High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5835372" y="5715074"/>
            <a:ext cx="144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Moderate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7435572" y="5715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Relevant voluntary custody action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11550372" y="5715074"/>
            <a:ext cx="4709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Choice, deadlines, subscription ratios, market differences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149072" y="6858074"/>
            <a:ext cx="2714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Redemption / call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006572" y="68580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High (esp. fixed income)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835372" y="6858074"/>
            <a:ext cx="144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Moderate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7435572" y="6858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Expands custody relevance beyond equities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1550372" y="6858074"/>
            <a:ext cx="4709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Broadens asset-class scope significantly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978471" y="2514600"/>
            <a:ext cx="440055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</a:t>
            </a:r>
            <a:r>
              <a:rPr b="1" lang="en-US" sz="3600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1095524" y="7132290"/>
            <a:ext cx="11525987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 Exists so Far?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Established </a:t>
            </a: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</a:t>
            </a: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nterprise </a:t>
            </a: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</a:t>
            </a: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latforms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143000" y="2762324"/>
            <a:ext cx="565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6858000" y="2762324"/>
            <a:ext cx="10595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 IT DOES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1143000" y="3791024"/>
            <a:ext cx="5658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SmartStream TLM Corporate Actions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858000" y="3791024"/>
            <a:ext cx="105957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Category leader and closest analog to the full pipeline. Sources events via web scraping and AI/ML, validates through DTCC Solutions, captures elections by portal, message or unstructured input.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1143000" y="4878809"/>
            <a:ext cx="565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Broadridge Corporate Actions &amp; Income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6858000" y="4878809"/>
            <a:ext cx="10595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Wealth-management focus; drives efficiency and controls for custodians and broker-dealers.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1143000" y="5793209"/>
            <a:ext cx="565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FIS Corporate Actions Suite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6858000" y="5793209"/>
            <a:ext cx="10595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SWIFT-accredited, highly configurable end-to-end processing.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1143000" y="6707609"/>
            <a:ext cx="565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BetaNXT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858000" y="6707609"/>
            <a:ext cx="10595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Automated sourcing, scrubbing and sharing of events with omni-channel notifications.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1143000" y="7622009"/>
            <a:ext cx="565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DTCC Data Services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6858000" y="7622009"/>
            <a:ext cx="10595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Industry utility for corporate-action reference data; launched an initiative to modernize how that data is delivered (Dec 2025).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/>
          <p:nvPr/>
        </p:nvSpPr>
        <p:spPr>
          <a:xfrm>
            <a:off x="978471" y="2514600"/>
            <a:ext cx="4405625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</a:t>
            </a:r>
            <a:r>
              <a:rPr b="1" lang="en-US" sz="3600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1095524" y="7132290"/>
            <a:ext cx="15019251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 Data We Can Use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1143000" y="6442695"/>
            <a:ext cx="768846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F2F2F4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F2F2F4"/>
                </a:solidFill>
                <a:latin typeface="Barlow"/>
                <a:ea typeface="Barlow"/>
                <a:cs typeface="Barlow"/>
                <a:sym typeface="Barlow"/>
              </a:rPr>
              <a:t>Task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and academic sources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1143000" y="2514674"/>
            <a:ext cx="213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SOURCE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3429000" y="25146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5257800" y="2514674"/>
            <a:ext cx="2596896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8001000" y="2514674"/>
            <a:ext cx="2362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10515600" y="2514674"/>
            <a:ext cx="3067812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BEST 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13716000" y="2514674"/>
            <a:ext cx="35318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MAIN LIMITATION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1143000" y="3543374"/>
            <a:ext cx="2133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 EDGAR / 8-K</a:t>
            </a:r>
            <a:endParaRPr b="0" i="0" sz="3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3429000" y="3543374"/>
            <a:ext cx="167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Free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5257800" y="3543374"/>
            <a:ext cx="2596896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U.S. SEC filers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8001000" y="3543374"/>
            <a:ext cx="2362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HTML, text, iXBRL, exhibits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10515600" y="3543374"/>
            <a:ext cx="306781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Best raw NLP / extraction corpus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13716000" y="3543374"/>
            <a:ext cx="353187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Not a canonical or complete CA feed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1143000" y="4572074"/>
            <a:ext cx="213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FINRA OTC Daily List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3429000" y="45720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Free / public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257800" y="4572074"/>
            <a:ext cx="2596896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OTC equities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8001000" y="4572074"/>
            <a:ext cx="2362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Structured API + archives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10515600" y="4572074"/>
            <a:ext cx="3067812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OTC validation; unusual actions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13716000" y="4572074"/>
            <a:ext cx="35318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Mostly OTC; weak for Fortune 500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143000" y="5715074"/>
            <a:ext cx="213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CRSP via Duke WRDS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3429000" y="57150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Duke subscription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5257800" y="5715074"/>
            <a:ext cx="2596896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Deep historical U.S. equities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8001000" y="5715074"/>
            <a:ext cx="2362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Structured WRDS tables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10515600" y="5715074"/>
            <a:ext cx="3067812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High-quality historical ground truth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13716000" y="5715074"/>
            <a:ext cx="35318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Academic licensing; not real-time; no raw redistribution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1143000" y="6858074"/>
            <a:ext cx="213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DTCC public resources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3429000" y="68580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Free docs / samples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257800" y="6858074"/>
            <a:ext cx="2596896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DTC / industry standards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8001000" y="6858074"/>
            <a:ext cx="2362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ISO 20022 schemas + samples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10515600" y="6858074"/>
            <a:ext cx="3067812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Canonical schema / event taxonomy design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13716000" y="6858074"/>
            <a:ext cx="35318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Not a free live historical CA dataset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Commercial and freemium APIs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1143000" y="2514674"/>
            <a:ext cx="213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SOURCE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3429000" y="25146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257800" y="2514674"/>
            <a:ext cx="2596896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8001000" y="2514674"/>
            <a:ext cx="2362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10515600" y="2514674"/>
            <a:ext cx="3067812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BEST 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13716000" y="2514674"/>
            <a:ext cx="35318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1D1F2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MAIN LIMITATION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1143000" y="3543374"/>
            <a:ext cx="2133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Alpaca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3429000" y="3543374"/>
            <a:ext cx="167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Free tier + paid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257800" y="3543374"/>
            <a:ext cx="2596896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Broad CA taxonomy; U.S., expanding global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8001000" y="3543374"/>
            <a:ext cx="2362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JSON API + event stream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10515600" y="3543374"/>
            <a:ext cx="306781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Structured validation; temporal updates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13716000" y="3543374"/>
            <a:ext cx="353187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Vendor-derived; credentials, data quality and timing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143000" y="4572074"/>
            <a:ext cx="213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Polygon.io / Massive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429000" y="45720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Free tier + paid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5257800" y="4572074"/>
            <a:ext cx="2596896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Primarily U.S. stocks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8001000" y="4572074"/>
            <a:ext cx="2362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JSON API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10515600" y="4572074"/>
            <a:ext cx="3067812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Strong dividend / split validation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13716000" y="4572074"/>
            <a:ext cx="35318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Narrower native CA taxonomy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1143000" y="5715074"/>
            <a:ext cx="213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EODHD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3429000" y="57150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Free + paid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5257800" y="5715074"/>
            <a:ext cx="2596896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Broad global coverage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8001000" y="5715074"/>
            <a:ext cx="2362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JSON / CSV API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10515600" y="5715074"/>
            <a:ext cx="3067812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Dividend / split validation; global examples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13716000" y="5715074"/>
            <a:ext cx="35318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Free history and API limits; plan-dependent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1143000" y="6858074"/>
            <a:ext cx="213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FMP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3429000" y="6858074"/>
            <a:ext cx="1676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Free + paid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5257800" y="6858074"/>
            <a:ext cx="2596896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U.S. to global by tier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8001000" y="6858074"/>
            <a:ext cx="2362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JSON API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10515600" y="6858074"/>
            <a:ext cx="3067812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Dividends, splits, M&amp;A reference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13716000" y="6858074"/>
            <a:ext cx="35318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1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950"/>
              <a:buFont typeface="Barlow"/>
              <a:buNone/>
            </a:pPr>
            <a:r>
              <a:rPr b="0" i="0" lang="en-US" sz="19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Useful datasets can be plan-gated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/>
          <p:nvPr/>
        </p:nvSpPr>
        <p:spPr>
          <a:xfrm>
            <a:off x="978471" y="2514600"/>
            <a:ext cx="4415693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05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1095524" y="7132290"/>
            <a:ext cx="8346475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Our</a:t>
            </a: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questions for BNY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1005599" y="1298240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Questions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1005599" y="2874900"/>
            <a:ext cx="16934700" cy="5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841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b="0" i="0" lang="en-US" sz="24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Which corporate-action types are in scope?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1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b="0" i="0" lang="en-US" sz="24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Which corporate-action categories create the highest processing volume for the custody group, and which create the highest operational risk?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1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b="0" i="0" lang="en-US" sz="24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Should we prioritize mandatory events first, or is handling client elections for voluntary actions important to demonstrating value?</a:t>
            </a:r>
            <a:endParaRPr b="0" i="0" sz="2450" u="none" cap="none" strike="noStrike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841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lang="en-US" sz="245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Should the initial prototype focus only on U.S. equities, or is demonstrating cross-market / global handling important?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1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lang="en-US" sz="245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What information or data fields does BNY consider necessary to fully represent a corporate-action event?</a:t>
            </a:r>
            <a:endParaRPr sz="2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41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lang="en-US" sz="245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What source would BNY normally regard as authoritative when two announcements conflict or one updates another?</a:t>
            </a:r>
            <a:endParaRPr sz="245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841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lang="en-US" sz="245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What KPIs/ Performance metrics are leadership mainly look for or might be interested in?</a:t>
            </a:r>
            <a:endParaRPr sz="245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/>
          <p:nvPr/>
        </p:nvSpPr>
        <p:spPr>
          <a:xfrm>
            <a:off x="1005599" y="1298240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Next Steps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1005600" y="2874900"/>
            <a:ext cx="14452800" cy="5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841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lang="en-US" sz="245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Secure access to required data sources (SEC EDGAR, structured market data providers, and any BNY-provided samples)</a:t>
            </a:r>
            <a:endParaRPr sz="245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8417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lang="en-US" sz="245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Conduct exploratory analysis on collected data to assess quality, coverage, and structure</a:t>
            </a:r>
            <a:endParaRPr sz="245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8417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lang="en-US" sz="245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Evaluate candidate AI/LLM tools and frameworks for extraction and classification tasks</a:t>
            </a:r>
            <a:endParaRPr sz="245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84175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D1F20"/>
              </a:buClr>
              <a:buSzPts val="2450"/>
              <a:buFont typeface="Barlow"/>
              <a:buChar char="●"/>
            </a:pPr>
            <a:r>
              <a:rPr lang="en-US" sz="245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Analyze how filings inform downstream decision-making to define extraction and processing logic</a:t>
            </a:r>
            <a:endParaRPr sz="245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5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1043955" y="4381500"/>
            <a:ext cx="1466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Barlow Condensed"/>
              <a:buNone/>
            </a:pPr>
            <a:r>
              <a:rPr b="1" i="0" lang="en-US" sz="15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 you !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2804294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2F3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/>
          <p:nvPr/>
        </p:nvSpPr>
        <p:spPr>
          <a:xfrm>
            <a:off x="1043955" y="4381500"/>
            <a:ext cx="1466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Barlow Condensed"/>
              <a:buNone/>
            </a:pPr>
            <a:r>
              <a:rPr b="1" lang="en-US" sz="15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Appendix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2F3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1143000" y="1143000"/>
            <a:ext cx="16011600" cy="80106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99998" ty="0" sy="99998"/>
          </a:blipFill>
          <a:ln cap="flat" cmpd="sng" w="9525">
            <a:solidFill>
              <a:srgbClr val="1A1A26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1143000" y="754335"/>
            <a:ext cx="32955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CORPORATE-ACTION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Recommended scope by phase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1143000" y="3429000"/>
            <a:ext cx="5029200" cy="3200400"/>
          </a:xfrm>
          <a:prstGeom prst="rect">
            <a:avLst/>
          </a:prstGeom>
          <a:solidFill>
            <a:srgbClr val="5980A6"/>
          </a:solidFill>
          <a:ln cap="flat" cmpd="sng" w="9525">
            <a:solidFill>
              <a:srgbClr val="5980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1419225" y="3705225"/>
            <a:ext cx="4924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MVP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1419225" y="4173810"/>
            <a:ext cx="492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Frequent mandatory actions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1232535" y="4707210"/>
            <a:ext cx="47397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40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F2F2F3"/>
                </a:solidFill>
                <a:latin typeface="Barlow"/>
                <a:ea typeface="Barlow"/>
                <a:cs typeface="Barlow"/>
                <a:sym typeface="Barlow"/>
              </a:rPr>
              <a:t>Cash dividends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40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F2F2F3"/>
                </a:solidFill>
                <a:latin typeface="Barlow"/>
                <a:ea typeface="Barlow"/>
                <a:cs typeface="Barlow"/>
                <a:sym typeface="Barlow"/>
              </a:rPr>
              <a:t>Forward / reverse splits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40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F2F2F3"/>
                </a:solidFill>
                <a:latin typeface="Barlow"/>
                <a:ea typeface="Barlow"/>
                <a:cs typeface="Barlow"/>
                <a:sym typeface="Barlow"/>
              </a:rPr>
              <a:t>Spin-offs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6248400" y="5029200"/>
            <a:ext cx="304800" cy="19200"/>
          </a:xfrm>
          <a:prstGeom prst="rect">
            <a:avLst/>
          </a:prstGeom>
          <a:solidFill>
            <a:srgbClr val="598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6629400" y="3429000"/>
            <a:ext cx="5029200" cy="3200400"/>
          </a:xfrm>
          <a:prstGeom prst="rect">
            <a:avLst/>
          </a:prstGeom>
          <a:noFill/>
          <a:ln cap="flat" cmpd="sng" w="9525">
            <a:solidFill>
              <a:srgbClr val="1F1F1F">
                <a:alpha val="160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6905625" y="3705225"/>
            <a:ext cx="4924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PHASE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6905625" y="4173810"/>
            <a:ext cx="492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One complex reorganization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6718935" y="4707210"/>
            <a:ext cx="473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40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Cash / stock mergers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40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Tender / exchange offers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11734800" y="5029200"/>
            <a:ext cx="304800" cy="19200"/>
          </a:xfrm>
          <a:prstGeom prst="rect">
            <a:avLst/>
          </a:prstGeom>
          <a:solidFill>
            <a:srgbClr val="598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"/>
          <p:cNvSpPr/>
          <p:nvPr/>
        </p:nvSpPr>
        <p:spPr>
          <a:xfrm>
            <a:off x="12115800" y="3429000"/>
            <a:ext cx="5029200" cy="3200400"/>
          </a:xfrm>
          <a:prstGeom prst="rect">
            <a:avLst/>
          </a:prstGeom>
          <a:noFill/>
          <a:ln cap="flat" cmpd="sng" w="9525">
            <a:solidFill>
              <a:srgbClr val="1F1F1F">
                <a:alpha val="1608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12392025" y="3705225"/>
            <a:ext cx="4924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12392025" y="4173810"/>
            <a:ext cx="492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Voluntary and other events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12205335" y="4707210"/>
            <a:ext cx="47397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40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Rights issues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40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Optional dividends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40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Redemptions / other events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1143000" y="7814295"/>
            <a:ext cx="164820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Scope principle: start with frequent mandatory actions that are easy to validate, then add one complex reorganization to exercise temporal tracking.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4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2F3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/>
          <p:nvPr/>
        </p:nvSpPr>
        <p:spPr>
          <a:xfrm>
            <a:off x="1143000" y="754335"/>
            <a:ext cx="24537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· PROJECT CONTEXT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constraints and research objective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11430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Constraint: public data only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1143000" y="4156770"/>
            <a:ext cx="8005500" cy="1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The capstone must be built entirely with public, open-source or institutionally licensed academic data. No BNY internal announcements, holdings, settlement records, client elections or exception data are available.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1143000" y="6442770"/>
            <a:ext cx="800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The prototype therefore needs public sources for corporate-action announcements and validation, plus synthetic data for custody-side holdings and downstream processing.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93726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Objective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9372600" y="41567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Identify public, academic and commercial sources that can support corporate-action extraction and validation.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9372600" y="55283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Determine which event types give the best combination of custody relevance, public-data availability and prototype feasibility.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2F3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/>
          <p:nvPr/>
        </p:nvSpPr>
        <p:spPr>
          <a:xfrm>
            <a:off x="1143000" y="754335"/>
            <a:ext cx="2491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EXISTING METHODS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1143000" y="3002235"/>
            <a:ext cx="127539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4800"/>
              <a:buFont typeface="Barlow Condensed"/>
              <a:buNone/>
            </a:pPr>
            <a:r>
              <a:rPr b="1" i="0" lang="en-US" sz="48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project is not competing with SmartStream, Broadridge or FIS as vendors — it prototypes the next generation of what they will need to become.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1143000" y="6442695"/>
            <a:ext cx="127539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Differentiator: reasoning over unstructured, evolving text with an agentic, LLM-based approach and transparent audit trails — versus today’s rule-set-heavy architectures. A well-supported “why now / why this approach” for the proposal.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755410"/>
            <a:ext cx="5163444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2F3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/>
          <p:nvPr/>
        </p:nvSpPr>
        <p:spPr>
          <a:xfrm>
            <a:off x="1143000" y="754335"/>
            <a:ext cx="20118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 · DATA SOURCES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Recommended data strategy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1143000" y="3269084"/>
            <a:ext cx="5532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Step 1 · Raw input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1143000" y="3848174"/>
            <a:ext cx="55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 EDGAR and issuer disclosures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1143000" y="4842570"/>
            <a:ext cx="51801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Use filings and disclosures as the unstructured input for extraction.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6629400" y="3269084"/>
            <a:ext cx="5532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Step 2 ·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6629400" y="3848174"/>
            <a:ext cx="55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Structured sources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6629400" y="4842570"/>
            <a:ext cx="5180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Compare the extracted event against one or more structured sources such as Alpaca or CRSP.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12115800" y="3269084"/>
            <a:ext cx="5532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Step 3 · Downstream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12115800" y="3848174"/>
            <a:ext cx="55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Synthetic portfolio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12115800" y="4842570"/>
            <a:ext cx="51801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Use synthetic portfolio and holding data for downstream custody calculations.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755410"/>
            <a:ext cx="5163444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