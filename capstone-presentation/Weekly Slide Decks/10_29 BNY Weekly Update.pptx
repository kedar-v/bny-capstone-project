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3"/>
  </p:sldMasterIdLst>
  <p:notesMasterIdLst>
    <p:notesMasterId r:id="rId4"/>
  </p:notesMasterIdLst>
  <p:sldIdLst>
    <p:sldId id="256" r:id="rId5"/>
    <p:sldId id="261" r:id="rId14"/>
    <p:sldId id="262" r:id="rId15"/>
    <p:sldId id="263" r:id="rId16"/>
    <p:sldId id="264" r:id="rId17"/>
    <p:sldId id="265" r:id="rId18"/>
    <p:sldId id="266" r:id="rId19"/>
    <p:sldId id="260" r:id="rId9"/>
    <p:sldId id="267" r:id="rId20"/>
  </p:sldIdLst>
  <p:sldSz cy="10287000" cx="18288000"/>
  <p:notesSz cx="10287000" cy="18288000"/>
  <p:embeddedFontLst>
    <p:embeddedFont>
      <p:font typeface="Barlow"/>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9" Type="http://schemas.openxmlformats.org/officeDocument/2006/relationships/slide" Target="slides/slide5.xml"/><Relationship Id="rId10" Type="http://schemas.openxmlformats.org/officeDocument/2006/relationships/font" Target="fonts/Barlow-regular.fntdata"/><Relationship Id="rId11" Type="http://schemas.openxmlformats.org/officeDocument/2006/relationships/font" Target="fonts/Barlow-bold.fntdata"/><Relationship Id="rId12" Type="http://schemas.openxmlformats.org/officeDocument/2006/relationships/font" Target="fonts/Barlow-italic.fntdata"/><Relationship Id="rId13" Type="http://schemas.openxmlformats.org/officeDocument/2006/relationships/font" Target="fonts/Barlow-boldItalic.fntdata"/><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571950" y="1371600"/>
            <a:ext cx="9144000" cy="685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1:notes"/>
          <p:cNvSpPr txBox="1"/>
          <p:nvPr>
            <p:ph idx="1" type="body"/>
          </p:nvPr>
        </p:nvSpPr>
        <p:spPr>
          <a:xfrm>
            <a:off x="1028700" y="8686800"/>
            <a:ext cx="8229600" cy="8229600"/>
          </a:xfrm>
          <a:prstGeom prst="rect">
            <a:avLst/>
          </a:prstGeom>
          <a:noFill/>
          <a:ln>
            <a:noFill/>
          </a:ln>
        </p:spPr>
        <p:txBody>
          <a:bodyPr anchorCtr="0" anchor="t" bIns="45700" lIns="91425" spcFirstLastPara="1" rIns="91425" wrap="square" tIns="45700">
            <a:noAutofit/>
          </a:bodyPr>
          <a:lstStyle/>
          <a:p>
            <a:r>
              <a:rPr sz="1200" b="0"/>
              <a:t>Hi everyone, thanks for meeting with us again.</a:t>
            </a:r>
          </a:p>
          <a:p>
            <a:pPr>
              <a:spcBef>
                <a:spcPts val="800"/>
              </a:spcBef>
            </a:pPr>
            <a:r>
              <a:rPr sz="1200" b="0"/>
              <a:t>This week we have two updates. First, a quick look at how we're tightening the extraction pipeline for tender offers and mergers. Second, something new: we've started researching agents that could act on the extracted data, and we'd love your feedback on which ones would actually help your teams.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571950" y="1371600"/>
            <a:ext cx="9144000" cy="685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5:notes"/>
          <p:cNvSpPr txBox="1"/>
          <p:nvPr>
            <p:ph idx="1" type="body"/>
          </p:nvPr>
        </p:nvSpPr>
        <p:spPr>
          <a:xfrm>
            <a:off x="1028700" y="8686800"/>
            <a:ext cx="8229600" cy="8229600"/>
          </a:xfrm>
          <a:prstGeom prst="rect">
            <a:avLst/>
          </a:prstGeom>
          <a:noFill/>
          <a:ln>
            <a:noFill/>
          </a:ln>
        </p:spPr>
        <p:txBody>
          <a:bodyPr anchorCtr="0" anchor="t" bIns="45700" lIns="91425" spcFirstLastPara="1" rIns="91425" wrap="square" tIns="45700">
            <a:noAutofit/>
          </a:bodyPr>
          <a:lstStyle/>
          <a:p>
            <a:r>
              <a:rPr sz="1200" b="0"/>
              <a:t>Thank you. We'd love your questions and feedback, especially on which agent would be most useful to your teams.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On extraction, we're standardizing one process for each filing type: one for tender offers and one for mergers.</a:t>
            </a:r>
          </a:p>
          <a:p>
            <a:pPr>
              <a:spcBef>
                <a:spcPts val="800"/>
              </a:spcBef>
            </a:pPr>
            <a:r>
              <a:rPr sz="1200" b="0"/>
              <a:t>Each lane follows the same three steps. We find the sections of the filing that hold the answer, extract the fields with GLiNER and rules, and standardize the output so every record looks the same.</a:t>
            </a:r>
          </a:p>
          <a:p>
            <a:pPr>
              <a:spcBef>
                <a:spcPts val="800"/>
              </a:spcBef>
            </a:pPr>
            <a:r>
              <a:rPr sz="1200" b="0"/>
              <a:t>Two improvements apply to both lanes this week. We're retraining GLiNER with more validation samples, so it learns from more labelled examples. And we're pulling identifiers like CUSIP and ISIN with rules instead of the model, with check-digit validation, since these have fixed formats. That also builds on the share-class fix we showed you last week.</a:t>
            </a:r>
          </a:p>
          <a:p>
            <a:pPr>
              <a:spcBef>
                <a:spcPts val="800"/>
              </a:spcBef>
            </a:pPr>
            <a:r>
              <a:rPr sz="1200" b="0"/>
              <a:t>[Add retraining results here once they're ready.]</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Once extraction is reliable, the bigger opportunity is what agents can do with that data.</a:t>
            </a:r>
          </a:p>
          <a:p>
            <a:pPr>
              <a:spcBef>
                <a:spcPts val="800"/>
              </a:spcBef>
            </a:pPr>
            <a:r>
              <a:rPr sz="1200" b="0"/>
              <a:t>We brainstormed a long list of agent ideas, grouped here into operations agents for your corporate actions teams, client-facing agents, and agents that work across systems. We picked three to research in depth: vendor reconciliation, amendment impact and client briefing. They're highlighted here, and we'll walk through each one.</a:t>
            </a:r>
          </a:p>
          <a:p>
            <a:pPr>
              <a:spcBef>
                <a:spcPts val="800"/>
              </a:spcBef>
            </a:pPr>
            <a:r>
              <a:rPr sz="1200" b="0"/>
              <a:t>Everything sits on the same foundation: the event records we extract, each with the source passage behind every value.</a:t>
            </a:r>
          </a:p>
          <a:p>
            <a:pPr>
              <a:spcBef>
                <a:spcPts val="800"/>
              </a:spcBef>
            </a:pPr>
            <a:r>
              <a:rPr sz="1200" b="0"/>
              <a:t>We're designing these agents on our labelled data first. That means the agent design doesn't have to wait for extraction accuracy to improve, and we can swap in pipeline output later.</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The first agent is vendor reconciliation.</a:t>
            </a:r>
          </a:p>
          <a:p>
            <a:pPr>
              <a:spcBef>
                <a:spcPts val="800"/>
              </a:spcBef>
            </a:pPr>
            <a:r>
              <a:rPr sz="1200" b="0"/>
              <a:t>Today, event data comes from vendors and from your internal records, and it doesn't always match what the issuer actually filed. This agent takes the terms we extract from the SEC filing and compares them with the vendor and internal event record for the same event.</a:t>
            </a:r>
          </a:p>
          <a:p>
            <a:pPr>
              <a:spcBef>
                <a:spcPts val="800"/>
              </a:spcBef>
            </a:pPr>
            <a:r>
              <a:rPr sz="1200" b="0"/>
              <a:t>When everything matches, there's nothing to do. When something doesn't match, say a different expiration date or offer price, the agent goes back to the filing to investigate and works out which value the filing supports. It then files a discrepancy ticket with its findings and the source passage, so a person can review and decide.</a:t>
            </a:r>
          </a:p>
          <a:p>
            <a:pPr>
              <a:spcBef>
                <a:spcPts val="800"/>
              </a:spcBef>
            </a:pPr>
            <a:r>
              <a:rPr sz="1200" b="0"/>
              <a:t>This would catch data errors earlier and give reviewers the evidence, not just a flag. Since we don't have access to vendor feeds or internal records, we'd simulate those for the prototype.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The second agent is amendment impact.</a:t>
            </a:r>
          </a:p>
          <a:p>
            <a:pPr>
              <a:spcBef>
                <a:spcPts val="800"/>
              </a:spcBef>
            </a:pPr>
            <a:r>
              <a:rPr sz="1200" b="0"/>
              <a:t>Your corporate actions team told us a wrong deadline is the costliest mistake, and amendments are where deadlines and prices change. Timing is tight too: under SEC rules, an extension only has to be announced by 9 a.m. Eastern on the next business day after the old deadline.</a:t>
            </a:r>
          </a:p>
          <a:p>
            <a:pPr>
              <a:spcBef>
                <a:spcPts val="800"/>
              </a:spcBef>
            </a:pPr>
            <a:r>
              <a:rPr sz="1200" b="0"/>
              <a:t>When a new amendment is filed, the agent links it to the right event and compares it with the previous version to see exactly what changed. Linking matters because many issuers, especially funds, run a new tender offer every few months, so the agent has to tell an update apart from a brand-new offer.</a:t>
            </a:r>
          </a:p>
          <a:p>
            <a:pPr>
              <a:spcBef>
                <a:spcPts val="800"/>
              </a:spcBef>
            </a:pPr>
            <a:r>
              <a:rPr sz="1200" b="0"/>
              <a:t>Next, it decides whether the change matters to holders. In our sample of tender offer amendments, about six in ten only report completion or final results, while the rest change or extend the terms. So the agent should only notify when something a holder acts on has changed, like the deadline, price or conditions.</a:t>
            </a:r>
          </a:p>
          <a:p>
            <a:pPr>
              <a:spcBef>
                <a:spcPts val="800"/>
              </a:spcBef>
            </a:pPr>
            <a:r>
              <a:rPr sz="1200" b="0"/>
              <a:t>Then it finds the affected clients through custody positions, drafts a replacement notice with the key facts first, and sends it to operations for approval. Once approved, it updates the deadlines and the calendar.</a:t>
            </a:r>
          </a:p>
          <a:p>
            <a:pPr>
              <a:spcBef>
                <a:spcPts val="800"/>
              </a:spcBef>
            </a:pPr>
            <a:r>
              <a:rPr sz="1200" b="0"/>
              <a:t>On the right is an illustrative example: an amendment that raises the offer price and extends the expiration date. The agent also runs a built-in check: when the price changes, SEC rules require the offer to stay open at least ten business days after the notice, so any new deadline that breaks that rule gets flagged.</a:t>
            </a:r>
          </a:p>
          <a:p>
            <a:pPr>
              <a:spcBef>
                <a:spcPts val="800"/>
              </a:spcBef>
            </a:pPr>
            <a:r>
              <a:rPr sz="1200" b="0"/>
              <a:t>A person approves every notice before it goes out. This agent depends on our event tracking, and custody positions are BNY data, so for the prototype we'd use simulated positions.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The third agent is client briefing.</a:t>
            </a:r>
          </a:p>
          <a:p>
            <a:pPr>
              <a:spcBef>
                <a:spcPts val="800"/>
              </a:spcBef>
            </a:pPr>
            <a:r>
              <a:rPr sz="1200" b="0"/>
              <a:t>It reads a client's holdings and watchlist, finds the corporate actions that are relevant to them, and produces a daily or weekly brief. Each item in the brief links back to its evidence in the filing, so the client or relationship manager can check the source.</a:t>
            </a:r>
          </a:p>
          <a:p>
            <a:pPr>
              <a:spcBef>
                <a:spcPts val="800"/>
              </a:spcBef>
            </a:pPr>
            <a:r>
              <a:rPr sz="1200" b="0"/>
              <a:t>On the right is a mock-up of what a brief could look like. It's illustrative, with placeholder companies.</a:t>
            </a:r>
          </a:p>
          <a:p>
            <a:pPr>
              <a:spcBef>
                <a:spcPts val="800"/>
              </a:spcBef>
            </a:pPr>
            <a:r>
              <a:rPr sz="1200" b="0"/>
              <a:t>This could serve different client groups: asset managers and funds tracking elections, pensions and asset owners who want a portfolio-level digest, and wealth and advisory teams briefing their clients.</a:t>
            </a:r>
          </a:p>
          <a:p>
            <a:pPr>
              <a:spcBef>
                <a:spcPts val="800"/>
              </a:spcBef>
            </a:pPr>
            <a:r>
              <a:rPr sz="1200" b="0"/>
              <a:t>The agent surfaces information and deadlines only. It doesn't give investment advice, like whether to tender.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Across all three agents, we're following the same design principles.</a:t>
            </a:r>
          </a:p>
          <a:p>
            <a:pPr>
              <a:spcBef>
                <a:spcPts val="800"/>
              </a:spcBef>
            </a:pPr>
            <a:r>
              <a:rPr sz="1200" b="0"/>
              <a:t>People approve anything that goes outbound: the agents draft and prepare, and a person sends notices, submits elections or changes records. Every output cites the source passage, so it's auditable. Our field-level evaluation sets the confidence thresholds for what can be approved automatically and what needs review, so autonomy only grows as the scores justify it. The agents give information and deadlines, never investment advice. And every step and tool call is logged.</a:t>
            </a:r>
          </a:p>
          <a:p>
            <a:pPr>
              <a:spcBef>
                <a:spcPts val="800"/>
              </a:spcBef>
            </a:pPr>
            <a:r>
              <a:rPr sz="1200" b="0"/>
              <a:t>We'd really value your input on a few questions. Which of these three agents would help your teams most? Where do vendor and internal event records sit in your process today? And how are clients told today when an amendment changes the terms?</a:t>
            </a:r>
          </a:p>
          <a:p>
            <a:pPr>
              <a:spcBef>
                <a:spcPts val="800"/>
              </a:spcBef>
            </a:pPr>
            <a:r>
              <a:rPr sz="1200" b="0"/>
              <a:t>Your answers will decide which agent we start building.</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rPr sz="1200" b="0"/>
              <a:t>This appendix isn't part of the talk. It's here in case anyone asks about one of the other agent ideas on the overview slide.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f4af6847654f19e_7_0)">
  <p:cSld name="Generated (h5f4af6847654f19e_7_0)">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CONTENT">
  <p:cSld name="BNY_CONTENT">
    <p:spTree>
      <p:nvGrpSpPr>
        <p:cNvPr id="12" name="Shape 12"/>
        <p:cNvGrpSpPr/>
        <p:nvPr/>
      </p:nvGrpSpPr>
      <p:grpSpPr>
        <a:xfrm>
          <a:off x="0" y="0"/>
          <a:ext cx="0" cy="0"/>
          <a:chOff x="0" y="0"/>
          <a:chExt cx="0" cy="0"/>
        </a:xfrm>
      </p:grpSpPr>
      <p:sp>
        <p:nvSpPr>
          <p:cNvPr id="13" name="Google Shape;13;p3"/>
          <p:cNvSpPr txBox="1"/>
          <p:nvPr>
            <p:ph idx="1" type="body"/>
          </p:nvPr>
        </p:nvSpPr>
        <p:spPr>
          <a:xfrm>
            <a:off x="822960" y="548640"/>
            <a:ext cx="14630400" cy="365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accent1"/>
              </a:buClr>
              <a:buSzPts val="1400"/>
              <a:buFont typeface="Arial"/>
              <a:buNone/>
              <a:defRPr b="1" i="0" sz="1400" u="none" cap="none" strike="noStrike">
                <a:solidFill>
                  <a:schemeClr val="accent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4" name="Google Shape;14;p3"/>
          <p:cNvSpPr txBox="1"/>
          <p:nvPr>
            <p:ph type="title"/>
          </p:nvPr>
        </p:nvSpPr>
        <p:spPr>
          <a:xfrm>
            <a:off x="822960" y="960120"/>
            <a:ext cx="16642080" cy="8229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 name="Google Shape;16;p3"/>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TITLE">
  <p:cSld name="BNY_TITLE">
    <p:spTree>
      <p:nvGrpSpPr>
        <p:cNvPr id="17"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SECTION">
  <p:cSld name="BNY_SECTION">
    <p:spTree>
      <p:nvGrpSpPr>
        <p:cNvPr id="18" name="Shape 18"/>
        <p:cNvGrpSpPr/>
        <p:nvPr/>
      </p:nvGrpSpPr>
      <p:grpSpPr>
        <a:xfrm>
          <a:off x="0" y="0"/>
          <a:ext cx="0" cy="0"/>
          <a:chOff x="0" y="0"/>
          <a:chExt cx="0" cy="0"/>
        </a:xfrm>
      </p:grpSpPr>
      <p:sp>
        <p:nvSpPr>
          <p:cNvPr id="19" name="Google Shape;19;p5"/>
          <p:cNvSpPr txBox="1"/>
          <p:nvPr>
            <p:ph type="title"/>
          </p:nvPr>
        </p:nvSpPr>
        <p:spPr>
          <a:xfrm>
            <a:off x="822960" y="3931920"/>
            <a:ext cx="12801600" cy="146304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5"/>
          <p:cNvSpPr/>
          <p:nvPr/>
        </p:nvSpPr>
        <p:spPr>
          <a:xfrm>
            <a:off x="822960" y="9646920"/>
            <a:ext cx="1828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BNY</a:t>
            </a:r>
            <a:endParaRPr b="0" i="0" sz="1400" u="none" cap="none" strike="noStrike">
              <a:solidFill>
                <a:schemeClr val="dk1"/>
              </a:solidFill>
              <a:latin typeface="Arial"/>
              <a:ea typeface="Arial"/>
              <a:cs typeface="Arial"/>
              <a:sym typeface="Arial"/>
            </a:endParaRPr>
          </a:p>
        </p:txBody>
      </p:sp>
      <p:sp>
        <p:nvSpPr>
          <p:cNvPr id="21" name="Google Shape;21;p5"/>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NY_CLOSING">
  <p:cSld name="BNY_CLOSING">
    <p:spTree>
      <p:nvGrpSpPr>
        <p:cNvPr id="22" name="Shape 22"/>
        <p:cNvGrpSpPr/>
        <p:nvPr/>
      </p:nvGrpSpPr>
      <p:grpSpPr>
        <a:xfrm>
          <a:off x="0" y="0"/>
          <a:ext cx="0" cy="0"/>
          <a:chOff x="0" y="0"/>
          <a:chExt cx="0" cy="0"/>
        </a:xfrm>
      </p:grpSpPr>
      <p:sp>
        <p:nvSpPr>
          <p:cNvPr id="23" name="Google Shape;23;p6"/>
          <p:cNvSpPr/>
          <p:nvPr/>
        </p:nvSpPr>
        <p:spPr>
          <a:xfrm>
            <a:off x="822960" y="9646920"/>
            <a:ext cx="1828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BNY</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24" name="Shape 2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8"/>
          <p:cNvSpPr txBox="1"/>
          <p:nvPr>
            <p:ph idx="12" type="sldNum"/>
          </p:nvPr>
        </p:nvSpPr>
        <p:spPr>
          <a:xfrm>
            <a:off x="16944916" y="9326434"/>
            <a:ext cx="1097400" cy="78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88ad8e03_36_0)">
  <p:cSld name="Generated (g3fb88ad8e03_36_0)">
    <p:spTree>
      <p:nvGrpSpPr>
        <p:cNvPr id="27" name="Shape 2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9" name="Shape 9"/>
        <p:cNvGrpSpPr/>
        <p:nvPr/>
      </p:nvGrpSpPr>
      <p:grpSpPr>
        <a:xfrm>
          <a:off x="0" y="0"/>
          <a:ext cx="0" cy="0"/>
          <a:chOff x="0" y="0"/>
          <a:chExt cx="0" cy="0"/>
        </a:xfrm>
      </p:grpSpPr>
      <p:sp>
        <p:nvSpPr>
          <p:cNvPr id="10" name="Google Shape;10;p1"/>
          <p:cNvSpPr txBox="1"/>
          <p:nvPr>
            <p:ph idx="12" type="sldNum"/>
          </p:nvPr>
        </p:nvSpPr>
        <p:spPr>
          <a:xfrm>
            <a:off x="16550640" y="9646920"/>
            <a:ext cx="914400" cy="36576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17.png"/><Relationship Id="rId9" Type="http://schemas.openxmlformats.org/officeDocument/2006/relationships/image" Target="../media/image2.png"/><Relationship Id="rId10"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6.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grpSp>
        <p:nvGrpSpPr>
          <p:cNvPr id="32" name="Google Shape;32;p10"/>
          <p:cNvGrpSpPr/>
          <p:nvPr/>
        </p:nvGrpSpPr>
        <p:grpSpPr>
          <a:xfrm>
            <a:off x="1143000" y="1660427"/>
            <a:ext cx="15674100" cy="5111700"/>
            <a:chOff x="0" y="0"/>
            <a:chExt cx="15674100" cy="5111700"/>
          </a:xfrm>
        </p:grpSpPr>
        <p:sp>
          <p:nvSpPr>
            <p:cNvPr id="33" name="Google Shape;33;p10"/>
            <p:cNvSpPr/>
            <p:nvPr/>
          </p:nvSpPr>
          <p:spPr>
            <a:xfrm>
              <a:off x="0" y="0"/>
              <a:ext cx="15674100" cy="5111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a:latin typeface="Helvetica Neue"/>
                </a:rPr>
                <a:t/>
              </a:r>
              <a:endParaRPr b="0" i="0" sz="1400" u="none" cap="none" strike="noStrike">
                <a:solidFill>
                  <a:srgbClr val="000000"/>
                </a:solidFill>
                <a:latin typeface="Arial"/>
                <a:ea typeface="Arial"/>
                <a:cs typeface="Arial"/>
                <a:sym typeface="Arial"/>
              </a:endParaRPr>
            </a:p>
          </p:txBody>
        </p:sp>
        <p:sp>
          <p:nvSpPr>
            <p:cNvPr id="34" name="Google Shape;34;p10"/>
            <p:cNvSpPr txBox="1"/>
            <p:nvPr/>
          </p:nvSpPr>
          <p:spPr>
            <a:xfrm>
              <a:off x="0" y="0"/>
              <a:ext cx="15674100" cy="5111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00000"/>
                </a:buClr>
                <a:buSzPts val="15000"/>
                <a:buFont typeface="Arial"/>
                <a:buNone/>
              </a:pPr>
              <a:r>
                <a:rPr b="1" i="0" lang="en-US" sz="15000" u="none" cap="none" strike="noStrike">
                  <a:solidFill>
                    <a:srgbClr val="04243C"/>
                  </a:solidFill>
                  <a:latin typeface="Helvetica Neue"/>
                  <a:ea typeface="Arial"/>
                  <a:cs typeface="Arial"/>
                  <a:sym typeface="Arial"/>
                </a:rPr>
                <a:t>BNY</a:t>
              </a:r>
              <a:endParaRPr b="1" i="0" sz="15000" u="none" cap="none" strike="noStrike">
                <a:solidFill>
                  <a:srgbClr val="04243C"/>
                </a:solidFill>
                <a:latin typeface="Arial"/>
                <a:ea typeface="Arial"/>
                <a:cs typeface="Arial"/>
                <a:sym typeface="Arial"/>
              </a:endParaRPr>
            </a:p>
            <a:p>
              <a:pPr indent="0" lvl="0" marL="0" marR="0" rtl="0" algn="l">
                <a:lnSpc>
                  <a:spcPct val="100000"/>
                </a:lnSpc>
                <a:spcBef>
                  <a:spcPts val="750"/>
                </a:spcBef>
                <a:spcAft>
                  <a:spcPts val="0"/>
                </a:spcAft>
                <a:buClr>
                  <a:srgbClr val="000000"/>
                </a:buClr>
                <a:buSzPts val="8000"/>
                <a:buFont typeface="Arial"/>
                <a:buNone/>
              </a:pPr>
              <a:r>
                <a:rPr b="1" i="0" lang="en-US" sz="8000" u="none" cap="none" strike="noStrike">
                  <a:solidFill>
                    <a:srgbClr val="2B9CAE"/>
                  </a:solidFill>
                  <a:latin typeface="Helvetica Neue"/>
                  <a:ea typeface="Arial"/>
                  <a:cs typeface="Arial"/>
                  <a:sym typeface="Arial"/>
                </a:rPr>
                <a:t>Corporate Action Intelligence</a:t>
              </a:r>
              <a:endParaRPr b="1" i="0" sz="8000" u="none" cap="none" strike="noStrike">
                <a:solidFill>
                  <a:srgbClr val="04243C"/>
                </a:solidFill>
                <a:latin typeface="Arial"/>
                <a:ea typeface="Arial"/>
                <a:cs typeface="Arial"/>
                <a:sym typeface="Arial"/>
              </a:endParaRPr>
            </a:p>
          </p:txBody>
        </p:sp>
      </p:grpSp>
      <p:sp>
        <p:nvSpPr>
          <p:cNvPr id="35" name="Google Shape;35;p10"/>
          <p:cNvSpPr/>
          <p:nvPr/>
        </p:nvSpPr>
        <p:spPr>
          <a:xfrm>
            <a:off x="1285999" y="7703334"/>
            <a:ext cx="143727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a:latin typeface="Helvetica Neue"/>
              </a:rPr>
              <a:t/>
            </a:r>
            <a:endParaRPr b="0" i="0" sz="1400" u="none" cap="none" strike="noStrike">
              <a:solidFill>
                <a:srgbClr val="000000"/>
              </a:solidFill>
              <a:latin typeface="Arial"/>
              <a:ea typeface="Arial"/>
              <a:cs typeface="Arial"/>
              <a:sym typeface="Arial"/>
            </a:endParaRPr>
          </a:p>
        </p:txBody>
      </p:sp>
      <p:sp>
        <p:nvSpPr>
          <p:cNvPr id="36" name="Google Shape;36;p10"/>
          <p:cNvSpPr/>
          <p:nvPr/>
        </p:nvSpPr>
        <p:spPr>
          <a:xfrm>
            <a:off x="1285875" y="7048500"/>
            <a:ext cx="1333500" cy="57300"/>
          </a:xfrm>
          <a:prstGeom prst="roundRect">
            <a:avLst>
              <a:gd fmla="val 50000" name="adj"/>
            </a:avLst>
          </a:prstGeom>
          <a:solidFill>
            <a:srgbClr val="2B9CA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a:latin typeface="Helvetica Neue"/>
              </a:rPr>
              <a:t/>
            </a:r>
            <a:endParaRPr b="0" i="0" sz="1400" u="none" cap="none" strike="noStrike">
              <a:solidFill>
                <a:srgbClr val="000000"/>
              </a:solidFill>
              <a:latin typeface="Arial"/>
              <a:ea typeface="Arial"/>
              <a:cs typeface="Arial"/>
              <a:sym typeface="Arial"/>
            </a:endParaRPr>
          </a:p>
        </p:txBody>
      </p:sp>
      <p:sp>
        <p:nvSpPr>
          <p:cNvPr id="37" name="Google Shape;37;p10"/>
          <p:cNvSpPr/>
          <p:nvPr/>
        </p:nvSpPr>
        <p:spPr>
          <a:xfrm>
            <a:off x="1285999" y="7334250"/>
            <a:ext cx="14372700" cy="9525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4243C"/>
                </a:solidFill>
                <a:latin typeface="Helvetica Neue"/>
                <a:ea typeface="Barlow"/>
                <a:cs typeface="Barlow"/>
                <a:sym typeface="Barlow"/>
              </a:rPr>
              <a:t>Corporate Action Intelligence Team</a:t>
            </a:r>
            <a:endParaRPr b="1" i="0" sz="2000" u="none" cap="none" strike="noStrike">
              <a:solidFill>
                <a:srgbClr val="04243C"/>
              </a:solidFill>
              <a:latin typeface="Barlow"/>
              <a:ea typeface="Barlow"/>
              <a:cs typeface="Barlow"/>
              <a:sym typeface="Barlow"/>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475569"/>
                </a:solidFill>
                <a:latin typeface="Helvetica Neue"/>
                <a:ea typeface="Barlow"/>
                <a:cs typeface="Barlow"/>
                <a:sym typeface="Barlow"/>
              </a:rPr>
              <a:t>Aesha Gandhi, Pranshul Bhatnagar, Alex Li, Kedar Vaidya, Aaron Jiang</a:t>
            </a:r>
            <a:endParaRPr b="1" i="0" sz="1600" u="none" cap="none" strike="noStrike">
              <a:solidFill>
                <a:srgbClr val="04243C"/>
              </a:solidFill>
              <a:latin typeface="Barlow"/>
              <a:ea typeface="Barlow"/>
              <a:cs typeface="Barlow"/>
              <a:sym typeface="Barlow"/>
            </a:endParaRPr>
          </a:p>
        </p:txBody>
      </p:sp>
      <p:sp>
        <p:nvSpPr>
          <p:cNvPr id="38" name="Google Shape;38;p10"/>
          <p:cNvSpPr txBox="1"/>
          <p:nvPr/>
        </p:nvSpPr>
        <p:spPr>
          <a:xfrm>
            <a:off x="1289304" y="6172200"/>
            <a:ext cx="143562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475569"/>
                </a:solidFill>
                <a:latin typeface="Helvetica Neue"/>
                <a:ea typeface="Arial"/>
                <a:cs typeface="Arial"/>
                <a:sym typeface="Arial"/>
              </a:rPr>
              <a:t>Weekly update: tightening extraction and exploring downstream agents</a:t>
            </a:r>
            <a:r>
              <a:rPr lang="en-US" sz="2600">
                <a:solidFill>
                  <a:srgbClr val="475569"/>
                </a:solidFill>
                <a:latin typeface="Helvetica Neue"/>
              </a:rPr>
              <a:t/>
            </a:r>
            <a:r>
              <a:rPr b="0" i="0" lang="en-US" sz="2600" u="none" cap="none" strike="noStrike">
                <a:solidFill>
                  <a:srgbClr val="475569"/>
                </a:solidFill>
                <a:latin typeface="Helvetica Neue"/>
                <a:ea typeface="Arial"/>
                <a:cs typeface="Arial"/>
                <a:sym typeface="Arial"/>
              </a:rPr>
              <a:t/>
            </a:r>
            <a:r>
              <a:rPr lang="en-US" sz="2600">
                <a:solidFill>
                  <a:srgbClr val="475569"/>
                </a:solidFill>
                <a:latin typeface="Helvetica Neue"/>
              </a:rPr>
              <a:t/>
            </a:r>
            <a:r>
              <a:rPr b="0" i="0" lang="en-US" sz="2600" u="none" cap="none" strike="noStrike">
                <a:solidFill>
                  <a:srgbClr val="475569"/>
                </a:solidFill>
                <a:latin typeface="Helvetica Neue"/>
                <a:ea typeface="Arial"/>
                <a:cs typeface="Arial"/>
                <a:sym typeface="Arial"/>
              </a:rPr>
              <a:t/>
            </a:r>
            <a:r>
              <a:rPr lang="en-US" sz="2600">
                <a:solidFill>
                  <a:srgbClr val="475569"/>
                </a:solidFill>
                <a:latin typeface="Helvetica Neue"/>
              </a:rP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4"/>
          <p:cNvPicPr preferRelativeResize="0"/>
          <p:nvPr/>
        </p:nvPicPr>
        <p:blipFill rotWithShape="1">
          <a:blip r:embed="rId3">
            <a:alphaModFix/>
          </a:blip>
          <a:srcRect b="0" l="0" r="0" t="0"/>
          <a:stretch/>
        </p:blipFill>
        <p:spPr>
          <a:xfrm>
            <a:off x="0" y="0"/>
            <a:ext cx="18288000" cy="10287000"/>
          </a:xfrm>
          <a:prstGeom prst="rect">
            <a:avLst/>
          </a:prstGeom>
          <a:noFill/>
          <a:ln>
            <a:noFill/>
          </a:ln>
        </p:spPr>
      </p:pic>
      <p:grpSp>
        <p:nvGrpSpPr>
          <p:cNvPr id="152" name="Google Shape;152;p14"/>
          <p:cNvGrpSpPr/>
          <p:nvPr/>
        </p:nvGrpSpPr>
        <p:grpSpPr>
          <a:xfrm>
            <a:off x="1143000" y="2095500"/>
            <a:ext cx="15668700" cy="3524250"/>
            <a:chOff x="0" y="0"/>
            <a:chExt cx="15668700" cy="3524250"/>
          </a:xfrm>
        </p:grpSpPr>
        <p:sp>
          <p:nvSpPr>
            <p:cNvPr id="153" name="Google Shape;153;p14"/>
            <p:cNvSpPr txBox="1"/>
            <p:nvPr/>
          </p:nvSpPr>
          <p:spPr>
            <a:xfrm>
              <a:off x="0" y="0"/>
              <a:ext cx="156687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0"/>
                <a:buFont typeface="Arial"/>
                <a:buNone/>
              </a:pPr>
              <a:r>
                <a:rPr b="1" i="0" lang="en-US" sz="10000" u="none" cap="none" strike="noStrike">
                  <a:solidFill>
                    <a:srgbClr val="04243C"/>
                  </a:solidFill>
                  <a:latin typeface="Helvetica Neue"/>
                  <a:ea typeface="Arial"/>
                  <a:cs typeface="Arial"/>
                  <a:sym typeface="Arial"/>
                </a:rPr>
                <a:t>Questions?</a:t>
              </a:r>
              <a:endParaRPr b="1" i="0" sz="10000" u="none" cap="none" strike="noStrike">
                <a:solidFill>
                  <a:srgbClr val="04243C"/>
                </a:solidFill>
                <a:latin typeface="Arial"/>
                <a:ea typeface="Arial"/>
                <a:cs typeface="Arial"/>
                <a:sym typeface="Arial"/>
              </a:endParaRPr>
            </a:p>
          </p:txBody>
        </p:sp>
        <p:sp>
          <p:nvSpPr>
            <p:cNvPr id="154" name="Google Shape;154;p14"/>
            <p:cNvSpPr txBox="1"/>
            <p:nvPr/>
          </p:nvSpPr>
          <p:spPr>
            <a:xfrm>
              <a:off x="0" y="1619250"/>
              <a:ext cx="156687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2B9CAE"/>
                  </a:solidFill>
                  <a:latin typeface="Helvetica Neue"/>
                </a:rPr>
                <a:t>Thank you!</a:t>
              </a:r>
              <a:endParaRPr b="1" i="0" sz="3200" u="none" cap="none" strike="noStrike">
                <a:solidFill>
                  <a:srgbClr val="2B9CAE"/>
                </a:solidFill>
                <a:latin typeface="Arial"/>
                <a:ea typeface="Arial"/>
                <a:cs typeface="Arial"/>
                <a:sym typeface="Arial"/>
              </a:endParaRPr>
            </a:p>
          </p:txBody>
        </p:sp>
        <p:sp>
          <p:nvSpPr>
            <p:cNvPr id="155" name="Google Shape;155;p14"/>
            <p:cNvSpPr txBox="1"/>
            <p:nvPr/>
          </p:nvSpPr>
          <p:spPr>
            <a:xfrm>
              <a:off x="0" y="2381250"/>
              <a:ext cx="11430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a:latin typeface="Helvetica Neue"/>
                </a:rPr>
                <a:t/>
              </a:r>
              <a:endParaRPr b="0" i="0" sz="2000" u="none" cap="none" strike="noStrike">
                <a:solidFill>
                  <a:srgbClr val="475569"/>
                </a:solidFill>
                <a:latin typeface="Arial"/>
                <a:ea typeface="Arial"/>
                <a:cs typeface="Arial"/>
                <a:sym typeface="Arial"/>
              </a:endParaRPr>
            </a:p>
          </p:txBody>
        </p:sp>
      </p:grpSp>
      <p:sp>
        <p:nvSpPr>
          <p:cNvPr id="156" name="Google Shape;156;p14"/>
          <p:cNvSpPr txBox="1"/>
          <p:nvPr/>
        </p:nvSpPr>
        <p:spPr>
          <a:xfrm>
            <a:off x="1143000" y="7696200"/>
            <a:ext cx="143637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4243C"/>
                </a:solidFill>
                <a:latin typeface="Helvetica Neue"/>
                <a:ea typeface="Arial"/>
                <a:cs typeface="Arial"/>
                <a:sym typeface="Arial"/>
              </a:rPr>
              <a:t>Corporate Action Intelligence Team</a:t>
            </a:r>
            <a:endParaRPr b="1" i="0" sz="1800" u="none" cap="none" strike="noStrike">
              <a:solidFill>
                <a:srgbClr val="04243C"/>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0" i="0" lang="en-US" sz="1800" u="none" cap="none" strike="noStrike">
                <a:solidFill>
                  <a:srgbClr val="475569"/>
                </a:solidFill>
                <a:latin typeface="Helvetica Neue"/>
                <a:ea typeface="Arial"/>
                <a:cs typeface="Arial"/>
                <a:sym typeface="Arial"/>
              </a:rPr>
              <a:t>Aesha Gandhi, Pranshul Bhatnagar, Alex Li, Kedar Vaidya, Aaron Jiang</a:t>
            </a:r>
            <a:endParaRPr b="1" i="0" sz="1800" u="none" cap="none" strike="noStrike">
              <a:solidFill>
                <a:srgbClr val="04243C"/>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Extraction: standardizing the tender offer and merger pipelines</a:t>
            </a:r>
          </a:p>
        </p:txBody>
      </p:sp>
      <p:sp>
        <p:nvSpPr>
          <p:cNvPr id="4" name="Rounded Rectangle 3"/>
          <p:cNvSpPr/>
          <p:nvPr/>
        </p:nvSpPr>
        <p:spPr>
          <a:xfrm>
            <a:off x="822960" y="2240280"/>
            <a:ext cx="16642080" cy="1691640"/>
          </a:xfrm>
          <a:prstGeom prst="roundRect">
            <a:avLst>
              <a:gd name="adj" fmla="val 13513"/>
            </a:avLst>
          </a:prstGeom>
          <a:solidFill>
            <a:srgbClr val="FFFFFF"/>
          </a:solidFill>
          <a:ln>
            <a:noFill/>
          </a:ln>
          <a:effectLst>
            <a:outerShdw blurRad="203200" dist="50800" dir="5400000" algn="t" rotWithShape="0">
              <a:srgbClr val="0F172A">
                <a:alpha val="12000"/>
              </a:srgbClr>
            </a:outerShdw>
          </a:effectLst>
        </p:spPr>
        <p:txBody>
          <a:bodyPr rtlCol="0" anchor="ctr"/>
          <a:lstStyle/>
          <a:p>
            <a:pPr algn="ctr"/>
          </a:p>
        </p:txBody>
      </p:sp>
      <p:sp>
        <p:nvSpPr>
          <p:cNvPr id="5" name="TextBox 4"/>
          <p:cNvSpPr txBox="1"/>
          <p:nvPr/>
        </p:nvSpPr>
        <p:spPr>
          <a:xfrm>
            <a:off x="1234440" y="2624328"/>
            <a:ext cx="4206240" cy="548640"/>
          </a:xfrm>
          <a:prstGeom prst="rect">
            <a:avLst/>
          </a:prstGeom>
          <a:noFill/>
        </p:spPr>
        <p:txBody>
          <a:bodyPr wrap="square" lIns="0" rIns="0" tIns="0" bIns="0" anchor="t">
            <a:spAutoFit/>
          </a:bodyPr>
          <a:lstStyle/>
          <a:p>
            <a:pPr algn="l"/>
            <a:r>
              <a:rPr sz="2600" b="1" i="0">
                <a:solidFill>
                  <a:srgbClr val="04243C"/>
                </a:solidFill>
                <a:latin typeface="Helvetica Neue"/>
              </a:rPr>
              <a:t>Tender offers</a:t>
            </a:r>
          </a:p>
        </p:txBody>
      </p:sp>
      <p:sp>
        <p:nvSpPr>
          <p:cNvPr id="6" name="TextBox 5"/>
          <p:cNvSpPr txBox="1"/>
          <p:nvPr/>
        </p:nvSpPr>
        <p:spPr>
          <a:xfrm>
            <a:off x="1234440" y="3200400"/>
            <a:ext cx="4297680" cy="548640"/>
          </a:xfrm>
          <a:prstGeom prst="rect">
            <a:avLst/>
          </a:prstGeom>
          <a:noFill/>
        </p:spPr>
        <p:txBody>
          <a:bodyPr wrap="square" lIns="0" rIns="0" tIns="0" bIns="0" anchor="t">
            <a:spAutoFit/>
          </a:bodyPr>
          <a:lstStyle/>
          <a:p>
            <a:pPr algn="l"/>
            <a:r>
              <a:rPr sz="1500" b="0" i="0">
                <a:solidFill>
                  <a:srgbClr val="475569"/>
                </a:solidFill>
                <a:latin typeface="Helvetica Neue"/>
              </a:rPr>
              <a:t>Schedule TO · Offer to Purchase · 14D-9 · amendments</a:t>
            </a:r>
          </a:p>
        </p:txBody>
      </p:sp>
      <p:sp>
        <p:nvSpPr>
          <p:cNvPr id="7" name="Pentagon 6"/>
          <p:cNvSpPr/>
          <p:nvPr/>
        </p:nvSpPr>
        <p:spPr>
          <a:xfrm>
            <a:off x="5760720" y="2624328"/>
            <a:ext cx="3931920" cy="914400"/>
          </a:xfrm>
          <a:prstGeom prst="homePlate">
            <a:avLst>
              <a:gd name="adj" fmla="val 32000"/>
            </a:avLst>
          </a:prstGeom>
          <a:solidFill>
            <a:srgbClr val="2B9CAE"/>
          </a:solidFill>
          <a:ln>
            <a:noFill/>
          </a:ln>
        </p:spPr>
        <p:txBody>
          <a:bodyPr rtlCol="0" anchor="ctr" wrap="square" lIns="109728" rIns="109728" tIns="0" bIns="0"/>
          <a:lstStyle/>
          <a:p>
            <a:pPr algn="ctr"/>
            <a:r>
              <a:rPr sz="1800" b="1">
                <a:solidFill>
                  <a:srgbClr val="FFFFFF"/>
                </a:solidFill>
                <a:latin typeface="Helvetica Neue"/>
              </a:rPr>
              <a:t>Find the right sections</a:t>
            </a:r>
          </a:p>
        </p:txBody>
      </p:sp>
      <p:sp>
        <p:nvSpPr>
          <p:cNvPr id="8" name="Chevron 7"/>
          <p:cNvSpPr/>
          <p:nvPr/>
        </p:nvSpPr>
        <p:spPr>
          <a:xfrm>
            <a:off x="9601200" y="2624328"/>
            <a:ext cx="3931920" cy="914400"/>
          </a:xfrm>
          <a:prstGeom prst="chevron">
            <a:avLst>
              <a:gd name="adj" fmla="val 32000"/>
            </a:avLst>
          </a:prstGeom>
          <a:solidFill>
            <a:srgbClr val="00539B"/>
          </a:solidFill>
          <a:ln>
            <a:noFill/>
          </a:ln>
        </p:spPr>
        <p:txBody>
          <a:bodyPr rtlCol="0" anchor="ctr" wrap="square" lIns="109728" rIns="109728" tIns="0" bIns="0"/>
          <a:lstStyle/>
          <a:p>
            <a:pPr algn="ctr"/>
            <a:r>
              <a:rPr sz="1800" b="1">
                <a:solidFill>
                  <a:srgbClr val="FFFFFF"/>
                </a:solidFill>
                <a:latin typeface="Helvetica Neue"/>
              </a:rPr>
              <a:t>Extract with GLiNER + rules</a:t>
            </a:r>
          </a:p>
        </p:txBody>
      </p:sp>
      <p:sp>
        <p:nvSpPr>
          <p:cNvPr id="9" name="Chevron 8"/>
          <p:cNvSpPr/>
          <p:nvPr/>
        </p:nvSpPr>
        <p:spPr>
          <a:xfrm>
            <a:off x="13441680" y="2624328"/>
            <a:ext cx="3931920" cy="914400"/>
          </a:xfrm>
          <a:prstGeom prst="chevron">
            <a:avLst>
              <a:gd name="adj" fmla="val 32000"/>
            </a:avLst>
          </a:prstGeom>
          <a:solidFill>
            <a:srgbClr val="012169"/>
          </a:solidFill>
          <a:ln>
            <a:noFill/>
          </a:ln>
        </p:spPr>
        <p:txBody>
          <a:bodyPr rtlCol="0" anchor="ctr" wrap="square" lIns="109728" rIns="109728" tIns="0" bIns="0"/>
          <a:lstStyle/>
          <a:p>
            <a:pPr algn="ctr"/>
            <a:r>
              <a:rPr sz="1800" b="1">
                <a:solidFill>
                  <a:srgbClr val="FFFFFF"/>
                </a:solidFill>
                <a:latin typeface="Helvetica Neue"/>
              </a:rPr>
              <a:t>Standardize the fields</a:t>
            </a:r>
          </a:p>
        </p:txBody>
      </p:sp>
      <p:sp>
        <p:nvSpPr>
          <p:cNvPr id="10" name="Rounded Rectangle 9"/>
          <p:cNvSpPr/>
          <p:nvPr/>
        </p:nvSpPr>
        <p:spPr>
          <a:xfrm>
            <a:off x="822960" y="4206240"/>
            <a:ext cx="16642080" cy="1691640"/>
          </a:xfrm>
          <a:prstGeom prst="roundRect">
            <a:avLst>
              <a:gd name="adj" fmla="val 13513"/>
            </a:avLst>
          </a:prstGeom>
          <a:solidFill>
            <a:srgbClr val="FFFFFF"/>
          </a:solidFill>
          <a:ln>
            <a:noFill/>
          </a:ln>
          <a:effectLst>
            <a:outerShdw blurRad="203200" dist="50800" dir="5400000" algn="t" rotWithShape="0">
              <a:srgbClr val="0F172A">
                <a:alpha val="12000"/>
              </a:srgbClr>
            </a:outerShdw>
          </a:effectLst>
        </p:spPr>
        <p:txBody>
          <a:bodyPr rtlCol="0" anchor="ctr"/>
          <a:lstStyle/>
          <a:p>
            <a:pPr algn="ctr"/>
          </a:p>
        </p:txBody>
      </p:sp>
      <p:sp>
        <p:nvSpPr>
          <p:cNvPr id="11" name="TextBox 10"/>
          <p:cNvSpPr txBox="1"/>
          <p:nvPr/>
        </p:nvSpPr>
        <p:spPr>
          <a:xfrm>
            <a:off x="1234440" y="4590288"/>
            <a:ext cx="4206240" cy="548640"/>
          </a:xfrm>
          <a:prstGeom prst="rect">
            <a:avLst/>
          </a:prstGeom>
          <a:noFill/>
        </p:spPr>
        <p:txBody>
          <a:bodyPr wrap="square" lIns="0" rIns="0" tIns="0" bIns="0" anchor="t">
            <a:spAutoFit/>
          </a:bodyPr>
          <a:lstStyle/>
          <a:p>
            <a:pPr algn="l"/>
            <a:r>
              <a:rPr sz="2600" b="1" i="0">
                <a:solidFill>
                  <a:srgbClr val="04243C"/>
                </a:solidFill>
                <a:latin typeface="Helvetica Neue"/>
              </a:rPr>
              <a:t>Mergers</a:t>
            </a:r>
          </a:p>
        </p:txBody>
      </p:sp>
      <p:sp>
        <p:nvSpPr>
          <p:cNvPr id="12" name="TextBox 11"/>
          <p:cNvSpPr txBox="1"/>
          <p:nvPr/>
        </p:nvSpPr>
        <p:spPr>
          <a:xfrm>
            <a:off x="1234440" y="5166359"/>
            <a:ext cx="4297680" cy="548640"/>
          </a:xfrm>
          <a:prstGeom prst="rect">
            <a:avLst/>
          </a:prstGeom>
          <a:noFill/>
        </p:spPr>
        <p:txBody>
          <a:bodyPr wrap="square" lIns="0" rIns="0" tIns="0" bIns="0" anchor="t">
            <a:spAutoFit/>
          </a:bodyPr>
          <a:lstStyle/>
          <a:p>
            <a:pPr algn="l"/>
            <a:r>
              <a:rPr sz="1500" b="0" i="0">
                <a:solidFill>
                  <a:srgbClr val="475569"/>
                </a:solidFill>
                <a:latin typeface="Helvetica Neue"/>
              </a:rPr>
              <a:t>S-4 · merger proxies · 8-K · 425</a:t>
            </a:r>
          </a:p>
        </p:txBody>
      </p:sp>
      <p:sp>
        <p:nvSpPr>
          <p:cNvPr id="13" name="Pentagon 12"/>
          <p:cNvSpPr/>
          <p:nvPr/>
        </p:nvSpPr>
        <p:spPr>
          <a:xfrm>
            <a:off x="5760720" y="4590288"/>
            <a:ext cx="3931920" cy="914400"/>
          </a:xfrm>
          <a:prstGeom prst="homePlate">
            <a:avLst>
              <a:gd name="adj" fmla="val 32000"/>
            </a:avLst>
          </a:prstGeom>
          <a:solidFill>
            <a:srgbClr val="2B9CAE"/>
          </a:solidFill>
          <a:ln>
            <a:noFill/>
          </a:ln>
        </p:spPr>
        <p:txBody>
          <a:bodyPr rtlCol="0" anchor="ctr" wrap="square" lIns="109728" rIns="109728" tIns="0" bIns="0"/>
          <a:lstStyle/>
          <a:p>
            <a:pPr algn="ctr"/>
            <a:r>
              <a:rPr sz="1800" b="1">
                <a:solidFill>
                  <a:srgbClr val="FFFFFF"/>
                </a:solidFill>
                <a:latin typeface="Helvetica Neue"/>
              </a:rPr>
              <a:t>Find the right sections</a:t>
            </a:r>
          </a:p>
        </p:txBody>
      </p:sp>
      <p:sp>
        <p:nvSpPr>
          <p:cNvPr id="14" name="Chevron 13"/>
          <p:cNvSpPr/>
          <p:nvPr/>
        </p:nvSpPr>
        <p:spPr>
          <a:xfrm>
            <a:off x="9601200" y="4590288"/>
            <a:ext cx="3931920" cy="914400"/>
          </a:xfrm>
          <a:prstGeom prst="chevron">
            <a:avLst>
              <a:gd name="adj" fmla="val 32000"/>
            </a:avLst>
          </a:prstGeom>
          <a:solidFill>
            <a:srgbClr val="00539B"/>
          </a:solidFill>
          <a:ln>
            <a:noFill/>
          </a:ln>
        </p:spPr>
        <p:txBody>
          <a:bodyPr rtlCol="0" anchor="ctr" wrap="square" lIns="109728" rIns="109728" tIns="0" bIns="0"/>
          <a:lstStyle/>
          <a:p>
            <a:pPr algn="ctr"/>
            <a:r>
              <a:rPr sz="1800" b="1">
                <a:solidFill>
                  <a:srgbClr val="FFFFFF"/>
                </a:solidFill>
                <a:latin typeface="Helvetica Neue"/>
              </a:rPr>
              <a:t>Extract with GLiNER + rules</a:t>
            </a:r>
          </a:p>
        </p:txBody>
      </p:sp>
      <p:sp>
        <p:nvSpPr>
          <p:cNvPr id="15" name="Chevron 14"/>
          <p:cNvSpPr/>
          <p:nvPr/>
        </p:nvSpPr>
        <p:spPr>
          <a:xfrm>
            <a:off x="13441680" y="4590288"/>
            <a:ext cx="3931920" cy="914400"/>
          </a:xfrm>
          <a:prstGeom prst="chevron">
            <a:avLst>
              <a:gd name="adj" fmla="val 32000"/>
            </a:avLst>
          </a:prstGeom>
          <a:solidFill>
            <a:srgbClr val="012169"/>
          </a:solidFill>
          <a:ln>
            <a:noFill/>
          </a:ln>
        </p:spPr>
        <p:txBody>
          <a:bodyPr rtlCol="0" anchor="ctr" wrap="square" lIns="109728" rIns="109728" tIns="0" bIns="0"/>
          <a:lstStyle/>
          <a:p>
            <a:pPr algn="ctr"/>
            <a:r>
              <a:rPr sz="1800" b="1">
                <a:solidFill>
                  <a:srgbClr val="FFFFFF"/>
                </a:solidFill>
                <a:latin typeface="Helvetica Neue"/>
              </a:rPr>
              <a:t>Standardize the fields</a:t>
            </a:r>
          </a:p>
        </p:txBody>
      </p:sp>
      <p:sp>
        <p:nvSpPr>
          <p:cNvPr id="16" name="TextBox 15"/>
          <p:cNvSpPr txBox="1"/>
          <p:nvPr/>
        </p:nvSpPr>
        <p:spPr>
          <a:xfrm>
            <a:off x="822960" y="6355080"/>
            <a:ext cx="16642080" cy="457200"/>
          </a:xfrm>
          <a:prstGeom prst="rect">
            <a:avLst/>
          </a:prstGeom>
          <a:noFill/>
        </p:spPr>
        <p:txBody>
          <a:bodyPr wrap="square" lIns="0" rIns="0" tIns="0" bIns="0" anchor="t">
            <a:spAutoFit/>
          </a:bodyPr>
          <a:lstStyle/>
          <a:p>
            <a:pPr algn="l"/>
            <a:r>
              <a:rPr sz="1700" b="1" i="0">
                <a:solidFill>
                  <a:srgbClr val="2B9CAE"/>
                </a:solidFill>
                <a:latin typeface="Helvetica Neue"/>
              </a:rPr>
              <a:t>This week, across both lanes</a:t>
            </a:r>
          </a:p>
        </p:txBody>
      </p:sp>
      <p:sp>
        <p:nvSpPr>
          <p:cNvPr id="17" name="Rectangle 16"/>
          <p:cNvSpPr/>
          <p:nvPr/>
        </p:nvSpPr>
        <p:spPr>
          <a:xfrm>
            <a:off x="822960" y="6903720"/>
            <a:ext cx="8183879" cy="2148840"/>
          </a:xfrm>
          <a:prstGeom prst="rect">
            <a:avLst/>
          </a:prstGeom>
          <a:solidFill>
            <a:srgbClr val="CFE6E9"/>
          </a:solidFill>
          <a:ln>
            <a:noFill/>
          </a:ln>
        </p:spPr>
        <p:txBody>
          <a:bodyPr rtlCol="0" anchor="ctr"/>
          <a:lstStyle/>
          <a:p>
            <a:pPr algn="ctr"/>
          </a:p>
        </p:txBody>
      </p:sp>
      <p:sp>
        <p:nvSpPr>
          <p:cNvPr id="18" name="Oval 17"/>
          <p:cNvSpPr/>
          <p:nvPr/>
        </p:nvSpPr>
        <p:spPr>
          <a:xfrm>
            <a:off x="1188720" y="7269480"/>
            <a:ext cx="960120" cy="960120"/>
          </a:xfrm>
          <a:prstGeom prst="ellipse">
            <a:avLst/>
          </a:prstGeom>
          <a:solidFill>
            <a:srgbClr val="04243C"/>
          </a:solidFill>
          <a:ln>
            <a:noFill/>
          </a:ln>
        </p:spPr>
        <p:txBody>
          <a:bodyPr rtlCol="0" anchor="ctr"/>
          <a:lstStyle/>
          <a:p>
            <a:pPr algn="ctr"/>
          </a:p>
        </p:txBody>
      </p:sp>
      <p:pic>
        <p:nvPicPr>
          <p:cNvPr id="19" name="Picture 18" descr="gauge_FFFFFF.png"/>
          <p:cNvPicPr>
            <a:picLocks noChangeAspect="1"/>
          </p:cNvPicPr>
          <p:nvPr/>
        </p:nvPicPr>
        <p:blipFill>
          <a:blip r:embed="rId3"/>
          <a:stretch>
            <a:fillRect/>
          </a:stretch>
        </p:blipFill>
        <p:spPr>
          <a:xfrm>
            <a:off x="1419148" y="7499908"/>
            <a:ext cx="499262" cy="499262"/>
          </a:xfrm>
          <a:prstGeom prst="rect">
            <a:avLst/>
          </a:prstGeom>
        </p:spPr>
      </p:pic>
      <p:sp>
        <p:nvSpPr>
          <p:cNvPr id="20" name="TextBox 19"/>
          <p:cNvSpPr txBox="1"/>
          <p:nvPr/>
        </p:nvSpPr>
        <p:spPr>
          <a:xfrm>
            <a:off x="2468880" y="7269480"/>
            <a:ext cx="6217920" cy="548640"/>
          </a:xfrm>
          <a:prstGeom prst="rect">
            <a:avLst/>
          </a:prstGeom>
          <a:noFill/>
        </p:spPr>
        <p:txBody>
          <a:bodyPr wrap="square" lIns="0" rIns="0" tIns="0" bIns="0" anchor="t">
            <a:spAutoFit/>
          </a:bodyPr>
          <a:lstStyle/>
          <a:p>
            <a:pPr algn="l"/>
            <a:r>
              <a:rPr sz="2200" b="1" i="0">
                <a:solidFill>
                  <a:srgbClr val="04243C"/>
                </a:solidFill>
                <a:latin typeface="Helvetica Neue"/>
              </a:rPr>
              <a:t>Retrain GLiNER</a:t>
            </a:r>
          </a:p>
        </p:txBody>
      </p:sp>
      <p:sp>
        <p:nvSpPr>
          <p:cNvPr id="21" name="TextBox 20"/>
          <p:cNvSpPr txBox="1"/>
          <p:nvPr/>
        </p:nvSpPr>
        <p:spPr>
          <a:xfrm>
            <a:off x="2468880" y="7863840"/>
            <a:ext cx="6217920" cy="1005840"/>
          </a:xfrm>
          <a:prstGeom prst="rect">
            <a:avLst/>
          </a:prstGeom>
          <a:noFill/>
        </p:spPr>
        <p:txBody>
          <a:bodyPr wrap="square" lIns="0" rIns="0" tIns="0" bIns="0" anchor="t">
            <a:spAutoFit/>
          </a:bodyPr>
          <a:lstStyle/>
          <a:p>
            <a:pPr algn="l"/>
            <a:r>
              <a:rPr sz="1700" b="0" i="0">
                <a:solidFill>
                  <a:srgbClr val="475569"/>
                </a:solidFill>
                <a:latin typeface="Helvetica Neue"/>
              </a:rPr>
              <a:t>With more validation samples, so the model learns from more labelled examples</a:t>
            </a:r>
          </a:p>
        </p:txBody>
      </p:sp>
      <p:sp>
        <p:nvSpPr>
          <p:cNvPr id="22" name="Rectangle 21"/>
          <p:cNvSpPr/>
          <p:nvPr/>
        </p:nvSpPr>
        <p:spPr>
          <a:xfrm>
            <a:off x="9281160" y="6903720"/>
            <a:ext cx="8183879" cy="2148840"/>
          </a:xfrm>
          <a:prstGeom prst="rect">
            <a:avLst/>
          </a:prstGeom>
          <a:solidFill>
            <a:srgbClr val="CFE6E9"/>
          </a:solidFill>
          <a:ln>
            <a:noFill/>
          </a:ln>
        </p:spPr>
        <p:txBody>
          <a:bodyPr rtlCol="0" anchor="ctr"/>
          <a:lstStyle/>
          <a:p>
            <a:pPr algn="ctr"/>
          </a:p>
        </p:txBody>
      </p:sp>
      <p:sp>
        <p:nvSpPr>
          <p:cNvPr id="23" name="Oval 22"/>
          <p:cNvSpPr/>
          <p:nvPr/>
        </p:nvSpPr>
        <p:spPr>
          <a:xfrm>
            <a:off x="9646920" y="7269480"/>
            <a:ext cx="960120" cy="960120"/>
          </a:xfrm>
          <a:prstGeom prst="ellipse">
            <a:avLst/>
          </a:prstGeom>
          <a:solidFill>
            <a:srgbClr val="04243C"/>
          </a:solidFill>
          <a:ln>
            <a:noFill/>
          </a:ln>
        </p:spPr>
        <p:txBody>
          <a:bodyPr rtlCol="0" anchor="ctr"/>
          <a:lstStyle/>
          <a:p>
            <a:pPr algn="ctr"/>
          </a:p>
        </p:txBody>
      </p:sp>
      <p:pic>
        <p:nvPicPr>
          <p:cNvPr id="24" name="Picture 23" descr="hash_FFFFFF.png"/>
          <p:cNvPicPr>
            <a:picLocks noChangeAspect="1"/>
          </p:cNvPicPr>
          <p:nvPr/>
        </p:nvPicPr>
        <p:blipFill>
          <a:blip r:embed="rId4"/>
          <a:stretch>
            <a:fillRect/>
          </a:stretch>
        </p:blipFill>
        <p:spPr>
          <a:xfrm>
            <a:off x="9877348" y="7499908"/>
            <a:ext cx="499262" cy="499262"/>
          </a:xfrm>
          <a:prstGeom prst="rect">
            <a:avLst/>
          </a:prstGeom>
        </p:spPr>
      </p:pic>
      <p:sp>
        <p:nvSpPr>
          <p:cNvPr id="25" name="TextBox 24"/>
          <p:cNvSpPr txBox="1"/>
          <p:nvPr/>
        </p:nvSpPr>
        <p:spPr>
          <a:xfrm>
            <a:off x="10927080" y="7269480"/>
            <a:ext cx="6217920" cy="548640"/>
          </a:xfrm>
          <a:prstGeom prst="rect">
            <a:avLst/>
          </a:prstGeom>
          <a:noFill/>
        </p:spPr>
        <p:txBody>
          <a:bodyPr wrap="square" lIns="0" rIns="0" tIns="0" bIns="0" anchor="t">
            <a:spAutoFit/>
          </a:bodyPr>
          <a:lstStyle/>
          <a:p>
            <a:pPr algn="l"/>
            <a:r>
              <a:rPr sz="2200" b="1" i="0">
                <a:solidFill>
                  <a:srgbClr val="04243C"/>
                </a:solidFill>
                <a:latin typeface="Helvetica Neue"/>
              </a:rPr>
              <a:t>Rule-based identifiers</a:t>
            </a:r>
          </a:p>
        </p:txBody>
      </p:sp>
      <p:sp>
        <p:nvSpPr>
          <p:cNvPr id="26" name="TextBox 25"/>
          <p:cNvSpPr txBox="1"/>
          <p:nvPr/>
        </p:nvSpPr>
        <p:spPr>
          <a:xfrm>
            <a:off x="10927080" y="7863840"/>
            <a:ext cx="6217920" cy="1005840"/>
          </a:xfrm>
          <a:prstGeom prst="rect">
            <a:avLst/>
          </a:prstGeom>
          <a:noFill/>
        </p:spPr>
        <p:txBody>
          <a:bodyPr wrap="square" lIns="0" rIns="0" tIns="0" bIns="0" anchor="t">
            <a:spAutoFit/>
          </a:bodyPr>
          <a:lstStyle/>
          <a:p>
            <a:pPr algn="l"/>
            <a:r>
              <a:rPr sz="1700" b="0" i="0">
                <a:solidFill>
                  <a:srgbClr val="475569"/>
                </a:solidFill>
                <a:latin typeface="Helvetica Neue"/>
              </a:rPr>
              <a:t>CUSIP and ISIN pulled by pattern with check-digit validation, one per share class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We brainstormed many agents and are researching three</a:t>
            </a:r>
          </a:p>
        </p:txBody>
      </p:sp>
      <p:sp>
        <p:nvSpPr>
          <p:cNvPr id="4" name="Rectangle 3"/>
          <p:cNvSpPr/>
          <p:nvPr/>
        </p:nvSpPr>
        <p:spPr>
          <a:xfrm>
            <a:off x="822960" y="2194560"/>
            <a:ext cx="5303520" cy="5806440"/>
          </a:xfrm>
          <a:prstGeom prst="rect">
            <a:avLst/>
          </a:prstGeom>
          <a:solidFill>
            <a:srgbClr val="FFFFFF"/>
          </a:solidFill>
          <a:ln w="15875">
            <a:solidFill>
              <a:srgbClr val="D8CDB8"/>
            </a:solidFill>
          </a:ln>
        </p:spPr>
        <p:txBody>
          <a:bodyPr rtlCol="0" anchor="ctr"/>
          <a:lstStyle/>
          <a:p>
            <a:pPr algn="ctr"/>
          </a:p>
        </p:txBody>
      </p:sp>
      <p:sp>
        <p:nvSpPr>
          <p:cNvPr id="5" name="Oval 4"/>
          <p:cNvSpPr/>
          <p:nvPr/>
        </p:nvSpPr>
        <p:spPr>
          <a:xfrm>
            <a:off x="1143000" y="2468880"/>
            <a:ext cx="822960" cy="822960"/>
          </a:xfrm>
          <a:prstGeom prst="ellipse">
            <a:avLst/>
          </a:prstGeom>
          <a:solidFill>
            <a:srgbClr val="04243C"/>
          </a:solidFill>
          <a:ln>
            <a:noFill/>
          </a:ln>
        </p:spPr>
        <p:txBody>
          <a:bodyPr rtlCol="0" anchor="ctr"/>
          <a:lstStyle/>
          <a:p>
            <a:pPr algn="ctr"/>
          </a:p>
        </p:txBody>
      </p:sp>
      <p:pic>
        <p:nvPicPr>
          <p:cNvPr id="6" name="Picture 5" descr="building-2_FFFFFF.png"/>
          <p:cNvPicPr>
            <a:picLocks noChangeAspect="1"/>
          </p:cNvPicPr>
          <p:nvPr/>
        </p:nvPicPr>
        <p:blipFill>
          <a:blip r:embed="rId3"/>
          <a:stretch>
            <a:fillRect/>
          </a:stretch>
        </p:blipFill>
        <p:spPr>
          <a:xfrm>
            <a:off x="1340510" y="2666390"/>
            <a:ext cx="427939" cy="427939"/>
          </a:xfrm>
          <a:prstGeom prst="rect">
            <a:avLst/>
          </a:prstGeom>
        </p:spPr>
      </p:pic>
      <p:sp>
        <p:nvSpPr>
          <p:cNvPr id="7" name="TextBox 6"/>
          <p:cNvSpPr txBox="1"/>
          <p:nvPr/>
        </p:nvSpPr>
        <p:spPr>
          <a:xfrm>
            <a:off x="2148840" y="2468880"/>
            <a:ext cx="3749039" cy="822960"/>
          </a:xfrm>
          <a:prstGeom prst="rect">
            <a:avLst/>
          </a:prstGeom>
          <a:noFill/>
        </p:spPr>
        <p:txBody>
          <a:bodyPr wrap="square" lIns="0" rIns="0" tIns="0" bIns="0" anchor="ctr">
            <a:spAutoFit/>
          </a:bodyPr>
          <a:lstStyle/>
          <a:p>
            <a:pPr algn="l"/>
            <a:r>
              <a:rPr sz="2200" b="1" i="0">
                <a:solidFill>
                  <a:srgbClr val="04243C"/>
                </a:solidFill>
                <a:latin typeface="Helvetica Neue"/>
              </a:rPr>
              <a:t>Operations agents</a:t>
            </a:r>
          </a:p>
        </p:txBody>
      </p:sp>
      <p:sp>
        <p:nvSpPr>
          <p:cNvPr id="8" name="Rounded Rectangle 7"/>
          <p:cNvSpPr/>
          <p:nvPr/>
        </p:nvSpPr>
        <p:spPr>
          <a:xfrm>
            <a:off x="1143000" y="3611880"/>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Filing triage</a:t>
            </a:r>
          </a:p>
        </p:txBody>
      </p:sp>
      <p:sp>
        <p:nvSpPr>
          <p:cNvPr id="9" name="Rounded Rectangle 8"/>
          <p:cNvSpPr/>
          <p:nvPr/>
        </p:nvSpPr>
        <p:spPr>
          <a:xfrm>
            <a:off x="3589020" y="3611880"/>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Event builder</a:t>
            </a:r>
          </a:p>
        </p:txBody>
      </p:sp>
      <p:sp>
        <p:nvSpPr>
          <p:cNvPr id="10" name="Rounded Rectangle 9"/>
          <p:cNvSpPr/>
          <p:nvPr/>
        </p:nvSpPr>
        <p:spPr>
          <a:xfrm>
            <a:off x="1143000" y="4636008"/>
            <a:ext cx="2217420" cy="822960"/>
          </a:xfrm>
          <a:prstGeom prst="roundRect">
            <a:avLst>
              <a:gd name="adj" fmla="val 50000"/>
            </a:avLst>
          </a:prstGeom>
          <a:solidFill>
            <a:srgbClr val="2B9CAE"/>
          </a:solidFill>
          <a:ln>
            <a:noFill/>
          </a:ln>
        </p:spPr>
        <p:txBody>
          <a:bodyPr rtlCol="0" anchor="ctr" wrap="square" lIns="109728" rIns="109728" tIns="0" bIns="0"/>
          <a:lstStyle/>
          <a:p>
            <a:pPr algn="ctr"/>
            <a:r>
              <a:rPr sz="1500" b="1">
                <a:solidFill>
                  <a:srgbClr val="FFFFFF"/>
                </a:solidFill>
                <a:latin typeface="Helvetica Neue"/>
              </a:rPr>
              <a:t>Vendor reconciliation</a:t>
            </a:r>
          </a:p>
        </p:txBody>
      </p:sp>
      <p:sp>
        <p:nvSpPr>
          <p:cNvPr id="11" name="Rounded Rectangle 10"/>
          <p:cNvSpPr/>
          <p:nvPr/>
        </p:nvSpPr>
        <p:spPr>
          <a:xfrm>
            <a:off x="3589020" y="4636008"/>
            <a:ext cx="2217420" cy="822960"/>
          </a:xfrm>
          <a:prstGeom prst="roundRect">
            <a:avLst>
              <a:gd name="adj" fmla="val 50000"/>
            </a:avLst>
          </a:prstGeom>
          <a:solidFill>
            <a:srgbClr val="00539B"/>
          </a:solidFill>
          <a:ln>
            <a:noFill/>
          </a:ln>
        </p:spPr>
        <p:txBody>
          <a:bodyPr rtlCol="0" anchor="ctr" wrap="square" lIns="109728" rIns="109728" tIns="0" bIns="0"/>
          <a:lstStyle/>
          <a:p>
            <a:pPr algn="ctr"/>
            <a:r>
              <a:rPr sz="1500" b="1">
                <a:solidFill>
                  <a:srgbClr val="FFFFFF"/>
                </a:solidFill>
                <a:latin typeface="Helvetica Neue"/>
              </a:rPr>
              <a:t>Amendment impact</a:t>
            </a:r>
          </a:p>
        </p:txBody>
      </p:sp>
      <p:sp>
        <p:nvSpPr>
          <p:cNvPr id="12" name="Rounded Rectangle 11"/>
          <p:cNvSpPr/>
          <p:nvPr/>
        </p:nvSpPr>
        <p:spPr>
          <a:xfrm>
            <a:off x="1143000" y="5660136"/>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Deadline watchdog</a:t>
            </a:r>
          </a:p>
        </p:txBody>
      </p:sp>
      <p:sp>
        <p:nvSpPr>
          <p:cNvPr id="13" name="Rounded Rectangle 12"/>
          <p:cNvSpPr/>
          <p:nvPr/>
        </p:nvSpPr>
        <p:spPr>
          <a:xfrm>
            <a:off x="3589020" y="5660136"/>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Exception handling</a:t>
            </a:r>
          </a:p>
        </p:txBody>
      </p:sp>
      <p:sp>
        <p:nvSpPr>
          <p:cNvPr id="14" name="Rounded Rectangle 13"/>
          <p:cNvSpPr/>
          <p:nvPr/>
        </p:nvSpPr>
        <p:spPr>
          <a:xfrm>
            <a:off x="1143000" y="6684264"/>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Data-quality monitor</a:t>
            </a:r>
          </a:p>
        </p:txBody>
      </p:sp>
      <p:sp>
        <p:nvSpPr>
          <p:cNvPr id="15" name="Rectangle 14"/>
          <p:cNvSpPr/>
          <p:nvPr/>
        </p:nvSpPr>
        <p:spPr>
          <a:xfrm>
            <a:off x="6492240" y="2194560"/>
            <a:ext cx="5303520" cy="5806440"/>
          </a:xfrm>
          <a:prstGeom prst="rect">
            <a:avLst/>
          </a:prstGeom>
          <a:solidFill>
            <a:srgbClr val="FFFFFF"/>
          </a:solidFill>
          <a:ln w="15875">
            <a:solidFill>
              <a:srgbClr val="D8CDB8"/>
            </a:solidFill>
          </a:ln>
        </p:spPr>
        <p:txBody>
          <a:bodyPr rtlCol="0" anchor="ctr"/>
          <a:lstStyle/>
          <a:p>
            <a:pPr algn="ctr"/>
          </a:p>
        </p:txBody>
      </p:sp>
      <p:sp>
        <p:nvSpPr>
          <p:cNvPr id="16" name="Oval 15"/>
          <p:cNvSpPr/>
          <p:nvPr/>
        </p:nvSpPr>
        <p:spPr>
          <a:xfrm>
            <a:off x="6812280" y="2468880"/>
            <a:ext cx="822960" cy="822960"/>
          </a:xfrm>
          <a:prstGeom prst="ellipse">
            <a:avLst/>
          </a:prstGeom>
          <a:solidFill>
            <a:srgbClr val="04243C"/>
          </a:solidFill>
          <a:ln>
            <a:noFill/>
          </a:ln>
        </p:spPr>
        <p:txBody>
          <a:bodyPr rtlCol="0" anchor="ctr"/>
          <a:lstStyle/>
          <a:p>
            <a:pPr algn="ctr"/>
          </a:p>
        </p:txBody>
      </p:sp>
      <p:pic>
        <p:nvPicPr>
          <p:cNvPr id="17" name="Picture 16" descr="users-round_FFFFFF.png"/>
          <p:cNvPicPr>
            <a:picLocks noChangeAspect="1"/>
          </p:cNvPicPr>
          <p:nvPr/>
        </p:nvPicPr>
        <p:blipFill>
          <a:blip r:embed="rId4"/>
          <a:stretch>
            <a:fillRect/>
          </a:stretch>
        </p:blipFill>
        <p:spPr>
          <a:xfrm>
            <a:off x="7009790" y="2666390"/>
            <a:ext cx="427939" cy="427939"/>
          </a:xfrm>
          <a:prstGeom prst="rect">
            <a:avLst/>
          </a:prstGeom>
        </p:spPr>
      </p:pic>
      <p:sp>
        <p:nvSpPr>
          <p:cNvPr id="18" name="TextBox 17"/>
          <p:cNvSpPr txBox="1"/>
          <p:nvPr/>
        </p:nvSpPr>
        <p:spPr>
          <a:xfrm>
            <a:off x="7818120" y="2468880"/>
            <a:ext cx="3749039" cy="822960"/>
          </a:xfrm>
          <a:prstGeom prst="rect">
            <a:avLst/>
          </a:prstGeom>
          <a:noFill/>
        </p:spPr>
        <p:txBody>
          <a:bodyPr wrap="square" lIns="0" rIns="0" tIns="0" bIns="0" anchor="ctr">
            <a:spAutoFit/>
          </a:bodyPr>
          <a:lstStyle/>
          <a:p>
            <a:pPr algn="l"/>
            <a:r>
              <a:rPr sz="2200" b="1" i="0">
                <a:solidFill>
                  <a:srgbClr val="04243C"/>
                </a:solidFill>
                <a:latin typeface="Helvetica Neue"/>
              </a:rPr>
              <a:t>Client-facing agents</a:t>
            </a:r>
          </a:p>
        </p:txBody>
      </p:sp>
      <p:sp>
        <p:nvSpPr>
          <p:cNvPr id="19" name="Rounded Rectangle 18"/>
          <p:cNvSpPr/>
          <p:nvPr/>
        </p:nvSpPr>
        <p:spPr>
          <a:xfrm>
            <a:off x="6812280" y="3611880"/>
            <a:ext cx="2217420" cy="822960"/>
          </a:xfrm>
          <a:prstGeom prst="roundRect">
            <a:avLst>
              <a:gd name="adj" fmla="val 50000"/>
            </a:avLst>
          </a:prstGeom>
          <a:solidFill>
            <a:srgbClr val="012169"/>
          </a:solidFill>
          <a:ln>
            <a:noFill/>
          </a:ln>
        </p:spPr>
        <p:txBody>
          <a:bodyPr rtlCol="0" anchor="ctr" wrap="square" lIns="109728" rIns="109728" tIns="0" bIns="0"/>
          <a:lstStyle/>
          <a:p>
            <a:pPr algn="ctr"/>
            <a:r>
              <a:rPr sz="1500" b="1">
                <a:solidFill>
                  <a:srgbClr val="FFFFFF"/>
                </a:solidFill>
                <a:latin typeface="Helvetica Neue"/>
              </a:rPr>
              <a:t>Client briefing</a:t>
            </a:r>
          </a:p>
        </p:txBody>
      </p:sp>
      <p:sp>
        <p:nvSpPr>
          <p:cNvPr id="20" name="Rounded Rectangle 19"/>
          <p:cNvSpPr/>
          <p:nvPr/>
        </p:nvSpPr>
        <p:spPr>
          <a:xfrm>
            <a:off x="9258300" y="3611880"/>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Q&amp;A assistant</a:t>
            </a:r>
          </a:p>
        </p:txBody>
      </p:sp>
      <p:sp>
        <p:nvSpPr>
          <p:cNvPr id="21" name="Rounded Rectangle 20"/>
          <p:cNvSpPr/>
          <p:nvPr/>
        </p:nvSpPr>
        <p:spPr>
          <a:xfrm>
            <a:off x="6812280" y="4636008"/>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Election prep</a:t>
            </a:r>
          </a:p>
        </p:txBody>
      </p:sp>
      <p:sp>
        <p:nvSpPr>
          <p:cNvPr id="22" name="Rounded Rectangle 21"/>
          <p:cNvSpPr/>
          <p:nvPr/>
        </p:nvSpPr>
        <p:spPr>
          <a:xfrm>
            <a:off x="9258300" y="4636008"/>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Securities lending</a:t>
            </a:r>
          </a:p>
        </p:txBody>
      </p:sp>
      <p:sp>
        <p:nvSpPr>
          <p:cNvPr id="23" name="Rounded Rectangle 22"/>
          <p:cNvSpPr/>
          <p:nvPr/>
        </p:nvSpPr>
        <p:spPr>
          <a:xfrm>
            <a:off x="6812280" y="5660136"/>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Relationship-manager copilot</a:t>
            </a:r>
          </a:p>
        </p:txBody>
      </p:sp>
      <p:sp>
        <p:nvSpPr>
          <p:cNvPr id="24" name="Rectangle 23"/>
          <p:cNvSpPr/>
          <p:nvPr/>
        </p:nvSpPr>
        <p:spPr>
          <a:xfrm>
            <a:off x="12161520" y="2194560"/>
            <a:ext cx="5303520" cy="5806440"/>
          </a:xfrm>
          <a:prstGeom prst="rect">
            <a:avLst/>
          </a:prstGeom>
          <a:solidFill>
            <a:srgbClr val="FFFFFF"/>
          </a:solidFill>
          <a:ln w="15875">
            <a:solidFill>
              <a:srgbClr val="D8CDB8"/>
            </a:solidFill>
          </a:ln>
        </p:spPr>
        <p:txBody>
          <a:bodyPr rtlCol="0" anchor="ctr"/>
          <a:lstStyle/>
          <a:p>
            <a:pPr algn="ctr"/>
          </a:p>
        </p:txBody>
      </p:sp>
      <p:sp>
        <p:nvSpPr>
          <p:cNvPr id="25" name="Oval 24"/>
          <p:cNvSpPr/>
          <p:nvPr/>
        </p:nvSpPr>
        <p:spPr>
          <a:xfrm>
            <a:off x="12481560" y="2468880"/>
            <a:ext cx="822960" cy="822960"/>
          </a:xfrm>
          <a:prstGeom prst="ellipse">
            <a:avLst/>
          </a:prstGeom>
          <a:solidFill>
            <a:srgbClr val="04243C"/>
          </a:solidFill>
          <a:ln>
            <a:noFill/>
          </a:ln>
        </p:spPr>
        <p:txBody>
          <a:bodyPr rtlCol="0" anchor="ctr"/>
          <a:lstStyle/>
          <a:p>
            <a:pPr algn="ctr"/>
          </a:p>
        </p:txBody>
      </p:sp>
      <p:pic>
        <p:nvPicPr>
          <p:cNvPr id="26" name="Picture 25" descr="layers_FFFFFF.png"/>
          <p:cNvPicPr>
            <a:picLocks noChangeAspect="1"/>
          </p:cNvPicPr>
          <p:nvPr/>
        </p:nvPicPr>
        <p:blipFill>
          <a:blip r:embed="rId5"/>
          <a:stretch>
            <a:fillRect/>
          </a:stretch>
        </p:blipFill>
        <p:spPr>
          <a:xfrm>
            <a:off x="12679070" y="2666390"/>
            <a:ext cx="427939" cy="427939"/>
          </a:xfrm>
          <a:prstGeom prst="rect">
            <a:avLst/>
          </a:prstGeom>
        </p:spPr>
      </p:pic>
      <p:sp>
        <p:nvSpPr>
          <p:cNvPr id="27" name="TextBox 26"/>
          <p:cNvSpPr txBox="1"/>
          <p:nvPr/>
        </p:nvSpPr>
        <p:spPr>
          <a:xfrm>
            <a:off x="13487400" y="2468880"/>
            <a:ext cx="3749039" cy="822960"/>
          </a:xfrm>
          <a:prstGeom prst="rect">
            <a:avLst/>
          </a:prstGeom>
          <a:noFill/>
        </p:spPr>
        <p:txBody>
          <a:bodyPr wrap="square" lIns="0" rIns="0" tIns="0" bIns="0" anchor="ctr">
            <a:spAutoFit/>
          </a:bodyPr>
          <a:lstStyle/>
          <a:p>
            <a:pPr algn="l"/>
            <a:r>
              <a:rPr sz="2200" b="1" i="0">
                <a:solidFill>
                  <a:srgbClr val="04243C"/>
                </a:solidFill>
                <a:latin typeface="Helvetica Neue"/>
              </a:rPr>
              <a:t>Across systems</a:t>
            </a:r>
          </a:p>
        </p:txBody>
      </p:sp>
      <p:sp>
        <p:nvSpPr>
          <p:cNvPr id="28" name="Rounded Rectangle 27"/>
          <p:cNvSpPr/>
          <p:nvPr/>
        </p:nvSpPr>
        <p:spPr>
          <a:xfrm>
            <a:off x="12481560" y="3611880"/>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Reviewer agent</a:t>
            </a:r>
          </a:p>
        </p:txBody>
      </p:sp>
      <p:sp>
        <p:nvSpPr>
          <p:cNvPr id="29" name="Rounded Rectangle 28"/>
          <p:cNvSpPr/>
          <p:nvPr/>
        </p:nvSpPr>
        <p:spPr>
          <a:xfrm>
            <a:off x="14927580" y="3611880"/>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Cross-action correlation</a:t>
            </a:r>
          </a:p>
        </p:txBody>
      </p:sp>
      <p:sp>
        <p:nvSpPr>
          <p:cNvPr id="30" name="Rounded Rectangle 29"/>
          <p:cNvSpPr/>
          <p:nvPr/>
        </p:nvSpPr>
        <p:spPr>
          <a:xfrm>
            <a:off x="12481560" y="4636008"/>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Scenario agent</a:t>
            </a:r>
          </a:p>
        </p:txBody>
      </p:sp>
      <p:sp>
        <p:nvSpPr>
          <p:cNvPr id="31" name="Rounded Rectangle 30"/>
          <p:cNvSpPr/>
          <p:nvPr/>
        </p:nvSpPr>
        <p:spPr>
          <a:xfrm>
            <a:off x="14927580" y="4636008"/>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Regulatory and audit</a:t>
            </a:r>
          </a:p>
        </p:txBody>
      </p:sp>
      <p:sp>
        <p:nvSpPr>
          <p:cNvPr id="32" name="Rounded Rectangle 31"/>
          <p:cNvSpPr/>
          <p:nvPr/>
        </p:nvSpPr>
        <p:spPr>
          <a:xfrm>
            <a:off x="12481560" y="5660136"/>
            <a:ext cx="2217420" cy="822960"/>
          </a:xfrm>
          <a:prstGeom prst="roundRect">
            <a:avLst>
              <a:gd name="adj" fmla="val 50000"/>
            </a:avLst>
          </a:prstGeom>
          <a:solidFill>
            <a:srgbClr val="EEEEEE"/>
          </a:solidFill>
          <a:ln>
            <a:noFill/>
          </a:ln>
        </p:spPr>
        <p:txBody>
          <a:bodyPr rtlCol="0" anchor="ctr" wrap="square" lIns="109728" rIns="109728" tIns="0" bIns="0"/>
          <a:lstStyle/>
          <a:p>
            <a:pPr algn="ctr"/>
            <a:r>
              <a:rPr sz="1500" b="0">
                <a:solidFill>
                  <a:srgbClr val="475569"/>
                </a:solidFill>
                <a:latin typeface="Helvetica Neue"/>
              </a:rPr>
              <a:t>Onboarding agent</a:t>
            </a:r>
          </a:p>
        </p:txBody>
      </p:sp>
      <p:pic>
        <p:nvPicPr>
          <p:cNvPr id="33" name="Picture 32" descr="database_2B9CAE.png"/>
          <p:cNvPicPr>
            <a:picLocks noChangeAspect="1"/>
          </p:cNvPicPr>
          <p:nvPr/>
        </p:nvPicPr>
        <p:blipFill>
          <a:blip r:embed="rId6"/>
          <a:stretch>
            <a:fillRect/>
          </a:stretch>
        </p:blipFill>
        <p:spPr>
          <a:xfrm>
            <a:off x="868680" y="8412480"/>
            <a:ext cx="502920" cy="502920"/>
          </a:xfrm>
          <a:prstGeom prst="rect">
            <a:avLst/>
          </a:prstGeom>
        </p:spPr>
      </p:pic>
      <p:sp>
        <p:nvSpPr>
          <p:cNvPr id="34" name="TextBox 33"/>
          <p:cNvSpPr txBox="1"/>
          <p:nvPr/>
        </p:nvSpPr>
        <p:spPr>
          <a:xfrm>
            <a:off x="1600200" y="8275320"/>
            <a:ext cx="15819120" cy="777240"/>
          </a:xfrm>
          <a:prstGeom prst="rect">
            <a:avLst/>
          </a:prstGeom>
          <a:noFill/>
        </p:spPr>
        <p:txBody>
          <a:bodyPr wrap="square" lIns="0" rIns="0" tIns="0" bIns="0" anchor="ctr">
            <a:spAutoFit/>
          </a:bodyPr>
          <a:lstStyle/>
          <a:p>
            <a:pPr algn="l"/>
            <a:r>
              <a:rPr sz="1700" b="1" i="0">
                <a:solidFill>
                  <a:srgbClr val="04243C"/>
                </a:solidFill>
                <a:latin typeface="Helvetica Neue"/>
              </a:rPr>
              <a:t>All built on our extracted event records with source evidence. </a:t>
            </a:r>
            <a:r>
              <a:rPr sz="1700" b="0" i="0">
                <a:solidFill>
                  <a:srgbClr val="475569"/>
                </a:solidFill>
                <a:latin typeface="Helvetica Neue"/>
              </a:rPr>
              <a:t>We start from our labelled data, so agent design doesn't wait on extraction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Vendor reconciliation: catch mismatches before they reach clients</a:t>
            </a:r>
          </a:p>
        </p:txBody>
      </p:sp>
      <p:sp>
        <p:nvSpPr>
          <p:cNvPr id="4" name="Rounded Rectangle 3"/>
          <p:cNvSpPr/>
          <p:nvPr/>
        </p:nvSpPr>
        <p:spPr>
          <a:xfrm>
            <a:off x="822960" y="2377440"/>
            <a:ext cx="4206240" cy="1783080"/>
          </a:xfrm>
          <a:prstGeom prst="roundRect">
            <a:avLst>
              <a:gd name="adj" fmla="val 10256"/>
            </a:avLst>
          </a:prstGeom>
          <a:solidFill>
            <a:srgbClr val="FFFFFF"/>
          </a:solidFill>
          <a:ln w="12700">
            <a:solidFill>
              <a:srgbClr val="D8CDB8"/>
            </a:solidFill>
          </a:ln>
        </p:spPr>
        <p:txBody>
          <a:bodyPr rtlCol="0" anchor="ctr"/>
          <a:lstStyle/>
          <a:p>
            <a:pPr algn="ctr"/>
          </a:p>
        </p:txBody>
      </p:sp>
      <p:sp>
        <p:nvSpPr>
          <p:cNvPr id="5" name="Oval 4"/>
          <p:cNvSpPr/>
          <p:nvPr/>
        </p:nvSpPr>
        <p:spPr>
          <a:xfrm>
            <a:off x="1097280" y="2788920"/>
            <a:ext cx="914400" cy="914400"/>
          </a:xfrm>
          <a:prstGeom prst="ellipse">
            <a:avLst/>
          </a:prstGeom>
          <a:solidFill>
            <a:srgbClr val="2B9CAE"/>
          </a:solidFill>
          <a:ln>
            <a:noFill/>
          </a:ln>
        </p:spPr>
        <p:txBody>
          <a:bodyPr rtlCol="0" anchor="ctr"/>
          <a:lstStyle/>
          <a:p>
            <a:pPr algn="ctr"/>
          </a:p>
        </p:txBody>
      </p:sp>
      <p:pic>
        <p:nvPicPr>
          <p:cNvPr id="6" name="Picture 5" descr="file-text_FFFFFF.png"/>
          <p:cNvPicPr>
            <a:picLocks noChangeAspect="1"/>
          </p:cNvPicPr>
          <p:nvPr/>
        </p:nvPicPr>
        <p:blipFill>
          <a:blip r:embed="rId3"/>
          <a:stretch>
            <a:fillRect/>
          </a:stretch>
        </p:blipFill>
        <p:spPr>
          <a:xfrm>
            <a:off x="1316736" y="3008376"/>
            <a:ext cx="475488" cy="475488"/>
          </a:xfrm>
          <a:prstGeom prst="rect">
            <a:avLst/>
          </a:prstGeom>
        </p:spPr>
      </p:pic>
      <p:sp>
        <p:nvSpPr>
          <p:cNvPr id="7" name="TextBox 6"/>
          <p:cNvSpPr txBox="1"/>
          <p:nvPr/>
        </p:nvSpPr>
        <p:spPr>
          <a:xfrm>
            <a:off x="2194560" y="2724912"/>
            <a:ext cx="2697480" cy="1097280"/>
          </a:xfrm>
          <a:prstGeom prst="rect">
            <a:avLst/>
          </a:prstGeom>
          <a:noFill/>
        </p:spPr>
        <p:txBody>
          <a:bodyPr wrap="square" lIns="0" rIns="0" tIns="0" bIns="0" anchor="t">
            <a:spAutoFit/>
          </a:bodyPr>
          <a:lstStyle/>
          <a:p>
            <a:pPr algn="l">
              <a:spcAft>
                <a:spcPts val="400"/>
              </a:spcAft>
            </a:pPr>
            <a:r>
              <a:rPr sz="1800" b="1" i="0">
                <a:solidFill>
                  <a:srgbClr val="04243C"/>
                </a:solidFill>
                <a:latin typeface="Helvetica Neue"/>
              </a:rPr>
              <a:t>Terms from the SEC filing</a:t>
            </a:r>
          </a:p>
          <a:p>
            <a:pPr algn="l">
              <a:spcAft>
                <a:spcPts val="400"/>
              </a:spcAft>
            </a:pPr>
            <a:r>
              <a:rPr sz="1500" b="0" i="0">
                <a:solidFill>
                  <a:srgbClr val="475569"/>
                </a:solidFill>
                <a:latin typeface="Helvetica Neue"/>
              </a:rPr>
              <a:t>Extracted by our pipeline</a:t>
            </a:r>
          </a:p>
        </p:txBody>
      </p:sp>
      <p:cxnSp>
        <p:nvCxnSpPr>
          <p:cNvPr id="8" name="Connector 7"/>
          <p:cNvCxnSpPr/>
          <p:nvPr/>
        </p:nvCxnSpPr>
        <p:spPr>
          <a:xfrm>
            <a:off x="5120640" y="3273552"/>
            <a:ext cx="868680" cy="886968"/>
          </a:xfrm>
          <a:prstGeom prst="line">
            <a:avLst/>
          </a:prstGeom>
          <a:ln w="31750">
            <a:solidFill>
              <a:srgbClr val="2B9CAE"/>
            </a:solidFill>
            <a:tailEnd type="triangle" w="med" len="med"/>
          </a:ln>
        </p:spPr>
      </p:cxnSp>
      <p:sp>
        <p:nvSpPr>
          <p:cNvPr id="9" name="Rounded Rectangle 8"/>
          <p:cNvSpPr/>
          <p:nvPr/>
        </p:nvSpPr>
        <p:spPr>
          <a:xfrm>
            <a:off x="822960" y="4526280"/>
            <a:ext cx="4206240" cy="1783080"/>
          </a:xfrm>
          <a:prstGeom prst="roundRect">
            <a:avLst>
              <a:gd name="adj" fmla="val 10256"/>
            </a:avLst>
          </a:prstGeom>
          <a:solidFill>
            <a:srgbClr val="FFFFFF"/>
          </a:solidFill>
          <a:ln w="12700">
            <a:solidFill>
              <a:srgbClr val="D8CDB8"/>
            </a:solidFill>
          </a:ln>
        </p:spPr>
        <p:txBody>
          <a:bodyPr rtlCol="0" anchor="ctr"/>
          <a:lstStyle/>
          <a:p>
            <a:pPr algn="ctr"/>
          </a:p>
        </p:txBody>
      </p:sp>
      <p:sp>
        <p:nvSpPr>
          <p:cNvPr id="10" name="Oval 9"/>
          <p:cNvSpPr/>
          <p:nvPr/>
        </p:nvSpPr>
        <p:spPr>
          <a:xfrm>
            <a:off x="1097280" y="4937760"/>
            <a:ext cx="914400" cy="914400"/>
          </a:xfrm>
          <a:prstGeom prst="ellipse">
            <a:avLst/>
          </a:prstGeom>
          <a:solidFill>
            <a:srgbClr val="2B9CAE"/>
          </a:solidFill>
          <a:ln>
            <a:noFill/>
          </a:ln>
        </p:spPr>
        <p:txBody>
          <a:bodyPr rtlCol="0" anchor="ctr"/>
          <a:lstStyle/>
          <a:p>
            <a:pPr algn="ctr"/>
          </a:p>
        </p:txBody>
      </p:sp>
      <p:pic>
        <p:nvPicPr>
          <p:cNvPr id="11" name="Picture 10" descr="database_FFFFFF.png"/>
          <p:cNvPicPr>
            <a:picLocks noChangeAspect="1"/>
          </p:cNvPicPr>
          <p:nvPr/>
        </p:nvPicPr>
        <p:blipFill>
          <a:blip r:embed="rId4"/>
          <a:stretch>
            <a:fillRect/>
          </a:stretch>
        </p:blipFill>
        <p:spPr>
          <a:xfrm>
            <a:off x="1316736" y="5157216"/>
            <a:ext cx="475488" cy="475488"/>
          </a:xfrm>
          <a:prstGeom prst="rect">
            <a:avLst/>
          </a:prstGeom>
        </p:spPr>
      </p:pic>
      <p:sp>
        <p:nvSpPr>
          <p:cNvPr id="12" name="TextBox 11"/>
          <p:cNvSpPr txBox="1"/>
          <p:nvPr/>
        </p:nvSpPr>
        <p:spPr>
          <a:xfrm>
            <a:off x="2194560" y="4873752"/>
            <a:ext cx="2697480" cy="1097280"/>
          </a:xfrm>
          <a:prstGeom prst="rect">
            <a:avLst/>
          </a:prstGeom>
          <a:noFill/>
        </p:spPr>
        <p:txBody>
          <a:bodyPr wrap="square" lIns="0" rIns="0" tIns="0" bIns="0" anchor="t">
            <a:spAutoFit/>
          </a:bodyPr>
          <a:lstStyle/>
          <a:p>
            <a:pPr algn="l">
              <a:spcAft>
                <a:spcPts val="400"/>
              </a:spcAft>
            </a:pPr>
            <a:r>
              <a:rPr sz="1800" b="1" i="0">
                <a:solidFill>
                  <a:srgbClr val="04243C"/>
                </a:solidFill>
                <a:latin typeface="Helvetica Neue"/>
              </a:rPr>
              <a:t>Vendor and internal record</a:t>
            </a:r>
          </a:p>
          <a:p>
            <a:pPr algn="l">
              <a:spcAft>
                <a:spcPts val="400"/>
              </a:spcAft>
            </a:pPr>
            <a:r>
              <a:rPr sz="1500" b="0" i="0">
                <a:solidFill>
                  <a:srgbClr val="475569"/>
                </a:solidFill>
                <a:latin typeface="Helvetica Neue"/>
              </a:rPr>
              <a:t>Same event, other sources</a:t>
            </a:r>
          </a:p>
        </p:txBody>
      </p:sp>
      <p:cxnSp>
        <p:nvCxnSpPr>
          <p:cNvPr id="13" name="Connector 12"/>
          <p:cNvCxnSpPr/>
          <p:nvPr/>
        </p:nvCxnSpPr>
        <p:spPr>
          <a:xfrm flipV="1">
            <a:off x="5120640" y="4572000"/>
            <a:ext cx="868680" cy="850392"/>
          </a:xfrm>
          <a:prstGeom prst="line">
            <a:avLst/>
          </a:prstGeom>
          <a:ln w="31750">
            <a:solidFill>
              <a:srgbClr val="2B9CAE"/>
            </a:solidFill>
            <a:tailEnd type="triangle" w="med" len="med"/>
          </a:ln>
        </p:spPr>
      </p:cxnSp>
      <p:sp>
        <p:nvSpPr>
          <p:cNvPr id="14" name="Oval 13"/>
          <p:cNvSpPr/>
          <p:nvPr/>
        </p:nvSpPr>
        <p:spPr>
          <a:xfrm>
            <a:off x="6080760" y="3429000"/>
            <a:ext cx="1874519" cy="1874519"/>
          </a:xfrm>
          <a:prstGeom prst="ellipse">
            <a:avLst/>
          </a:prstGeom>
          <a:solidFill>
            <a:srgbClr val="2B9CAE"/>
          </a:solidFill>
          <a:ln>
            <a:noFill/>
          </a:ln>
        </p:spPr>
        <p:txBody>
          <a:bodyPr rtlCol="0" anchor="ctr"/>
          <a:lstStyle/>
          <a:p>
            <a:pPr algn="ctr"/>
          </a:p>
        </p:txBody>
      </p:sp>
      <p:pic>
        <p:nvPicPr>
          <p:cNvPr id="15" name="Picture 14" descr="git-compare_FFFFFF.png"/>
          <p:cNvPicPr>
            <a:picLocks noChangeAspect="1"/>
          </p:cNvPicPr>
          <p:nvPr/>
        </p:nvPicPr>
        <p:blipFill>
          <a:blip r:embed="rId5"/>
          <a:stretch>
            <a:fillRect/>
          </a:stretch>
        </p:blipFill>
        <p:spPr>
          <a:xfrm>
            <a:off x="6583680" y="3703320"/>
            <a:ext cx="868680" cy="868680"/>
          </a:xfrm>
          <a:prstGeom prst="rect">
            <a:avLst/>
          </a:prstGeom>
        </p:spPr>
      </p:pic>
      <p:sp>
        <p:nvSpPr>
          <p:cNvPr id="16" name="TextBox 15"/>
          <p:cNvSpPr txBox="1"/>
          <p:nvPr/>
        </p:nvSpPr>
        <p:spPr>
          <a:xfrm>
            <a:off x="5852160" y="5440680"/>
            <a:ext cx="2331720" cy="457200"/>
          </a:xfrm>
          <a:prstGeom prst="rect">
            <a:avLst/>
          </a:prstGeom>
          <a:noFill/>
        </p:spPr>
        <p:txBody>
          <a:bodyPr wrap="square" lIns="0" rIns="0" tIns="0" bIns="0" anchor="t">
            <a:spAutoFit/>
          </a:bodyPr>
          <a:lstStyle/>
          <a:p>
            <a:pPr algn="ctr"/>
            <a:r>
              <a:rPr sz="1800" b="1" i="0">
                <a:solidFill>
                  <a:srgbClr val="04243C"/>
                </a:solidFill>
                <a:latin typeface="Helvetica Neue"/>
              </a:rPr>
              <a:t>Compare</a:t>
            </a:r>
          </a:p>
        </p:txBody>
      </p:sp>
      <p:cxnSp>
        <p:nvCxnSpPr>
          <p:cNvPr id="17" name="Connector 16"/>
          <p:cNvCxnSpPr/>
          <p:nvPr/>
        </p:nvCxnSpPr>
        <p:spPr>
          <a:xfrm flipV="1">
            <a:off x="8046720" y="2971800"/>
            <a:ext cx="822960" cy="960120"/>
          </a:xfrm>
          <a:prstGeom prst="line">
            <a:avLst/>
          </a:prstGeom>
          <a:ln w="31750">
            <a:solidFill>
              <a:srgbClr val="2B9CAE"/>
            </a:solidFill>
            <a:tailEnd type="triangle" w="med" len="med"/>
          </a:ln>
        </p:spPr>
      </p:cxnSp>
      <p:sp>
        <p:nvSpPr>
          <p:cNvPr id="18" name="Rounded Rectangle 17"/>
          <p:cNvSpPr/>
          <p:nvPr/>
        </p:nvSpPr>
        <p:spPr>
          <a:xfrm>
            <a:off x="8961120" y="2377440"/>
            <a:ext cx="3566160" cy="1143000"/>
          </a:xfrm>
          <a:prstGeom prst="roundRect">
            <a:avLst>
              <a:gd name="adj" fmla="val 16000"/>
            </a:avLst>
          </a:prstGeom>
          <a:solidFill>
            <a:srgbClr val="FFFFFF"/>
          </a:solidFill>
          <a:ln w="12700">
            <a:solidFill>
              <a:srgbClr val="D8CDB8"/>
            </a:solidFill>
          </a:ln>
        </p:spPr>
        <p:txBody>
          <a:bodyPr rtlCol="0" anchor="ctr" wrap="square" lIns="109728" rIns="109728" tIns="0" bIns="0"/>
          <a:lstStyle/>
          <a:p>
            <a:pPr algn="ctr"/>
            <a:r>
              <a:rPr sz="1700" b="0">
                <a:solidFill>
                  <a:srgbClr val="475569"/>
                </a:solidFill>
                <a:latin typeface="Helvetica Neue"/>
              </a:rPr>
              <a:t>Values match: no action</a:t>
            </a:r>
          </a:p>
        </p:txBody>
      </p:sp>
      <p:cxnSp>
        <p:nvCxnSpPr>
          <p:cNvPr id="19" name="Connector 18"/>
          <p:cNvCxnSpPr/>
          <p:nvPr/>
        </p:nvCxnSpPr>
        <p:spPr>
          <a:xfrm>
            <a:off x="8046720" y="4800600"/>
            <a:ext cx="822960" cy="822960"/>
          </a:xfrm>
          <a:prstGeom prst="line">
            <a:avLst/>
          </a:prstGeom>
          <a:ln w="31750">
            <a:solidFill>
              <a:srgbClr val="2B9CAE"/>
            </a:solidFill>
            <a:tailEnd type="triangle" w="med" len="med"/>
          </a:ln>
        </p:spPr>
      </p:cxnSp>
      <p:sp>
        <p:nvSpPr>
          <p:cNvPr id="20" name="Rounded Rectangle 19"/>
          <p:cNvSpPr/>
          <p:nvPr/>
        </p:nvSpPr>
        <p:spPr>
          <a:xfrm>
            <a:off x="8961120" y="4846320"/>
            <a:ext cx="3566160" cy="1691640"/>
          </a:xfrm>
          <a:prstGeom prst="roundRect">
            <a:avLst>
              <a:gd name="adj" fmla="val 10810"/>
            </a:avLst>
          </a:prstGeom>
          <a:solidFill>
            <a:srgbClr val="00539B"/>
          </a:solidFill>
          <a:ln>
            <a:noFill/>
          </a:ln>
        </p:spPr>
        <p:txBody>
          <a:bodyPr rtlCol="0" anchor="ctr"/>
          <a:lstStyle/>
          <a:p>
            <a:pPr algn="ctr"/>
          </a:p>
        </p:txBody>
      </p:sp>
      <p:pic>
        <p:nvPicPr>
          <p:cNvPr id="21" name="Picture 20" descr="image.png"/>
          <p:cNvPicPr>
            <a:picLocks noChangeAspect="1"/>
          </p:cNvPicPr>
          <p:nvPr/>
        </p:nvPicPr>
        <p:blipFill>
          <a:blip r:embed="rId6"/>
          <a:stretch>
            <a:fillRect/>
          </a:stretch>
        </p:blipFill>
        <p:spPr>
          <a:xfrm>
            <a:off x="9235440" y="5074920"/>
            <a:ext cx="548640" cy="548640"/>
          </a:xfrm>
          <a:prstGeom prst="rect">
            <a:avLst/>
          </a:prstGeom>
        </p:spPr>
      </p:pic>
      <p:sp>
        <p:nvSpPr>
          <p:cNvPr id="22" name="TextBox 21"/>
          <p:cNvSpPr txBox="1"/>
          <p:nvPr/>
        </p:nvSpPr>
        <p:spPr>
          <a:xfrm>
            <a:off x="9235440" y="5669280"/>
            <a:ext cx="3108960" cy="777240"/>
          </a:xfrm>
          <a:prstGeom prst="rect">
            <a:avLst/>
          </a:prstGeom>
          <a:noFill/>
        </p:spPr>
        <p:txBody>
          <a:bodyPr wrap="square" lIns="0" rIns="0" tIns="0" bIns="0" anchor="t">
            <a:spAutoFit/>
          </a:bodyPr>
          <a:lstStyle/>
          <a:p>
            <a:pPr algn="l"/>
            <a:r>
              <a:rPr sz="1700" b="1" i="0">
                <a:solidFill>
                  <a:srgbClr val="FFFFFF"/>
                </a:solidFill>
                <a:latin typeface="Helvetica Neue"/>
              </a:rPr>
              <a:t>Mismatch:</a:t>
            </a:r>
          </a:p>
          <a:p>
            <a:pPr algn="l"/>
            <a:r>
              <a:rPr sz="1700" b="1" i="0">
                <a:solidFill>
                  <a:srgbClr val="FFFFFF"/>
                </a:solidFill>
                <a:latin typeface="Helvetica Neue"/>
              </a:rPr>
              <a:t>investigate</a:t>
            </a:r>
          </a:p>
        </p:txBody>
      </p:sp>
      <p:cxnSp>
        <p:nvCxnSpPr>
          <p:cNvPr id="23" name="Connector 22"/>
          <p:cNvCxnSpPr/>
          <p:nvPr/>
        </p:nvCxnSpPr>
        <p:spPr>
          <a:xfrm>
            <a:off x="12618720" y="5687568"/>
            <a:ext cx="502920" cy="0"/>
          </a:xfrm>
          <a:prstGeom prst="line">
            <a:avLst/>
          </a:prstGeom>
          <a:ln w="31750">
            <a:solidFill>
              <a:srgbClr val="2B9CAE"/>
            </a:solidFill>
            <a:tailEnd type="triangle" w="med" len="med"/>
          </a:ln>
        </p:spPr>
      </p:cxnSp>
      <p:sp>
        <p:nvSpPr>
          <p:cNvPr id="24" name="Rounded Rectangle 23"/>
          <p:cNvSpPr/>
          <p:nvPr/>
        </p:nvSpPr>
        <p:spPr>
          <a:xfrm>
            <a:off x="13213080" y="4846320"/>
            <a:ext cx="3566160" cy="1691640"/>
          </a:xfrm>
          <a:prstGeom prst="roundRect">
            <a:avLst>
              <a:gd name="adj" fmla="val 10810"/>
            </a:avLst>
          </a:prstGeom>
          <a:solidFill>
            <a:srgbClr val="012169"/>
          </a:solidFill>
          <a:ln>
            <a:noFill/>
          </a:ln>
        </p:spPr>
        <p:txBody>
          <a:bodyPr rtlCol="0" anchor="ctr"/>
          <a:lstStyle/>
          <a:p>
            <a:pPr algn="ctr"/>
          </a:p>
        </p:txBody>
      </p:sp>
      <p:pic>
        <p:nvPicPr>
          <p:cNvPr id="25" name="Picture 24" descr="ticket_FFFFFF.png"/>
          <p:cNvPicPr>
            <a:picLocks noChangeAspect="1"/>
          </p:cNvPicPr>
          <p:nvPr/>
        </p:nvPicPr>
        <p:blipFill>
          <a:blip r:embed="rId7"/>
          <a:stretch>
            <a:fillRect/>
          </a:stretch>
        </p:blipFill>
        <p:spPr>
          <a:xfrm>
            <a:off x="13487400" y="5074920"/>
            <a:ext cx="548640" cy="548640"/>
          </a:xfrm>
          <a:prstGeom prst="rect">
            <a:avLst/>
          </a:prstGeom>
        </p:spPr>
      </p:pic>
      <p:sp>
        <p:nvSpPr>
          <p:cNvPr id="26" name="TextBox 25"/>
          <p:cNvSpPr txBox="1"/>
          <p:nvPr/>
        </p:nvSpPr>
        <p:spPr>
          <a:xfrm>
            <a:off x="13487400" y="5669280"/>
            <a:ext cx="3108960" cy="777240"/>
          </a:xfrm>
          <a:prstGeom prst="rect">
            <a:avLst/>
          </a:prstGeom>
          <a:noFill/>
        </p:spPr>
        <p:txBody>
          <a:bodyPr wrap="square" lIns="0" rIns="0" tIns="0" bIns="0" anchor="t">
            <a:spAutoFit/>
          </a:bodyPr>
          <a:lstStyle/>
          <a:p>
            <a:pPr algn="l"/>
            <a:r>
              <a:rPr sz="1700" b="1" i="0">
                <a:solidFill>
                  <a:srgbClr val="FFFFFF"/>
                </a:solidFill>
                <a:latin typeface="Helvetica Neue"/>
              </a:rPr>
              <a:t>Discrepancy ticket</a:t>
            </a:r>
          </a:p>
          <a:p>
            <a:pPr algn="l"/>
            <a:r>
              <a:rPr sz="1700" b="1" i="0">
                <a:solidFill>
                  <a:srgbClr val="FFFFFF"/>
                </a:solidFill>
                <a:latin typeface="Helvetica Neue"/>
              </a:rPr>
              <a:t>with evidence</a:t>
            </a:r>
          </a:p>
        </p:txBody>
      </p:sp>
      <p:sp>
        <p:nvSpPr>
          <p:cNvPr id="27" name="TextBox 26"/>
          <p:cNvSpPr txBox="1"/>
          <p:nvPr/>
        </p:nvSpPr>
        <p:spPr>
          <a:xfrm>
            <a:off x="8961120" y="6766560"/>
            <a:ext cx="6126480" cy="822960"/>
          </a:xfrm>
          <a:prstGeom prst="rect">
            <a:avLst/>
          </a:prstGeom>
          <a:noFill/>
        </p:spPr>
        <p:txBody>
          <a:bodyPr wrap="square" lIns="0" rIns="0" tIns="0" bIns="0" anchor="t">
            <a:spAutoFit/>
          </a:bodyPr>
          <a:lstStyle/>
          <a:p>
            <a:pPr algn="l"/>
            <a:r>
              <a:rPr sz="1600" b="1" i="0">
                <a:solidFill>
                  <a:srgbClr val="04243C"/>
                </a:solidFill>
                <a:latin typeface="Helvetica Neue"/>
              </a:rPr>
              <a:t>A person reviews every ticket </a:t>
            </a:r>
            <a:r>
              <a:rPr sz="1600" b="0" i="0">
                <a:solidFill>
                  <a:srgbClr val="475569"/>
                </a:solidFill>
                <a:latin typeface="Helvetica Neue"/>
              </a:rPr>
              <a:t>before any record changes</a:t>
            </a:r>
          </a:p>
        </p:txBody>
      </p:sp>
      <p:sp>
        <p:nvSpPr>
          <p:cNvPr id="28" name="Rounded Rectangle 27"/>
          <p:cNvSpPr/>
          <p:nvPr/>
        </p:nvSpPr>
        <p:spPr>
          <a:xfrm>
            <a:off x="822960" y="7452360"/>
            <a:ext cx="16642080" cy="1325880"/>
          </a:xfrm>
          <a:prstGeom prst="roundRect">
            <a:avLst>
              <a:gd name="adj" fmla="val 17241"/>
            </a:avLst>
          </a:prstGeom>
          <a:solidFill>
            <a:srgbClr val="04243C"/>
          </a:solidFill>
          <a:ln>
            <a:noFill/>
          </a:ln>
        </p:spPr>
        <p:txBody>
          <a:bodyPr rtlCol="0" anchor="ctr"/>
          <a:lstStyle/>
          <a:p>
            <a:pPr algn="ctr"/>
          </a:p>
        </p:txBody>
      </p:sp>
      <p:sp>
        <p:nvSpPr>
          <p:cNvPr id="29" name="TextBox 28"/>
          <p:cNvSpPr txBox="1"/>
          <p:nvPr/>
        </p:nvSpPr>
        <p:spPr>
          <a:xfrm>
            <a:off x="1234440" y="7772400"/>
            <a:ext cx="3657600" cy="502920"/>
          </a:xfrm>
          <a:prstGeom prst="rect">
            <a:avLst/>
          </a:prstGeom>
          <a:noFill/>
        </p:spPr>
        <p:txBody>
          <a:bodyPr wrap="square" lIns="0" rIns="0" tIns="0" bIns="0" anchor="t">
            <a:spAutoFit/>
          </a:bodyPr>
          <a:lstStyle/>
          <a:p>
            <a:pPr algn="l"/>
            <a:r>
              <a:rPr sz="2000" b="1" i="0">
                <a:solidFill>
                  <a:srgbClr val="2B9CAE"/>
                </a:solidFill>
                <a:latin typeface="Helvetica Neue"/>
              </a:rPr>
              <a:t>How it helps BNY</a:t>
            </a:r>
          </a:p>
        </p:txBody>
      </p:sp>
      <p:sp>
        <p:nvSpPr>
          <p:cNvPr id="30" name="TextBox 29"/>
          <p:cNvSpPr txBox="1"/>
          <p:nvPr/>
        </p:nvSpPr>
        <p:spPr>
          <a:xfrm>
            <a:off x="4572000" y="7772400"/>
            <a:ext cx="3931920" cy="1280160"/>
          </a:xfrm>
          <a:prstGeom prst="rect">
            <a:avLst/>
          </a:prstGeom>
          <a:noFill/>
        </p:spPr>
        <p:txBody>
          <a:bodyPr wrap="square" lIns="0" rIns="0" tIns="0" bIns="0" anchor="t">
            <a:spAutoFit/>
          </a:bodyPr>
          <a:lstStyle/>
          <a:p>
            <a:pPr algn="l">
              <a:spcAft>
                <a:spcPts val="400"/>
              </a:spcAft>
            </a:pPr>
            <a:r>
              <a:rPr sz="1700" b="1" i="0">
                <a:solidFill>
                  <a:srgbClr val="FFFFFF"/>
                </a:solidFill>
                <a:latin typeface="Helvetica Neue"/>
              </a:rPr>
              <a:t>Catches errors early</a:t>
            </a:r>
          </a:p>
          <a:p>
            <a:pPr algn="l">
              <a:spcAft>
                <a:spcPts val="400"/>
              </a:spcAft>
            </a:pPr>
            <a:r>
              <a:rPr sz="1500" b="0" i="0">
                <a:solidFill>
                  <a:srgbClr val="CFE6E9"/>
                </a:solidFill>
                <a:latin typeface="Helvetica Neue"/>
              </a:rPr>
              <a:t>before vendor data reaches client notices</a:t>
            </a:r>
          </a:p>
        </p:txBody>
      </p:sp>
      <p:sp>
        <p:nvSpPr>
          <p:cNvPr id="31" name="TextBox 30"/>
          <p:cNvSpPr txBox="1"/>
          <p:nvPr/>
        </p:nvSpPr>
        <p:spPr>
          <a:xfrm>
            <a:off x="8778240" y="7772400"/>
            <a:ext cx="3931920" cy="1280160"/>
          </a:xfrm>
          <a:prstGeom prst="rect">
            <a:avLst/>
          </a:prstGeom>
          <a:noFill/>
        </p:spPr>
        <p:txBody>
          <a:bodyPr wrap="square" lIns="0" rIns="0" tIns="0" bIns="0" anchor="t">
            <a:spAutoFit/>
          </a:bodyPr>
          <a:lstStyle/>
          <a:p>
            <a:pPr algn="l">
              <a:spcAft>
                <a:spcPts val="400"/>
              </a:spcAft>
            </a:pPr>
            <a:r>
              <a:rPr sz="1700" b="1" i="0">
                <a:solidFill>
                  <a:srgbClr val="FFFFFF"/>
                </a:solidFill>
                <a:latin typeface="Helvetica Neue"/>
              </a:rPr>
              <a:t>Evidence, not just a flag</a:t>
            </a:r>
          </a:p>
          <a:p>
            <a:pPr algn="l">
              <a:spcAft>
                <a:spcPts val="400"/>
              </a:spcAft>
            </a:pPr>
            <a:r>
              <a:rPr sz="1500" b="0" i="0">
                <a:solidFill>
                  <a:srgbClr val="CFE6E9"/>
                </a:solidFill>
                <a:latin typeface="Helvetica Neue"/>
              </a:rPr>
              <a:t>each ticket cites the filing passage</a:t>
            </a:r>
          </a:p>
        </p:txBody>
      </p:sp>
      <p:sp>
        <p:nvSpPr>
          <p:cNvPr id="32" name="TextBox 31"/>
          <p:cNvSpPr txBox="1"/>
          <p:nvPr/>
        </p:nvSpPr>
        <p:spPr>
          <a:xfrm>
            <a:off x="12984480" y="7772400"/>
            <a:ext cx="3931920" cy="1280160"/>
          </a:xfrm>
          <a:prstGeom prst="rect">
            <a:avLst/>
          </a:prstGeom>
          <a:noFill/>
        </p:spPr>
        <p:txBody>
          <a:bodyPr wrap="square" lIns="0" rIns="0" tIns="0" bIns="0" anchor="t">
            <a:spAutoFit/>
          </a:bodyPr>
          <a:lstStyle/>
          <a:p>
            <a:pPr algn="l">
              <a:spcAft>
                <a:spcPts val="400"/>
              </a:spcAft>
            </a:pPr>
            <a:r>
              <a:rPr sz="1700" b="1" i="0">
                <a:solidFill>
                  <a:srgbClr val="FFFFFF"/>
                </a:solidFill>
                <a:latin typeface="Helvetica Neue"/>
              </a:rPr>
              <a:t>Fits existing review</a:t>
            </a:r>
          </a:p>
          <a:p>
            <a:pPr algn="l">
              <a:spcAft>
                <a:spcPts val="400"/>
              </a:spcAft>
            </a:pPr>
            <a:r>
              <a:rPr sz="1500" b="0" i="0">
                <a:solidFill>
                  <a:srgbClr val="CFE6E9"/>
                </a:solidFill>
                <a:latin typeface="Helvetica Neue"/>
              </a:rPr>
              <a:t>tickets go to the people who check event data</a:t>
            </a:r>
          </a:p>
        </p:txBody>
      </p:sp>
      <p:sp>
        <p:nvSpPr>
          <p:cNvPr id="33" name="TextBox 32"/>
          <p:cNvSpPr txBox="1"/>
          <p:nvPr/>
        </p:nvSpPr>
        <p:spPr>
          <a:xfrm>
            <a:off x="822960" y="9006840"/>
            <a:ext cx="16642080" cy="457200"/>
          </a:xfrm>
          <a:prstGeom prst="rect">
            <a:avLst/>
          </a:prstGeom>
          <a:noFill/>
        </p:spPr>
        <p:txBody>
          <a:bodyPr wrap="square" lIns="0" rIns="0" tIns="0" bIns="0" anchor="t">
            <a:spAutoFit/>
          </a:bodyPr>
          <a:lstStyle/>
          <a:p>
            <a:pPr algn="l"/>
            <a:r>
              <a:rPr sz="1400" b="0" i="1">
                <a:solidFill>
                  <a:srgbClr val="475569"/>
                </a:solidFill>
                <a:latin typeface="Helvetica Neue"/>
              </a:rPr>
              <a:t>Prototype would use simulated vendor and internal records; BNY data stays with BNY.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Amendment impact agent: from a changed filing to the right clients</a:t>
            </a:r>
          </a:p>
        </p:txBody>
      </p:sp>
      <p:sp>
        <p:nvSpPr>
          <p:cNvPr id="4" name="Oval 3"/>
          <p:cNvSpPr/>
          <p:nvPr/>
        </p:nvSpPr>
        <p:spPr>
          <a:xfrm>
            <a:off x="868680" y="2157984"/>
            <a:ext cx="777240" cy="777240"/>
          </a:xfrm>
          <a:prstGeom prst="ellipse">
            <a:avLst/>
          </a:prstGeom>
          <a:solidFill>
            <a:srgbClr val="2B9CAE"/>
          </a:solidFill>
          <a:ln>
            <a:noFill/>
          </a:ln>
        </p:spPr>
        <p:txBody>
          <a:bodyPr rtlCol="0" anchor="ctr"/>
          <a:lstStyle/>
          <a:p>
            <a:pPr algn="ctr"/>
          </a:p>
        </p:txBody>
      </p:sp>
      <p:pic>
        <p:nvPicPr>
          <p:cNvPr id="5" name="Picture 4" descr="file-diff_FFFFFF.png"/>
          <p:cNvPicPr>
            <a:picLocks noChangeAspect="1"/>
          </p:cNvPicPr>
          <p:nvPr/>
        </p:nvPicPr>
        <p:blipFill>
          <a:blip r:embed="rId3"/>
          <a:stretch>
            <a:fillRect/>
          </a:stretch>
        </p:blipFill>
        <p:spPr>
          <a:xfrm>
            <a:off x="1055217" y="2344521"/>
            <a:ext cx="404164" cy="404164"/>
          </a:xfrm>
          <a:prstGeom prst="rect">
            <a:avLst/>
          </a:prstGeom>
        </p:spPr>
      </p:pic>
      <p:cxnSp>
        <p:nvCxnSpPr>
          <p:cNvPr id="6" name="Connector 5"/>
          <p:cNvCxnSpPr/>
          <p:nvPr/>
        </p:nvCxnSpPr>
        <p:spPr>
          <a:xfrm>
            <a:off x="1257300" y="2962656"/>
            <a:ext cx="0" cy="192023"/>
          </a:xfrm>
          <a:prstGeom prst="line">
            <a:avLst/>
          </a:prstGeom>
          <a:ln w="25400">
            <a:solidFill>
              <a:srgbClr val="D8CDB8"/>
            </a:solidFill>
          </a:ln>
        </p:spPr>
      </p:cxnSp>
      <p:sp>
        <p:nvSpPr>
          <p:cNvPr id="7" name="TextBox 6"/>
          <p:cNvSpPr txBox="1"/>
          <p:nvPr/>
        </p:nvSpPr>
        <p:spPr>
          <a:xfrm>
            <a:off x="1965960" y="2121408"/>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New amendment filed</a:t>
            </a:r>
          </a:p>
        </p:txBody>
      </p:sp>
      <p:sp>
        <p:nvSpPr>
          <p:cNvPr id="8" name="TextBox 7"/>
          <p:cNvSpPr txBox="1"/>
          <p:nvPr/>
        </p:nvSpPr>
        <p:spPr>
          <a:xfrm>
            <a:off x="1965960" y="2560320"/>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Schedule TO/A, proxy supplement, 8-K</a:t>
            </a:r>
          </a:p>
        </p:txBody>
      </p:sp>
      <p:sp>
        <p:nvSpPr>
          <p:cNvPr id="9" name="Oval 8"/>
          <p:cNvSpPr/>
          <p:nvPr/>
        </p:nvSpPr>
        <p:spPr>
          <a:xfrm>
            <a:off x="868680" y="3182112"/>
            <a:ext cx="777240" cy="777240"/>
          </a:xfrm>
          <a:prstGeom prst="ellipse">
            <a:avLst/>
          </a:prstGeom>
          <a:solidFill>
            <a:srgbClr val="2B9CAE"/>
          </a:solidFill>
          <a:ln>
            <a:noFill/>
          </a:ln>
        </p:spPr>
        <p:txBody>
          <a:bodyPr rtlCol="0" anchor="ctr"/>
          <a:lstStyle/>
          <a:p>
            <a:pPr algn="ctr"/>
          </a:p>
        </p:txBody>
      </p:sp>
      <p:pic>
        <p:nvPicPr>
          <p:cNvPr id="10" name="Picture 9" descr="git-compare_FFFFFF.png"/>
          <p:cNvPicPr>
            <a:picLocks noChangeAspect="1"/>
          </p:cNvPicPr>
          <p:nvPr/>
        </p:nvPicPr>
        <p:blipFill>
          <a:blip r:embed="rId4"/>
          <a:stretch>
            <a:fillRect/>
          </a:stretch>
        </p:blipFill>
        <p:spPr>
          <a:xfrm>
            <a:off x="1055217" y="3368649"/>
            <a:ext cx="404164" cy="404164"/>
          </a:xfrm>
          <a:prstGeom prst="rect">
            <a:avLst/>
          </a:prstGeom>
        </p:spPr>
      </p:pic>
      <p:cxnSp>
        <p:nvCxnSpPr>
          <p:cNvPr id="11" name="Connector 10"/>
          <p:cNvCxnSpPr/>
          <p:nvPr/>
        </p:nvCxnSpPr>
        <p:spPr>
          <a:xfrm>
            <a:off x="1257300" y="3986783"/>
            <a:ext cx="0" cy="192025"/>
          </a:xfrm>
          <a:prstGeom prst="line">
            <a:avLst/>
          </a:prstGeom>
          <a:ln w="25400">
            <a:solidFill>
              <a:srgbClr val="D8CDB8"/>
            </a:solidFill>
          </a:ln>
        </p:spPr>
      </p:cxnSp>
      <p:sp>
        <p:nvSpPr>
          <p:cNvPr id="12" name="TextBox 11"/>
          <p:cNvSpPr txBox="1"/>
          <p:nvPr/>
        </p:nvSpPr>
        <p:spPr>
          <a:xfrm>
            <a:off x="1965960" y="3145536"/>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Compare with the prior version</a:t>
            </a:r>
          </a:p>
        </p:txBody>
      </p:sp>
      <p:sp>
        <p:nvSpPr>
          <p:cNvPr id="13" name="TextBox 12"/>
          <p:cNvSpPr txBox="1"/>
          <p:nvPr/>
        </p:nvSpPr>
        <p:spPr>
          <a:xfrm>
            <a:off x="1965960" y="3584448"/>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Linked to the right event; what changed, with the source</a:t>
            </a:r>
          </a:p>
        </p:txBody>
      </p:sp>
      <p:sp>
        <p:nvSpPr>
          <p:cNvPr id="14" name="Oval 13"/>
          <p:cNvSpPr/>
          <p:nvPr/>
        </p:nvSpPr>
        <p:spPr>
          <a:xfrm>
            <a:off x="868680" y="4206240"/>
            <a:ext cx="777240" cy="777240"/>
          </a:xfrm>
          <a:prstGeom prst="ellipse">
            <a:avLst/>
          </a:prstGeom>
          <a:solidFill>
            <a:srgbClr val="2B9CAE"/>
          </a:solidFill>
          <a:ln>
            <a:noFill/>
          </a:ln>
        </p:spPr>
        <p:txBody>
          <a:bodyPr rtlCol="0" anchor="ctr"/>
          <a:lstStyle/>
          <a:p>
            <a:pPr algn="ctr"/>
          </a:p>
        </p:txBody>
      </p:sp>
      <p:pic>
        <p:nvPicPr>
          <p:cNvPr id="15" name="Picture 14" descr="image.png"/>
          <p:cNvPicPr>
            <a:picLocks noChangeAspect="1"/>
          </p:cNvPicPr>
          <p:nvPr/>
        </p:nvPicPr>
        <p:blipFill>
          <a:blip r:embed="rId5"/>
          <a:stretch>
            <a:fillRect/>
          </a:stretch>
        </p:blipFill>
        <p:spPr>
          <a:xfrm>
            <a:off x="1055217" y="4392777"/>
            <a:ext cx="404164" cy="404164"/>
          </a:xfrm>
          <a:prstGeom prst="rect">
            <a:avLst/>
          </a:prstGeom>
        </p:spPr>
      </p:pic>
      <p:cxnSp>
        <p:nvCxnSpPr>
          <p:cNvPr id="16" name="Connector 15"/>
          <p:cNvCxnSpPr/>
          <p:nvPr/>
        </p:nvCxnSpPr>
        <p:spPr>
          <a:xfrm>
            <a:off x="1257300" y="5010912"/>
            <a:ext cx="0" cy="192024"/>
          </a:xfrm>
          <a:prstGeom prst="line">
            <a:avLst/>
          </a:prstGeom>
          <a:ln w="25400">
            <a:solidFill>
              <a:srgbClr val="D8CDB8"/>
            </a:solidFill>
          </a:ln>
        </p:spPr>
      </p:cxnSp>
      <p:sp>
        <p:nvSpPr>
          <p:cNvPr id="17" name="TextBox 16"/>
          <p:cNvSpPr txBox="1"/>
          <p:nvPr/>
        </p:nvSpPr>
        <p:spPr>
          <a:xfrm>
            <a:off x="1965960" y="4169663"/>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Does it matter to holders?</a:t>
            </a:r>
          </a:p>
        </p:txBody>
      </p:sp>
      <p:sp>
        <p:nvSpPr>
          <p:cNvPr id="18" name="TextBox 17"/>
          <p:cNvSpPr txBox="1"/>
          <p:nvPr/>
        </p:nvSpPr>
        <p:spPr>
          <a:xfrm>
            <a:off x="1965960" y="4608576"/>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Deadline, price or conditions, not just final results</a:t>
            </a:r>
          </a:p>
        </p:txBody>
      </p:sp>
      <p:sp>
        <p:nvSpPr>
          <p:cNvPr id="19" name="Oval 18"/>
          <p:cNvSpPr/>
          <p:nvPr/>
        </p:nvSpPr>
        <p:spPr>
          <a:xfrm>
            <a:off x="868680" y="5230368"/>
            <a:ext cx="777240" cy="777240"/>
          </a:xfrm>
          <a:prstGeom prst="ellipse">
            <a:avLst/>
          </a:prstGeom>
          <a:solidFill>
            <a:srgbClr val="00539B"/>
          </a:solidFill>
          <a:ln>
            <a:noFill/>
          </a:ln>
        </p:spPr>
        <p:txBody>
          <a:bodyPr rtlCol="0" anchor="ctr"/>
          <a:lstStyle/>
          <a:p>
            <a:pPr algn="ctr"/>
          </a:p>
        </p:txBody>
      </p:sp>
      <p:pic>
        <p:nvPicPr>
          <p:cNvPr id="20" name="Picture 19" descr="users-round_FFFFFF.png"/>
          <p:cNvPicPr>
            <a:picLocks noChangeAspect="1"/>
          </p:cNvPicPr>
          <p:nvPr/>
        </p:nvPicPr>
        <p:blipFill>
          <a:blip r:embed="rId6"/>
          <a:stretch>
            <a:fillRect/>
          </a:stretch>
        </p:blipFill>
        <p:spPr>
          <a:xfrm>
            <a:off x="1055217" y="5416905"/>
            <a:ext cx="404164" cy="404164"/>
          </a:xfrm>
          <a:prstGeom prst="rect">
            <a:avLst/>
          </a:prstGeom>
        </p:spPr>
      </p:pic>
      <p:cxnSp>
        <p:nvCxnSpPr>
          <p:cNvPr id="21" name="Connector 20"/>
          <p:cNvCxnSpPr/>
          <p:nvPr/>
        </p:nvCxnSpPr>
        <p:spPr>
          <a:xfrm>
            <a:off x="1257300" y="6035040"/>
            <a:ext cx="0" cy="192024"/>
          </a:xfrm>
          <a:prstGeom prst="line">
            <a:avLst/>
          </a:prstGeom>
          <a:ln w="25400">
            <a:solidFill>
              <a:srgbClr val="D8CDB8"/>
            </a:solidFill>
          </a:ln>
        </p:spPr>
      </p:cxnSp>
      <p:sp>
        <p:nvSpPr>
          <p:cNvPr id="22" name="TextBox 21"/>
          <p:cNvSpPr txBox="1"/>
          <p:nvPr/>
        </p:nvSpPr>
        <p:spPr>
          <a:xfrm>
            <a:off x="1965960" y="5193792"/>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Find affected clients</a:t>
            </a:r>
          </a:p>
        </p:txBody>
      </p:sp>
      <p:sp>
        <p:nvSpPr>
          <p:cNvPr id="23" name="TextBox 22"/>
          <p:cNvSpPr txBox="1"/>
          <p:nvPr/>
        </p:nvSpPr>
        <p:spPr>
          <a:xfrm>
            <a:off x="1965960" y="5632704"/>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Through custody positions</a:t>
            </a:r>
          </a:p>
        </p:txBody>
      </p:sp>
      <p:sp>
        <p:nvSpPr>
          <p:cNvPr id="24" name="Oval 23"/>
          <p:cNvSpPr/>
          <p:nvPr/>
        </p:nvSpPr>
        <p:spPr>
          <a:xfrm>
            <a:off x="868680" y="6254496"/>
            <a:ext cx="777240" cy="777240"/>
          </a:xfrm>
          <a:prstGeom prst="ellipse">
            <a:avLst/>
          </a:prstGeom>
          <a:solidFill>
            <a:srgbClr val="00539B"/>
          </a:solidFill>
          <a:ln>
            <a:noFill/>
          </a:ln>
        </p:spPr>
        <p:txBody>
          <a:bodyPr rtlCol="0" anchor="ctr"/>
          <a:lstStyle/>
          <a:p>
            <a:pPr algn="ctr"/>
          </a:p>
        </p:txBody>
      </p:sp>
      <p:pic>
        <p:nvPicPr>
          <p:cNvPr id="25" name="Picture 24" descr="file-text_FFFFFF.png"/>
          <p:cNvPicPr>
            <a:picLocks noChangeAspect="1"/>
          </p:cNvPicPr>
          <p:nvPr/>
        </p:nvPicPr>
        <p:blipFill>
          <a:blip r:embed="rId7"/>
          <a:stretch>
            <a:fillRect/>
          </a:stretch>
        </p:blipFill>
        <p:spPr>
          <a:xfrm>
            <a:off x="1055217" y="6441033"/>
            <a:ext cx="404164" cy="404164"/>
          </a:xfrm>
          <a:prstGeom prst="rect">
            <a:avLst/>
          </a:prstGeom>
        </p:spPr>
      </p:pic>
      <p:cxnSp>
        <p:nvCxnSpPr>
          <p:cNvPr id="26" name="Connector 25"/>
          <p:cNvCxnSpPr/>
          <p:nvPr/>
        </p:nvCxnSpPr>
        <p:spPr>
          <a:xfrm>
            <a:off x="1257300" y="7059168"/>
            <a:ext cx="0" cy="192024"/>
          </a:xfrm>
          <a:prstGeom prst="line">
            <a:avLst/>
          </a:prstGeom>
          <a:ln w="25400">
            <a:solidFill>
              <a:srgbClr val="D8CDB8"/>
            </a:solidFill>
          </a:ln>
        </p:spPr>
      </p:cxnSp>
      <p:sp>
        <p:nvSpPr>
          <p:cNvPr id="27" name="TextBox 26"/>
          <p:cNvSpPr txBox="1"/>
          <p:nvPr/>
        </p:nvSpPr>
        <p:spPr>
          <a:xfrm>
            <a:off x="1965960" y="6217920"/>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Draft replacement notices</a:t>
            </a:r>
          </a:p>
        </p:txBody>
      </p:sp>
      <p:sp>
        <p:nvSpPr>
          <p:cNvPr id="28" name="TextBox 27"/>
          <p:cNvSpPr txBox="1"/>
          <p:nvPr/>
        </p:nvSpPr>
        <p:spPr>
          <a:xfrm>
            <a:off x="1965960" y="6656832"/>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Standard format, key facts first</a:t>
            </a:r>
          </a:p>
        </p:txBody>
      </p:sp>
      <p:sp>
        <p:nvSpPr>
          <p:cNvPr id="29" name="Oval 28"/>
          <p:cNvSpPr/>
          <p:nvPr/>
        </p:nvSpPr>
        <p:spPr>
          <a:xfrm>
            <a:off x="868680" y="7278624"/>
            <a:ext cx="777240" cy="777240"/>
          </a:xfrm>
          <a:prstGeom prst="ellipse">
            <a:avLst/>
          </a:prstGeom>
          <a:solidFill>
            <a:srgbClr val="012169"/>
          </a:solidFill>
          <a:ln>
            <a:noFill/>
          </a:ln>
        </p:spPr>
        <p:txBody>
          <a:bodyPr rtlCol="0" anchor="ctr"/>
          <a:lstStyle/>
          <a:p>
            <a:pPr algn="ctr"/>
          </a:p>
        </p:txBody>
      </p:sp>
      <p:pic>
        <p:nvPicPr>
          <p:cNvPr id="30" name="Picture 29" descr="user-check_FFFFFF.png"/>
          <p:cNvPicPr>
            <a:picLocks noChangeAspect="1"/>
          </p:cNvPicPr>
          <p:nvPr/>
        </p:nvPicPr>
        <p:blipFill>
          <a:blip r:embed="rId8"/>
          <a:stretch>
            <a:fillRect/>
          </a:stretch>
        </p:blipFill>
        <p:spPr>
          <a:xfrm>
            <a:off x="1055217" y="7465161"/>
            <a:ext cx="404164" cy="404164"/>
          </a:xfrm>
          <a:prstGeom prst="rect">
            <a:avLst/>
          </a:prstGeom>
        </p:spPr>
      </p:pic>
      <p:cxnSp>
        <p:nvCxnSpPr>
          <p:cNvPr id="31" name="Connector 30"/>
          <p:cNvCxnSpPr/>
          <p:nvPr/>
        </p:nvCxnSpPr>
        <p:spPr>
          <a:xfrm>
            <a:off x="1257300" y="8083296"/>
            <a:ext cx="0" cy="192024"/>
          </a:xfrm>
          <a:prstGeom prst="line">
            <a:avLst/>
          </a:prstGeom>
          <a:ln w="25400">
            <a:solidFill>
              <a:srgbClr val="D8CDB8"/>
            </a:solidFill>
          </a:ln>
        </p:spPr>
      </p:cxnSp>
      <p:sp>
        <p:nvSpPr>
          <p:cNvPr id="32" name="TextBox 31"/>
          <p:cNvSpPr txBox="1"/>
          <p:nvPr/>
        </p:nvSpPr>
        <p:spPr>
          <a:xfrm>
            <a:off x="1965960" y="7242048"/>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Operations approves</a:t>
            </a:r>
          </a:p>
        </p:txBody>
      </p:sp>
      <p:sp>
        <p:nvSpPr>
          <p:cNvPr id="33" name="TextBox 32"/>
          <p:cNvSpPr txBox="1"/>
          <p:nvPr/>
        </p:nvSpPr>
        <p:spPr>
          <a:xfrm>
            <a:off x="1965960" y="7680960"/>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A person signs off on every notice</a:t>
            </a:r>
          </a:p>
        </p:txBody>
      </p:sp>
      <p:sp>
        <p:nvSpPr>
          <p:cNvPr id="34" name="Oval 33"/>
          <p:cNvSpPr/>
          <p:nvPr/>
        </p:nvSpPr>
        <p:spPr>
          <a:xfrm>
            <a:off x="868680" y="8302752"/>
            <a:ext cx="777240" cy="777240"/>
          </a:xfrm>
          <a:prstGeom prst="ellipse">
            <a:avLst/>
          </a:prstGeom>
          <a:solidFill>
            <a:srgbClr val="012169"/>
          </a:solidFill>
          <a:ln>
            <a:noFill/>
          </a:ln>
        </p:spPr>
        <p:txBody>
          <a:bodyPr rtlCol="0" anchor="ctr"/>
          <a:lstStyle/>
          <a:p>
            <a:pPr algn="ctr"/>
          </a:p>
        </p:txBody>
      </p:sp>
      <p:pic>
        <p:nvPicPr>
          <p:cNvPr id="35" name="Picture 34" descr="image.png"/>
          <p:cNvPicPr>
            <a:picLocks noChangeAspect="1"/>
          </p:cNvPicPr>
          <p:nvPr/>
        </p:nvPicPr>
        <p:blipFill>
          <a:blip r:embed="rId9"/>
          <a:stretch>
            <a:fillRect/>
          </a:stretch>
        </p:blipFill>
        <p:spPr>
          <a:xfrm>
            <a:off x="1055217" y="8489289"/>
            <a:ext cx="404164" cy="404164"/>
          </a:xfrm>
          <a:prstGeom prst="rect">
            <a:avLst/>
          </a:prstGeom>
        </p:spPr>
      </p:pic>
      <p:sp>
        <p:nvSpPr>
          <p:cNvPr id="36" name="TextBox 35"/>
          <p:cNvSpPr txBox="1"/>
          <p:nvPr/>
        </p:nvSpPr>
        <p:spPr>
          <a:xfrm>
            <a:off x="1965960" y="8266175"/>
            <a:ext cx="8046720" cy="457200"/>
          </a:xfrm>
          <a:prstGeom prst="rect">
            <a:avLst/>
          </a:prstGeom>
          <a:noFill/>
        </p:spPr>
        <p:txBody>
          <a:bodyPr wrap="square" lIns="0" rIns="0" tIns="0" bIns="0" anchor="t">
            <a:spAutoFit/>
          </a:bodyPr>
          <a:lstStyle/>
          <a:p>
            <a:pPr algn="l"/>
            <a:r>
              <a:rPr sz="1900" b="1" i="0">
                <a:solidFill>
                  <a:srgbClr val="04243C"/>
                </a:solidFill>
                <a:latin typeface="Helvetica Neue"/>
              </a:rPr>
              <a:t>Update deadlines and calendar</a:t>
            </a:r>
          </a:p>
        </p:txBody>
      </p:sp>
      <p:sp>
        <p:nvSpPr>
          <p:cNvPr id="37" name="TextBox 36"/>
          <p:cNvSpPr txBox="1"/>
          <p:nvPr/>
        </p:nvSpPr>
        <p:spPr>
          <a:xfrm>
            <a:off x="1965960" y="8705088"/>
            <a:ext cx="8046720" cy="411480"/>
          </a:xfrm>
          <a:prstGeom prst="rect">
            <a:avLst/>
          </a:prstGeom>
          <a:noFill/>
        </p:spPr>
        <p:txBody>
          <a:bodyPr wrap="square" lIns="0" rIns="0" tIns="0" bIns="0" anchor="t">
            <a:spAutoFit/>
          </a:bodyPr>
          <a:lstStyle/>
          <a:p>
            <a:pPr algn="l"/>
            <a:r>
              <a:rPr sz="1500" b="0" i="0">
                <a:solidFill>
                  <a:srgbClr val="475569"/>
                </a:solidFill>
                <a:latin typeface="Helvetica Neue"/>
              </a:rPr>
              <a:t>After approval</a:t>
            </a:r>
          </a:p>
        </p:txBody>
      </p:sp>
      <p:sp>
        <p:nvSpPr>
          <p:cNvPr id="38" name="Rounded Rectangle 37"/>
          <p:cNvSpPr/>
          <p:nvPr/>
        </p:nvSpPr>
        <p:spPr>
          <a:xfrm>
            <a:off x="10332720" y="2148840"/>
            <a:ext cx="7132320" cy="4754880"/>
          </a:xfrm>
          <a:prstGeom prst="roundRect">
            <a:avLst>
              <a:gd name="adj" fmla="val 8653"/>
            </a:avLst>
          </a:prstGeom>
          <a:solidFill>
            <a:srgbClr val="FFFFFF"/>
          </a:solidFill>
          <a:ln w="25400">
            <a:solidFill>
              <a:srgbClr val="2B9CAE"/>
            </a:solidFill>
          </a:ln>
        </p:spPr>
        <p:txBody>
          <a:bodyPr rtlCol="0" anchor="ctr"/>
          <a:lstStyle/>
          <a:p>
            <a:pPr algn="ctr"/>
          </a:p>
        </p:txBody>
      </p:sp>
      <p:sp>
        <p:nvSpPr>
          <p:cNvPr id="39" name="TextBox 38"/>
          <p:cNvSpPr txBox="1"/>
          <p:nvPr/>
        </p:nvSpPr>
        <p:spPr>
          <a:xfrm>
            <a:off x="10789920" y="2468880"/>
            <a:ext cx="6217920" cy="457200"/>
          </a:xfrm>
          <a:prstGeom prst="rect">
            <a:avLst/>
          </a:prstGeom>
          <a:noFill/>
        </p:spPr>
        <p:txBody>
          <a:bodyPr wrap="square" lIns="0" rIns="0" tIns="0" bIns="0" anchor="t">
            <a:spAutoFit/>
          </a:bodyPr>
          <a:lstStyle/>
          <a:p>
            <a:pPr algn="l"/>
            <a:r>
              <a:rPr sz="1700" b="1" i="0">
                <a:solidFill>
                  <a:srgbClr val="2B9CAE"/>
                </a:solidFill>
                <a:latin typeface="Helvetica Neue"/>
              </a:rPr>
              <a:t>What changed (illustrative example)</a:t>
            </a:r>
          </a:p>
        </p:txBody>
      </p:sp>
      <p:sp>
        <p:nvSpPr>
          <p:cNvPr id="40" name="TextBox 39"/>
          <p:cNvSpPr txBox="1"/>
          <p:nvPr/>
        </p:nvSpPr>
        <p:spPr>
          <a:xfrm>
            <a:off x="13304520" y="3063240"/>
            <a:ext cx="1645920" cy="365760"/>
          </a:xfrm>
          <a:prstGeom prst="rect">
            <a:avLst/>
          </a:prstGeom>
          <a:noFill/>
        </p:spPr>
        <p:txBody>
          <a:bodyPr wrap="square" lIns="0" rIns="0" tIns="0" bIns="0" anchor="t">
            <a:spAutoFit/>
          </a:bodyPr>
          <a:lstStyle/>
          <a:p>
            <a:pPr algn="l"/>
            <a:r>
              <a:rPr sz="1400" b="1" i="0">
                <a:solidFill>
                  <a:srgbClr val="475569"/>
                </a:solidFill>
                <a:latin typeface="Helvetica Neue"/>
              </a:rPr>
              <a:t>Before</a:t>
            </a:r>
          </a:p>
        </p:txBody>
      </p:sp>
      <p:sp>
        <p:nvSpPr>
          <p:cNvPr id="41" name="TextBox 40"/>
          <p:cNvSpPr txBox="1"/>
          <p:nvPr/>
        </p:nvSpPr>
        <p:spPr>
          <a:xfrm>
            <a:off x="15316200" y="3063240"/>
            <a:ext cx="1645920" cy="365760"/>
          </a:xfrm>
          <a:prstGeom prst="rect">
            <a:avLst/>
          </a:prstGeom>
          <a:noFill/>
        </p:spPr>
        <p:txBody>
          <a:bodyPr wrap="square" lIns="0" rIns="0" tIns="0" bIns="0" anchor="t">
            <a:spAutoFit/>
          </a:bodyPr>
          <a:lstStyle/>
          <a:p>
            <a:pPr algn="l"/>
            <a:r>
              <a:rPr sz="1400" b="1" i="0">
                <a:solidFill>
                  <a:srgbClr val="475569"/>
                </a:solidFill>
                <a:latin typeface="Helvetica Neue"/>
              </a:rPr>
              <a:t>After</a:t>
            </a:r>
          </a:p>
        </p:txBody>
      </p:sp>
      <p:sp>
        <p:nvSpPr>
          <p:cNvPr id="42" name="Rounded Rectangle 41"/>
          <p:cNvSpPr/>
          <p:nvPr/>
        </p:nvSpPr>
        <p:spPr>
          <a:xfrm>
            <a:off x="10789920" y="3474720"/>
            <a:ext cx="6217920" cy="914400"/>
          </a:xfrm>
          <a:prstGeom prst="roundRect">
            <a:avLst>
              <a:gd name="adj" fmla="val 20000"/>
            </a:avLst>
          </a:prstGeom>
          <a:solidFill>
            <a:srgbClr val="EEEEEE"/>
          </a:solidFill>
          <a:ln>
            <a:noFill/>
          </a:ln>
        </p:spPr>
        <p:txBody>
          <a:bodyPr rtlCol="0" anchor="ctr"/>
          <a:lstStyle/>
          <a:p>
            <a:pPr algn="ctr"/>
          </a:p>
        </p:txBody>
      </p:sp>
      <p:sp>
        <p:nvSpPr>
          <p:cNvPr id="43" name="TextBox 42"/>
          <p:cNvSpPr txBox="1"/>
          <p:nvPr/>
        </p:nvSpPr>
        <p:spPr>
          <a:xfrm>
            <a:off x="11064240" y="3474720"/>
            <a:ext cx="2194560" cy="914400"/>
          </a:xfrm>
          <a:prstGeom prst="rect">
            <a:avLst/>
          </a:prstGeom>
          <a:noFill/>
        </p:spPr>
        <p:txBody>
          <a:bodyPr wrap="square" lIns="0" rIns="0" tIns="0" bIns="0" anchor="ctr">
            <a:spAutoFit/>
          </a:bodyPr>
          <a:lstStyle/>
          <a:p>
            <a:pPr algn="l"/>
            <a:r>
              <a:rPr sz="1700" b="1" i="0">
                <a:solidFill>
                  <a:srgbClr val="04243C"/>
                </a:solidFill>
                <a:latin typeface="Helvetica Neue"/>
              </a:rPr>
              <a:t>Offer price</a:t>
            </a:r>
          </a:p>
        </p:txBody>
      </p:sp>
      <p:sp>
        <p:nvSpPr>
          <p:cNvPr id="44" name="TextBox 43"/>
          <p:cNvSpPr txBox="1"/>
          <p:nvPr/>
        </p:nvSpPr>
        <p:spPr>
          <a:xfrm>
            <a:off x="13304520" y="3474720"/>
            <a:ext cx="1645920" cy="914400"/>
          </a:xfrm>
          <a:prstGeom prst="rect">
            <a:avLst/>
          </a:prstGeom>
          <a:noFill/>
        </p:spPr>
        <p:txBody>
          <a:bodyPr wrap="square" lIns="0" rIns="0" tIns="0" bIns="0" anchor="ctr">
            <a:spAutoFit/>
          </a:bodyPr>
          <a:lstStyle/>
          <a:p>
            <a:pPr algn="l"/>
            <a:r>
              <a:rPr sz="1900" b="0" i="0">
                <a:solidFill>
                  <a:srgbClr val="475569"/>
                </a:solidFill>
                <a:latin typeface="Helvetica Neue"/>
              </a:rPr>
              <a:t>$40.00</a:t>
            </a:r>
          </a:p>
        </p:txBody>
      </p:sp>
      <p:cxnSp>
        <p:nvCxnSpPr>
          <p:cNvPr id="45" name="Connector 44"/>
          <p:cNvCxnSpPr/>
          <p:nvPr/>
        </p:nvCxnSpPr>
        <p:spPr>
          <a:xfrm>
            <a:off x="14493240" y="3931920"/>
            <a:ext cx="640080" cy="0"/>
          </a:xfrm>
          <a:prstGeom prst="line">
            <a:avLst/>
          </a:prstGeom>
          <a:ln w="25400">
            <a:solidFill>
              <a:srgbClr val="00539B"/>
            </a:solidFill>
            <a:tailEnd type="triangle" w="med" len="med"/>
          </a:ln>
        </p:spPr>
      </p:cxnSp>
      <p:sp>
        <p:nvSpPr>
          <p:cNvPr id="46" name="TextBox 45"/>
          <p:cNvSpPr txBox="1"/>
          <p:nvPr/>
        </p:nvSpPr>
        <p:spPr>
          <a:xfrm>
            <a:off x="15316200" y="3474720"/>
            <a:ext cx="1645920" cy="914400"/>
          </a:xfrm>
          <a:prstGeom prst="rect">
            <a:avLst/>
          </a:prstGeom>
          <a:noFill/>
        </p:spPr>
        <p:txBody>
          <a:bodyPr wrap="square" lIns="0" rIns="0" tIns="0" bIns="0" anchor="ctr">
            <a:spAutoFit/>
          </a:bodyPr>
          <a:lstStyle/>
          <a:p>
            <a:pPr algn="l"/>
            <a:r>
              <a:rPr sz="1900" b="1" i="0">
                <a:solidFill>
                  <a:srgbClr val="00539B"/>
                </a:solidFill>
                <a:latin typeface="Helvetica Neue"/>
              </a:rPr>
              <a:t>$43.00</a:t>
            </a:r>
          </a:p>
        </p:txBody>
      </p:sp>
      <p:sp>
        <p:nvSpPr>
          <p:cNvPr id="47" name="Rounded Rectangle 46"/>
          <p:cNvSpPr/>
          <p:nvPr/>
        </p:nvSpPr>
        <p:spPr>
          <a:xfrm>
            <a:off x="10789920" y="4617720"/>
            <a:ext cx="6217920" cy="914400"/>
          </a:xfrm>
          <a:prstGeom prst="roundRect">
            <a:avLst>
              <a:gd name="adj" fmla="val 20000"/>
            </a:avLst>
          </a:prstGeom>
          <a:solidFill>
            <a:srgbClr val="EEEEEE"/>
          </a:solidFill>
          <a:ln>
            <a:noFill/>
          </a:ln>
        </p:spPr>
        <p:txBody>
          <a:bodyPr rtlCol="0" anchor="ctr"/>
          <a:lstStyle/>
          <a:p>
            <a:pPr algn="ctr"/>
          </a:p>
        </p:txBody>
      </p:sp>
      <p:sp>
        <p:nvSpPr>
          <p:cNvPr id="48" name="TextBox 47"/>
          <p:cNvSpPr txBox="1"/>
          <p:nvPr/>
        </p:nvSpPr>
        <p:spPr>
          <a:xfrm>
            <a:off x="11064240" y="4617720"/>
            <a:ext cx="2194560" cy="914400"/>
          </a:xfrm>
          <a:prstGeom prst="rect">
            <a:avLst/>
          </a:prstGeom>
          <a:noFill/>
        </p:spPr>
        <p:txBody>
          <a:bodyPr wrap="square" lIns="0" rIns="0" tIns="0" bIns="0" anchor="ctr">
            <a:spAutoFit/>
          </a:bodyPr>
          <a:lstStyle/>
          <a:p>
            <a:pPr algn="l"/>
            <a:r>
              <a:rPr sz="1700" b="1" i="0">
                <a:solidFill>
                  <a:srgbClr val="04243C"/>
                </a:solidFill>
                <a:latin typeface="Helvetica Neue"/>
              </a:rPr>
              <a:t>Expiration date</a:t>
            </a:r>
          </a:p>
        </p:txBody>
      </p:sp>
      <p:sp>
        <p:nvSpPr>
          <p:cNvPr id="49" name="TextBox 48"/>
          <p:cNvSpPr txBox="1"/>
          <p:nvPr/>
        </p:nvSpPr>
        <p:spPr>
          <a:xfrm>
            <a:off x="13304520" y="4617720"/>
            <a:ext cx="1645920" cy="914400"/>
          </a:xfrm>
          <a:prstGeom prst="rect">
            <a:avLst/>
          </a:prstGeom>
          <a:noFill/>
        </p:spPr>
        <p:txBody>
          <a:bodyPr wrap="square" lIns="0" rIns="0" tIns="0" bIns="0" anchor="ctr">
            <a:spAutoFit/>
          </a:bodyPr>
          <a:lstStyle/>
          <a:p>
            <a:pPr algn="l"/>
            <a:r>
              <a:rPr sz="1900" b="0" i="0">
                <a:solidFill>
                  <a:srgbClr val="475569"/>
                </a:solidFill>
                <a:latin typeface="Helvetica Neue"/>
              </a:rPr>
              <a:t>Oct 10</a:t>
            </a:r>
          </a:p>
        </p:txBody>
      </p:sp>
      <p:cxnSp>
        <p:nvCxnSpPr>
          <p:cNvPr id="50" name="Connector 49"/>
          <p:cNvCxnSpPr/>
          <p:nvPr/>
        </p:nvCxnSpPr>
        <p:spPr>
          <a:xfrm>
            <a:off x="14493240" y="5074920"/>
            <a:ext cx="640080" cy="0"/>
          </a:xfrm>
          <a:prstGeom prst="line">
            <a:avLst/>
          </a:prstGeom>
          <a:ln w="25400">
            <a:solidFill>
              <a:srgbClr val="00539B"/>
            </a:solidFill>
            <a:tailEnd type="triangle" w="med" len="med"/>
          </a:ln>
        </p:spPr>
      </p:cxnSp>
      <p:sp>
        <p:nvSpPr>
          <p:cNvPr id="51" name="TextBox 50"/>
          <p:cNvSpPr txBox="1"/>
          <p:nvPr/>
        </p:nvSpPr>
        <p:spPr>
          <a:xfrm>
            <a:off x="15316200" y="4617720"/>
            <a:ext cx="1645920" cy="914400"/>
          </a:xfrm>
          <a:prstGeom prst="rect">
            <a:avLst/>
          </a:prstGeom>
          <a:noFill/>
        </p:spPr>
        <p:txBody>
          <a:bodyPr wrap="square" lIns="0" rIns="0" tIns="0" bIns="0" anchor="ctr">
            <a:spAutoFit/>
          </a:bodyPr>
          <a:lstStyle/>
          <a:p>
            <a:pPr algn="l"/>
            <a:r>
              <a:rPr sz="1900" b="1" i="0">
                <a:solidFill>
                  <a:srgbClr val="00539B"/>
                </a:solidFill>
                <a:latin typeface="Helvetica Neue"/>
              </a:rPr>
              <a:t>Oct 25</a:t>
            </a:r>
          </a:p>
        </p:txBody>
      </p:sp>
      <p:sp>
        <p:nvSpPr>
          <p:cNvPr id="52" name="Rounded Rectangle 51"/>
          <p:cNvSpPr/>
          <p:nvPr/>
        </p:nvSpPr>
        <p:spPr>
          <a:xfrm>
            <a:off x="10789920" y="5852160"/>
            <a:ext cx="6217920" cy="777240"/>
          </a:xfrm>
          <a:prstGeom prst="roundRect">
            <a:avLst>
              <a:gd name="adj" fmla="val 23529"/>
            </a:avLst>
          </a:prstGeom>
          <a:solidFill>
            <a:srgbClr val="CFE6E9"/>
          </a:solidFill>
          <a:ln>
            <a:noFill/>
          </a:ln>
        </p:spPr>
        <p:txBody>
          <a:bodyPr rtlCol="0" anchor="ctr"/>
          <a:lstStyle/>
          <a:p>
            <a:pPr algn="ctr"/>
          </a:p>
        </p:txBody>
      </p:sp>
      <p:pic>
        <p:nvPicPr>
          <p:cNvPr id="53" name="Picture 52" descr="shield-check_04243C.png"/>
          <p:cNvPicPr>
            <a:picLocks noChangeAspect="1"/>
          </p:cNvPicPr>
          <p:nvPr/>
        </p:nvPicPr>
        <p:blipFill>
          <a:blip r:embed="rId10"/>
          <a:stretch>
            <a:fillRect/>
          </a:stretch>
        </p:blipFill>
        <p:spPr>
          <a:xfrm>
            <a:off x="10972800" y="5989320"/>
            <a:ext cx="502920" cy="502920"/>
          </a:xfrm>
          <a:prstGeom prst="rect">
            <a:avLst/>
          </a:prstGeom>
        </p:spPr>
      </p:pic>
      <p:sp>
        <p:nvSpPr>
          <p:cNvPr id="54" name="TextBox 53"/>
          <p:cNvSpPr txBox="1"/>
          <p:nvPr/>
        </p:nvSpPr>
        <p:spPr>
          <a:xfrm>
            <a:off x="11658600" y="5852160"/>
            <a:ext cx="5212080" cy="777240"/>
          </a:xfrm>
          <a:prstGeom prst="rect">
            <a:avLst/>
          </a:prstGeom>
          <a:noFill/>
        </p:spPr>
        <p:txBody>
          <a:bodyPr wrap="square" lIns="0" rIns="0" tIns="0" bIns="0" anchor="ctr">
            <a:spAutoFit/>
          </a:bodyPr>
          <a:lstStyle/>
          <a:p>
            <a:pPr algn="l"/>
            <a:r>
              <a:rPr sz="1400" b="1" i="0">
                <a:solidFill>
                  <a:srgbClr val="04243C"/>
                </a:solidFill>
                <a:latin typeface="Helvetica Neue"/>
              </a:rPr>
              <a:t>Built-in check: </a:t>
            </a:r>
            <a:r>
              <a:rPr sz="1400" b="0" i="0">
                <a:solidFill>
                  <a:srgbClr val="04243C"/>
                </a:solidFill>
                <a:latin typeface="Helvetica Neue"/>
              </a:rPr>
              <a:t>a price change must leave 10+ business days to respond</a:t>
            </a:r>
          </a:p>
        </p:txBody>
      </p:sp>
      <p:sp>
        <p:nvSpPr>
          <p:cNvPr id="55" name="Rounded Rectangle 54"/>
          <p:cNvSpPr/>
          <p:nvPr/>
        </p:nvSpPr>
        <p:spPr>
          <a:xfrm>
            <a:off x="10332720" y="7178040"/>
            <a:ext cx="7132320" cy="2103120"/>
          </a:xfrm>
          <a:prstGeom prst="roundRect">
            <a:avLst>
              <a:gd name="adj" fmla="val 13043"/>
            </a:avLst>
          </a:prstGeom>
          <a:solidFill>
            <a:srgbClr val="04243C"/>
          </a:solidFill>
          <a:ln>
            <a:noFill/>
          </a:ln>
        </p:spPr>
        <p:txBody>
          <a:bodyPr rtlCol="0" anchor="ctr"/>
          <a:lstStyle/>
          <a:p>
            <a:pPr algn="ctr"/>
          </a:p>
        </p:txBody>
      </p:sp>
      <p:sp>
        <p:nvSpPr>
          <p:cNvPr id="56" name="TextBox 55"/>
          <p:cNvSpPr txBox="1"/>
          <p:nvPr/>
        </p:nvSpPr>
        <p:spPr>
          <a:xfrm>
            <a:off x="10789920" y="7178040"/>
            <a:ext cx="6217920" cy="2103120"/>
          </a:xfrm>
          <a:prstGeom prst="rect">
            <a:avLst/>
          </a:prstGeom>
          <a:noFill/>
        </p:spPr>
        <p:txBody>
          <a:bodyPr wrap="square" lIns="0" rIns="0" tIns="0" bIns="0" anchor="ctr">
            <a:spAutoFit/>
          </a:bodyPr>
          <a:lstStyle/>
          <a:p>
            <a:pPr algn="l">
              <a:spcAft>
                <a:spcPts val="1000"/>
              </a:spcAft>
            </a:pPr>
            <a:r>
              <a:rPr sz="1700" b="1" i="0">
                <a:solidFill>
                  <a:srgbClr val="2B9CAE"/>
                </a:solidFill>
                <a:latin typeface="Helvetica Neue"/>
              </a:rPr>
              <a:t>Why it matters: </a:t>
            </a:r>
            <a:r>
              <a:rPr sz="1700" b="0" i="0">
                <a:solidFill>
                  <a:srgbClr val="FFFFFF"/>
                </a:solidFill>
                <a:latin typeface="Helvetica Neue"/>
              </a:rPr>
              <a:t>a wrong deadline is the costliest mistake, and amendments are where deadlines move</a:t>
            </a:r>
          </a:p>
          <a:p>
            <a:pPr algn="l">
              <a:spcAft>
                <a:spcPts val="1000"/>
              </a:spcAft>
            </a:pPr>
            <a:r>
              <a:rPr sz="1700" b="1" i="0">
                <a:solidFill>
                  <a:srgbClr val="2B9CAE"/>
                </a:solidFill>
                <a:latin typeface="Helvetica Neue"/>
              </a:rPr>
              <a:t>Speed: </a:t>
            </a:r>
            <a:r>
              <a:rPr sz="1700" b="0" i="0">
                <a:solidFill>
                  <a:srgbClr val="FFFFFF"/>
                </a:solidFill>
                <a:latin typeface="Helvetica Neue"/>
              </a:rPr>
              <a:t>extensions only need announcing by 9 a.m. the next business day</a:t>
            </a:r>
          </a:p>
        </p:txBody>
      </p:sp>
      <p:sp>
        <p:nvSpPr>
          <p:cNvPr id="57" name="TextBox 56"/>
          <p:cNvSpPr txBox="1"/>
          <p:nvPr/>
        </p:nvSpPr>
        <p:spPr>
          <a:xfrm>
            <a:off x="822960" y="9418320"/>
            <a:ext cx="9326880" cy="457200"/>
          </a:xfrm>
          <a:prstGeom prst="rect">
            <a:avLst/>
          </a:prstGeom>
          <a:noFill/>
        </p:spPr>
        <p:txBody>
          <a:bodyPr wrap="square" lIns="0" rIns="0" tIns="0" bIns="0" anchor="t">
            <a:spAutoFit/>
          </a:bodyPr>
          <a:lstStyle/>
          <a:p>
            <a:pPr algn="l"/>
            <a:r>
              <a:rPr sz="1300" b="0" i="1">
                <a:solidFill>
                  <a:srgbClr val="475569"/>
                </a:solidFill>
                <a:latin typeface="Helvetica Neue"/>
              </a:rPr>
              <a:t>Depends on event tracking. Prototype would use simulated custody positions; BNY data stays with BNY.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Client briefing agent: a regular brief of the events each client cares about</a:t>
            </a:r>
          </a:p>
        </p:txBody>
      </p:sp>
      <p:sp>
        <p:nvSpPr>
          <p:cNvPr id="4" name="Rectangle 3"/>
          <p:cNvSpPr/>
          <p:nvPr/>
        </p:nvSpPr>
        <p:spPr>
          <a:xfrm>
            <a:off x="822960" y="2468880"/>
            <a:ext cx="4114800" cy="1920240"/>
          </a:xfrm>
          <a:prstGeom prst="rect">
            <a:avLst/>
          </a:prstGeom>
          <a:solidFill>
            <a:srgbClr val="CFE6E9"/>
          </a:solidFill>
          <a:ln>
            <a:noFill/>
          </a:ln>
        </p:spPr>
        <p:txBody>
          <a:bodyPr rtlCol="0" anchor="ctr"/>
          <a:lstStyle/>
          <a:p>
            <a:pPr algn="ctr"/>
          </a:p>
        </p:txBody>
      </p:sp>
      <p:sp>
        <p:nvSpPr>
          <p:cNvPr id="5" name="Oval 4"/>
          <p:cNvSpPr/>
          <p:nvPr/>
        </p:nvSpPr>
        <p:spPr>
          <a:xfrm>
            <a:off x="1097280" y="2926080"/>
            <a:ext cx="960120" cy="960120"/>
          </a:xfrm>
          <a:prstGeom prst="ellipse">
            <a:avLst/>
          </a:prstGeom>
          <a:solidFill>
            <a:srgbClr val="04243C"/>
          </a:solidFill>
          <a:ln>
            <a:noFill/>
          </a:ln>
        </p:spPr>
        <p:txBody>
          <a:bodyPr rtlCol="0" anchor="ctr"/>
          <a:lstStyle/>
          <a:p>
            <a:pPr algn="ctr"/>
          </a:p>
        </p:txBody>
      </p:sp>
      <p:pic>
        <p:nvPicPr>
          <p:cNvPr id="6" name="Picture 5" descr="briefcase_FFFFFF.png"/>
          <p:cNvPicPr>
            <a:picLocks noChangeAspect="1"/>
          </p:cNvPicPr>
          <p:nvPr/>
        </p:nvPicPr>
        <p:blipFill>
          <a:blip r:embed="rId3"/>
          <a:stretch>
            <a:fillRect/>
          </a:stretch>
        </p:blipFill>
        <p:spPr>
          <a:xfrm>
            <a:off x="1327708" y="3156508"/>
            <a:ext cx="499262" cy="499262"/>
          </a:xfrm>
          <a:prstGeom prst="rect">
            <a:avLst/>
          </a:prstGeom>
        </p:spPr>
      </p:pic>
      <p:sp>
        <p:nvSpPr>
          <p:cNvPr id="7" name="TextBox 6"/>
          <p:cNvSpPr txBox="1"/>
          <p:nvPr/>
        </p:nvSpPr>
        <p:spPr>
          <a:xfrm>
            <a:off x="2286000" y="2880360"/>
            <a:ext cx="2514600" cy="1280160"/>
          </a:xfrm>
          <a:prstGeom prst="rect">
            <a:avLst/>
          </a:prstGeom>
          <a:noFill/>
        </p:spPr>
        <p:txBody>
          <a:bodyPr wrap="square" lIns="0" rIns="0" tIns="0" bIns="0" anchor="t">
            <a:spAutoFit/>
          </a:bodyPr>
          <a:lstStyle/>
          <a:p>
            <a:pPr algn="l">
              <a:spcAft>
                <a:spcPts val="400"/>
              </a:spcAft>
            </a:pPr>
            <a:r>
              <a:rPr sz="2100" b="1" i="0">
                <a:solidFill>
                  <a:srgbClr val="04243C"/>
                </a:solidFill>
                <a:latin typeface="Helvetica Neue"/>
              </a:rPr>
              <a:t>Holdings</a:t>
            </a:r>
          </a:p>
          <a:p>
            <a:pPr algn="l">
              <a:spcAft>
                <a:spcPts val="400"/>
              </a:spcAft>
            </a:pPr>
            <a:r>
              <a:rPr sz="1500" b="0" i="0">
                <a:solidFill>
                  <a:srgbClr val="475569"/>
                </a:solidFill>
                <a:latin typeface="Helvetica Neue"/>
              </a:rPr>
              <a:t>Securities the client holds</a:t>
            </a:r>
          </a:p>
        </p:txBody>
      </p:sp>
      <p:cxnSp>
        <p:nvCxnSpPr>
          <p:cNvPr id="8" name="Connector 7"/>
          <p:cNvCxnSpPr/>
          <p:nvPr/>
        </p:nvCxnSpPr>
        <p:spPr>
          <a:xfrm>
            <a:off x="5029200" y="3429000"/>
            <a:ext cx="1005840" cy="777240"/>
          </a:xfrm>
          <a:prstGeom prst="line">
            <a:avLst/>
          </a:prstGeom>
          <a:ln w="31750">
            <a:solidFill>
              <a:srgbClr val="2B9CAE"/>
            </a:solidFill>
            <a:tailEnd type="triangle" w="med" len="med"/>
          </a:ln>
        </p:spPr>
      </p:cxnSp>
      <p:sp>
        <p:nvSpPr>
          <p:cNvPr id="9" name="Rectangle 8"/>
          <p:cNvSpPr/>
          <p:nvPr/>
        </p:nvSpPr>
        <p:spPr>
          <a:xfrm>
            <a:off x="822960" y="4846320"/>
            <a:ext cx="4114800" cy="1920240"/>
          </a:xfrm>
          <a:prstGeom prst="rect">
            <a:avLst/>
          </a:prstGeom>
          <a:solidFill>
            <a:srgbClr val="CFE6E9"/>
          </a:solidFill>
          <a:ln>
            <a:noFill/>
          </a:ln>
        </p:spPr>
        <p:txBody>
          <a:bodyPr rtlCol="0" anchor="ctr"/>
          <a:lstStyle/>
          <a:p>
            <a:pPr algn="ctr"/>
          </a:p>
        </p:txBody>
      </p:sp>
      <p:sp>
        <p:nvSpPr>
          <p:cNvPr id="10" name="Oval 9"/>
          <p:cNvSpPr/>
          <p:nvPr/>
        </p:nvSpPr>
        <p:spPr>
          <a:xfrm>
            <a:off x="1097280" y="5303520"/>
            <a:ext cx="960120" cy="960120"/>
          </a:xfrm>
          <a:prstGeom prst="ellipse">
            <a:avLst/>
          </a:prstGeom>
          <a:solidFill>
            <a:srgbClr val="04243C"/>
          </a:solidFill>
          <a:ln>
            <a:noFill/>
          </a:ln>
        </p:spPr>
        <p:txBody>
          <a:bodyPr rtlCol="0" anchor="ctr"/>
          <a:lstStyle/>
          <a:p>
            <a:pPr algn="ctr"/>
          </a:p>
        </p:txBody>
      </p:sp>
      <p:pic>
        <p:nvPicPr>
          <p:cNvPr id="11" name="Picture 10" descr="bell-ring_FFFFFF.png"/>
          <p:cNvPicPr>
            <a:picLocks noChangeAspect="1"/>
          </p:cNvPicPr>
          <p:nvPr/>
        </p:nvPicPr>
        <p:blipFill>
          <a:blip r:embed="rId4"/>
          <a:stretch>
            <a:fillRect/>
          </a:stretch>
        </p:blipFill>
        <p:spPr>
          <a:xfrm>
            <a:off x="1327708" y="5533948"/>
            <a:ext cx="499262" cy="499262"/>
          </a:xfrm>
          <a:prstGeom prst="rect">
            <a:avLst/>
          </a:prstGeom>
        </p:spPr>
      </p:pic>
      <p:sp>
        <p:nvSpPr>
          <p:cNvPr id="12" name="TextBox 11"/>
          <p:cNvSpPr txBox="1"/>
          <p:nvPr/>
        </p:nvSpPr>
        <p:spPr>
          <a:xfrm>
            <a:off x="2286000" y="5257800"/>
            <a:ext cx="2514600" cy="1280160"/>
          </a:xfrm>
          <a:prstGeom prst="rect">
            <a:avLst/>
          </a:prstGeom>
          <a:noFill/>
        </p:spPr>
        <p:txBody>
          <a:bodyPr wrap="square" lIns="0" rIns="0" tIns="0" bIns="0" anchor="t">
            <a:spAutoFit/>
          </a:bodyPr>
          <a:lstStyle/>
          <a:p>
            <a:pPr algn="l">
              <a:spcAft>
                <a:spcPts val="400"/>
              </a:spcAft>
            </a:pPr>
            <a:r>
              <a:rPr sz="2100" b="1" i="0">
                <a:solidFill>
                  <a:srgbClr val="04243C"/>
                </a:solidFill>
                <a:latin typeface="Helvetica Neue"/>
              </a:rPr>
              <a:t>Watchlist</a:t>
            </a:r>
          </a:p>
          <a:p>
            <a:pPr algn="l">
              <a:spcAft>
                <a:spcPts val="400"/>
              </a:spcAft>
            </a:pPr>
            <a:r>
              <a:rPr sz="1500" b="0" i="0">
                <a:solidFill>
                  <a:srgbClr val="475569"/>
                </a:solidFill>
                <a:latin typeface="Helvetica Neue"/>
              </a:rPr>
              <a:t>Companies the client follows</a:t>
            </a:r>
          </a:p>
        </p:txBody>
      </p:sp>
      <p:cxnSp>
        <p:nvCxnSpPr>
          <p:cNvPr id="13" name="Connector 12"/>
          <p:cNvCxnSpPr/>
          <p:nvPr/>
        </p:nvCxnSpPr>
        <p:spPr>
          <a:xfrm flipV="1">
            <a:off x="5029200" y="4937760"/>
            <a:ext cx="1005840" cy="868680"/>
          </a:xfrm>
          <a:prstGeom prst="line">
            <a:avLst/>
          </a:prstGeom>
          <a:ln w="31750">
            <a:solidFill>
              <a:srgbClr val="2B9CAE"/>
            </a:solidFill>
            <a:tailEnd type="triangle" w="med" len="med"/>
          </a:ln>
        </p:spPr>
      </p:cxnSp>
      <p:sp>
        <p:nvSpPr>
          <p:cNvPr id="14" name="Oval 13"/>
          <p:cNvSpPr/>
          <p:nvPr/>
        </p:nvSpPr>
        <p:spPr>
          <a:xfrm>
            <a:off x="6126480" y="3520440"/>
            <a:ext cx="2103120" cy="2103120"/>
          </a:xfrm>
          <a:prstGeom prst="ellipse">
            <a:avLst/>
          </a:prstGeom>
          <a:solidFill>
            <a:srgbClr val="00539B"/>
          </a:solidFill>
          <a:ln>
            <a:noFill/>
          </a:ln>
        </p:spPr>
        <p:txBody>
          <a:bodyPr rtlCol="0" anchor="ctr"/>
          <a:lstStyle/>
          <a:p>
            <a:pPr algn="ctr"/>
          </a:p>
        </p:txBody>
      </p:sp>
      <p:pic>
        <p:nvPicPr>
          <p:cNvPr id="15" name="Picture 14" descr="bot_FFFFFF.png"/>
          <p:cNvPicPr>
            <a:picLocks noChangeAspect="1"/>
          </p:cNvPicPr>
          <p:nvPr/>
        </p:nvPicPr>
        <p:blipFill>
          <a:blip r:embed="rId5"/>
          <a:stretch>
            <a:fillRect/>
          </a:stretch>
        </p:blipFill>
        <p:spPr>
          <a:xfrm>
            <a:off x="6675120" y="3840480"/>
            <a:ext cx="1005840" cy="1005840"/>
          </a:xfrm>
          <a:prstGeom prst="rect">
            <a:avLst/>
          </a:prstGeom>
        </p:spPr>
      </p:pic>
      <p:sp>
        <p:nvSpPr>
          <p:cNvPr id="16" name="TextBox 15"/>
          <p:cNvSpPr txBox="1"/>
          <p:nvPr/>
        </p:nvSpPr>
        <p:spPr>
          <a:xfrm>
            <a:off x="5532120" y="5760720"/>
            <a:ext cx="3291840" cy="822960"/>
          </a:xfrm>
          <a:prstGeom prst="rect">
            <a:avLst/>
          </a:prstGeom>
          <a:noFill/>
        </p:spPr>
        <p:txBody>
          <a:bodyPr wrap="square" lIns="0" rIns="0" tIns="0" bIns="0" anchor="t">
            <a:spAutoFit/>
          </a:bodyPr>
          <a:lstStyle/>
          <a:p>
            <a:pPr algn="ctr"/>
            <a:r>
              <a:rPr sz="1700" b="1" i="0">
                <a:solidFill>
                  <a:srgbClr val="04243C"/>
                </a:solidFill>
                <a:latin typeface="Helvetica Neue"/>
              </a:rPr>
              <a:t>Finds relevant</a:t>
            </a:r>
          </a:p>
          <a:p>
            <a:pPr algn="ctr"/>
            <a:r>
              <a:rPr sz="1700" b="1" i="0">
                <a:solidFill>
                  <a:srgbClr val="04243C"/>
                </a:solidFill>
                <a:latin typeface="Helvetica Neue"/>
              </a:rPr>
              <a:t>events</a:t>
            </a:r>
          </a:p>
        </p:txBody>
      </p:sp>
      <p:cxnSp>
        <p:nvCxnSpPr>
          <p:cNvPr id="17" name="Connector 16"/>
          <p:cNvCxnSpPr/>
          <p:nvPr/>
        </p:nvCxnSpPr>
        <p:spPr>
          <a:xfrm>
            <a:off x="8321040" y="4572000"/>
            <a:ext cx="1005840" cy="0"/>
          </a:xfrm>
          <a:prstGeom prst="line">
            <a:avLst/>
          </a:prstGeom>
          <a:ln w="31750">
            <a:solidFill>
              <a:srgbClr val="2B9CAE"/>
            </a:solidFill>
            <a:tailEnd type="triangle" w="med" len="med"/>
          </a:ln>
        </p:spPr>
      </p:cxnSp>
      <p:sp>
        <p:nvSpPr>
          <p:cNvPr id="18" name="Rectangle 17"/>
          <p:cNvSpPr/>
          <p:nvPr/>
        </p:nvSpPr>
        <p:spPr>
          <a:xfrm>
            <a:off x="9418320" y="2148840"/>
            <a:ext cx="8046720" cy="5715000"/>
          </a:xfrm>
          <a:prstGeom prst="rect">
            <a:avLst/>
          </a:prstGeom>
          <a:solidFill>
            <a:srgbClr val="FFFFFF"/>
          </a:solidFill>
          <a:ln>
            <a:noFill/>
          </a:ln>
          <a:effectLst>
            <a:outerShdw blurRad="203200" dist="50800" dir="5400000" algn="t" rotWithShape="0">
              <a:srgbClr val="0F172A">
                <a:alpha val="12000"/>
              </a:srgbClr>
            </a:outerShdw>
          </a:effectLst>
        </p:spPr>
        <p:txBody>
          <a:bodyPr rtlCol="0" anchor="ctr"/>
          <a:lstStyle/>
          <a:p>
            <a:pPr algn="ctr"/>
          </a:p>
        </p:txBody>
      </p:sp>
      <p:sp>
        <p:nvSpPr>
          <p:cNvPr id="19" name="Rectangle 18"/>
          <p:cNvSpPr/>
          <p:nvPr/>
        </p:nvSpPr>
        <p:spPr>
          <a:xfrm>
            <a:off x="9418320" y="2148840"/>
            <a:ext cx="8046720" cy="960120"/>
          </a:xfrm>
          <a:prstGeom prst="rect">
            <a:avLst/>
          </a:prstGeom>
          <a:solidFill>
            <a:srgbClr val="012169"/>
          </a:solidFill>
          <a:ln>
            <a:noFill/>
          </a:ln>
        </p:spPr>
        <p:txBody>
          <a:bodyPr rtlCol="0" anchor="ctr"/>
          <a:lstStyle/>
          <a:p>
            <a:pPr algn="ctr"/>
          </a:p>
        </p:txBody>
      </p:sp>
      <p:sp>
        <p:nvSpPr>
          <p:cNvPr id="20" name="TextBox 19"/>
          <p:cNvSpPr txBox="1"/>
          <p:nvPr/>
        </p:nvSpPr>
        <p:spPr>
          <a:xfrm>
            <a:off x="9784080" y="2148840"/>
            <a:ext cx="7315200" cy="960120"/>
          </a:xfrm>
          <a:prstGeom prst="rect">
            <a:avLst/>
          </a:prstGeom>
          <a:noFill/>
        </p:spPr>
        <p:txBody>
          <a:bodyPr wrap="square" lIns="0" rIns="0" tIns="0" bIns="0" anchor="ctr">
            <a:spAutoFit/>
          </a:bodyPr>
          <a:lstStyle/>
          <a:p>
            <a:pPr algn="l"/>
            <a:r>
              <a:rPr sz="2000" b="1" i="0">
                <a:solidFill>
                  <a:srgbClr val="FFFFFF"/>
                </a:solidFill>
                <a:latin typeface="Helvetica Neue"/>
              </a:rPr>
              <a:t>Weekly brief  </a:t>
            </a:r>
            <a:r>
              <a:rPr sz="1500" b="0" i="1">
                <a:solidFill>
                  <a:srgbClr val="CFE6E9"/>
                </a:solidFill>
                <a:latin typeface="Helvetica Neue"/>
              </a:rPr>
              <a:t>illustrative</a:t>
            </a:r>
          </a:p>
        </p:txBody>
      </p:sp>
      <p:sp>
        <p:nvSpPr>
          <p:cNvPr id="21" name="Rounded Rectangle 20"/>
          <p:cNvSpPr/>
          <p:nvPr/>
        </p:nvSpPr>
        <p:spPr>
          <a:xfrm>
            <a:off x="9784080" y="3520440"/>
            <a:ext cx="2103120" cy="548640"/>
          </a:xfrm>
          <a:prstGeom prst="roundRect">
            <a:avLst>
              <a:gd name="adj" fmla="val 50000"/>
            </a:avLst>
          </a:prstGeom>
          <a:solidFill>
            <a:srgbClr val="CFE6E9"/>
          </a:solidFill>
          <a:ln>
            <a:noFill/>
          </a:ln>
        </p:spPr>
        <p:txBody>
          <a:bodyPr rtlCol="0" anchor="ctr" wrap="square" lIns="109728" rIns="109728" tIns="0" bIns="0"/>
          <a:lstStyle/>
          <a:p>
            <a:pPr algn="ctr"/>
            <a:r>
              <a:rPr sz="1300" b="1">
                <a:solidFill>
                  <a:srgbClr val="04243C"/>
                </a:solidFill>
                <a:latin typeface="Helvetica Neue"/>
              </a:rPr>
              <a:t>Tender offer</a:t>
            </a:r>
          </a:p>
        </p:txBody>
      </p:sp>
      <p:sp>
        <p:nvSpPr>
          <p:cNvPr id="22" name="TextBox 21"/>
          <p:cNvSpPr txBox="1"/>
          <p:nvPr/>
        </p:nvSpPr>
        <p:spPr>
          <a:xfrm>
            <a:off x="12115800" y="3429000"/>
            <a:ext cx="3657600" cy="457200"/>
          </a:xfrm>
          <a:prstGeom prst="rect">
            <a:avLst/>
          </a:prstGeom>
          <a:noFill/>
        </p:spPr>
        <p:txBody>
          <a:bodyPr wrap="square" lIns="0" rIns="0" tIns="0" bIns="0" anchor="t">
            <a:spAutoFit/>
          </a:bodyPr>
          <a:lstStyle/>
          <a:p>
            <a:pPr algn="l"/>
            <a:r>
              <a:rPr sz="1800" b="1" i="0">
                <a:solidFill>
                  <a:srgbClr val="04243C"/>
                </a:solidFill>
                <a:latin typeface="Helvetica Neue"/>
              </a:rPr>
              <a:t>Company A</a:t>
            </a:r>
          </a:p>
        </p:txBody>
      </p:sp>
      <p:sp>
        <p:nvSpPr>
          <p:cNvPr id="23" name="TextBox 22"/>
          <p:cNvSpPr txBox="1"/>
          <p:nvPr/>
        </p:nvSpPr>
        <p:spPr>
          <a:xfrm>
            <a:off x="12115800" y="3931920"/>
            <a:ext cx="4206240" cy="457200"/>
          </a:xfrm>
          <a:prstGeom prst="rect">
            <a:avLst/>
          </a:prstGeom>
          <a:noFill/>
        </p:spPr>
        <p:txBody>
          <a:bodyPr wrap="square" lIns="0" rIns="0" tIns="0" bIns="0" anchor="t">
            <a:spAutoFit/>
          </a:bodyPr>
          <a:lstStyle/>
          <a:p>
            <a:pPr algn="l"/>
            <a:r>
              <a:rPr sz="1500" b="0" i="0">
                <a:solidFill>
                  <a:srgbClr val="475569"/>
                </a:solidFill>
                <a:latin typeface="Helvetica Neue"/>
              </a:rPr>
              <a:t>Election deadline in 5 days</a:t>
            </a:r>
          </a:p>
        </p:txBody>
      </p:sp>
      <p:sp>
        <p:nvSpPr>
          <p:cNvPr id="24" name="Rounded Rectangle 23"/>
          <p:cNvSpPr/>
          <p:nvPr/>
        </p:nvSpPr>
        <p:spPr>
          <a:xfrm>
            <a:off x="15864840" y="3520440"/>
            <a:ext cx="1280160" cy="548640"/>
          </a:xfrm>
          <a:prstGeom prst="roundRect">
            <a:avLst>
              <a:gd name="adj" fmla="val 50000"/>
            </a:avLst>
          </a:prstGeom>
          <a:noFill/>
          <a:ln w="15875">
            <a:solidFill>
              <a:srgbClr val="2B9CAE"/>
            </a:solidFill>
          </a:ln>
        </p:spPr>
        <p:txBody>
          <a:bodyPr rtlCol="0" anchor="ctr" wrap="square" lIns="109728" rIns="109728" tIns="0" bIns="0"/>
          <a:lstStyle/>
          <a:p>
            <a:pPr algn="ctr"/>
            <a:r>
              <a:rPr sz="1300" b="1">
                <a:solidFill>
                  <a:srgbClr val="2B9CAE"/>
                </a:solidFill>
                <a:latin typeface="Helvetica Neue"/>
              </a:rPr>
              <a:t>Source</a:t>
            </a:r>
          </a:p>
        </p:txBody>
      </p:sp>
      <p:cxnSp>
        <p:nvCxnSpPr>
          <p:cNvPr id="25" name="Connector 24"/>
          <p:cNvCxnSpPr/>
          <p:nvPr/>
        </p:nvCxnSpPr>
        <p:spPr>
          <a:xfrm>
            <a:off x="9784080" y="4617720"/>
            <a:ext cx="7360920" cy="0"/>
          </a:xfrm>
          <a:prstGeom prst="line">
            <a:avLst/>
          </a:prstGeom>
          <a:ln w="12700">
            <a:solidFill>
              <a:srgbClr val="D8CDB8"/>
            </a:solidFill>
          </a:ln>
        </p:spPr>
      </p:cxnSp>
      <p:sp>
        <p:nvSpPr>
          <p:cNvPr id="26" name="Rounded Rectangle 25"/>
          <p:cNvSpPr/>
          <p:nvPr/>
        </p:nvSpPr>
        <p:spPr>
          <a:xfrm>
            <a:off x="9784080" y="4937760"/>
            <a:ext cx="2103120" cy="548640"/>
          </a:xfrm>
          <a:prstGeom prst="roundRect">
            <a:avLst>
              <a:gd name="adj" fmla="val 50000"/>
            </a:avLst>
          </a:prstGeom>
          <a:solidFill>
            <a:srgbClr val="CFE6E9"/>
          </a:solidFill>
          <a:ln>
            <a:noFill/>
          </a:ln>
        </p:spPr>
        <p:txBody>
          <a:bodyPr rtlCol="0" anchor="ctr" wrap="square" lIns="109728" rIns="109728" tIns="0" bIns="0"/>
          <a:lstStyle/>
          <a:p>
            <a:pPr algn="ctr"/>
            <a:r>
              <a:rPr sz="1300" b="1">
                <a:solidFill>
                  <a:srgbClr val="04243C"/>
                </a:solidFill>
                <a:latin typeface="Helvetica Neue"/>
              </a:rPr>
              <a:t>Merger</a:t>
            </a:r>
          </a:p>
        </p:txBody>
      </p:sp>
      <p:sp>
        <p:nvSpPr>
          <p:cNvPr id="27" name="TextBox 26"/>
          <p:cNvSpPr txBox="1"/>
          <p:nvPr/>
        </p:nvSpPr>
        <p:spPr>
          <a:xfrm>
            <a:off x="12115800" y="4846320"/>
            <a:ext cx="3657600" cy="457200"/>
          </a:xfrm>
          <a:prstGeom prst="rect">
            <a:avLst/>
          </a:prstGeom>
          <a:noFill/>
        </p:spPr>
        <p:txBody>
          <a:bodyPr wrap="square" lIns="0" rIns="0" tIns="0" bIns="0" anchor="t">
            <a:spAutoFit/>
          </a:bodyPr>
          <a:lstStyle/>
          <a:p>
            <a:pPr algn="l"/>
            <a:r>
              <a:rPr sz="1800" b="1" i="0">
                <a:solidFill>
                  <a:srgbClr val="04243C"/>
                </a:solidFill>
                <a:latin typeface="Helvetica Neue"/>
              </a:rPr>
              <a:t>Company B</a:t>
            </a:r>
          </a:p>
        </p:txBody>
      </p:sp>
      <p:sp>
        <p:nvSpPr>
          <p:cNvPr id="28" name="TextBox 27"/>
          <p:cNvSpPr txBox="1"/>
          <p:nvPr/>
        </p:nvSpPr>
        <p:spPr>
          <a:xfrm>
            <a:off x="12115800" y="5349240"/>
            <a:ext cx="4206240" cy="457200"/>
          </a:xfrm>
          <a:prstGeom prst="rect">
            <a:avLst/>
          </a:prstGeom>
          <a:noFill/>
        </p:spPr>
        <p:txBody>
          <a:bodyPr wrap="square" lIns="0" rIns="0" tIns="0" bIns="0" anchor="t">
            <a:spAutoFit/>
          </a:bodyPr>
          <a:lstStyle/>
          <a:p>
            <a:pPr algn="l"/>
            <a:r>
              <a:rPr sz="1500" b="0" i="0">
                <a:solidFill>
                  <a:srgbClr val="475569"/>
                </a:solidFill>
                <a:latin typeface="Helvetica Neue"/>
              </a:rPr>
              <a:t>Shareholder vote scheduled</a:t>
            </a:r>
          </a:p>
        </p:txBody>
      </p:sp>
      <p:sp>
        <p:nvSpPr>
          <p:cNvPr id="29" name="Rounded Rectangle 28"/>
          <p:cNvSpPr/>
          <p:nvPr/>
        </p:nvSpPr>
        <p:spPr>
          <a:xfrm>
            <a:off x="15864840" y="4937760"/>
            <a:ext cx="1280160" cy="548640"/>
          </a:xfrm>
          <a:prstGeom prst="roundRect">
            <a:avLst>
              <a:gd name="adj" fmla="val 50000"/>
            </a:avLst>
          </a:prstGeom>
          <a:noFill/>
          <a:ln w="15875">
            <a:solidFill>
              <a:srgbClr val="2B9CAE"/>
            </a:solidFill>
          </a:ln>
        </p:spPr>
        <p:txBody>
          <a:bodyPr rtlCol="0" anchor="ctr" wrap="square" lIns="109728" rIns="109728" tIns="0" bIns="0"/>
          <a:lstStyle/>
          <a:p>
            <a:pPr algn="ctr"/>
            <a:r>
              <a:rPr sz="1300" b="1">
                <a:solidFill>
                  <a:srgbClr val="2B9CAE"/>
                </a:solidFill>
                <a:latin typeface="Helvetica Neue"/>
              </a:rPr>
              <a:t>Source</a:t>
            </a:r>
          </a:p>
        </p:txBody>
      </p:sp>
      <p:cxnSp>
        <p:nvCxnSpPr>
          <p:cNvPr id="30" name="Connector 29"/>
          <p:cNvCxnSpPr/>
          <p:nvPr/>
        </p:nvCxnSpPr>
        <p:spPr>
          <a:xfrm>
            <a:off x="9784080" y="6035040"/>
            <a:ext cx="7360920" cy="0"/>
          </a:xfrm>
          <a:prstGeom prst="line">
            <a:avLst/>
          </a:prstGeom>
          <a:ln w="12700">
            <a:solidFill>
              <a:srgbClr val="D8CDB8"/>
            </a:solidFill>
          </a:ln>
        </p:spPr>
      </p:cxnSp>
      <p:sp>
        <p:nvSpPr>
          <p:cNvPr id="31" name="Rounded Rectangle 30"/>
          <p:cNvSpPr/>
          <p:nvPr/>
        </p:nvSpPr>
        <p:spPr>
          <a:xfrm>
            <a:off x="9784080" y="6355080"/>
            <a:ext cx="2103120" cy="548640"/>
          </a:xfrm>
          <a:prstGeom prst="roundRect">
            <a:avLst>
              <a:gd name="adj" fmla="val 50000"/>
            </a:avLst>
          </a:prstGeom>
          <a:solidFill>
            <a:srgbClr val="CFE6E9"/>
          </a:solidFill>
          <a:ln>
            <a:noFill/>
          </a:ln>
        </p:spPr>
        <p:txBody>
          <a:bodyPr rtlCol="0" anchor="ctr" wrap="square" lIns="109728" rIns="109728" tIns="0" bIns="0"/>
          <a:lstStyle/>
          <a:p>
            <a:pPr algn="ctr"/>
            <a:r>
              <a:rPr sz="1300" b="1">
                <a:solidFill>
                  <a:srgbClr val="04243C"/>
                </a:solidFill>
                <a:latin typeface="Helvetica Neue"/>
              </a:rPr>
              <a:t>Amendment</a:t>
            </a:r>
          </a:p>
        </p:txBody>
      </p:sp>
      <p:sp>
        <p:nvSpPr>
          <p:cNvPr id="32" name="TextBox 31"/>
          <p:cNvSpPr txBox="1"/>
          <p:nvPr/>
        </p:nvSpPr>
        <p:spPr>
          <a:xfrm>
            <a:off x="12115800" y="6263640"/>
            <a:ext cx="3657600" cy="457200"/>
          </a:xfrm>
          <a:prstGeom prst="rect">
            <a:avLst/>
          </a:prstGeom>
          <a:noFill/>
        </p:spPr>
        <p:txBody>
          <a:bodyPr wrap="square" lIns="0" rIns="0" tIns="0" bIns="0" anchor="t">
            <a:spAutoFit/>
          </a:bodyPr>
          <a:lstStyle/>
          <a:p>
            <a:pPr algn="l"/>
            <a:r>
              <a:rPr sz="1800" b="1" i="0">
                <a:solidFill>
                  <a:srgbClr val="04243C"/>
                </a:solidFill>
                <a:latin typeface="Helvetica Neue"/>
              </a:rPr>
              <a:t>Company C</a:t>
            </a:r>
          </a:p>
        </p:txBody>
      </p:sp>
      <p:sp>
        <p:nvSpPr>
          <p:cNvPr id="33" name="TextBox 32"/>
          <p:cNvSpPr txBox="1"/>
          <p:nvPr/>
        </p:nvSpPr>
        <p:spPr>
          <a:xfrm>
            <a:off x="12115800" y="6766560"/>
            <a:ext cx="4206240" cy="457200"/>
          </a:xfrm>
          <a:prstGeom prst="rect">
            <a:avLst/>
          </a:prstGeom>
          <a:noFill/>
        </p:spPr>
        <p:txBody>
          <a:bodyPr wrap="square" lIns="0" rIns="0" tIns="0" bIns="0" anchor="t">
            <a:spAutoFit/>
          </a:bodyPr>
          <a:lstStyle/>
          <a:p>
            <a:pPr algn="l"/>
            <a:r>
              <a:rPr sz="1500" b="0" i="0">
                <a:solidFill>
                  <a:srgbClr val="475569"/>
                </a:solidFill>
                <a:latin typeface="Helvetica Neue"/>
              </a:rPr>
              <a:t>Offer price changed</a:t>
            </a:r>
          </a:p>
        </p:txBody>
      </p:sp>
      <p:sp>
        <p:nvSpPr>
          <p:cNvPr id="34" name="Rounded Rectangle 33"/>
          <p:cNvSpPr/>
          <p:nvPr/>
        </p:nvSpPr>
        <p:spPr>
          <a:xfrm>
            <a:off x="15864840" y="6355080"/>
            <a:ext cx="1280160" cy="548640"/>
          </a:xfrm>
          <a:prstGeom prst="roundRect">
            <a:avLst>
              <a:gd name="adj" fmla="val 50000"/>
            </a:avLst>
          </a:prstGeom>
          <a:noFill/>
          <a:ln w="15875">
            <a:solidFill>
              <a:srgbClr val="2B9CAE"/>
            </a:solidFill>
          </a:ln>
        </p:spPr>
        <p:txBody>
          <a:bodyPr rtlCol="0" anchor="ctr" wrap="square" lIns="109728" rIns="109728" tIns="0" bIns="0"/>
          <a:lstStyle/>
          <a:p>
            <a:pPr algn="ctr"/>
            <a:r>
              <a:rPr sz="1300" b="1">
                <a:solidFill>
                  <a:srgbClr val="2B9CAE"/>
                </a:solidFill>
                <a:latin typeface="Helvetica Neue"/>
              </a:rPr>
              <a:t>Source</a:t>
            </a:r>
          </a:p>
        </p:txBody>
      </p:sp>
      <p:sp>
        <p:nvSpPr>
          <p:cNvPr id="35" name="TextBox 34"/>
          <p:cNvSpPr txBox="1"/>
          <p:nvPr/>
        </p:nvSpPr>
        <p:spPr>
          <a:xfrm>
            <a:off x="822960" y="8183879"/>
            <a:ext cx="3657600" cy="548640"/>
          </a:xfrm>
          <a:prstGeom prst="rect">
            <a:avLst/>
          </a:prstGeom>
          <a:noFill/>
        </p:spPr>
        <p:txBody>
          <a:bodyPr wrap="square" lIns="0" rIns="0" tIns="0" bIns="0" anchor="t">
            <a:spAutoFit/>
          </a:bodyPr>
          <a:lstStyle/>
          <a:p>
            <a:pPr algn="l"/>
            <a:r>
              <a:rPr sz="1700" b="1" i="0">
                <a:solidFill>
                  <a:srgbClr val="2B9CAE"/>
                </a:solidFill>
                <a:latin typeface="Helvetica Neue"/>
              </a:rPr>
              <a:t>Who it could serve</a:t>
            </a:r>
          </a:p>
        </p:txBody>
      </p:sp>
      <p:sp>
        <p:nvSpPr>
          <p:cNvPr id="36" name="Rounded Rectangle 35"/>
          <p:cNvSpPr/>
          <p:nvPr/>
        </p:nvSpPr>
        <p:spPr>
          <a:xfrm>
            <a:off x="822960" y="8686800"/>
            <a:ext cx="5349240" cy="777240"/>
          </a:xfrm>
          <a:prstGeom prst="roundRect">
            <a:avLst>
              <a:gd name="adj" fmla="val 49411"/>
            </a:avLst>
          </a:prstGeom>
          <a:solidFill>
            <a:srgbClr val="FFFFFF"/>
          </a:solidFill>
          <a:ln w="12700">
            <a:solidFill>
              <a:srgbClr val="D8CDB8"/>
            </a:solidFill>
          </a:ln>
        </p:spPr>
        <p:txBody>
          <a:bodyPr rtlCol="0" anchor="ctr" wrap="square" lIns="109728" rIns="109728" tIns="0" bIns="0"/>
          <a:lstStyle/>
          <a:p>
            <a:pPr algn="ctr"/>
            <a:r>
              <a:rPr sz="1700" b="1">
                <a:solidFill>
                  <a:srgbClr val="04243C"/>
                </a:solidFill>
                <a:latin typeface="Helvetica Neue"/>
              </a:rPr>
              <a:t>Asset managers and funds</a:t>
            </a:r>
          </a:p>
        </p:txBody>
      </p:sp>
      <p:sp>
        <p:nvSpPr>
          <p:cNvPr id="37" name="Rounded Rectangle 36"/>
          <p:cNvSpPr/>
          <p:nvPr/>
        </p:nvSpPr>
        <p:spPr>
          <a:xfrm>
            <a:off x="6446520" y="8686800"/>
            <a:ext cx="5349240" cy="777240"/>
          </a:xfrm>
          <a:prstGeom prst="roundRect">
            <a:avLst>
              <a:gd name="adj" fmla="val 49411"/>
            </a:avLst>
          </a:prstGeom>
          <a:solidFill>
            <a:srgbClr val="FFFFFF"/>
          </a:solidFill>
          <a:ln w="12700">
            <a:solidFill>
              <a:srgbClr val="D8CDB8"/>
            </a:solidFill>
          </a:ln>
        </p:spPr>
        <p:txBody>
          <a:bodyPr rtlCol="0" anchor="ctr" wrap="square" lIns="109728" rIns="109728" tIns="0" bIns="0"/>
          <a:lstStyle/>
          <a:p>
            <a:pPr algn="ctr"/>
            <a:r>
              <a:rPr sz="1700" b="1">
                <a:solidFill>
                  <a:srgbClr val="04243C"/>
                </a:solidFill>
                <a:latin typeface="Helvetica Neue"/>
              </a:rPr>
              <a:t>Pensions and asset owners</a:t>
            </a:r>
          </a:p>
        </p:txBody>
      </p:sp>
      <p:sp>
        <p:nvSpPr>
          <p:cNvPr id="38" name="Rounded Rectangle 37"/>
          <p:cNvSpPr/>
          <p:nvPr/>
        </p:nvSpPr>
        <p:spPr>
          <a:xfrm>
            <a:off x="12070080" y="8686800"/>
            <a:ext cx="5349240" cy="777240"/>
          </a:xfrm>
          <a:prstGeom prst="roundRect">
            <a:avLst>
              <a:gd name="adj" fmla="val 49411"/>
            </a:avLst>
          </a:prstGeom>
          <a:solidFill>
            <a:srgbClr val="FFFFFF"/>
          </a:solidFill>
          <a:ln w="12700">
            <a:solidFill>
              <a:srgbClr val="D8CDB8"/>
            </a:solidFill>
          </a:ln>
        </p:spPr>
        <p:txBody>
          <a:bodyPr rtlCol="0" anchor="ctr" wrap="square" lIns="109728" rIns="109728" tIns="0" bIns="0"/>
          <a:lstStyle/>
          <a:p>
            <a:pPr algn="ctr"/>
            <a:r>
              <a:rPr sz="1700" b="1">
                <a:solidFill>
                  <a:srgbClr val="04243C"/>
                </a:solidFill>
                <a:latin typeface="Helvetica Neue"/>
              </a:rPr>
              <a:t>Wealth and advisory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How we would build them, and where your input helps</a:t>
            </a:r>
          </a:p>
        </p:txBody>
      </p:sp>
      <p:sp>
        <p:nvSpPr>
          <p:cNvPr id="4" name="Rectangle 3"/>
          <p:cNvSpPr/>
          <p:nvPr/>
        </p:nvSpPr>
        <p:spPr>
          <a:xfrm>
            <a:off x="822960" y="2194560"/>
            <a:ext cx="9326880" cy="1188720"/>
          </a:xfrm>
          <a:prstGeom prst="rect">
            <a:avLst/>
          </a:prstGeom>
          <a:solidFill>
            <a:srgbClr val="FFFFFF"/>
          </a:solidFill>
          <a:ln>
            <a:noFill/>
          </a:ln>
        </p:spPr>
        <p:txBody>
          <a:bodyPr rtlCol="0" anchor="ctr"/>
          <a:lstStyle/>
          <a:p>
            <a:pPr algn="ctr"/>
          </a:p>
        </p:txBody>
      </p:sp>
      <p:sp>
        <p:nvSpPr>
          <p:cNvPr id="5" name="Oval 4"/>
          <p:cNvSpPr/>
          <p:nvPr/>
        </p:nvSpPr>
        <p:spPr>
          <a:xfrm>
            <a:off x="1051560" y="2377440"/>
            <a:ext cx="822960" cy="822960"/>
          </a:xfrm>
          <a:prstGeom prst="ellipse">
            <a:avLst/>
          </a:prstGeom>
          <a:solidFill>
            <a:srgbClr val="2B9CAE"/>
          </a:solidFill>
          <a:ln>
            <a:noFill/>
          </a:ln>
        </p:spPr>
        <p:txBody>
          <a:bodyPr rtlCol="0" anchor="ctr"/>
          <a:lstStyle/>
          <a:p>
            <a:pPr algn="ctr"/>
          </a:p>
        </p:txBody>
      </p:sp>
      <p:pic>
        <p:nvPicPr>
          <p:cNvPr id="6" name="Picture 5" descr="user-check_FFFFFF.png"/>
          <p:cNvPicPr>
            <a:picLocks noChangeAspect="1"/>
          </p:cNvPicPr>
          <p:nvPr/>
        </p:nvPicPr>
        <p:blipFill>
          <a:blip r:embed="rId3"/>
          <a:stretch>
            <a:fillRect/>
          </a:stretch>
        </p:blipFill>
        <p:spPr>
          <a:xfrm>
            <a:off x="1249070" y="2574950"/>
            <a:ext cx="427939" cy="427939"/>
          </a:xfrm>
          <a:prstGeom prst="rect">
            <a:avLst/>
          </a:prstGeom>
        </p:spPr>
      </p:pic>
      <p:sp>
        <p:nvSpPr>
          <p:cNvPr id="7" name="TextBox 6"/>
          <p:cNvSpPr txBox="1"/>
          <p:nvPr/>
        </p:nvSpPr>
        <p:spPr>
          <a:xfrm>
            <a:off x="2148840" y="2350008"/>
            <a:ext cx="7772400" cy="457200"/>
          </a:xfrm>
          <a:prstGeom prst="rect">
            <a:avLst/>
          </a:prstGeom>
          <a:noFill/>
        </p:spPr>
        <p:txBody>
          <a:bodyPr wrap="square" lIns="0" rIns="0" tIns="0" bIns="0" anchor="t">
            <a:spAutoFit/>
          </a:bodyPr>
          <a:lstStyle/>
          <a:p>
            <a:pPr algn="l"/>
            <a:r>
              <a:rPr sz="2000" b="1" i="0">
                <a:solidFill>
                  <a:srgbClr val="04243C"/>
                </a:solidFill>
                <a:latin typeface="Helvetica Neue"/>
              </a:rPr>
              <a:t>People approve outbound actions</a:t>
            </a:r>
          </a:p>
        </p:txBody>
      </p:sp>
      <p:sp>
        <p:nvSpPr>
          <p:cNvPr id="8" name="TextBox 7"/>
          <p:cNvSpPr txBox="1"/>
          <p:nvPr/>
        </p:nvSpPr>
        <p:spPr>
          <a:xfrm>
            <a:off x="2148840" y="2834639"/>
            <a:ext cx="7772400" cy="411480"/>
          </a:xfrm>
          <a:prstGeom prst="rect">
            <a:avLst/>
          </a:prstGeom>
          <a:noFill/>
        </p:spPr>
        <p:txBody>
          <a:bodyPr wrap="square" lIns="0" rIns="0" tIns="0" bIns="0" anchor="t">
            <a:spAutoFit/>
          </a:bodyPr>
          <a:lstStyle/>
          <a:p>
            <a:pPr algn="l"/>
            <a:r>
              <a:rPr sz="1600" b="0" i="0">
                <a:solidFill>
                  <a:srgbClr val="475569"/>
                </a:solidFill>
                <a:latin typeface="Helvetica Neue"/>
              </a:rPr>
              <a:t>Agents draft; a person sends or changes</a:t>
            </a:r>
          </a:p>
        </p:txBody>
      </p:sp>
      <p:sp>
        <p:nvSpPr>
          <p:cNvPr id="9" name="Rectangle 8"/>
          <p:cNvSpPr/>
          <p:nvPr/>
        </p:nvSpPr>
        <p:spPr>
          <a:xfrm>
            <a:off x="822960" y="3611880"/>
            <a:ext cx="9326880" cy="1188720"/>
          </a:xfrm>
          <a:prstGeom prst="rect">
            <a:avLst/>
          </a:prstGeom>
          <a:solidFill>
            <a:srgbClr val="FFFFFF"/>
          </a:solidFill>
          <a:ln>
            <a:noFill/>
          </a:ln>
        </p:spPr>
        <p:txBody>
          <a:bodyPr rtlCol="0" anchor="ctr"/>
          <a:lstStyle/>
          <a:p>
            <a:pPr algn="ctr"/>
          </a:p>
        </p:txBody>
      </p:sp>
      <p:sp>
        <p:nvSpPr>
          <p:cNvPr id="10" name="Oval 9"/>
          <p:cNvSpPr/>
          <p:nvPr/>
        </p:nvSpPr>
        <p:spPr>
          <a:xfrm>
            <a:off x="1051560" y="3794760"/>
            <a:ext cx="822960" cy="822960"/>
          </a:xfrm>
          <a:prstGeom prst="ellipse">
            <a:avLst/>
          </a:prstGeom>
          <a:solidFill>
            <a:srgbClr val="2B9CAE"/>
          </a:solidFill>
          <a:ln>
            <a:noFill/>
          </a:ln>
        </p:spPr>
        <p:txBody>
          <a:bodyPr rtlCol="0" anchor="ctr"/>
          <a:lstStyle/>
          <a:p>
            <a:pPr algn="ctr"/>
          </a:p>
        </p:txBody>
      </p:sp>
      <p:pic>
        <p:nvPicPr>
          <p:cNvPr id="11" name="Picture 10" descr="file-search_FFFFFF.png"/>
          <p:cNvPicPr>
            <a:picLocks noChangeAspect="1"/>
          </p:cNvPicPr>
          <p:nvPr/>
        </p:nvPicPr>
        <p:blipFill>
          <a:blip r:embed="rId4"/>
          <a:stretch>
            <a:fillRect/>
          </a:stretch>
        </p:blipFill>
        <p:spPr>
          <a:xfrm>
            <a:off x="1249070" y="3992270"/>
            <a:ext cx="427939" cy="427939"/>
          </a:xfrm>
          <a:prstGeom prst="rect">
            <a:avLst/>
          </a:prstGeom>
        </p:spPr>
      </p:pic>
      <p:sp>
        <p:nvSpPr>
          <p:cNvPr id="12" name="TextBox 11"/>
          <p:cNvSpPr txBox="1"/>
          <p:nvPr/>
        </p:nvSpPr>
        <p:spPr>
          <a:xfrm>
            <a:off x="2148840" y="3767328"/>
            <a:ext cx="7772400" cy="457200"/>
          </a:xfrm>
          <a:prstGeom prst="rect">
            <a:avLst/>
          </a:prstGeom>
          <a:noFill/>
        </p:spPr>
        <p:txBody>
          <a:bodyPr wrap="square" lIns="0" rIns="0" tIns="0" bIns="0" anchor="t">
            <a:spAutoFit/>
          </a:bodyPr>
          <a:lstStyle/>
          <a:p>
            <a:pPr algn="l"/>
            <a:r>
              <a:rPr sz="2000" b="1" i="0">
                <a:solidFill>
                  <a:srgbClr val="04243C"/>
                </a:solidFill>
                <a:latin typeface="Helvetica Neue"/>
              </a:rPr>
              <a:t>Evidence first</a:t>
            </a:r>
          </a:p>
        </p:txBody>
      </p:sp>
      <p:sp>
        <p:nvSpPr>
          <p:cNvPr id="13" name="TextBox 12"/>
          <p:cNvSpPr txBox="1"/>
          <p:nvPr/>
        </p:nvSpPr>
        <p:spPr>
          <a:xfrm>
            <a:off x="2148840" y="4251960"/>
            <a:ext cx="7772400" cy="411480"/>
          </a:xfrm>
          <a:prstGeom prst="rect">
            <a:avLst/>
          </a:prstGeom>
          <a:noFill/>
        </p:spPr>
        <p:txBody>
          <a:bodyPr wrap="square" lIns="0" rIns="0" tIns="0" bIns="0" anchor="t">
            <a:spAutoFit/>
          </a:bodyPr>
          <a:lstStyle/>
          <a:p>
            <a:pPr algn="l"/>
            <a:r>
              <a:rPr sz="1600" b="0" i="0">
                <a:solidFill>
                  <a:srgbClr val="475569"/>
                </a:solidFill>
                <a:latin typeface="Helvetica Neue"/>
              </a:rPr>
              <a:t>Every output cites its source passage</a:t>
            </a:r>
          </a:p>
        </p:txBody>
      </p:sp>
      <p:sp>
        <p:nvSpPr>
          <p:cNvPr id="14" name="Rectangle 13"/>
          <p:cNvSpPr/>
          <p:nvPr/>
        </p:nvSpPr>
        <p:spPr>
          <a:xfrm>
            <a:off x="822960" y="5029200"/>
            <a:ext cx="9326880" cy="1188720"/>
          </a:xfrm>
          <a:prstGeom prst="rect">
            <a:avLst/>
          </a:prstGeom>
          <a:solidFill>
            <a:srgbClr val="FFFFFF"/>
          </a:solidFill>
          <a:ln>
            <a:noFill/>
          </a:ln>
        </p:spPr>
        <p:txBody>
          <a:bodyPr rtlCol="0" anchor="ctr"/>
          <a:lstStyle/>
          <a:p>
            <a:pPr algn="ctr"/>
          </a:p>
        </p:txBody>
      </p:sp>
      <p:sp>
        <p:nvSpPr>
          <p:cNvPr id="15" name="Oval 14"/>
          <p:cNvSpPr/>
          <p:nvPr/>
        </p:nvSpPr>
        <p:spPr>
          <a:xfrm>
            <a:off x="1051560" y="5212080"/>
            <a:ext cx="822960" cy="822960"/>
          </a:xfrm>
          <a:prstGeom prst="ellipse">
            <a:avLst/>
          </a:prstGeom>
          <a:solidFill>
            <a:srgbClr val="00539B"/>
          </a:solidFill>
          <a:ln>
            <a:noFill/>
          </a:ln>
        </p:spPr>
        <p:txBody>
          <a:bodyPr rtlCol="0" anchor="ctr"/>
          <a:lstStyle/>
          <a:p>
            <a:pPr algn="ctr"/>
          </a:p>
        </p:txBody>
      </p:sp>
      <p:pic>
        <p:nvPicPr>
          <p:cNvPr id="16" name="Picture 15" descr="gauge_FFFFFF.png"/>
          <p:cNvPicPr>
            <a:picLocks noChangeAspect="1"/>
          </p:cNvPicPr>
          <p:nvPr/>
        </p:nvPicPr>
        <p:blipFill>
          <a:blip r:embed="rId5"/>
          <a:stretch>
            <a:fillRect/>
          </a:stretch>
        </p:blipFill>
        <p:spPr>
          <a:xfrm>
            <a:off x="1249070" y="5409590"/>
            <a:ext cx="427939" cy="427939"/>
          </a:xfrm>
          <a:prstGeom prst="rect">
            <a:avLst/>
          </a:prstGeom>
        </p:spPr>
      </p:pic>
      <p:sp>
        <p:nvSpPr>
          <p:cNvPr id="17" name="TextBox 16"/>
          <p:cNvSpPr txBox="1"/>
          <p:nvPr/>
        </p:nvSpPr>
        <p:spPr>
          <a:xfrm>
            <a:off x="2148840" y="5184648"/>
            <a:ext cx="7772400" cy="457200"/>
          </a:xfrm>
          <a:prstGeom prst="rect">
            <a:avLst/>
          </a:prstGeom>
          <a:noFill/>
        </p:spPr>
        <p:txBody>
          <a:bodyPr wrap="square" lIns="0" rIns="0" tIns="0" bIns="0" anchor="t">
            <a:spAutoFit/>
          </a:bodyPr>
          <a:lstStyle/>
          <a:p>
            <a:pPr algn="l"/>
            <a:r>
              <a:rPr sz="2000" b="1" i="0">
                <a:solidFill>
                  <a:srgbClr val="04243C"/>
                </a:solidFill>
                <a:latin typeface="Helvetica Neue"/>
              </a:rPr>
              <a:t>Confidence-gated</a:t>
            </a:r>
          </a:p>
        </p:txBody>
      </p:sp>
      <p:sp>
        <p:nvSpPr>
          <p:cNvPr id="18" name="TextBox 17"/>
          <p:cNvSpPr txBox="1"/>
          <p:nvPr/>
        </p:nvSpPr>
        <p:spPr>
          <a:xfrm>
            <a:off x="2148840" y="5669280"/>
            <a:ext cx="7772400" cy="411480"/>
          </a:xfrm>
          <a:prstGeom prst="rect">
            <a:avLst/>
          </a:prstGeom>
          <a:noFill/>
        </p:spPr>
        <p:txBody>
          <a:bodyPr wrap="square" lIns="0" rIns="0" tIns="0" bIns="0" anchor="t">
            <a:spAutoFit/>
          </a:bodyPr>
          <a:lstStyle/>
          <a:p>
            <a:pPr algn="l"/>
            <a:r>
              <a:rPr sz="1600" b="0" i="0">
                <a:solidFill>
                  <a:srgbClr val="475569"/>
                </a:solidFill>
                <a:latin typeface="Helvetica Neue"/>
              </a:rPr>
              <a:t>Evaluation scores set what needs review</a:t>
            </a:r>
          </a:p>
        </p:txBody>
      </p:sp>
      <p:sp>
        <p:nvSpPr>
          <p:cNvPr id="19" name="Rectangle 18"/>
          <p:cNvSpPr/>
          <p:nvPr/>
        </p:nvSpPr>
        <p:spPr>
          <a:xfrm>
            <a:off x="822960" y="6446520"/>
            <a:ext cx="9326880" cy="1188720"/>
          </a:xfrm>
          <a:prstGeom prst="rect">
            <a:avLst/>
          </a:prstGeom>
          <a:solidFill>
            <a:srgbClr val="FFFFFF"/>
          </a:solidFill>
          <a:ln>
            <a:noFill/>
          </a:ln>
        </p:spPr>
        <p:txBody>
          <a:bodyPr rtlCol="0" anchor="ctr"/>
          <a:lstStyle/>
          <a:p>
            <a:pPr algn="ctr"/>
          </a:p>
        </p:txBody>
      </p:sp>
      <p:sp>
        <p:nvSpPr>
          <p:cNvPr id="20" name="Oval 19"/>
          <p:cNvSpPr/>
          <p:nvPr/>
        </p:nvSpPr>
        <p:spPr>
          <a:xfrm>
            <a:off x="1051560" y="6629400"/>
            <a:ext cx="822960" cy="822960"/>
          </a:xfrm>
          <a:prstGeom prst="ellipse">
            <a:avLst/>
          </a:prstGeom>
          <a:solidFill>
            <a:srgbClr val="00539B"/>
          </a:solidFill>
          <a:ln>
            <a:noFill/>
          </a:ln>
        </p:spPr>
        <p:txBody>
          <a:bodyPr rtlCol="0" anchor="ctr"/>
          <a:lstStyle/>
          <a:p>
            <a:pPr algn="ctr"/>
          </a:p>
        </p:txBody>
      </p:sp>
      <p:pic>
        <p:nvPicPr>
          <p:cNvPr id="21" name="Picture 20" descr="ban_FFFFFF.png"/>
          <p:cNvPicPr>
            <a:picLocks noChangeAspect="1"/>
          </p:cNvPicPr>
          <p:nvPr/>
        </p:nvPicPr>
        <p:blipFill>
          <a:blip r:embed="rId6"/>
          <a:stretch>
            <a:fillRect/>
          </a:stretch>
        </p:blipFill>
        <p:spPr>
          <a:xfrm>
            <a:off x="1249070" y="6826910"/>
            <a:ext cx="427939" cy="427939"/>
          </a:xfrm>
          <a:prstGeom prst="rect">
            <a:avLst/>
          </a:prstGeom>
        </p:spPr>
      </p:pic>
      <p:sp>
        <p:nvSpPr>
          <p:cNvPr id="22" name="TextBox 21"/>
          <p:cNvSpPr txBox="1"/>
          <p:nvPr/>
        </p:nvSpPr>
        <p:spPr>
          <a:xfrm>
            <a:off x="2148840" y="6601968"/>
            <a:ext cx="7772400" cy="457200"/>
          </a:xfrm>
          <a:prstGeom prst="rect">
            <a:avLst/>
          </a:prstGeom>
          <a:noFill/>
        </p:spPr>
        <p:txBody>
          <a:bodyPr wrap="square" lIns="0" rIns="0" tIns="0" bIns="0" anchor="t">
            <a:spAutoFit/>
          </a:bodyPr>
          <a:lstStyle/>
          <a:p>
            <a:pPr algn="l"/>
            <a:r>
              <a:rPr sz="2000" b="1" i="0">
                <a:solidFill>
                  <a:srgbClr val="04243C"/>
                </a:solidFill>
                <a:latin typeface="Helvetica Neue"/>
              </a:rPr>
              <a:t>No investment advice</a:t>
            </a:r>
          </a:p>
        </p:txBody>
      </p:sp>
      <p:sp>
        <p:nvSpPr>
          <p:cNvPr id="23" name="TextBox 22"/>
          <p:cNvSpPr txBox="1"/>
          <p:nvPr/>
        </p:nvSpPr>
        <p:spPr>
          <a:xfrm>
            <a:off x="2148840" y="7086600"/>
            <a:ext cx="7772400" cy="411480"/>
          </a:xfrm>
          <a:prstGeom prst="rect">
            <a:avLst/>
          </a:prstGeom>
          <a:noFill/>
        </p:spPr>
        <p:txBody>
          <a:bodyPr wrap="square" lIns="0" rIns="0" tIns="0" bIns="0" anchor="t">
            <a:spAutoFit/>
          </a:bodyPr>
          <a:lstStyle/>
          <a:p>
            <a:pPr algn="l"/>
            <a:r>
              <a:rPr sz="1600" b="0" i="0">
                <a:solidFill>
                  <a:srgbClr val="475569"/>
                </a:solidFill>
                <a:latin typeface="Helvetica Neue"/>
              </a:rPr>
              <a:t>Information and deadlines only</a:t>
            </a:r>
          </a:p>
        </p:txBody>
      </p:sp>
      <p:sp>
        <p:nvSpPr>
          <p:cNvPr id="24" name="Rectangle 23"/>
          <p:cNvSpPr/>
          <p:nvPr/>
        </p:nvSpPr>
        <p:spPr>
          <a:xfrm>
            <a:off x="822960" y="7863840"/>
            <a:ext cx="9326880" cy="1188720"/>
          </a:xfrm>
          <a:prstGeom prst="rect">
            <a:avLst/>
          </a:prstGeom>
          <a:solidFill>
            <a:srgbClr val="FFFFFF"/>
          </a:solidFill>
          <a:ln>
            <a:noFill/>
          </a:ln>
        </p:spPr>
        <p:txBody>
          <a:bodyPr rtlCol="0" anchor="ctr"/>
          <a:lstStyle/>
          <a:p>
            <a:pPr algn="ctr"/>
          </a:p>
        </p:txBody>
      </p:sp>
      <p:sp>
        <p:nvSpPr>
          <p:cNvPr id="25" name="Oval 24"/>
          <p:cNvSpPr/>
          <p:nvPr/>
        </p:nvSpPr>
        <p:spPr>
          <a:xfrm>
            <a:off x="1051560" y="8046719"/>
            <a:ext cx="822960" cy="822960"/>
          </a:xfrm>
          <a:prstGeom prst="ellipse">
            <a:avLst/>
          </a:prstGeom>
          <a:solidFill>
            <a:srgbClr val="012169"/>
          </a:solidFill>
          <a:ln>
            <a:noFill/>
          </a:ln>
        </p:spPr>
        <p:txBody>
          <a:bodyPr rtlCol="0" anchor="ctr"/>
          <a:lstStyle/>
          <a:p>
            <a:pPr algn="ctr"/>
          </a:p>
        </p:txBody>
      </p:sp>
      <p:pic>
        <p:nvPicPr>
          <p:cNvPr id="26" name="Picture 25" descr="scroll-text_FFFFFF.png"/>
          <p:cNvPicPr>
            <a:picLocks noChangeAspect="1"/>
          </p:cNvPicPr>
          <p:nvPr/>
        </p:nvPicPr>
        <p:blipFill>
          <a:blip r:embed="rId7"/>
          <a:stretch>
            <a:fillRect/>
          </a:stretch>
        </p:blipFill>
        <p:spPr>
          <a:xfrm>
            <a:off x="1249070" y="8244230"/>
            <a:ext cx="427939" cy="427939"/>
          </a:xfrm>
          <a:prstGeom prst="rect">
            <a:avLst/>
          </a:prstGeom>
        </p:spPr>
      </p:pic>
      <p:sp>
        <p:nvSpPr>
          <p:cNvPr id="27" name="TextBox 26"/>
          <p:cNvSpPr txBox="1"/>
          <p:nvPr/>
        </p:nvSpPr>
        <p:spPr>
          <a:xfrm>
            <a:off x="2148840" y="8019288"/>
            <a:ext cx="7772400" cy="457200"/>
          </a:xfrm>
          <a:prstGeom prst="rect">
            <a:avLst/>
          </a:prstGeom>
          <a:noFill/>
        </p:spPr>
        <p:txBody>
          <a:bodyPr wrap="square" lIns="0" rIns="0" tIns="0" bIns="0" anchor="t">
            <a:spAutoFit/>
          </a:bodyPr>
          <a:lstStyle/>
          <a:p>
            <a:pPr algn="l"/>
            <a:r>
              <a:rPr sz="2000" b="1" i="0">
                <a:solidFill>
                  <a:srgbClr val="04243C"/>
                </a:solidFill>
                <a:latin typeface="Helvetica Neue"/>
              </a:rPr>
              <a:t>Full logging</a:t>
            </a:r>
          </a:p>
        </p:txBody>
      </p:sp>
      <p:sp>
        <p:nvSpPr>
          <p:cNvPr id="28" name="TextBox 27"/>
          <p:cNvSpPr txBox="1"/>
          <p:nvPr/>
        </p:nvSpPr>
        <p:spPr>
          <a:xfrm>
            <a:off x="2148840" y="8503919"/>
            <a:ext cx="7772400" cy="411480"/>
          </a:xfrm>
          <a:prstGeom prst="rect">
            <a:avLst/>
          </a:prstGeom>
          <a:noFill/>
        </p:spPr>
        <p:txBody>
          <a:bodyPr wrap="square" lIns="0" rIns="0" tIns="0" bIns="0" anchor="t">
            <a:spAutoFit/>
          </a:bodyPr>
          <a:lstStyle/>
          <a:p>
            <a:pPr algn="l"/>
            <a:r>
              <a:rPr sz="1600" b="0" i="0">
                <a:solidFill>
                  <a:srgbClr val="475569"/>
                </a:solidFill>
                <a:latin typeface="Helvetica Neue"/>
              </a:rPr>
              <a:t>Every step and tool call recorded</a:t>
            </a:r>
          </a:p>
        </p:txBody>
      </p:sp>
      <p:sp>
        <p:nvSpPr>
          <p:cNvPr id="29" name="Snip Single Corner Rectangle 28"/>
          <p:cNvSpPr/>
          <p:nvPr/>
        </p:nvSpPr>
        <p:spPr>
          <a:xfrm>
            <a:off x="10607040" y="2194560"/>
            <a:ext cx="6858000" cy="6858000"/>
          </a:xfrm>
          <a:prstGeom prst="snip1Rect">
            <a:avLst/>
          </a:prstGeom>
          <a:solidFill>
            <a:srgbClr val="CFE6E9"/>
          </a:solidFill>
          <a:ln>
            <a:noFill/>
          </a:ln>
        </p:spPr>
        <p:txBody>
          <a:bodyPr rtlCol="0" anchor="ctr"/>
          <a:lstStyle/>
          <a:p>
            <a:pPr algn="ctr"/>
          </a:p>
        </p:txBody>
      </p:sp>
      <p:sp>
        <p:nvSpPr>
          <p:cNvPr id="30" name="Oval 29"/>
          <p:cNvSpPr/>
          <p:nvPr/>
        </p:nvSpPr>
        <p:spPr>
          <a:xfrm>
            <a:off x="11018520" y="2606040"/>
            <a:ext cx="868680" cy="868680"/>
          </a:xfrm>
          <a:prstGeom prst="ellipse">
            <a:avLst/>
          </a:prstGeom>
          <a:solidFill>
            <a:srgbClr val="04243C"/>
          </a:solidFill>
          <a:ln>
            <a:noFill/>
          </a:ln>
        </p:spPr>
        <p:txBody>
          <a:bodyPr rtlCol="0" anchor="ctr"/>
          <a:lstStyle/>
          <a:p>
            <a:pPr algn="ctr"/>
          </a:p>
        </p:txBody>
      </p:sp>
      <p:pic>
        <p:nvPicPr>
          <p:cNvPr id="31" name="Picture 30" descr="message-square_FFFFFF.png"/>
          <p:cNvPicPr>
            <a:picLocks noChangeAspect="1"/>
          </p:cNvPicPr>
          <p:nvPr/>
        </p:nvPicPr>
        <p:blipFill>
          <a:blip r:embed="rId8"/>
          <a:stretch>
            <a:fillRect/>
          </a:stretch>
        </p:blipFill>
        <p:spPr>
          <a:xfrm>
            <a:off x="11227003" y="2814523"/>
            <a:ext cx="451713" cy="451713"/>
          </a:xfrm>
          <a:prstGeom prst="rect">
            <a:avLst/>
          </a:prstGeom>
        </p:spPr>
      </p:pic>
      <p:sp>
        <p:nvSpPr>
          <p:cNvPr id="32" name="TextBox 31"/>
          <p:cNvSpPr txBox="1"/>
          <p:nvPr/>
        </p:nvSpPr>
        <p:spPr>
          <a:xfrm>
            <a:off x="12115800" y="2606040"/>
            <a:ext cx="5029200" cy="868680"/>
          </a:xfrm>
          <a:prstGeom prst="rect">
            <a:avLst/>
          </a:prstGeom>
          <a:noFill/>
        </p:spPr>
        <p:txBody>
          <a:bodyPr wrap="square" lIns="0" rIns="0" tIns="0" bIns="0" anchor="ctr">
            <a:spAutoFit/>
          </a:bodyPr>
          <a:lstStyle/>
          <a:p>
            <a:pPr algn="l"/>
            <a:r>
              <a:rPr sz="2400" b="1" i="0">
                <a:solidFill>
                  <a:srgbClr val="04243C"/>
                </a:solidFill>
                <a:latin typeface="Helvetica Neue"/>
              </a:rPr>
              <a:t>Your input</a:t>
            </a:r>
          </a:p>
        </p:txBody>
      </p:sp>
      <p:sp>
        <p:nvSpPr>
          <p:cNvPr id="33" name="Rounded Rectangle 32"/>
          <p:cNvSpPr/>
          <p:nvPr/>
        </p:nvSpPr>
        <p:spPr>
          <a:xfrm>
            <a:off x="11018520" y="3840480"/>
            <a:ext cx="6035040" cy="1463040"/>
          </a:xfrm>
          <a:prstGeom prst="roundRect">
            <a:avLst>
              <a:gd name="adj" fmla="val 12500"/>
            </a:avLst>
          </a:prstGeom>
          <a:solidFill>
            <a:srgbClr val="FFFFFF"/>
          </a:solidFill>
          <a:ln>
            <a:noFill/>
          </a:ln>
        </p:spPr>
        <p:txBody>
          <a:bodyPr rtlCol="0" anchor="ctr"/>
          <a:lstStyle/>
          <a:p>
            <a:pPr algn="ctr"/>
          </a:p>
        </p:txBody>
      </p:sp>
      <p:sp>
        <p:nvSpPr>
          <p:cNvPr id="34" name="TextBox 33"/>
          <p:cNvSpPr txBox="1"/>
          <p:nvPr/>
        </p:nvSpPr>
        <p:spPr>
          <a:xfrm>
            <a:off x="11338560" y="3840480"/>
            <a:ext cx="5486400" cy="1463040"/>
          </a:xfrm>
          <a:prstGeom prst="rect">
            <a:avLst/>
          </a:prstGeom>
          <a:noFill/>
        </p:spPr>
        <p:txBody>
          <a:bodyPr wrap="square" lIns="0" rIns="0" tIns="0" bIns="0" anchor="ctr">
            <a:spAutoFit/>
          </a:bodyPr>
          <a:lstStyle/>
          <a:p>
            <a:pPr algn="l"/>
            <a:r>
              <a:rPr sz="1800" b="0" i="0">
                <a:solidFill>
                  <a:srgbClr val="04243C"/>
                </a:solidFill>
                <a:latin typeface="Helvetica Neue"/>
              </a:rPr>
              <a:t>Which of these three agents would help your teams most?</a:t>
            </a:r>
          </a:p>
        </p:txBody>
      </p:sp>
      <p:sp>
        <p:nvSpPr>
          <p:cNvPr id="35" name="Rounded Rectangle 34"/>
          <p:cNvSpPr/>
          <p:nvPr/>
        </p:nvSpPr>
        <p:spPr>
          <a:xfrm>
            <a:off x="11018520" y="5532120"/>
            <a:ext cx="6035040" cy="1463040"/>
          </a:xfrm>
          <a:prstGeom prst="roundRect">
            <a:avLst>
              <a:gd name="adj" fmla="val 12500"/>
            </a:avLst>
          </a:prstGeom>
          <a:solidFill>
            <a:srgbClr val="FFFFFF"/>
          </a:solidFill>
          <a:ln>
            <a:noFill/>
          </a:ln>
        </p:spPr>
        <p:txBody>
          <a:bodyPr rtlCol="0" anchor="ctr"/>
          <a:lstStyle/>
          <a:p>
            <a:pPr algn="ctr"/>
          </a:p>
        </p:txBody>
      </p:sp>
      <p:sp>
        <p:nvSpPr>
          <p:cNvPr id="36" name="TextBox 35"/>
          <p:cNvSpPr txBox="1"/>
          <p:nvPr/>
        </p:nvSpPr>
        <p:spPr>
          <a:xfrm>
            <a:off x="11338560" y="5532120"/>
            <a:ext cx="5486400" cy="1463040"/>
          </a:xfrm>
          <a:prstGeom prst="rect">
            <a:avLst/>
          </a:prstGeom>
          <a:noFill/>
        </p:spPr>
        <p:txBody>
          <a:bodyPr wrap="square" lIns="0" rIns="0" tIns="0" bIns="0" anchor="ctr">
            <a:spAutoFit/>
          </a:bodyPr>
          <a:lstStyle/>
          <a:p>
            <a:pPr algn="l"/>
            <a:r>
              <a:rPr sz="1800" b="0" i="0">
                <a:solidFill>
                  <a:srgbClr val="04243C"/>
                </a:solidFill>
                <a:latin typeface="Helvetica Neue"/>
              </a:rPr>
              <a:t>Where do vendor and internal event records sit in your process today?</a:t>
            </a:r>
          </a:p>
        </p:txBody>
      </p:sp>
      <p:sp>
        <p:nvSpPr>
          <p:cNvPr id="37" name="Rounded Rectangle 36"/>
          <p:cNvSpPr/>
          <p:nvPr/>
        </p:nvSpPr>
        <p:spPr>
          <a:xfrm>
            <a:off x="11018520" y="7223760"/>
            <a:ext cx="6035040" cy="1463040"/>
          </a:xfrm>
          <a:prstGeom prst="roundRect">
            <a:avLst>
              <a:gd name="adj" fmla="val 12500"/>
            </a:avLst>
          </a:prstGeom>
          <a:solidFill>
            <a:srgbClr val="FFFFFF"/>
          </a:solidFill>
          <a:ln>
            <a:noFill/>
          </a:ln>
        </p:spPr>
        <p:txBody>
          <a:bodyPr rtlCol="0" anchor="ctr"/>
          <a:lstStyle/>
          <a:p>
            <a:pPr algn="ctr"/>
          </a:p>
        </p:txBody>
      </p:sp>
      <p:sp>
        <p:nvSpPr>
          <p:cNvPr id="38" name="TextBox 37"/>
          <p:cNvSpPr txBox="1"/>
          <p:nvPr/>
        </p:nvSpPr>
        <p:spPr>
          <a:xfrm>
            <a:off x="11338560" y="7223760"/>
            <a:ext cx="5486400" cy="1463040"/>
          </a:xfrm>
          <a:prstGeom prst="rect">
            <a:avLst/>
          </a:prstGeom>
          <a:noFill/>
        </p:spPr>
        <p:txBody>
          <a:bodyPr wrap="square" lIns="0" rIns="0" tIns="0" bIns="0" anchor="ctr">
            <a:spAutoFit/>
          </a:bodyPr>
          <a:lstStyle/>
          <a:p>
            <a:pPr algn="l"/>
            <a:r>
              <a:rPr sz="1800" b="0" i="0">
                <a:solidFill>
                  <a:srgbClr val="04243C"/>
                </a:solidFill>
                <a:latin typeface="Helvetica Neue"/>
              </a:rPr>
              <a:t>How are clients told today when an amendment changes the terms?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3600" b="1">
                <a:latin typeface="Helvetica Neue"/>
              </a:rPr>
              <a:t>Appendix: agent ideas at a glance</a:t>
            </a:r>
          </a:p>
        </p:txBody>
      </p:sp>
      <p:sp>
        <p:nvSpPr>
          <p:cNvPr id="4" name="TextBox 3"/>
          <p:cNvSpPr txBox="1"/>
          <p:nvPr/>
        </p:nvSpPr>
        <p:spPr>
          <a:xfrm>
            <a:off x="822960" y="2057400"/>
            <a:ext cx="5349240" cy="457200"/>
          </a:xfrm>
          <a:prstGeom prst="rect">
            <a:avLst/>
          </a:prstGeom>
          <a:noFill/>
        </p:spPr>
        <p:txBody>
          <a:bodyPr wrap="square" lIns="0" rIns="0" tIns="0" bIns="0" anchor="t">
            <a:spAutoFit/>
          </a:bodyPr>
          <a:lstStyle/>
          <a:p>
            <a:pPr algn="l"/>
            <a:r>
              <a:rPr sz="1800" b="1" i="0">
                <a:solidFill>
                  <a:srgbClr val="2B9CAE"/>
                </a:solidFill>
                <a:latin typeface="Helvetica Neue"/>
              </a:rPr>
              <a:t>Operations agents</a:t>
            </a:r>
          </a:p>
        </p:txBody>
      </p:sp>
      <p:cxnSp>
        <p:nvCxnSpPr>
          <p:cNvPr id="5" name="Connector 4"/>
          <p:cNvCxnSpPr/>
          <p:nvPr/>
        </p:nvCxnSpPr>
        <p:spPr>
          <a:xfrm>
            <a:off x="822960" y="2606040"/>
            <a:ext cx="5349240" cy="0"/>
          </a:xfrm>
          <a:prstGeom prst="line">
            <a:avLst/>
          </a:prstGeom>
          <a:ln w="15875">
            <a:solidFill>
              <a:srgbClr val="D8CDB8"/>
            </a:solidFill>
          </a:ln>
        </p:spPr>
      </p:cxnSp>
      <p:sp>
        <p:nvSpPr>
          <p:cNvPr id="6" name="TextBox 5"/>
          <p:cNvSpPr txBox="1"/>
          <p:nvPr/>
        </p:nvSpPr>
        <p:spPr>
          <a:xfrm>
            <a:off x="822960" y="2788920"/>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Filing triage</a:t>
            </a:r>
          </a:p>
          <a:p>
            <a:pPr algn="l">
              <a:spcAft>
                <a:spcPts val="200"/>
              </a:spcAft>
            </a:pPr>
            <a:r>
              <a:rPr sz="1250" b="0" i="0">
                <a:solidFill>
                  <a:srgbClr val="475569"/>
                </a:solidFill>
                <a:latin typeface="Helvetica Neue"/>
              </a:rPr>
              <a:t>Screens new SEC filings, decides whether each is a corporate action and which type, and routes it to the right pipeline.</a:t>
            </a:r>
          </a:p>
        </p:txBody>
      </p:sp>
      <p:sp>
        <p:nvSpPr>
          <p:cNvPr id="7" name="TextBox 6"/>
          <p:cNvSpPr txBox="1"/>
          <p:nvPr/>
        </p:nvSpPr>
        <p:spPr>
          <a:xfrm>
            <a:off x="822960" y="3767328"/>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Event builder</a:t>
            </a:r>
          </a:p>
          <a:p>
            <a:pPr algn="l">
              <a:spcAft>
                <a:spcPts val="200"/>
              </a:spcAft>
            </a:pPr>
            <a:r>
              <a:rPr sz="1250" b="0" i="0">
                <a:solidFill>
                  <a:srgbClr val="475569"/>
                </a:solidFill>
                <a:latin typeface="Helvetica Neue"/>
              </a:rPr>
              <a:t>Links a filing with its related filings and amendments into one event record with sources.</a:t>
            </a:r>
          </a:p>
        </p:txBody>
      </p:sp>
      <p:sp>
        <p:nvSpPr>
          <p:cNvPr id="8" name="TextBox 7"/>
          <p:cNvSpPr txBox="1"/>
          <p:nvPr/>
        </p:nvSpPr>
        <p:spPr>
          <a:xfrm>
            <a:off x="822960" y="4745736"/>
            <a:ext cx="5349240" cy="914400"/>
          </a:xfrm>
          <a:prstGeom prst="rect">
            <a:avLst/>
          </a:prstGeom>
          <a:noFill/>
        </p:spPr>
        <p:txBody>
          <a:bodyPr wrap="square" lIns="0" rIns="0" tIns="0" bIns="0" anchor="t">
            <a:spAutoFit/>
          </a:bodyPr>
          <a:lstStyle/>
          <a:p>
            <a:pPr algn="l">
              <a:spcAft>
                <a:spcPts val="200"/>
              </a:spcAft>
            </a:pPr>
            <a:r>
              <a:rPr sz="1400" b="1" i="0">
                <a:solidFill>
                  <a:srgbClr val="2B9CAE"/>
                </a:solidFill>
                <a:latin typeface="Helvetica Neue"/>
              </a:rPr>
              <a:t>Vendor reconciliation</a:t>
            </a:r>
          </a:p>
          <a:p>
            <a:pPr algn="l">
              <a:spcAft>
                <a:spcPts val="200"/>
              </a:spcAft>
            </a:pPr>
            <a:r>
              <a:rPr sz="1250" b="0" i="0">
                <a:solidFill>
                  <a:srgbClr val="475569"/>
                </a:solidFill>
                <a:latin typeface="Helvetica Neue"/>
              </a:rPr>
              <a:t>Compares filing-derived terms with vendor and internal records and files a discrepancy ticket with evidence.</a:t>
            </a:r>
          </a:p>
        </p:txBody>
      </p:sp>
      <p:sp>
        <p:nvSpPr>
          <p:cNvPr id="9" name="TextBox 8"/>
          <p:cNvSpPr txBox="1"/>
          <p:nvPr/>
        </p:nvSpPr>
        <p:spPr>
          <a:xfrm>
            <a:off x="822960" y="5724144"/>
            <a:ext cx="5349240" cy="914400"/>
          </a:xfrm>
          <a:prstGeom prst="rect">
            <a:avLst/>
          </a:prstGeom>
          <a:noFill/>
        </p:spPr>
        <p:txBody>
          <a:bodyPr wrap="square" lIns="0" rIns="0" tIns="0" bIns="0" anchor="t">
            <a:spAutoFit/>
          </a:bodyPr>
          <a:lstStyle/>
          <a:p>
            <a:pPr algn="l">
              <a:spcAft>
                <a:spcPts val="200"/>
              </a:spcAft>
            </a:pPr>
            <a:r>
              <a:rPr sz="1400" b="1" i="0">
                <a:solidFill>
                  <a:srgbClr val="00539B"/>
                </a:solidFill>
                <a:latin typeface="Helvetica Neue"/>
              </a:rPr>
              <a:t>Amendment impact</a:t>
            </a:r>
          </a:p>
          <a:p>
            <a:pPr algn="l">
              <a:spcAft>
                <a:spcPts val="200"/>
              </a:spcAft>
            </a:pPr>
            <a:r>
              <a:rPr sz="1250" b="0" i="0">
                <a:solidFill>
                  <a:srgbClr val="475569"/>
                </a:solidFill>
                <a:latin typeface="Helvetica Neue"/>
              </a:rPr>
              <a:t>Finds what an amendment changed and which clients it affects, then drafts notices for operations to approve.</a:t>
            </a:r>
          </a:p>
        </p:txBody>
      </p:sp>
      <p:sp>
        <p:nvSpPr>
          <p:cNvPr id="10" name="TextBox 9"/>
          <p:cNvSpPr txBox="1"/>
          <p:nvPr/>
        </p:nvSpPr>
        <p:spPr>
          <a:xfrm>
            <a:off x="822960" y="6702552"/>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Deadline watchdog</a:t>
            </a:r>
          </a:p>
          <a:p>
            <a:pPr algn="l">
              <a:spcAft>
                <a:spcPts val="200"/>
              </a:spcAft>
            </a:pPr>
            <a:r>
              <a:rPr sz="1250" b="0" i="0">
                <a:solidFill>
                  <a:srgbClr val="475569"/>
                </a:solidFill>
                <a:latin typeface="Helvetica Neue"/>
              </a:rPr>
              <a:t>Tracks election and response deadlines and alerts the team as they approach or change.</a:t>
            </a:r>
          </a:p>
        </p:txBody>
      </p:sp>
      <p:sp>
        <p:nvSpPr>
          <p:cNvPr id="11" name="TextBox 10"/>
          <p:cNvSpPr txBox="1"/>
          <p:nvPr/>
        </p:nvSpPr>
        <p:spPr>
          <a:xfrm>
            <a:off x="822960" y="7680960"/>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Exception handling</a:t>
            </a:r>
          </a:p>
          <a:p>
            <a:pPr algn="l">
              <a:spcAft>
                <a:spcPts val="200"/>
              </a:spcAft>
            </a:pPr>
            <a:r>
              <a:rPr sz="1250" b="0" i="0">
                <a:solidFill>
                  <a:srgbClr val="475569"/>
                </a:solidFill>
                <a:latin typeface="Helvetica Neue"/>
              </a:rPr>
              <a:t>Gathers context on low-confidence or conflicting values and routes them to the right reviewer.</a:t>
            </a:r>
          </a:p>
        </p:txBody>
      </p:sp>
      <p:sp>
        <p:nvSpPr>
          <p:cNvPr id="12" name="TextBox 11"/>
          <p:cNvSpPr txBox="1"/>
          <p:nvPr/>
        </p:nvSpPr>
        <p:spPr>
          <a:xfrm>
            <a:off x="822960" y="8659367"/>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Data-quality monitor</a:t>
            </a:r>
          </a:p>
          <a:p>
            <a:pPr algn="l">
              <a:spcAft>
                <a:spcPts val="200"/>
              </a:spcAft>
            </a:pPr>
            <a:r>
              <a:rPr sz="1250" b="0" i="0">
                <a:solidFill>
                  <a:srgbClr val="475569"/>
                </a:solidFill>
                <a:latin typeface="Helvetica Neue"/>
              </a:rPr>
              <a:t>Watches extraction output for missing fields and unusual values, and flags issues early.</a:t>
            </a:r>
          </a:p>
        </p:txBody>
      </p:sp>
      <p:sp>
        <p:nvSpPr>
          <p:cNvPr id="13" name="TextBox 12"/>
          <p:cNvSpPr txBox="1"/>
          <p:nvPr/>
        </p:nvSpPr>
        <p:spPr>
          <a:xfrm>
            <a:off x="6473952" y="2057400"/>
            <a:ext cx="5349240" cy="457200"/>
          </a:xfrm>
          <a:prstGeom prst="rect">
            <a:avLst/>
          </a:prstGeom>
          <a:noFill/>
        </p:spPr>
        <p:txBody>
          <a:bodyPr wrap="square" lIns="0" rIns="0" tIns="0" bIns="0" anchor="t">
            <a:spAutoFit/>
          </a:bodyPr>
          <a:lstStyle/>
          <a:p>
            <a:pPr algn="l"/>
            <a:r>
              <a:rPr sz="1800" b="1" i="0">
                <a:solidFill>
                  <a:srgbClr val="2B9CAE"/>
                </a:solidFill>
                <a:latin typeface="Helvetica Neue"/>
              </a:rPr>
              <a:t>Client-facing agents</a:t>
            </a:r>
          </a:p>
        </p:txBody>
      </p:sp>
      <p:cxnSp>
        <p:nvCxnSpPr>
          <p:cNvPr id="14" name="Connector 13"/>
          <p:cNvCxnSpPr/>
          <p:nvPr/>
        </p:nvCxnSpPr>
        <p:spPr>
          <a:xfrm>
            <a:off x="6473952" y="2606040"/>
            <a:ext cx="5349240" cy="0"/>
          </a:xfrm>
          <a:prstGeom prst="line">
            <a:avLst/>
          </a:prstGeom>
          <a:ln w="15875">
            <a:solidFill>
              <a:srgbClr val="D8CDB8"/>
            </a:solidFill>
          </a:ln>
        </p:spPr>
      </p:cxnSp>
      <p:sp>
        <p:nvSpPr>
          <p:cNvPr id="15" name="TextBox 14"/>
          <p:cNvSpPr txBox="1"/>
          <p:nvPr/>
        </p:nvSpPr>
        <p:spPr>
          <a:xfrm>
            <a:off x="6473952" y="2788920"/>
            <a:ext cx="5349240" cy="914400"/>
          </a:xfrm>
          <a:prstGeom prst="rect">
            <a:avLst/>
          </a:prstGeom>
          <a:noFill/>
        </p:spPr>
        <p:txBody>
          <a:bodyPr wrap="square" lIns="0" rIns="0" tIns="0" bIns="0" anchor="t">
            <a:spAutoFit/>
          </a:bodyPr>
          <a:lstStyle/>
          <a:p>
            <a:pPr algn="l">
              <a:spcAft>
                <a:spcPts val="200"/>
              </a:spcAft>
            </a:pPr>
            <a:r>
              <a:rPr sz="1400" b="1" i="0">
                <a:solidFill>
                  <a:srgbClr val="012169"/>
                </a:solidFill>
                <a:latin typeface="Helvetica Neue"/>
              </a:rPr>
              <a:t>Client briefing</a:t>
            </a:r>
          </a:p>
          <a:p>
            <a:pPr algn="l">
              <a:spcAft>
                <a:spcPts val="200"/>
              </a:spcAft>
            </a:pPr>
            <a:r>
              <a:rPr sz="1250" b="0" i="0">
                <a:solidFill>
                  <a:srgbClr val="475569"/>
                </a:solidFill>
                <a:latin typeface="Helvetica Neue"/>
              </a:rPr>
              <a:t>A daily or weekly brief of events in a client's holdings and watchlist, with source links.</a:t>
            </a:r>
          </a:p>
        </p:txBody>
      </p:sp>
      <p:sp>
        <p:nvSpPr>
          <p:cNvPr id="16" name="TextBox 15"/>
          <p:cNvSpPr txBox="1"/>
          <p:nvPr/>
        </p:nvSpPr>
        <p:spPr>
          <a:xfrm>
            <a:off x="6473952" y="3767328"/>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Q&amp;A assistant</a:t>
            </a:r>
          </a:p>
          <a:p>
            <a:pPr algn="l">
              <a:spcAft>
                <a:spcPts val="200"/>
              </a:spcAft>
            </a:pPr>
            <a:r>
              <a:rPr sz="1250" b="0" i="0">
                <a:solidFill>
                  <a:srgbClr val="475569"/>
                </a:solidFill>
                <a:latin typeface="Helvetica Neue"/>
              </a:rPr>
              <a:t>Answers client or staff questions about an event, citing the filing passages.</a:t>
            </a:r>
          </a:p>
        </p:txBody>
      </p:sp>
      <p:sp>
        <p:nvSpPr>
          <p:cNvPr id="17" name="TextBox 16"/>
          <p:cNvSpPr txBox="1"/>
          <p:nvPr/>
        </p:nvSpPr>
        <p:spPr>
          <a:xfrm>
            <a:off x="6473952" y="4745736"/>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Election prep</a:t>
            </a:r>
          </a:p>
          <a:p>
            <a:pPr algn="l">
              <a:spcAft>
                <a:spcPts val="200"/>
              </a:spcAft>
            </a:pPr>
            <a:r>
              <a:rPr sz="1250" b="0" i="0">
                <a:solidFill>
                  <a:srgbClr val="475569"/>
                </a:solidFill>
                <a:latin typeface="Helvetica Neue"/>
              </a:rPr>
              <a:t>Lays out a voluntary event's options, default and deadline so clients can prepare, without advising which to choose.</a:t>
            </a:r>
          </a:p>
        </p:txBody>
      </p:sp>
      <p:sp>
        <p:nvSpPr>
          <p:cNvPr id="18" name="TextBox 17"/>
          <p:cNvSpPr txBox="1"/>
          <p:nvPr/>
        </p:nvSpPr>
        <p:spPr>
          <a:xfrm>
            <a:off x="6473952" y="5724144"/>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Securities lending</a:t>
            </a:r>
          </a:p>
          <a:p>
            <a:pPr algn="l">
              <a:spcAft>
                <a:spcPts val="200"/>
              </a:spcAft>
            </a:pPr>
            <a:r>
              <a:rPr sz="1250" b="0" i="0">
                <a:solidFill>
                  <a:srgbClr val="475569"/>
                </a:solidFill>
                <a:latin typeface="Helvetica Neue"/>
              </a:rPr>
              <a:t>Flags events where loaned shares may need recalling before a record date or election deadline.</a:t>
            </a:r>
          </a:p>
        </p:txBody>
      </p:sp>
      <p:sp>
        <p:nvSpPr>
          <p:cNvPr id="19" name="TextBox 18"/>
          <p:cNvSpPr txBox="1"/>
          <p:nvPr/>
        </p:nvSpPr>
        <p:spPr>
          <a:xfrm>
            <a:off x="6473952" y="6702552"/>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Relationship-manager copilot</a:t>
            </a:r>
          </a:p>
          <a:p>
            <a:pPr algn="l">
              <a:spcAft>
                <a:spcPts val="200"/>
              </a:spcAft>
            </a:pPr>
            <a:r>
              <a:rPr sz="1250" b="0" i="0">
                <a:solidFill>
                  <a:srgbClr val="475569"/>
                </a:solidFill>
                <a:latin typeface="Helvetica Neue"/>
              </a:rPr>
              <a:t>Prepares relationship managers with event summaries for their clients' positions.</a:t>
            </a:r>
          </a:p>
        </p:txBody>
      </p:sp>
      <p:sp>
        <p:nvSpPr>
          <p:cNvPr id="20" name="TextBox 19"/>
          <p:cNvSpPr txBox="1"/>
          <p:nvPr/>
        </p:nvSpPr>
        <p:spPr>
          <a:xfrm>
            <a:off x="12124944" y="2057400"/>
            <a:ext cx="5349240" cy="457200"/>
          </a:xfrm>
          <a:prstGeom prst="rect">
            <a:avLst/>
          </a:prstGeom>
          <a:noFill/>
        </p:spPr>
        <p:txBody>
          <a:bodyPr wrap="square" lIns="0" rIns="0" tIns="0" bIns="0" anchor="t">
            <a:spAutoFit/>
          </a:bodyPr>
          <a:lstStyle/>
          <a:p>
            <a:pPr algn="l"/>
            <a:r>
              <a:rPr sz="1800" b="1" i="0">
                <a:solidFill>
                  <a:srgbClr val="2B9CAE"/>
                </a:solidFill>
                <a:latin typeface="Helvetica Neue"/>
              </a:rPr>
              <a:t>Across systems</a:t>
            </a:r>
          </a:p>
        </p:txBody>
      </p:sp>
      <p:cxnSp>
        <p:nvCxnSpPr>
          <p:cNvPr id="21" name="Connector 20"/>
          <p:cNvCxnSpPr/>
          <p:nvPr/>
        </p:nvCxnSpPr>
        <p:spPr>
          <a:xfrm>
            <a:off x="12124944" y="2606040"/>
            <a:ext cx="5349240" cy="0"/>
          </a:xfrm>
          <a:prstGeom prst="line">
            <a:avLst/>
          </a:prstGeom>
          <a:ln w="15875">
            <a:solidFill>
              <a:srgbClr val="D8CDB8"/>
            </a:solidFill>
          </a:ln>
        </p:spPr>
      </p:cxnSp>
      <p:sp>
        <p:nvSpPr>
          <p:cNvPr id="22" name="TextBox 21"/>
          <p:cNvSpPr txBox="1"/>
          <p:nvPr/>
        </p:nvSpPr>
        <p:spPr>
          <a:xfrm>
            <a:off x="12124944" y="2788920"/>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Reviewer agent</a:t>
            </a:r>
          </a:p>
          <a:p>
            <a:pPr algn="l">
              <a:spcAft>
                <a:spcPts val="200"/>
              </a:spcAft>
            </a:pPr>
            <a:r>
              <a:rPr sz="1250" b="0" i="0">
                <a:solidFill>
                  <a:srgbClr val="475569"/>
                </a:solidFill>
                <a:latin typeface="Helvetica Neue"/>
              </a:rPr>
              <a:t>A second agent checks each output against the filing before it reaches a person.</a:t>
            </a:r>
          </a:p>
        </p:txBody>
      </p:sp>
      <p:sp>
        <p:nvSpPr>
          <p:cNvPr id="23" name="TextBox 22"/>
          <p:cNvSpPr txBox="1"/>
          <p:nvPr/>
        </p:nvSpPr>
        <p:spPr>
          <a:xfrm>
            <a:off x="12124944" y="3767328"/>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Cross-action correlation</a:t>
            </a:r>
          </a:p>
          <a:p>
            <a:pPr algn="l">
              <a:spcAft>
                <a:spcPts val="200"/>
              </a:spcAft>
            </a:pPr>
            <a:r>
              <a:rPr sz="1250" b="0" i="0">
                <a:solidFill>
                  <a:srgbClr val="475569"/>
                </a:solidFill>
                <a:latin typeface="Helvetica Neue"/>
              </a:rPr>
              <a:t>Spots related events, such as a tender offer followed by a merger for the same company.</a:t>
            </a:r>
          </a:p>
        </p:txBody>
      </p:sp>
      <p:sp>
        <p:nvSpPr>
          <p:cNvPr id="24" name="TextBox 23"/>
          <p:cNvSpPr txBox="1"/>
          <p:nvPr/>
        </p:nvSpPr>
        <p:spPr>
          <a:xfrm>
            <a:off x="12124944" y="4745736"/>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Scenario agent</a:t>
            </a:r>
          </a:p>
          <a:p>
            <a:pPr algn="l">
              <a:spcAft>
                <a:spcPts val="200"/>
              </a:spcAft>
            </a:pPr>
            <a:r>
              <a:rPr sz="1250" b="0" i="0">
                <a:solidFill>
                  <a:srgbClr val="475569"/>
                </a:solidFill>
                <a:latin typeface="Helvetica Neue"/>
              </a:rPr>
              <a:t>Models what-if changes, like an extended deadline or raised price, to plan operational workload.</a:t>
            </a:r>
          </a:p>
        </p:txBody>
      </p:sp>
      <p:sp>
        <p:nvSpPr>
          <p:cNvPr id="25" name="TextBox 24"/>
          <p:cNvSpPr txBox="1"/>
          <p:nvPr/>
        </p:nvSpPr>
        <p:spPr>
          <a:xfrm>
            <a:off x="12124944" y="5724144"/>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Regulatory and audit</a:t>
            </a:r>
          </a:p>
          <a:p>
            <a:pPr algn="l">
              <a:spcAft>
                <a:spcPts val="200"/>
              </a:spcAft>
            </a:pPr>
            <a:r>
              <a:rPr sz="1250" b="0" i="0">
                <a:solidFill>
                  <a:srgbClr val="475569"/>
                </a:solidFill>
                <a:latin typeface="Helvetica Neue"/>
              </a:rPr>
              <a:t>Assembles the trail of sources, agent steps and approvals for audit and compliance reviews.</a:t>
            </a:r>
          </a:p>
        </p:txBody>
      </p:sp>
      <p:sp>
        <p:nvSpPr>
          <p:cNvPr id="26" name="TextBox 25"/>
          <p:cNvSpPr txBox="1"/>
          <p:nvPr/>
        </p:nvSpPr>
        <p:spPr>
          <a:xfrm>
            <a:off x="12124944" y="6702552"/>
            <a:ext cx="5349240" cy="914400"/>
          </a:xfrm>
          <a:prstGeom prst="rect">
            <a:avLst/>
          </a:prstGeom>
          <a:noFill/>
        </p:spPr>
        <p:txBody>
          <a:bodyPr wrap="square" lIns="0" rIns="0" tIns="0" bIns="0" anchor="t">
            <a:spAutoFit/>
          </a:bodyPr>
          <a:lstStyle/>
          <a:p>
            <a:pPr algn="l">
              <a:spcAft>
                <a:spcPts val="200"/>
              </a:spcAft>
            </a:pPr>
            <a:r>
              <a:rPr sz="1400" b="1" i="0">
                <a:solidFill>
                  <a:srgbClr val="04243C"/>
                </a:solidFill>
                <a:latin typeface="Helvetica Neue"/>
              </a:rPr>
              <a:t>Onboarding agent</a:t>
            </a:r>
          </a:p>
          <a:p>
            <a:pPr algn="l">
              <a:spcAft>
                <a:spcPts val="200"/>
              </a:spcAft>
            </a:pPr>
            <a:r>
              <a:rPr sz="1250" b="0" i="0">
                <a:solidFill>
                  <a:srgbClr val="475569"/>
                </a:solidFill>
                <a:latin typeface="Helvetica Neue"/>
              </a:rPr>
              <a:t>Helps new staff learn corporate action types and processes from past events.</a:t>
            </a:r>
          </a:p>
        </p:txBody>
      </p:sp>
    </p:spTree>
  </p:cSld>
  <p:clrMapOvr>
    <a:masterClrMapping/>
  </p:clrMapOvr>
</p:sld>
</file>

<file path=ppt/theme/theme1.xml><?xml version="1.0" encoding="utf-8"?>
<a:theme xmlns:a="http://schemas.openxmlformats.org/drawingml/2006/main" xmlns:r="http://schemas.openxmlformats.org/officeDocument/2006/relationships" name="BNY Client Template">
  <a:themeElements>
    <a:clrScheme name="BNY Client Template">
      <a:dk1>
        <a:srgbClr val="04243C"/>
      </a:dk1>
      <a:lt1>
        <a:srgbClr val="FFFFFF"/>
      </a:lt1>
      <a:dk2>
        <a:srgbClr val="475569"/>
      </a:dk2>
      <a:lt2>
        <a:srgbClr val="EEEEEE"/>
      </a:lt2>
      <a:accent1>
        <a:srgbClr val="2B9CAE"/>
      </a:accent1>
      <a:accent2>
        <a:srgbClr val="CFE6E9"/>
      </a:accent2>
      <a:accent3>
        <a:srgbClr val="D8CDB8"/>
      </a:accent3>
      <a:accent4>
        <a:srgbClr val="1E5A7A"/>
      </a:accent4>
      <a:accent5>
        <a:srgbClr val="C9A66B"/>
      </a:accent5>
      <a:accent6>
        <a:srgbClr val="B4552D"/>
      </a:accent6>
      <a:hlink>
        <a:srgbClr val="2B9CAE"/>
      </a:hlink>
      <a:folHlink>
        <a:srgbClr val="475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NY Client Template">
  <a:themeElements>
    <a:clrScheme name="BNY Client Template">
      <a:dk1>
        <a:srgbClr val="04243C"/>
      </a:dk1>
      <a:lt1>
        <a:srgbClr val="FFFFFF"/>
      </a:lt1>
      <a:dk2>
        <a:srgbClr val="475569"/>
      </a:dk2>
      <a:lt2>
        <a:srgbClr val="F3EBDD"/>
      </a:lt2>
      <a:accent1>
        <a:srgbClr val="2B9CAE"/>
      </a:accent1>
      <a:accent2>
        <a:srgbClr val="CFE6E9"/>
      </a:accent2>
      <a:accent3>
        <a:srgbClr val="D8CDB8"/>
      </a:accent3>
      <a:accent4>
        <a:srgbClr val="1E5A7A"/>
      </a:accent4>
      <a:accent5>
        <a:srgbClr val="C9A66B"/>
      </a:accent5>
      <a:accent6>
        <a:srgbClr val="B4552D"/>
      </a:accent6>
      <a:hlink>
        <a:srgbClr val="2B9CAE"/>
      </a:hlink>
      <a:folHlink>
        <a:srgbClr val="475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