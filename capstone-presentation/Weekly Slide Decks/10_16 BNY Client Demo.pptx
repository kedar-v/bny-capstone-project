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Barlow Condensed"/>
      <p:bold r:id="rId15"/>
      <p:boldItalic r:id="rId16"/>
    </p:embeddedFont>
    <p:embeddedFont>
      <p:font typeface="Barlow Medium"/>
      <p:regular r:id="rId17"/>
      <p:bold r:id="rId18"/>
      <p:italic r:id="rId19"/>
      <p:boldItalic r:id="rId20"/>
    </p:embeddedFont>
    <p:embeddedFont>
      <p:font typeface="Barlow"/>
      <p:bold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arlowMedium-boldItalic.fntdata"/><Relationship Id="rId11" Type="http://schemas.openxmlformats.org/officeDocument/2006/relationships/slide" Target="slides/slide6.xml"/><Relationship Id="rId22" Type="http://schemas.openxmlformats.org/officeDocument/2006/relationships/font" Target="fonts/Barlow-boldItalic.fntdata"/><Relationship Id="rId10" Type="http://schemas.openxmlformats.org/officeDocument/2006/relationships/slide" Target="slides/slide5.xml"/><Relationship Id="rId21" Type="http://schemas.openxmlformats.org/officeDocument/2006/relationships/font" Target="fonts/Barlow-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BarlowCondensed-bold.fntdata"/><Relationship Id="rId14" Type="http://schemas.openxmlformats.org/officeDocument/2006/relationships/slide" Target="slides/slide9.xml"/><Relationship Id="rId17" Type="http://schemas.openxmlformats.org/officeDocument/2006/relationships/font" Target="fonts/BarlowMedium-regular.fntdata"/><Relationship Id="rId16" Type="http://schemas.openxmlformats.org/officeDocument/2006/relationships/font" Target="fonts/BarlowCondensed-boldItalic.fntdata"/><Relationship Id="rId5" Type="http://schemas.openxmlformats.org/officeDocument/2006/relationships/notesMaster" Target="notesMasters/notesMaster1.xml"/><Relationship Id="rId19" Type="http://schemas.openxmlformats.org/officeDocument/2006/relationships/font" Target="fonts/BarlowMedium-italic.fntdata"/><Relationship Id="rId6" Type="http://schemas.openxmlformats.org/officeDocument/2006/relationships/slide" Target="slides/slide1.xml"/><Relationship Id="rId18" Type="http://schemas.openxmlformats.org/officeDocument/2006/relationships/font" Target="fonts/BarlowMedium-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5f4af6847654f19e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5f4af6847654f19e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Thanks everyone for taking the time to meet with us.</a:t>
            </a:r>
            <a:endParaRPr/>
          </a:p>
          <a:p>
            <a:pPr indent="0" lvl="0" marL="0" rtl="0" algn="l">
              <a:spcBef>
                <a:spcPts val="0"/>
              </a:spcBef>
              <a:spcAft>
                <a:spcPts val="0"/>
              </a:spcAft>
              <a:buClr>
                <a:schemeClr val="dk1"/>
              </a:buClr>
              <a:buSzPts val="1100"/>
              <a:buFont typeface="Arial"/>
              <a:buNone/>
            </a:pPr>
            <a:r>
              <a:rPr lang="en"/>
              <a:t>We’re the Duke Corporate Action Intelligence capstone team, working with the BNY AI Hub to explore how AI can support corporate action processing.</a:t>
            </a:r>
            <a:endParaRPr/>
          </a:p>
          <a:p>
            <a:pPr indent="0" lvl="0" marL="0" rtl="0" algn="l">
              <a:spcBef>
                <a:spcPts val="0"/>
              </a:spcBef>
              <a:spcAft>
                <a:spcPts val="0"/>
              </a:spcAft>
              <a:buClr>
                <a:schemeClr val="dk1"/>
              </a:buClr>
              <a:buSzPts val="1100"/>
              <a:buFont typeface="Arial"/>
              <a:buNone/>
            </a:pPr>
            <a:r>
              <a:rPr lang="en"/>
              <a:t>Today we’ll briefly walk through:</a:t>
            </a:r>
            <a:endParaRPr/>
          </a:p>
          <a:p>
            <a:pPr indent="-298450" lvl="0" marL="457200" rtl="0" algn="l">
              <a:lnSpc>
                <a:spcPct val="115000"/>
              </a:lnSpc>
              <a:spcBef>
                <a:spcPts val="1200"/>
              </a:spcBef>
              <a:spcAft>
                <a:spcPts val="0"/>
              </a:spcAft>
              <a:buClr>
                <a:schemeClr val="dk1"/>
              </a:buClr>
              <a:buSzPts val="1100"/>
              <a:buChar char="●"/>
            </a:pPr>
            <a:r>
              <a:rPr lang="en"/>
              <a:t>how we’re approaching the project,</a:t>
            </a:r>
            <a:endParaRPr/>
          </a:p>
          <a:p>
            <a:pPr indent="-298450" lvl="0" marL="457200" rtl="0" algn="l">
              <a:lnSpc>
                <a:spcPct val="115000"/>
              </a:lnSpc>
              <a:spcBef>
                <a:spcPts val="0"/>
              </a:spcBef>
              <a:spcAft>
                <a:spcPts val="0"/>
              </a:spcAft>
              <a:buClr>
                <a:schemeClr val="dk1"/>
              </a:buClr>
              <a:buSzPts val="1100"/>
              <a:buChar char="●"/>
            </a:pPr>
            <a:r>
              <a:rPr lang="en"/>
              <a:t>a demo of the workflow we’re envisioning,</a:t>
            </a:r>
            <a:endParaRPr/>
          </a:p>
          <a:p>
            <a:pPr indent="-298450" lvl="0" marL="457200" rtl="0" algn="l">
              <a:lnSpc>
                <a:spcPct val="115000"/>
              </a:lnSpc>
              <a:spcBef>
                <a:spcPts val="0"/>
              </a:spcBef>
              <a:spcAft>
                <a:spcPts val="0"/>
              </a:spcAft>
              <a:buClr>
                <a:schemeClr val="dk1"/>
              </a:buClr>
              <a:buSzPts val="1100"/>
              <a:buChar char="●"/>
            </a:pPr>
            <a:r>
              <a:rPr lang="en"/>
              <a:t>and the evaluation work we’ve started.</a:t>
            </a:r>
            <a:endParaRPr/>
          </a:p>
          <a:p>
            <a:pPr indent="0" lvl="0" marL="0" rtl="0" algn="l">
              <a:lnSpc>
                <a:spcPct val="115000"/>
              </a:lnSpc>
              <a:spcBef>
                <a:spcPts val="1200"/>
              </a:spcBef>
              <a:spcAft>
                <a:spcPts val="0"/>
              </a:spcAft>
              <a:buClr>
                <a:schemeClr val="dk1"/>
              </a:buClr>
              <a:buSzPts val="1100"/>
              <a:buFont typeface="Arial"/>
              <a:buNone/>
            </a:pPr>
            <a:r>
              <a:rPr lang="en"/>
              <a:t>Since you all work directly in corporate actions, we’d especially like to use this session to get your feedback on what feels realistic, useful, or missing from the workflow.</a:t>
            </a:r>
            <a:endParaRPr/>
          </a:p>
          <a:p>
            <a:pPr indent="0" lvl="0" marL="0" rtl="0" algn="l">
              <a:spcBef>
                <a:spcPts val="0"/>
              </a:spcBef>
              <a:spcAft>
                <a:spcPts val="0"/>
              </a:spcAft>
              <a:buClr>
                <a:schemeClr val="dk1"/>
              </a:buClr>
              <a:buSzPts val="1100"/>
              <a:buFont typeface="Arial"/>
              <a:buNone/>
            </a:pPr>
            <a:r>
              <a:rPr lang="en"/>
              <a:t>We’ll keep the technical detail fairly high level and focus more on the end-to-end use case.</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f27d1cad8f48055_1_14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hf27d1cad8f48055_1_14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Aesha</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core problem is that corporate-action information is often buried across long SEC filings, footnotes, and exhibits, so the important terms are not immediately accessible.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second challenge is that the event changes over time. A later amendment may revise the offer price, expiration date, or other key conditions, so looking at one filing in isolation is not enough.</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third challenge is context: a number by itself is not useful unless we know what field it belongs to, which event it applies to, and where it came from.</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 our goal is not just to extract values, but to build a structured corporate-action dataset where each field is tied back to traceable source evidence.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are designing the framework to support several event types, but for the current demo and implementation work we are narrowing in on tender offers and mergers first.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workflow at the bottom reflects the broader system: intake and classification, tracking changes over time, enabling downstream processing, and keeping an audit trail for exceptions and review.</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Turn unstructured notices and filing documents into standardized, structured event fields.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Link multiple notices to the same event and identify what changed or superseded prior information.</a:t>
            </a:r>
            <a:endParaRPr>
              <a:solidFill>
                <a:schemeClr val="dk1"/>
              </a:solidFill>
            </a:endParaRPr>
          </a:p>
          <a:p>
            <a:pPr indent="0" lvl="0" marL="0" rtl="0" algn="l">
              <a:spcBef>
                <a:spcPts val="0"/>
              </a:spcBef>
              <a:spcAft>
                <a:spcPts val="0"/>
              </a:spcAft>
              <a:buSzPts val="1100"/>
              <a:buNone/>
            </a:pPr>
            <a:r>
              <a:rPr lang="en">
                <a:solidFill>
                  <a:schemeClr val="dk1"/>
                </a:solidFill>
              </a:rPr>
              <a:t>Determine required actions such as calculations, notifications, and settlement-related operational steps.</a:t>
            </a:r>
            <a:endParaRPr>
              <a:solidFill>
                <a:schemeClr val="dk1"/>
              </a:solidFill>
            </a:endParaRPr>
          </a:p>
          <a:p>
            <a:pPr indent="0" lvl="0" marL="0" rtl="0" algn="l">
              <a:spcBef>
                <a:spcPts val="0"/>
              </a:spcBef>
              <a:spcAft>
                <a:spcPts val="0"/>
              </a:spcAft>
              <a:buSzPts val="1100"/>
              <a:buNone/>
            </a:pPr>
            <a:r>
              <a:rPr lang="en">
                <a:solidFill>
                  <a:schemeClr val="dk1"/>
                </a:solidFill>
              </a:rPr>
              <a:t>Log decisions and evidence with full lineage; route ambiguous or high-risk cases to human review.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69" name="Google Shape;69;hf27d1cad8f48055_1_14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f27d1cad8f48055_1_536:notes"/>
          <p:cNvSpPr txBox="1"/>
          <p:nvPr>
            <p:ph idx="2" type="hdr"/>
          </p:nvPr>
        </p:nvSpPr>
        <p:spPr>
          <a:xfrm>
            <a:off x="0" y="0"/>
            <a:ext cx="1981200" cy="2295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04" name="Google Shape;104;hf27d1cad8f48055_1_536:notes"/>
          <p:cNvSpPr txBox="1"/>
          <p:nvPr>
            <p:ph idx="10" type="dt"/>
          </p:nvPr>
        </p:nvSpPr>
        <p:spPr>
          <a:xfrm>
            <a:off x="2589742" y="0"/>
            <a:ext cx="1981200" cy="2295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05" name="Google Shape;105;hf27d1cad8f48055_1_536:notes"/>
          <p:cNvSpPr/>
          <p:nvPr>
            <p:ph idx="3"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06" name="Google Shape;106;hf27d1cad8f48055_1_53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None/>
            </a:pPr>
            <a:r>
              <a:rPr lang="en"/>
              <a:t>Alex</a:t>
            </a:r>
            <a:endParaRPr/>
          </a:p>
          <a:p>
            <a:pPr indent="-298450" lvl="0" marL="457200" rtl="0" algn="l">
              <a:lnSpc>
                <a:spcPct val="115000"/>
              </a:lnSpc>
              <a:spcBef>
                <a:spcPts val="1200"/>
              </a:spcBef>
              <a:spcAft>
                <a:spcPts val="0"/>
              </a:spcAft>
              <a:buClr>
                <a:schemeClr val="dk1"/>
              </a:buClr>
              <a:buSzPts val="1100"/>
              <a:buChar char="●"/>
            </a:pPr>
            <a:r>
              <a:rPr lang="en"/>
              <a:t>This slide shows the full flow from raw SEC data to something that can actually be used downstream.</a:t>
            </a:r>
            <a:endParaRPr/>
          </a:p>
          <a:p>
            <a:pPr indent="-298450" lvl="0" marL="457200" rtl="0" algn="l">
              <a:lnSpc>
                <a:spcPct val="115000"/>
              </a:lnSpc>
              <a:spcBef>
                <a:spcPts val="0"/>
              </a:spcBef>
              <a:spcAft>
                <a:spcPts val="0"/>
              </a:spcAft>
              <a:buClr>
                <a:schemeClr val="dk1"/>
              </a:buClr>
              <a:buSzPts val="1100"/>
              <a:buChar char="●"/>
            </a:pPr>
            <a:r>
              <a:rPr lang="en"/>
              <a:t>First, we use SEC metadata to identify relevant filings and then retrieve the complete filing bundle, including exhibits when needed.</a:t>
            </a:r>
            <a:endParaRPr/>
          </a:p>
          <a:p>
            <a:pPr indent="-298450" lvl="0" marL="457200" rtl="0" algn="l">
              <a:lnSpc>
                <a:spcPct val="115000"/>
              </a:lnSpc>
              <a:spcBef>
                <a:spcPts val="0"/>
              </a:spcBef>
              <a:spcAft>
                <a:spcPts val="0"/>
              </a:spcAft>
              <a:buClr>
                <a:schemeClr val="dk1"/>
              </a:buClr>
              <a:buSzPts val="1100"/>
              <a:buChar char="●"/>
            </a:pPr>
            <a:r>
              <a:rPr lang="en"/>
              <a:t>Next, we normalize the documents so the filing text is in a cleaner, searchable format.</a:t>
            </a:r>
            <a:endParaRPr/>
          </a:p>
          <a:p>
            <a:pPr indent="-298450" lvl="0" marL="457200" rtl="0" algn="l">
              <a:lnSpc>
                <a:spcPct val="115000"/>
              </a:lnSpc>
              <a:spcBef>
                <a:spcPts val="0"/>
              </a:spcBef>
              <a:spcAft>
                <a:spcPts val="0"/>
              </a:spcAft>
              <a:buClr>
                <a:schemeClr val="dk1"/>
              </a:buClr>
              <a:buSzPts val="1100"/>
              <a:buChar char="●"/>
            </a:pPr>
            <a:r>
              <a:rPr lang="en"/>
              <a:t>From there, we extract candidate facts such as prices, dates, parties, conditions, and other event-specific fields.</a:t>
            </a:r>
            <a:endParaRPr/>
          </a:p>
          <a:p>
            <a:pPr indent="-298450" lvl="0" marL="457200" rtl="0" algn="l">
              <a:lnSpc>
                <a:spcPct val="115000"/>
              </a:lnSpc>
              <a:spcBef>
                <a:spcPts val="0"/>
              </a:spcBef>
              <a:spcAft>
                <a:spcPts val="0"/>
              </a:spcAft>
              <a:buClr>
                <a:schemeClr val="dk1"/>
              </a:buClr>
              <a:buSzPts val="1100"/>
              <a:buChar char="●"/>
            </a:pPr>
            <a:r>
              <a:rPr lang="en"/>
              <a:t>The next step is important: we do not treat every extracted value as automatically correct. We preserve evidence and context, then reason across multiple filings and amendments to resolve conflicts and determine the current value.</a:t>
            </a:r>
            <a:endParaRPr/>
          </a:p>
          <a:p>
            <a:pPr indent="-298450" lvl="0" marL="457200" rtl="0" algn="l">
              <a:lnSpc>
                <a:spcPct val="115000"/>
              </a:lnSpc>
              <a:spcBef>
                <a:spcPts val="0"/>
              </a:spcBef>
              <a:spcAft>
                <a:spcPts val="0"/>
              </a:spcAft>
              <a:buClr>
                <a:schemeClr val="dk1"/>
              </a:buClr>
              <a:buSzPts val="1100"/>
              <a:buChar char="●"/>
            </a:pPr>
            <a:r>
              <a:rPr lang="en"/>
              <a:t>That gives us a canonical event state — essentially one current source of truth for the corporate action.</a:t>
            </a:r>
            <a:endParaRPr/>
          </a:p>
          <a:p>
            <a:pPr indent="-298450" lvl="0" marL="457200" rtl="0" algn="l">
              <a:lnSpc>
                <a:spcPct val="115000"/>
              </a:lnSpc>
              <a:spcBef>
                <a:spcPts val="0"/>
              </a:spcBef>
              <a:spcAft>
                <a:spcPts val="0"/>
              </a:spcAft>
              <a:buClr>
                <a:schemeClr val="dk1"/>
              </a:buClr>
              <a:buSzPts val="1100"/>
              <a:buChar char="●"/>
            </a:pPr>
            <a:r>
              <a:rPr lang="en"/>
              <a:t>Once we have that structured event state, it can support downstream use cases such as internal alerts, client notifications, and other operational workflows.</a:t>
            </a:r>
            <a:endParaRPr/>
          </a:p>
          <a:p>
            <a:pPr indent="-298450" lvl="0" marL="457200" rtl="0" algn="l">
              <a:lnSpc>
                <a:spcPct val="115000"/>
              </a:lnSpc>
              <a:spcBef>
                <a:spcPts val="0"/>
              </a:spcBef>
              <a:spcAft>
                <a:spcPts val="0"/>
              </a:spcAft>
              <a:buClr>
                <a:schemeClr val="dk1"/>
              </a:buClr>
              <a:buSzPts val="1100"/>
              <a:buChar char="●"/>
            </a:pPr>
            <a:r>
              <a:rPr lang="en"/>
              <a:t>The main idea is that the technical extraction is only one piece; the value comes from turning multiple documents into one reliable, current event representation. </a:t>
            </a:r>
            <a:endParaRPr/>
          </a:p>
          <a:p>
            <a:pPr indent="-298450" lvl="0" marL="457200" rtl="0" algn="l">
              <a:lnSpc>
                <a:spcPct val="115000"/>
              </a:lnSpc>
              <a:spcBef>
                <a:spcPts val="0"/>
              </a:spcBef>
              <a:spcAft>
                <a:spcPts val="0"/>
              </a:spcAft>
              <a:buClr>
                <a:schemeClr val="dk1"/>
              </a:buClr>
              <a:buSzPts val="1100"/>
              <a:buChar char="●"/>
            </a:pPr>
            <a:r>
              <a:t/>
            </a:r>
            <a:endParaRPr/>
          </a:p>
        </p:txBody>
      </p:sp>
      <p:sp>
        <p:nvSpPr>
          <p:cNvPr id="107" name="Google Shape;107;hf27d1cad8f48055_1_536:notes"/>
          <p:cNvSpPr txBox="1"/>
          <p:nvPr>
            <p:ph idx="11" type="ftr"/>
          </p:nvPr>
        </p:nvSpPr>
        <p:spPr>
          <a:xfrm>
            <a:off x="0" y="4342607"/>
            <a:ext cx="1981200" cy="229500"/>
          </a:xfrm>
          <a:prstGeom prst="rect">
            <a:avLst/>
          </a:prstGeom>
          <a:noFill/>
          <a:ln>
            <a:noFill/>
          </a:ln>
        </p:spPr>
        <p:txBody>
          <a:bodyPr anchorCtr="0" anchor="b" bIns="27925" lIns="55875" spcFirstLastPara="1" rIns="55875" wrap="square" tIns="27925">
            <a:noAutofit/>
          </a:bodyPr>
          <a:lstStyle/>
          <a:p>
            <a:pPr indent="0" lvl="0" marL="0" rtl="0" algn="l">
              <a:spcBef>
                <a:spcPts val="0"/>
              </a:spcBef>
              <a:spcAft>
                <a:spcPts val="0"/>
              </a:spcAft>
              <a:buNone/>
            </a:pPr>
            <a:r>
              <a:t/>
            </a:r>
            <a:endParaRPr/>
          </a:p>
        </p:txBody>
      </p:sp>
      <p:sp>
        <p:nvSpPr>
          <p:cNvPr id="108" name="Google Shape;108;hf27d1cad8f48055_1_53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f27d1cad8f48055_1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hf27d1cad8f48055_1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Pranshul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39dcd94f80a7eae3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h39dcd94f80a7eae3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lang="en"/>
              <a:t>Kedar</a:t>
            </a:r>
            <a:endParaRPr/>
          </a:p>
          <a:p>
            <a:pPr indent="-298450" lvl="0" marL="457200" rtl="0" algn="l">
              <a:lnSpc>
                <a:spcPct val="115000"/>
              </a:lnSpc>
              <a:spcBef>
                <a:spcPts val="1200"/>
              </a:spcBef>
              <a:spcAft>
                <a:spcPts val="0"/>
              </a:spcAft>
              <a:buClr>
                <a:schemeClr val="dk1"/>
              </a:buClr>
              <a:buSzPts val="1100"/>
              <a:buChar char="●"/>
            </a:pPr>
            <a:r>
              <a:rPr lang="en"/>
              <a:t>One challenge is that there is not a reliable labeled ground-truth dataset for all of the corporate actions we are working with.</a:t>
            </a:r>
            <a:endParaRPr/>
          </a:p>
          <a:p>
            <a:pPr indent="-298450" lvl="0" marL="457200" rtl="0" algn="l">
              <a:lnSpc>
                <a:spcPct val="115000"/>
              </a:lnSpc>
              <a:spcBef>
                <a:spcPts val="0"/>
              </a:spcBef>
              <a:spcAft>
                <a:spcPts val="0"/>
              </a:spcAft>
              <a:buClr>
                <a:schemeClr val="dk1"/>
              </a:buClr>
              <a:buSzPts val="1100"/>
              <a:buChar char="●"/>
            </a:pPr>
            <a:r>
              <a:rPr lang="en"/>
              <a:t>We are therefore creating a standardized reference dataset from historical SEC filings.</a:t>
            </a:r>
            <a:endParaRPr/>
          </a:p>
          <a:p>
            <a:pPr indent="-298450" lvl="0" marL="457200" rtl="0" algn="l">
              <a:lnSpc>
                <a:spcPct val="115000"/>
              </a:lnSpc>
              <a:spcBef>
                <a:spcPts val="0"/>
              </a:spcBef>
              <a:spcAft>
                <a:spcPts val="0"/>
              </a:spcAft>
              <a:buClr>
                <a:schemeClr val="dk1"/>
              </a:buClr>
              <a:buSzPts val="1100"/>
              <a:buChar char="●"/>
            </a:pPr>
            <a:r>
              <a:rPr lang="en"/>
              <a:t>We use the same schema and prompt across filings, run them through an LLM, normalize the outputs, and retain the supporting source passages.</a:t>
            </a:r>
            <a:endParaRPr/>
          </a:p>
          <a:p>
            <a:pPr indent="-298450" lvl="0" marL="457200" rtl="0" algn="l">
              <a:lnSpc>
                <a:spcPct val="115000"/>
              </a:lnSpc>
              <a:spcBef>
                <a:spcPts val="0"/>
              </a:spcBef>
              <a:spcAft>
                <a:spcPts val="0"/>
              </a:spcAft>
              <a:buClr>
                <a:schemeClr val="dk1"/>
              </a:buClr>
              <a:buSzPts val="1100"/>
              <a:buChar char="●"/>
            </a:pPr>
            <a:r>
              <a:rPr lang="en"/>
              <a:t>Ambiguous examples can then be manually reviewed.</a:t>
            </a:r>
            <a:endParaRPr/>
          </a:p>
          <a:p>
            <a:pPr indent="-298450" lvl="0" marL="457200" rtl="0" algn="l">
              <a:lnSpc>
                <a:spcPct val="115000"/>
              </a:lnSpc>
              <a:spcBef>
                <a:spcPts val="0"/>
              </a:spcBef>
              <a:spcAft>
                <a:spcPts val="0"/>
              </a:spcAft>
              <a:buClr>
                <a:schemeClr val="dk1"/>
              </a:buClr>
              <a:buSzPts val="1100"/>
              <a:buChar char="●"/>
            </a:pPr>
            <a:r>
              <a:rPr lang="en"/>
              <a:t>This gives us a scalable benchmark for measuring extraction accuracy, completeness, grounding, and amendment handling. 10_16 BNY Client Demo</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f27d1cad8f48055_1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f27d1cad8f48055_1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Aaron</a:t>
            </a:r>
            <a:endParaRPr/>
          </a:p>
          <a:p>
            <a:pPr indent="0" lvl="0" marL="0" rtl="0" algn="l">
              <a:lnSpc>
                <a:spcPct val="115000"/>
              </a:lnSpc>
              <a:spcBef>
                <a:spcPts val="1200"/>
              </a:spcBef>
              <a:spcAft>
                <a:spcPts val="0"/>
              </a:spcAft>
              <a:buNone/>
            </a:pPr>
            <a:r>
              <a:rPr lang="en">
                <a:solidFill>
                  <a:schemeClr val="dk1"/>
                </a:solidFill>
              </a:rPr>
              <a:t>before we wrap up, we really appreciate  for listening and we’d like to hear your feedback on how this project can best </a:t>
            </a:r>
            <a:r>
              <a:rPr lang="en">
                <a:solidFill>
                  <a:schemeClr val="dk1"/>
                </a:solidFill>
              </a:rPr>
              <a:t>support BNY Team</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Priorities:</a:t>
            </a:r>
            <a:r>
              <a:rPr lang="en">
                <a:solidFill>
                  <a:schemeClr val="dk1"/>
                </a:solidFill>
              </a:rPr>
              <a:t> “Which downstream tasks would you most like this data to support—for example, reviewing events or preparing client notifications?”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Manual effort:</a:t>
            </a:r>
            <a:r>
              <a:rPr lang="en">
                <a:solidFill>
                  <a:schemeClr val="dk1"/>
                </a:solidFill>
              </a:rPr>
              <a:t> “In BNY current process, which steps take the most time? This would help us identify where our system could be most useful.”</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Trustworthy:</a:t>
            </a:r>
            <a:r>
              <a:rPr lang="en">
                <a:solidFill>
                  <a:schemeClr val="dk1"/>
                </a:solidFill>
              </a:rPr>
              <a:t> “What would you need to see to trust an extracted result? Would the original filing and supporting text be enough, or would you need additional checks?”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Error impact:</a:t>
            </a:r>
            <a:r>
              <a:rPr lang="en">
                <a:solidFill>
                  <a:schemeClr val="dk1"/>
                </a:solidFill>
              </a:rPr>
              <a:t> “Which mistakes would be most concerning—for example, a wrong deadline, an incorrect price, or a missed event? This would help us prioritize our evaluation.”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Future steps:</a:t>
            </a:r>
            <a:r>
              <a:rPr lang="en">
                <a:solidFill>
                  <a:schemeClr val="dk1"/>
                </a:solidFill>
              </a:rPr>
              <a:t> “Based on today’s demo, is there anything important missing, and what would you like us to focus on next?”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hf27d1cad8f48055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hf27d1cad8f48055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hf27d1cad8f48055_1_2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hf27d1cad8f48055_1_2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f27d1cad8f48055_1_2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hf27d1cad8f48055_1_2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we know which documents belong to the tender, the next question is how we actually extract information from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idea is to use a </a:t>
            </a:r>
            <a:r>
              <a:rPr b="1" lang="en">
                <a:solidFill>
                  <a:schemeClr val="dk1"/>
                </a:solidFill>
              </a:rPr>
              <a:t>structure-first pipeline</a:t>
            </a:r>
            <a:r>
              <a:rPr lang="en">
                <a:solidFill>
                  <a:schemeClr val="dk1"/>
                </a:solidFill>
              </a:rPr>
              <a:t> instead of running an extraction model over the entire document.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we classify the document role: is this a cover, an OTP, a 14D-9, or an amendment? That immediately tells us what kind of information we should expect.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we use the document’s native structure to route to the right section. For example, Schedule TO filings have predictable Item headings, 14D-9 has a strong Item structure with Item 4 being particularly important, while OTPs are better navigated using their table of contents and narrative section headings.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that, once we find the relevant section, we isolate a relatively small local context window around it. This reduces noise from documents that can be tens of thousands of words long.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Only then do we run </a:t>
            </a:r>
            <a:r>
              <a:rPr b="1" lang="en">
                <a:solidFill>
                  <a:schemeClr val="dk1"/>
                </a:solidFill>
              </a:rPr>
              <a:t>GLiNER or regex-based extraction</a:t>
            </a:r>
            <a:r>
              <a:rPr lang="en">
                <a:solidFill>
                  <a:schemeClr val="dk1"/>
                </a:solidFill>
              </a:rPr>
              <a:t>. Regex works well for strongly patterned values like CUSIPs, prices, or dates. GLiNER is more useful for variable semantic entities such as the offeror, target, security names, or recommendation language.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reconcile conflicts using the source context. So if multiple documents mention the price, we prefer the OTP. For CUSIP, we prefer the Schedule TO cover. For board stance, we prefer 14D-9 Item 4. And if an amendment changes a value, the later amendment supersedes the earlier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architecture is really summarized by the line at the bottom: </a:t>
            </a:r>
            <a:r>
              <a:rPr b="1" lang="en">
                <a:solidFill>
                  <a:schemeClr val="dk1"/>
                </a:solidFill>
              </a:rPr>
              <a:t>structure finds where to look, and GLiNER finds the value</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5f4af6847654f19e_7_0)">
  <p:cSld name="Generated (h5f4af6847654f19e_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2" name="Google Shape;12;p3"/>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 name="Google Shape;13;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6" name="Google Shape;16;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 name="Google Shape;19;p5"/>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20" name="Google Shape;20;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3" name="Google Shape;23;p6"/>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6"/>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5" name="Google Shape;25;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 name="Google Shape;28;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1" name="Google Shape;31;p8"/>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2" name="Google Shape;32;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5" name="Google Shape;35;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9" name="Google Shape;39;p10"/>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41" name="Google Shape;41;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44" name="Google Shape;44;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7" name="Google Shape;47;p12"/>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406400" lvl="8" marL="4114800" algn="ctr">
              <a:spcBef>
                <a:spcPts val="0"/>
              </a:spcBef>
              <a:spcAft>
                <a:spcPts val="0"/>
              </a:spcAft>
              <a:buSzPts val="2800"/>
              <a:buChar char="■"/>
              <a:defRPr/>
            </a:lvl9pPr>
          </a:lstStyle>
          <a:p/>
        </p:txBody>
      </p:sp>
      <p:sp>
        <p:nvSpPr>
          <p:cNvPr id="48" name="Google Shape;48;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spTree>
      <p:nvGrpSpPr>
        <p:cNvPr id="51" name="Shape 51"/>
        <p:cNvGrpSpPr/>
        <p:nvPr/>
      </p:nvGrpSpPr>
      <p:grpSpPr>
        <a:xfrm>
          <a:off x="0" y="0"/>
          <a:ext cx="0" cy="0"/>
          <a:chOff x="0" y="0"/>
          <a:chExt cx="0" cy="0"/>
        </a:xfrm>
      </p:grpSpPr>
      <p:sp>
        <p:nvSpPr>
          <p:cNvPr id="52" name="Google Shape;52;p14"/>
          <p:cNvSpPr/>
          <p:nvPr/>
        </p:nvSpPr>
        <p:spPr>
          <a:xfrm>
            <a:off x="0" y="0"/>
            <a:ext cx="18287700" cy="164700"/>
          </a:xfrm>
          <a:prstGeom prst="rect">
            <a:avLst/>
          </a:prstGeom>
          <a:solidFill>
            <a:srgbClr val="17324D"/>
          </a:solidFill>
          <a:ln cap="flat" cmpd="sng" w="19050">
            <a:solidFill>
              <a:srgbClr val="17324D"/>
            </a:solidFill>
            <a:prstDash val="solid"/>
            <a:round/>
            <a:headEnd len="sm" w="sm" type="none"/>
            <a:tailEnd len="sm" w="sm" type="none"/>
          </a:ln>
        </p:spPr>
        <p:txBody>
          <a:bodyPr anchorCtr="0" anchor="ctr" bIns="137150" lIns="137150" spcFirstLastPara="1" rIns="137150" wrap="square" tIns="137150">
            <a:noAutofit/>
          </a:bodyPr>
          <a:lstStyle/>
          <a:p>
            <a:pPr indent="0" lvl="0" marL="0" rtl="0" algn="l">
              <a:spcBef>
                <a:spcPts val="0"/>
              </a:spcBef>
              <a:spcAft>
                <a:spcPts val="0"/>
              </a:spcAft>
              <a:buNone/>
            </a:pPr>
            <a:r>
              <a:t/>
            </a:r>
            <a:endParaRPr/>
          </a:p>
        </p:txBody>
      </p:sp>
      <p:sp>
        <p:nvSpPr>
          <p:cNvPr id="53" name="Google Shape;53;p14"/>
          <p:cNvSpPr/>
          <p:nvPr/>
        </p:nvSpPr>
        <p:spPr>
          <a:xfrm>
            <a:off x="795528" y="301752"/>
            <a:ext cx="7406400" cy="30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885"/>
              </a:buClr>
              <a:buSzPts val="1300"/>
              <a:buFont typeface="Arial"/>
              <a:buNone/>
            </a:pPr>
            <a:r>
              <a:rPr b="1" i="0" lang="en" sz="1300" u="none" cap="none" strike="noStrike">
                <a:solidFill>
                  <a:srgbClr val="6C7885"/>
                </a:solidFill>
                <a:latin typeface="Arial"/>
                <a:ea typeface="Arial"/>
                <a:cs typeface="Arial"/>
                <a:sym typeface="Arial"/>
              </a:rPr>
              <a:t>BNY CAPSTONE · CORPORATE ACTION INTELLIGENCE</a:t>
            </a:r>
            <a:endParaRPr b="0" i="0" sz="1300" u="none" cap="none" strike="noStrike">
              <a:solidFill>
                <a:schemeClr val="dk1"/>
              </a:solidFill>
              <a:latin typeface="Arial"/>
              <a:ea typeface="Arial"/>
              <a:cs typeface="Arial"/>
              <a:sym typeface="Arial"/>
            </a:endParaRPr>
          </a:p>
        </p:txBody>
      </p:sp>
      <p:sp>
        <p:nvSpPr>
          <p:cNvPr id="54" name="Google Shape;54;p14"/>
          <p:cNvSpPr txBox="1"/>
          <p:nvPr>
            <p:ph idx="12" type="sldNum"/>
          </p:nvPr>
        </p:nvSpPr>
        <p:spPr>
          <a:xfrm>
            <a:off x="17213580" y="9710928"/>
            <a:ext cx="1200300" cy="450000"/>
          </a:xfrm>
          <a:prstGeom prst="rect">
            <a:avLst/>
          </a:prstGeom>
          <a:noFill/>
          <a:ln>
            <a:noFill/>
          </a:ln>
        </p:spPr>
        <p:txBody>
          <a:bodyPr anchorCtr="0" anchor="t" bIns="68550" lIns="137150" spcFirstLastPara="1" rIns="137150" wrap="square" tIns="68550">
            <a:normAutofit/>
          </a:bodyPr>
          <a:lstStyle>
            <a:lvl1pPr indent="0" lvl="0" marL="0" marR="0" algn="l">
              <a:spcBef>
                <a:spcPts val="0"/>
              </a:spcBef>
              <a:buNone/>
              <a:defRPr b="0" i="0" sz="1200" u="none" cap="none" strike="noStrike">
                <a:solidFill>
                  <a:srgbClr val="9AA3AD"/>
                </a:solidFill>
                <a:latin typeface="Arial"/>
                <a:ea typeface="Arial"/>
                <a:cs typeface="Arial"/>
                <a:sym typeface="Arial"/>
              </a:defRPr>
            </a:lvl1pPr>
            <a:lvl2pPr indent="0" lvl="1" marL="0" marR="0" algn="l">
              <a:spcBef>
                <a:spcPts val="0"/>
              </a:spcBef>
              <a:buNone/>
              <a:defRPr b="0" i="0" sz="1200" u="none" cap="none" strike="noStrike">
                <a:solidFill>
                  <a:srgbClr val="9AA3AD"/>
                </a:solidFill>
                <a:latin typeface="Arial"/>
                <a:ea typeface="Arial"/>
                <a:cs typeface="Arial"/>
                <a:sym typeface="Arial"/>
              </a:defRPr>
            </a:lvl2pPr>
            <a:lvl3pPr indent="0" lvl="2" marL="0" marR="0" algn="l">
              <a:spcBef>
                <a:spcPts val="0"/>
              </a:spcBef>
              <a:buNone/>
              <a:defRPr b="0" i="0" sz="1200" u="none" cap="none" strike="noStrike">
                <a:solidFill>
                  <a:srgbClr val="9AA3AD"/>
                </a:solidFill>
                <a:latin typeface="Arial"/>
                <a:ea typeface="Arial"/>
                <a:cs typeface="Arial"/>
                <a:sym typeface="Arial"/>
              </a:defRPr>
            </a:lvl3pPr>
            <a:lvl4pPr indent="0" lvl="3" marL="0" marR="0" algn="l">
              <a:spcBef>
                <a:spcPts val="0"/>
              </a:spcBef>
              <a:buNone/>
              <a:defRPr b="0" i="0" sz="1200" u="none" cap="none" strike="noStrike">
                <a:solidFill>
                  <a:srgbClr val="9AA3AD"/>
                </a:solidFill>
                <a:latin typeface="Arial"/>
                <a:ea typeface="Arial"/>
                <a:cs typeface="Arial"/>
                <a:sym typeface="Arial"/>
              </a:defRPr>
            </a:lvl4pPr>
            <a:lvl5pPr indent="0" lvl="4" marL="0" marR="0" algn="l">
              <a:spcBef>
                <a:spcPts val="0"/>
              </a:spcBef>
              <a:buNone/>
              <a:defRPr b="0" i="0" sz="1200" u="none" cap="none" strike="noStrike">
                <a:solidFill>
                  <a:srgbClr val="9AA3AD"/>
                </a:solidFill>
                <a:latin typeface="Arial"/>
                <a:ea typeface="Arial"/>
                <a:cs typeface="Arial"/>
                <a:sym typeface="Arial"/>
              </a:defRPr>
            </a:lvl5pPr>
            <a:lvl6pPr indent="0" lvl="5" marL="0" marR="0" algn="l">
              <a:spcBef>
                <a:spcPts val="0"/>
              </a:spcBef>
              <a:buNone/>
              <a:defRPr b="0" i="0" sz="1200" u="none" cap="none" strike="noStrike">
                <a:solidFill>
                  <a:srgbClr val="9AA3AD"/>
                </a:solidFill>
                <a:latin typeface="Arial"/>
                <a:ea typeface="Arial"/>
                <a:cs typeface="Arial"/>
                <a:sym typeface="Arial"/>
              </a:defRPr>
            </a:lvl6pPr>
            <a:lvl7pPr indent="0" lvl="6" marL="0" marR="0" algn="l">
              <a:spcBef>
                <a:spcPts val="0"/>
              </a:spcBef>
              <a:buNone/>
              <a:defRPr b="0" i="0" sz="1200" u="none" cap="none" strike="noStrike">
                <a:solidFill>
                  <a:srgbClr val="9AA3AD"/>
                </a:solidFill>
                <a:latin typeface="Arial"/>
                <a:ea typeface="Arial"/>
                <a:cs typeface="Arial"/>
                <a:sym typeface="Arial"/>
              </a:defRPr>
            </a:lvl7pPr>
            <a:lvl8pPr indent="0" lvl="7" marL="0" marR="0" algn="l">
              <a:spcBef>
                <a:spcPts val="0"/>
              </a:spcBef>
              <a:buNone/>
              <a:defRPr b="0" i="0" sz="1200" u="none" cap="none" strike="noStrike">
                <a:solidFill>
                  <a:srgbClr val="9AA3AD"/>
                </a:solidFill>
                <a:latin typeface="Arial"/>
                <a:ea typeface="Arial"/>
                <a:cs typeface="Arial"/>
                <a:sym typeface="Arial"/>
              </a:defRPr>
            </a:lvl8pPr>
            <a:lvl9pPr indent="0" lvl="8" marL="0" marR="0" algn="l">
              <a:spcBef>
                <a:spcPts val="0"/>
              </a:spcBef>
              <a:buNone/>
              <a:defRPr b="0" i="0" sz="1200" u="none" cap="none" strike="noStrike">
                <a:solidFill>
                  <a:srgbClr val="9AA3AD"/>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88ad8e03_36_0)">
  <p:cSld name="Generated (g3fb88ad8e03_36_0)">
    <p:spTree>
      <p:nvGrpSpPr>
        <p:cNvPr id="55"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6.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6"/>
          <p:cNvGrpSpPr/>
          <p:nvPr/>
        </p:nvGrpSpPr>
        <p:grpSpPr>
          <a:xfrm>
            <a:off x="1143000" y="1660427"/>
            <a:ext cx="15674100" cy="5111700"/>
            <a:chOff x="0" y="0"/>
            <a:chExt cx="15674100" cy="5111700"/>
          </a:xfrm>
        </p:grpSpPr>
        <p:sp>
          <p:nvSpPr>
            <p:cNvPr id="61" name="Google Shape;61;p16"/>
            <p:cNvSpPr/>
            <p:nvPr/>
          </p:nvSpPr>
          <p:spPr>
            <a:xfrm>
              <a:off x="0" y="0"/>
              <a:ext cx="15674100" cy="5111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6"/>
            <p:cNvSpPr txBox="1"/>
            <p:nvPr/>
          </p:nvSpPr>
          <p:spPr>
            <a:xfrm>
              <a:off x="0" y="0"/>
              <a:ext cx="15674100" cy="51117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1" i="0" lang="en" sz="15000">
                  <a:solidFill>
                    <a:srgbClr val="04243C"/>
                  </a:solidFill>
                  <a:latin typeface="Arial"/>
                  <a:ea typeface="Arial"/>
                  <a:cs typeface="Arial"/>
                  <a:sym typeface="Arial"/>
                </a:rPr>
                <a:t>BNY</a:t>
              </a:r>
              <a:endParaRPr b="1" i="0" sz="15000">
                <a:solidFill>
                  <a:srgbClr val="04243C"/>
                </a:solidFill>
                <a:latin typeface="Arial"/>
                <a:ea typeface="Arial"/>
                <a:cs typeface="Arial"/>
                <a:sym typeface="Arial"/>
              </a:endParaRPr>
            </a:p>
            <a:p>
              <a:pPr indent="0" lvl="0" marL="0" rtl="0" algn="l">
                <a:spcBef>
                  <a:spcPts val="750"/>
                </a:spcBef>
                <a:spcAft>
                  <a:spcPts val="0"/>
                </a:spcAft>
                <a:buNone/>
              </a:pPr>
              <a:r>
                <a:rPr b="1" i="0" lang="en" sz="8000">
                  <a:solidFill>
                    <a:srgbClr val="2B9CAE"/>
                  </a:solidFill>
                  <a:latin typeface="Arial"/>
                  <a:ea typeface="Arial"/>
                  <a:cs typeface="Arial"/>
                  <a:sym typeface="Arial"/>
                </a:rPr>
                <a:t>Corporate Action</a:t>
              </a:r>
              <a:r>
                <a:rPr b="1" lang="en" sz="8000">
                  <a:solidFill>
                    <a:srgbClr val="2B9CAE"/>
                  </a:solidFill>
                  <a:latin typeface="Arial"/>
                  <a:ea typeface="Arial"/>
                  <a:cs typeface="Arial"/>
                  <a:sym typeface="Arial"/>
                </a:rPr>
                <a:t> Intelligence</a:t>
              </a:r>
              <a:r>
                <a:rPr b="1" i="0" lang="en" sz="8000">
                  <a:solidFill>
                    <a:srgbClr val="2B9CAE"/>
                  </a:solidFill>
                  <a:latin typeface="Arial"/>
                  <a:ea typeface="Arial"/>
                  <a:cs typeface="Arial"/>
                  <a:sym typeface="Arial"/>
                </a:rPr>
                <a:t> – Demo</a:t>
              </a:r>
              <a:endParaRPr b="1" i="0" sz="8000">
                <a:solidFill>
                  <a:srgbClr val="04243C"/>
                </a:solidFill>
                <a:latin typeface="Arial"/>
                <a:ea typeface="Arial"/>
                <a:cs typeface="Arial"/>
                <a:sym typeface="Arial"/>
              </a:endParaRPr>
            </a:p>
          </p:txBody>
        </p:sp>
      </p:grpSp>
      <p:sp>
        <p:nvSpPr>
          <p:cNvPr id="63" name="Google Shape;63;p16"/>
          <p:cNvSpPr/>
          <p:nvPr/>
        </p:nvSpPr>
        <p:spPr>
          <a:xfrm>
            <a:off x="1285999" y="7703334"/>
            <a:ext cx="143727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 name="Google Shape;64;p16"/>
          <p:cNvSpPr/>
          <p:nvPr/>
        </p:nvSpPr>
        <p:spPr>
          <a:xfrm>
            <a:off x="1285875" y="7048500"/>
            <a:ext cx="1333500" cy="57300"/>
          </a:xfrm>
          <a:prstGeom prst="roundRect">
            <a:avLst>
              <a:gd fmla="val 50000" name="adj"/>
            </a:avLst>
          </a:pr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6"/>
          <p:cNvSpPr/>
          <p:nvPr/>
        </p:nvSpPr>
        <p:spPr>
          <a:xfrm>
            <a:off x="1285999" y="7334250"/>
            <a:ext cx="14372700" cy="952500"/>
          </a:xfrm>
          <a:prstGeom prst="rect">
            <a:avLst/>
          </a:prstGeom>
          <a:solidFill>
            <a:srgbClr val="000000">
              <a:alpha val="0"/>
            </a:srgbClr>
          </a:solidFill>
          <a:ln>
            <a:noFill/>
          </a:ln>
        </p:spPr>
        <p:txBody>
          <a:bodyPr anchorCtr="0" anchor="t" bIns="25400" lIns="25400" spcFirstLastPara="1" rIns="25400" wrap="square" tIns="25400">
            <a:noAutofit/>
          </a:bodyPr>
          <a:lstStyle/>
          <a:p>
            <a:pPr indent="0" lvl="0" marL="0" rtl="0" algn="l">
              <a:spcBef>
                <a:spcPts val="0"/>
              </a:spcBef>
              <a:spcAft>
                <a:spcPts val="0"/>
              </a:spcAft>
              <a:buNone/>
            </a:pPr>
            <a:r>
              <a:rPr b="1" i="0" lang="en" sz="2000">
                <a:solidFill>
                  <a:srgbClr val="04243C"/>
                </a:solidFill>
                <a:latin typeface="Barlow"/>
                <a:ea typeface="Barlow"/>
                <a:cs typeface="Barlow"/>
                <a:sym typeface="Barlow"/>
              </a:rPr>
              <a:t>Corporate Action Intelligence Team</a:t>
            </a:r>
            <a:endParaRPr b="1" i="0" sz="2000">
              <a:solidFill>
                <a:srgbClr val="04243C"/>
              </a:solidFill>
              <a:latin typeface="Barlow"/>
              <a:ea typeface="Barlow"/>
              <a:cs typeface="Barlow"/>
              <a:sym typeface="Barlow"/>
            </a:endParaRPr>
          </a:p>
          <a:p>
            <a:pPr indent="0" lvl="0" marL="0" rtl="0" algn="l">
              <a:spcBef>
                <a:spcPts val="600"/>
              </a:spcBef>
              <a:spcAft>
                <a:spcPts val="0"/>
              </a:spcAft>
              <a:buNone/>
            </a:pPr>
            <a:r>
              <a:rPr b="0" i="0" lang="en" sz="1600">
                <a:solidFill>
                  <a:srgbClr val="475569"/>
                </a:solidFill>
                <a:latin typeface="Barlow"/>
                <a:ea typeface="Barlow"/>
                <a:cs typeface="Barlow"/>
                <a:sym typeface="Barlow"/>
              </a:rPr>
              <a:t>Aesha Gandhi, Pranshul Bhatnagar, Alex Li, Kedar Vaidya, Aaron Jiang</a:t>
            </a:r>
            <a:endParaRPr b="1" i="0" sz="1600">
              <a:solidFill>
                <a:srgbClr val="04243C"/>
              </a:solidFill>
              <a:latin typeface="Barlow"/>
              <a:ea typeface="Barlow"/>
              <a:cs typeface="Barlow"/>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7"/>
          <p:cNvSpPr txBox="1"/>
          <p:nvPr/>
        </p:nvSpPr>
        <p:spPr>
          <a:xfrm>
            <a:off x="1028700" y="571500"/>
            <a:ext cx="162306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2B9CAE"/>
                </a:solidFill>
                <a:latin typeface="Arial"/>
                <a:ea typeface="Arial"/>
                <a:cs typeface="Arial"/>
                <a:sym typeface="Arial"/>
              </a:rPr>
              <a:t>CORPORATE ACTION INTELLIGENCE</a:t>
            </a:r>
            <a:endParaRPr b="1" sz="1300">
              <a:solidFill>
                <a:srgbClr val="2B9CAE"/>
              </a:solidFill>
              <a:latin typeface="Arial"/>
              <a:ea typeface="Arial"/>
              <a:cs typeface="Arial"/>
              <a:sym typeface="Arial"/>
            </a:endParaRPr>
          </a:p>
          <a:p>
            <a:pPr indent="0" lvl="0" marL="0" rtl="0" algn="l">
              <a:spcBef>
                <a:spcPts val="450"/>
              </a:spcBef>
              <a:spcAft>
                <a:spcPts val="0"/>
              </a:spcAft>
              <a:buNone/>
            </a:pPr>
            <a:r>
              <a:rPr b="1" lang="en" sz="3600">
                <a:solidFill>
                  <a:srgbClr val="04243C"/>
                </a:solidFill>
                <a:latin typeface="Arial"/>
                <a:ea typeface="Arial"/>
                <a:cs typeface="Arial"/>
                <a:sym typeface="Arial"/>
              </a:rPr>
              <a:t>Problem Statement &amp; Solution Architecture</a:t>
            </a:r>
            <a:endParaRPr b="1" sz="3600">
              <a:solidFill>
                <a:srgbClr val="04243C"/>
              </a:solidFill>
              <a:latin typeface="Arial"/>
              <a:ea typeface="Arial"/>
              <a:cs typeface="Arial"/>
              <a:sym typeface="Arial"/>
            </a:endParaRPr>
          </a:p>
        </p:txBody>
      </p:sp>
      <p:grpSp>
        <p:nvGrpSpPr>
          <p:cNvPr id="72" name="Google Shape;72;p17"/>
          <p:cNvGrpSpPr/>
          <p:nvPr/>
        </p:nvGrpSpPr>
        <p:grpSpPr>
          <a:xfrm>
            <a:off x="1028700" y="1666875"/>
            <a:ext cx="5219700" cy="1571700"/>
            <a:chOff x="0" y="0"/>
            <a:chExt cx="5219700" cy="1571700"/>
          </a:xfrm>
        </p:grpSpPr>
        <p:sp>
          <p:nvSpPr>
            <p:cNvPr id="73" name="Google Shape;73;p17"/>
            <p:cNvSpPr/>
            <p:nvPr/>
          </p:nvSpPr>
          <p:spPr>
            <a:xfrm>
              <a:off x="0" y="0"/>
              <a:ext cx="5219700" cy="1571700"/>
            </a:xfrm>
            <a:prstGeom prst="roundRect">
              <a:avLst>
                <a:gd fmla="val 7271"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7"/>
            <p:cNvSpPr/>
            <p:nvPr/>
          </p:nvSpPr>
          <p:spPr>
            <a:xfrm>
              <a:off x="0" y="0"/>
              <a:ext cx="57300" cy="1571700"/>
            </a:xfrm>
            <a:prstGeom prst="roundRect">
              <a:avLst>
                <a:gd fmla="val 49999" name="adj"/>
              </a:avLst>
            </a:pr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7"/>
            <p:cNvSpPr txBox="1"/>
            <p:nvPr/>
          </p:nvSpPr>
          <p:spPr>
            <a:xfrm>
              <a:off x="266700" y="171450"/>
              <a:ext cx="4724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100">
                  <a:solidFill>
                    <a:srgbClr val="04243C"/>
                  </a:solidFill>
                  <a:latin typeface="Arial"/>
                  <a:ea typeface="Arial"/>
                  <a:cs typeface="Arial"/>
                  <a:sym typeface="Arial"/>
                </a:rPr>
                <a:t>Large &amp; Complex Documents</a:t>
              </a:r>
              <a:endParaRPr b="1" sz="2100">
                <a:solidFill>
                  <a:srgbClr val="04243C"/>
                </a:solidFill>
                <a:latin typeface="Arial"/>
                <a:ea typeface="Arial"/>
                <a:cs typeface="Arial"/>
                <a:sym typeface="Arial"/>
              </a:endParaRPr>
            </a:p>
            <a:p>
              <a:pPr indent="0" lvl="0" marL="0" rtl="0" algn="l">
                <a:spcBef>
                  <a:spcPts val="600"/>
                </a:spcBef>
                <a:spcAft>
                  <a:spcPts val="0"/>
                </a:spcAft>
                <a:buNone/>
              </a:pPr>
              <a:r>
                <a:t/>
              </a:r>
              <a:endParaRPr b="1" sz="500">
                <a:solidFill>
                  <a:srgbClr val="04243C"/>
                </a:solidFill>
                <a:latin typeface="Arial"/>
                <a:ea typeface="Arial"/>
                <a:cs typeface="Arial"/>
                <a:sym typeface="Arial"/>
              </a:endParaRPr>
            </a:p>
            <a:p>
              <a:pPr indent="0" lvl="0" marL="0" rtl="0" algn="l">
                <a:spcBef>
                  <a:spcPts val="600"/>
                </a:spcBef>
                <a:spcAft>
                  <a:spcPts val="0"/>
                </a:spcAft>
                <a:buNone/>
              </a:pPr>
              <a:r>
                <a:rPr b="0" i="0" lang="en" sz="1400">
                  <a:solidFill>
                    <a:srgbClr val="475569"/>
                  </a:solidFill>
                  <a:latin typeface="Arial"/>
                  <a:ea typeface="Arial"/>
                  <a:cs typeface="Arial"/>
                  <a:sym typeface="Arial"/>
                </a:rPr>
                <a:t>Relevant information is spread across lengthy filings, footnotes, and supporting exhibits.</a:t>
              </a:r>
              <a:endParaRPr b="1" i="0" sz="1400">
                <a:solidFill>
                  <a:srgbClr val="2B9CAE"/>
                </a:solidFill>
                <a:latin typeface="Arial"/>
                <a:ea typeface="Arial"/>
                <a:cs typeface="Arial"/>
                <a:sym typeface="Arial"/>
              </a:endParaRPr>
            </a:p>
          </p:txBody>
        </p:sp>
      </p:grpSp>
      <p:grpSp>
        <p:nvGrpSpPr>
          <p:cNvPr id="76" name="Google Shape;76;p17"/>
          <p:cNvGrpSpPr/>
          <p:nvPr/>
        </p:nvGrpSpPr>
        <p:grpSpPr>
          <a:xfrm>
            <a:off x="6534150" y="1666875"/>
            <a:ext cx="5219700" cy="1571700"/>
            <a:chOff x="0" y="0"/>
            <a:chExt cx="5219700" cy="1571700"/>
          </a:xfrm>
        </p:grpSpPr>
        <p:sp>
          <p:nvSpPr>
            <p:cNvPr id="77" name="Google Shape;77;p17"/>
            <p:cNvSpPr/>
            <p:nvPr/>
          </p:nvSpPr>
          <p:spPr>
            <a:xfrm>
              <a:off x="0" y="0"/>
              <a:ext cx="5219700" cy="1571700"/>
            </a:xfrm>
            <a:prstGeom prst="roundRect">
              <a:avLst>
                <a:gd fmla="val 7271"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7"/>
            <p:cNvSpPr/>
            <p:nvPr/>
          </p:nvSpPr>
          <p:spPr>
            <a:xfrm>
              <a:off x="0" y="0"/>
              <a:ext cx="57300" cy="1571700"/>
            </a:xfrm>
            <a:prstGeom prst="roundRect">
              <a:avLst>
                <a:gd fmla="val 49999" name="adj"/>
              </a:avLst>
            </a:pr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7"/>
            <p:cNvSpPr txBox="1"/>
            <p:nvPr/>
          </p:nvSpPr>
          <p:spPr>
            <a:xfrm>
              <a:off x="266700" y="171450"/>
              <a:ext cx="4724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800">
                  <a:solidFill>
                    <a:srgbClr val="2B9CAE"/>
                  </a:solidFill>
                  <a:latin typeface="Arial"/>
                  <a:ea typeface="Arial"/>
                  <a:cs typeface="Arial"/>
                  <a:sym typeface="Arial"/>
                </a:rPr>
                <a:t> </a:t>
              </a:r>
              <a:r>
                <a:rPr b="1" i="0" lang="en" sz="2100">
                  <a:solidFill>
                    <a:srgbClr val="04243C"/>
                  </a:solidFill>
                  <a:latin typeface="Arial"/>
                  <a:ea typeface="Arial"/>
                  <a:cs typeface="Arial"/>
                  <a:sym typeface="Arial"/>
                </a:rPr>
                <a:t>Terms Change Over Time</a:t>
              </a:r>
              <a:endParaRPr b="1" i="0" sz="2100">
                <a:solidFill>
                  <a:srgbClr val="04243C"/>
                </a:solidFill>
                <a:latin typeface="Arial"/>
                <a:ea typeface="Arial"/>
                <a:cs typeface="Arial"/>
                <a:sym typeface="Arial"/>
              </a:endParaRPr>
            </a:p>
            <a:p>
              <a:pPr indent="0" lvl="0" marL="0" rtl="0" algn="l">
                <a:spcBef>
                  <a:spcPts val="600"/>
                </a:spcBef>
                <a:spcAft>
                  <a:spcPts val="0"/>
                </a:spcAft>
                <a:buNone/>
              </a:pPr>
              <a:r>
                <a:t/>
              </a:r>
              <a:endParaRPr b="1" sz="500">
                <a:solidFill>
                  <a:srgbClr val="04243C"/>
                </a:solidFill>
                <a:latin typeface="Arial"/>
                <a:ea typeface="Arial"/>
                <a:cs typeface="Arial"/>
                <a:sym typeface="Arial"/>
              </a:endParaRPr>
            </a:p>
            <a:p>
              <a:pPr indent="0" lvl="0" marL="0" rtl="0" algn="l">
                <a:spcBef>
                  <a:spcPts val="600"/>
                </a:spcBef>
                <a:spcAft>
                  <a:spcPts val="0"/>
                </a:spcAft>
                <a:buNone/>
              </a:pPr>
              <a:r>
                <a:rPr b="0" i="0" lang="en" sz="1400">
                  <a:solidFill>
                    <a:srgbClr val="475569"/>
                  </a:solidFill>
                  <a:latin typeface="Arial"/>
                  <a:ea typeface="Arial"/>
                  <a:cs typeface="Arial"/>
                  <a:sym typeface="Arial"/>
                </a:rPr>
                <a:t>Amendments dynamically revise transaction prices, key dates, and execution conditions.</a:t>
              </a:r>
              <a:endParaRPr b="1" i="0" sz="1400">
                <a:solidFill>
                  <a:srgbClr val="2B9CAE"/>
                </a:solidFill>
                <a:latin typeface="Arial"/>
                <a:ea typeface="Arial"/>
                <a:cs typeface="Arial"/>
                <a:sym typeface="Arial"/>
              </a:endParaRPr>
            </a:p>
          </p:txBody>
        </p:sp>
      </p:grpSp>
      <p:grpSp>
        <p:nvGrpSpPr>
          <p:cNvPr id="80" name="Google Shape;80;p17"/>
          <p:cNvGrpSpPr/>
          <p:nvPr/>
        </p:nvGrpSpPr>
        <p:grpSpPr>
          <a:xfrm>
            <a:off x="12039600" y="1666875"/>
            <a:ext cx="5219700" cy="1571700"/>
            <a:chOff x="0" y="0"/>
            <a:chExt cx="5219700" cy="1571700"/>
          </a:xfrm>
        </p:grpSpPr>
        <p:sp>
          <p:nvSpPr>
            <p:cNvPr id="81" name="Google Shape;81;p17"/>
            <p:cNvSpPr/>
            <p:nvPr/>
          </p:nvSpPr>
          <p:spPr>
            <a:xfrm>
              <a:off x="0" y="0"/>
              <a:ext cx="5219700" cy="1571700"/>
            </a:xfrm>
            <a:prstGeom prst="roundRect">
              <a:avLst>
                <a:gd fmla="val 7271"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7"/>
            <p:cNvSpPr/>
            <p:nvPr/>
          </p:nvSpPr>
          <p:spPr>
            <a:xfrm>
              <a:off x="0" y="0"/>
              <a:ext cx="57300" cy="1571700"/>
            </a:xfrm>
            <a:prstGeom prst="roundRect">
              <a:avLst>
                <a:gd fmla="val 49999" name="adj"/>
              </a:avLst>
            </a:pr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7"/>
            <p:cNvSpPr txBox="1"/>
            <p:nvPr/>
          </p:nvSpPr>
          <p:spPr>
            <a:xfrm>
              <a:off x="266700" y="171450"/>
              <a:ext cx="4724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100">
                  <a:solidFill>
                    <a:srgbClr val="04243C"/>
                  </a:solidFill>
                  <a:latin typeface="Arial"/>
                  <a:ea typeface="Arial"/>
                  <a:cs typeface="Arial"/>
                  <a:sym typeface="Arial"/>
                </a:rPr>
                <a:t>Values Need Context</a:t>
              </a:r>
              <a:endParaRPr b="1" i="0" sz="2100">
                <a:solidFill>
                  <a:srgbClr val="04243C"/>
                </a:solidFill>
                <a:latin typeface="Arial"/>
                <a:ea typeface="Arial"/>
                <a:cs typeface="Arial"/>
                <a:sym typeface="Arial"/>
              </a:endParaRPr>
            </a:p>
            <a:p>
              <a:pPr indent="0" lvl="0" marL="0" rtl="0" algn="l">
                <a:spcBef>
                  <a:spcPts val="600"/>
                </a:spcBef>
                <a:spcAft>
                  <a:spcPts val="0"/>
                </a:spcAft>
                <a:buNone/>
              </a:pPr>
              <a:r>
                <a:t/>
              </a:r>
              <a:endParaRPr b="1" sz="500">
                <a:solidFill>
                  <a:srgbClr val="04243C"/>
                </a:solidFill>
                <a:latin typeface="Arial"/>
                <a:ea typeface="Arial"/>
                <a:cs typeface="Arial"/>
                <a:sym typeface="Arial"/>
              </a:endParaRPr>
            </a:p>
            <a:p>
              <a:pPr indent="0" lvl="0" marL="0" rtl="0" algn="l">
                <a:spcBef>
                  <a:spcPts val="600"/>
                </a:spcBef>
                <a:spcAft>
                  <a:spcPts val="0"/>
                </a:spcAft>
                <a:buNone/>
              </a:pPr>
              <a:r>
                <a:rPr b="0" i="0" lang="en" sz="1400">
                  <a:solidFill>
                    <a:srgbClr val="475569"/>
                  </a:solidFill>
                  <a:latin typeface="Arial"/>
                  <a:ea typeface="Arial"/>
                  <a:cs typeface="Arial"/>
                  <a:sym typeface="Arial"/>
                </a:rPr>
                <a:t>Key numerical values must be linked to the correct event, field, and verified source.</a:t>
              </a:r>
              <a:endParaRPr b="1" i="0" sz="1400">
                <a:solidFill>
                  <a:srgbClr val="2B9CAE"/>
                </a:solidFill>
                <a:latin typeface="Arial"/>
                <a:ea typeface="Arial"/>
                <a:cs typeface="Arial"/>
                <a:sym typeface="Arial"/>
              </a:endParaRPr>
            </a:p>
          </p:txBody>
        </p:sp>
      </p:grpSp>
      <p:grpSp>
        <p:nvGrpSpPr>
          <p:cNvPr id="84" name="Google Shape;84;p17"/>
          <p:cNvGrpSpPr/>
          <p:nvPr/>
        </p:nvGrpSpPr>
        <p:grpSpPr>
          <a:xfrm>
            <a:off x="1028700" y="4457700"/>
            <a:ext cx="16230600" cy="647700"/>
            <a:chOff x="0" y="0"/>
            <a:chExt cx="16230600" cy="647700"/>
          </a:xfrm>
        </p:grpSpPr>
        <p:sp>
          <p:nvSpPr>
            <p:cNvPr id="85" name="Google Shape;85;p17"/>
            <p:cNvSpPr/>
            <p:nvPr/>
          </p:nvSpPr>
          <p:spPr>
            <a:xfrm>
              <a:off x="0" y="0"/>
              <a:ext cx="16230600" cy="647700"/>
            </a:xfrm>
            <a:prstGeom prst="roundRect">
              <a:avLst>
                <a:gd fmla="val 14705" name="adj"/>
              </a:avLst>
            </a:prstGeom>
            <a:solidFill>
              <a:srgbClr val="04243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300"/>
            </a:p>
          </p:txBody>
        </p:sp>
        <p:sp>
          <p:nvSpPr>
            <p:cNvPr id="86" name="Google Shape;86;p17"/>
            <p:cNvSpPr txBox="1"/>
            <p:nvPr/>
          </p:nvSpPr>
          <p:spPr>
            <a:xfrm>
              <a:off x="285750" y="0"/>
              <a:ext cx="156591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2B9CAE"/>
                  </a:solidFill>
                  <a:latin typeface="Arial"/>
                  <a:ea typeface="Arial"/>
                  <a:cs typeface="Arial"/>
                  <a:sym typeface="Arial"/>
                </a:rPr>
                <a:t>GOAL:</a:t>
              </a:r>
              <a:r>
                <a:rPr lang="en" sz="1700">
                  <a:solidFill>
                    <a:srgbClr val="FFFFFF"/>
                  </a:solidFill>
                  <a:latin typeface="Arial"/>
                  <a:ea typeface="Arial"/>
                  <a:cs typeface="Arial"/>
                  <a:sym typeface="Arial"/>
                </a:rPr>
                <a:t> Build a structured corporate-action dataset with traceable evidence for review and downstream automated processing.</a:t>
              </a:r>
              <a:endParaRPr sz="1700">
                <a:solidFill>
                  <a:srgbClr val="FFFFFF"/>
                </a:solidFill>
                <a:latin typeface="Arial"/>
                <a:ea typeface="Arial"/>
                <a:cs typeface="Arial"/>
                <a:sym typeface="Arial"/>
              </a:endParaRPr>
            </a:p>
          </p:txBody>
        </p:sp>
      </p:grpSp>
      <p:grpSp>
        <p:nvGrpSpPr>
          <p:cNvPr id="87" name="Google Shape;87;p17"/>
          <p:cNvGrpSpPr/>
          <p:nvPr/>
        </p:nvGrpSpPr>
        <p:grpSpPr>
          <a:xfrm>
            <a:off x="1028700" y="5470301"/>
            <a:ext cx="3838500" cy="2857500"/>
            <a:chOff x="0" y="0"/>
            <a:chExt cx="3838500" cy="2857500"/>
          </a:xfrm>
        </p:grpSpPr>
        <p:sp>
          <p:nvSpPr>
            <p:cNvPr id="88" name="Google Shape;88;p1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2200">
                  <a:solidFill>
                    <a:srgbClr val="2B9CAE"/>
                  </a:solidFill>
                  <a:highlight>
                    <a:srgbClr val="04243C"/>
                  </a:highlight>
                  <a:latin typeface="Material Icons"/>
                  <a:ea typeface="Material Icons"/>
                  <a:cs typeface="Material Icons"/>
                  <a:sym typeface="Material Icons"/>
                </a:rPr>
                <a:t>input</a:t>
              </a:r>
              <a:r>
                <a:rPr b="1" i="0" lang="en" sz="2200">
                  <a:solidFill>
                    <a:srgbClr val="2B9CAE"/>
                  </a:solidFill>
                  <a:latin typeface="Arial"/>
                  <a:ea typeface="Arial"/>
                  <a:cs typeface="Arial"/>
                  <a:sym typeface="Arial"/>
                </a:rPr>
                <a:t> 01</a:t>
              </a:r>
              <a:endParaRPr b="1" i="0" sz="2200">
                <a:solidFill>
                  <a:srgbClr val="2B9CAE"/>
                </a:solidFill>
                <a:latin typeface="Arial"/>
                <a:ea typeface="Arial"/>
                <a:cs typeface="Arial"/>
                <a:sym typeface="Arial"/>
              </a:endParaRPr>
            </a:p>
            <a:p>
              <a:pPr indent="0" lvl="0" marL="0" rtl="0" algn="l">
                <a:spcBef>
                  <a:spcPts val="1000"/>
                </a:spcBef>
                <a:spcAft>
                  <a:spcPts val="0"/>
                </a:spcAft>
                <a:buNone/>
              </a:pPr>
              <a:r>
                <a:t/>
              </a:r>
              <a:endParaRPr b="1" sz="700">
                <a:solidFill>
                  <a:srgbClr val="2B9CAE"/>
                </a:solidFill>
                <a:latin typeface="Arial"/>
                <a:ea typeface="Arial"/>
                <a:cs typeface="Arial"/>
                <a:sym typeface="Arial"/>
              </a:endParaRPr>
            </a:p>
            <a:p>
              <a:pPr indent="0" lvl="0" marL="0" rtl="0" algn="l">
                <a:spcBef>
                  <a:spcPts val="1000"/>
                </a:spcBef>
                <a:spcAft>
                  <a:spcPts val="0"/>
                </a:spcAft>
                <a:buNone/>
              </a:pPr>
              <a:r>
                <a:rPr b="1" i="0" lang="en" sz="2200">
                  <a:solidFill>
                    <a:srgbClr val="04243C"/>
                  </a:solidFill>
                  <a:latin typeface="Arial"/>
                  <a:ea typeface="Arial"/>
                  <a:cs typeface="Arial"/>
                  <a:sym typeface="Arial"/>
                </a:rPr>
                <a:t>Intake &amp; Classification</a:t>
              </a:r>
              <a:endParaRPr b="0" i="0" sz="2200">
                <a:solidFill>
                  <a:srgbClr val="2B9CAE"/>
                </a:solidFill>
                <a:latin typeface="Material Icons"/>
                <a:ea typeface="Material Icons"/>
                <a:cs typeface="Material Icons"/>
                <a:sym typeface="Material Icons"/>
              </a:endParaRPr>
            </a:p>
            <a:p>
              <a:pPr indent="0" lvl="0" marL="0" rtl="0" algn="l">
                <a:spcBef>
                  <a:spcPts val="800"/>
                </a:spcBef>
                <a:spcAft>
                  <a:spcPts val="0"/>
                </a:spcAft>
                <a:buNone/>
              </a:pPr>
              <a:r>
                <a:t/>
              </a:r>
              <a:endParaRPr b="0" i="0" sz="1450">
                <a:solidFill>
                  <a:srgbClr val="2B9CAE"/>
                </a:solidFill>
                <a:latin typeface="Material Icons"/>
                <a:ea typeface="Material Icons"/>
                <a:cs typeface="Material Icons"/>
                <a:sym typeface="Material Icons"/>
              </a:endParaRPr>
            </a:p>
          </p:txBody>
        </p:sp>
      </p:grpSp>
      <p:grpSp>
        <p:nvGrpSpPr>
          <p:cNvPr id="90" name="Google Shape;90;p17"/>
          <p:cNvGrpSpPr/>
          <p:nvPr/>
        </p:nvGrpSpPr>
        <p:grpSpPr>
          <a:xfrm>
            <a:off x="5153025" y="5470301"/>
            <a:ext cx="3838500" cy="2857500"/>
            <a:chOff x="0" y="0"/>
            <a:chExt cx="3838500" cy="2857500"/>
          </a:xfrm>
        </p:grpSpPr>
        <p:sp>
          <p:nvSpPr>
            <p:cNvPr id="91" name="Google Shape;91;p1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2200">
                  <a:solidFill>
                    <a:srgbClr val="2B9CAE"/>
                  </a:solidFill>
                  <a:highlight>
                    <a:srgbClr val="04243C"/>
                  </a:highlight>
                  <a:latin typeface="Material Icons"/>
                  <a:ea typeface="Material Icons"/>
                  <a:cs typeface="Material Icons"/>
                  <a:sym typeface="Material Icons"/>
                </a:rPr>
                <a:t>timeline</a:t>
              </a:r>
              <a:r>
                <a:rPr b="1" i="0" lang="en" sz="2200">
                  <a:solidFill>
                    <a:srgbClr val="2B9CAE"/>
                  </a:solidFill>
                  <a:latin typeface="Arial"/>
                  <a:ea typeface="Arial"/>
                  <a:cs typeface="Arial"/>
                  <a:sym typeface="Arial"/>
                </a:rPr>
                <a:t> 02</a:t>
              </a:r>
              <a:endParaRPr b="1" i="0" sz="2200">
                <a:solidFill>
                  <a:srgbClr val="2B9CAE"/>
                </a:solidFill>
                <a:latin typeface="Arial"/>
                <a:ea typeface="Arial"/>
                <a:cs typeface="Arial"/>
                <a:sym typeface="Arial"/>
              </a:endParaRPr>
            </a:p>
            <a:p>
              <a:pPr indent="0" lvl="0" marL="0" rtl="0" algn="l">
                <a:spcBef>
                  <a:spcPts val="1000"/>
                </a:spcBef>
                <a:spcAft>
                  <a:spcPts val="0"/>
                </a:spcAft>
                <a:buNone/>
              </a:pPr>
              <a:r>
                <a:t/>
              </a:r>
              <a:endParaRPr b="1" sz="700">
                <a:solidFill>
                  <a:srgbClr val="2B9CAE"/>
                </a:solidFill>
                <a:latin typeface="Arial"/>
                <a:ea typeface="Arial"/>
                <a:cs typeface="Arial"/>
                <a:sym typeface="Arial"/>
              </a:endParaRPr>
            </a:p>
            <a:p>
              <a:pPr indent="0" lvl="0" marL="0" rtl="0" algn="l">
                <a:spcBef>
                  <a:spcPts val="1000"/>
                </a:spcBef>
                <a:spcAft>
                  <a:spcPts val="0"/>
                </a:spcAft>
                <a:buNone/>
              </a:pPr>
              <a:r>
                <a:rPr b="1" i="0" lang="en" sz="2200">
                  <a:solidFill>
                    <a:srgbClr val="04243C"/>
                  </a:solidFill>
                  <a:latin typeface="Arial"/>
                  <a:ea typeface="Arial"/>
                  <a:cs typeface="Arial"/>
                  <a:sym typeface="Arial"/>
                </a:rPr>
                <a:t>Temporal Event Tracking</a:t>
              </a:r>
              <a:endParaRPr b="0" i="0" sz="2200">
                <a:solidFill>
                  <a:srgbClr val="2B9CAE"/>
                </a:solidFill>
                <a:latin typeface="Material Icons"/>
                <a:ea typeface="Material Icons"/>
                <a:cs typeface="Material Icons"/>
                <a:sym typeface="Material Icons"/>
              </a:endParaRPr>
            </a:p>
            <a:p>
              <a:pPr indent="0" lvl="0" marL="0" rtl="0" algn="l">
                <a:spcBef>
                  <a:spcPts val="800"/>
                </a:spcBef>
                <a:spcAft>
                  <a:spcPts val="0"/>
                </a:spcAft>
                <a:buNone/>
              </a:pPr>
              <a:r>
                <a:t/>
              </a:r>
              <a:endParaRPr b="0" i="0" sz="1450">
                <a:solidFill>
                  <a:srgbClr val="2B9CAE"/>
                </a:solidFill>
                <a:latin typeface="Material Icons"/>
                <a:ea typeface="Material Icons"/>
                <a:cs typeface="Material Icons"/>
                <a:sym typeface="Material Icons"/>
              </a:endParaRPr>
            </a:p>
          </p:txBody>
        </p:sp>
      </p:grpSp>
      <p:grpSp>
        <p:nvGrpSpPr>
          <p:cNvPr id="93" name="Google Shape;93;p17"/>
          <p:cNvGrpSpPr/>
          <p:nvPr/>
        </p:nvGrpSpPr>
        <p:grpSpPr>
          <a:xfrm>
            <a:off x="9286875" y="5470301"/>
            <a:ext cx="3838500" cy="2857500"/>
            <a:chOff x="0" y="0"/>
            <a:chExt cx="3838500" cy="2857500"/>
          </a:xfrm>
        </p:grpSpPr>
        <p:sp>
          <p:nvSpPr>
            <p:cNvPr id="94" name="Google Shape;94;p1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2200">
                  <a:solidFill>
                    <a:srgbClr val="2B9CAE"/>
                  </a:solidFill>
                  <a:highlight>
                    <a:srgbClr val="04243C"/>
                  </a:highlight>
                  <a:latin typeface="Material Icons"/>
                  <a:ea typeface="Material Icons"/>
                  <a:cs typeface="Material Icons"/>
                  <a:sym typeface="Material Icons"/>
                </a:rPr>
                <a:t>settings</a:t>
              </a:r>
              <a:r>
                <a:rPr b="1" i="0" lang="en" sz="2200">
                  <a:solidFill>
                    <a:srgbClr val="2B9CAE"/>
                  </a:solidFill>
                  <a:latin typeface="Arial"/>
                  <a:ea typeface="Arial"/>
                  <a:cs typeface="Arial"/>
                  <a:sym typeface="Arial"/>
                </a:rPr>
                <a:t> 03</a:t>
              </a:r>
              <a:endParaRPr b="1" i="0" sz="2200">
                <a:solidFill>
                  <a:srgbClr val="2B9CAE"/>
                </a:solidFill>
                <a:latin typeface="Arial"/>
                <a:ea typeface="Arial"/>
                <a:cs typeface="Arial"/>
                <a:sym typeface="Arial"/>
              </a:endParaRPr>
            </a:p>
            <a:p>
              <a:pPr indent="0" lvl="0" marL="0" rtl="0" algn="l">
                <a:spcBef>
                  <a:spcPts val="1000"/>
                </a:spcBef>
                <a:spcAft>
                  <a:spcPts val="0"/>
                </a:spcAft>
                <a:buNone/>
              </a:pPr>
              <a:r>
                <a:t/>
              </a:r>
              <a:endParaRPr b="1" sz="700">
                <a:solidFill>
                  <a:srgbClr val="2B9CAE"/>
                </a:solidFill>
                <a:latin typeface="Arial"/>
                <a:ea typeface="Arial"/>
                <a:cs typeface="Arial"/>
                <a:sym typeface="Arial"/>
              </a:endParaRPr>
            </a:p>
            <a:p>
              <a:pPr indent="0" lvl="0" marL="0" rtl="0" algn="l">
                <a:spcBef>
                  <a:spcPts val="1000"/>
                </a:spcBef>
                <a:spcAft>
                  <a:spcPts val="0"/>
                </a:spcAft>
                <a:buNone/>
              </a:pPr>
              <a:r>
                <a:rPr b="1" i="0" lang="en" sz="2200">
                  <a:solidFill>
                    <a:srgbClr val="04243C"/>
                  </a:solidFill>
                  <a:latin typeface="Arial"/>
                  <a:ea typeface="Arial"/>
                  <a:cs typeface="Arial"/>
                  <a:sym typeface="Arial"/>
                </a:rPr>
                <a:t>Downstream Processing</a:t>
              </a:r>
              <a:endParaRPr b="0" i="0" sz="2200">
                <a:solidFill>
                  <a:srgbClr val="2B9CAE"/>
                </a:solidFill>
                <a:latin typeface="Material Icons"/>
                <a:ea typeface="Material Icons"/>
                <a:cs typeface="Material Icons"/>
                <a:sym typeface="Material Icons"/>
              </a:endParaRPr>
            </a:p>
            <a:p>
              <a:pPr indent="0" lvl="0" marL="0" rtl="0" algn="l">
                <a:spcBef>
                  <a:spcPts val="800"/>
                </a:spcBef>
                <a:spcAft>
                  <a:spcPts val="0"/>
                </a:spcAft>
                <a:buNone/>
              </a:pPr>
              <a:r>
                <a:t/>
              </a:r>
              <a:endParaRPr b="0" i="0" sz="1450">
                <a:solidFill>
                  <a:srgbClr val="2B9CAE"/>
                </a:solidFill>
                <a:latin typeface="Material Icons"/>
                <a:ea typeface="Material Icons"/>
                <a:cs typeface="Material Icons"/>
                <a:sym typeface="Material Icons"/>
              </a:endParaRPr>
            </a:p>
          </p:txBody>
        </p:sp>
      </p:grpSp>
      <p:grpSp>
        <p:nvGrpSpPr>
          <p:cNvPr id="96" name="Google Shape;96;p17"/>
          <p:cNvGrpSpPr/>
          <p:nvPr/>
        </p:nvGrpSpPr>
        <p:grpSpPr>
          <a:xfrm>
            <a:off x="1028700" y="3619538"/>
            <a:ext cx="16230600" cy="695288"/>
            <a:chOff x="0" y="-238087"/>
            <a:chExt cx="16230600" cy="695288"/>
          </a:xfrm>
        </p:grpSpPr>
        <p:sp>
          <p:nvSpPr>
            <p:cNvPr id="97" name="Google Shape;97;p17"/>
            <p:cNvSpPr/>
            <p:nvPr/>
          </p:nvSpPr>
          <p:spPr>
            <a:xfrm>
              <a:off x="0" y="0"/>
              <a:ext cx="16230600" cy="457200"/>
            </a:xfrm>
            <a:prstGeom prst="roundRect">
              <a:avLst>
                <a:gd fmla="val 16666" name="adj"/>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00"/>
            </a:p>
          </p:txBody>
        </p:sp>
        <p:sp>
          <p:nvSpPr>
            <p:cNvPr id="98" name="Google Shape;98;p17"/>
            <p:cNvSpPr txBox="1"/>
            <p:nvPr/>
          </p:nvSpPr>
          <p:spPr>
            <a:xfrm>
              <a:off x="0" y="-238087"/>
              <a:ext cx="162306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2B9CAE"/>
                  </a:solidFill>
                  <a:latin typeface="Arial"/>
                  <a:ea typeface="Arial"/>
                  <a:cs typeface="Arial"/>
                  <a:sym typeface="Arial"/>
                </a:rPr>
                <a:t>Covered Event Types: </a:t>
              </a:r>
              <a:r>
                <a:rPr lang="en" sz="1600">
                  <a:solidFill>
                    <a:srgbClr val="2B9CAE"/>
                  </a:solidFill>
                </a:rPr>
                <a:t>Mergers  •  </a:t>
              </a:r>
              <a:r>
                <a:rPr b="0" lang="en" sz="1600">
                  <a:solidFill>
                    <a:srgbClr val="2B9CAE"/>
                  </a:solidFill>
                  <a:latin typeface="Arial"/>
                  <a:ea typeface="Arial"/>
                  <a:cs typeface="Arial"/>
                  <a:sym typeface="Arial"/>
                </a:rPr>
                <a:t>Tender Offers  •  Exchange Offers  •  Rights Issues  •  Conversions </a:t>
              </a:r>
              <a:endParaRPr b="1" sz="1600">
                <a:solidFill>
                  <a:srgbClr val="2B9CAE"/>
                </a:solidFill>
                <a:latin typeface="Arial"/>
                <a:ea typeface="Arial"/>
                <a:cs typeface="Arial"/>
                <a:sym typeface="Arial"/>
              </a:endParaRPr>
            </a:p>
          </p:txBody>
        </p:sp>
      </p:grpSp>
      <p:grpSp>
        <p:nvGrpSpPr>
          <p:cNvPr id="99" name="Google Shape;99;p17"/>
          <p:cNvGrpSpPr/>
          <p:nvPr/>
        </p:nvGrpSpPr>
        <p:grpSpPr>
          <a:xfrm>
            <a:off x="13411200" y="5470301"/>
            <a:ext cx="3838500" cy="2857500"/>
            <a:chOff x="0" y="0"/>
            <a:chExt cx="3838500" cy="2857500"/>
          </a:xfrm>
        </p:grpSpPr>
        <p:sp>
          <p:nvSpPr>
            <p:cNvPr id="100" name="Google Shape;100;p17"/>
            <p:cNvSpPr/>
            <p:nvPr/>
          </p:nvSpPr>
          <p:spPr>
            <a:xfrm>
              <a:off x="0" y="0"/>
              <a:ext cx="3838500" cy="2857500"/>
            </a:xfrm>
            <a:prstGeom prst="roundRect">
              <a:avLst>
                <a:gd fmla="val 3999" name="adj"/>
              </a:avLst>
            </a:prstGeom>
            <a:solidFill>
              <a:srgbClr val="FFFFFF"/>
            </a:solidFill>
            <a:ln cap="flat" cmpd="sng" w="14300">
              <a:solidFill>
                <a:srgbClr val="D5E0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7"/>
            <p:cNvSpPr txBox="1"/>
            <p:nvPr/>
          </p:nvSpPr>
          <p:spPr>
            <a:xfrm>
              <a:off x="228600" y="228600"/>
              <a:ext cx="3381300" cy="2400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2200">
                  <a:solidFill>
                    <a:srgbClr val="2B9CAE"/>
                  </a:solidFill>
                  <a:highlight>
                    <a:srgbClr val="04243C"/>
                  </a:highlight>
                  <a:latin typeface="Material Icons"/>
                  <a:ea typeface="Material Icons"/>
                  <a:cs typeface="Material Icons"/>
                  <a:sym typeface="Material Icons"/>
                </a:rPr>
                <a:t>verified_user</a:t>
              </a:r>
              <a:r>
                <a:rPr b="1" i="0" lang="en" sz="2200">
                  <a:solidFill>
                    <a:srgbClr val="2B9CAE"/>
                  </a:solidFill>
                  <a:latin typeface="Arial"/>
                  <a:ea typeface="Arial"/>
                  <a:cs typeface="Arial"/>
                  <a:sym typeface="Arial"/>
                </a:rPr>
                <a:t> 04</a:t>
              </a:r>
              <a:endParaRPr b="1" i="0" sz="2200">
                <a:solidFill>
                  <a:srgbClr val="2B9CAE"/>
                </a:solidFill>
                <a:latin typeface="Arial"/>
                <a:ea typeface="Arial"/>
                <a:cs typeface="Arial"/>
                <a:sym typeface="Arial"/>
              </a:endParaRPr>
            </a:p>
            <a:p>
              <a:pPr indent="0" lvl="0" marL="0" rtl="0" algn="l">
                <a:spcBef>
                  <a:spcPts val="1000"/>
                </a:spcBef>
                <a:spcAft>
                  <a:spcPts val="0"/>
                </a:spcAft>
                <a:buNone/>
              </a:pPr>
              <a:r>
                <a:t/>
              </a:r>
              <a:endParaRPr b="1" sz="700">
                <a:solidFill>
                  <a:srgbClr val="2B9CAE"/>
                </a:solidFill>
                <a:latin typeface="Arial"/>
                <a:ea typeface="Arial"/>
                <a:cs typeface="Arial"/>
                <a:sym typeface="Arial"/>
              </a:endParaRPr>
            </a:p>
            <a:p>
              <a:pPr indent="0" lvl="0" marL="0" rtl="0" algn="l">
                <a:spcBef>
                  <a:spcPts val="1000"/>
                </a:spcBef>
                <a:spcAft>
                  <a:spcPts val="0"/>
                </a:spcAft>
                <a:buNone/>
              </a:pPr>
              <a:r>
                <a:rPr b="1" i="0" lang="en" sz="2200">
                  <a:solidFill>
                    <a:srgbClr val="04243C"/>
                  </a:solidFill>
                  <a:latin typeface="Arial"/>
                  <a:ea typeface="Arial"/>
                  <a:cs typeface="Arial"/>
                  <a:sym typeface="Arial"/>
                </a:rPr>
                <a:t>Audit &amp; Exceptions</a:t>
              </a:r>
              <a:endParaRPr b="0" i="0" sz="2200">
                <a:solidFill>
                  <a:srgbClr val="2B9CAE"/>
                </a:solidFill>
                <a:latin typeface="Material Icons"/>
                <a:ea typeface="Material Icons"/>
                <a:cs typeface="Material Icons"/>
                <a:sym typeface="Material Icons"/>
              </a:endParaRPr>
            </a:p>
            <a:p>
              <a:pPr indent="0" lvl="0" marL="0" rtl="0" algn="l">
                <a:spcBef>
                  <a:spcPts val="800"/>
                </a:spcBef>
                <a:spcAft>
                  <a:spcPts val="0"/>
                </a:spcAft>
                <a:buNone/>
              </a:pPr>
              <a:r>
                <a:t/>
              </a:r>
              <a:endParaRPr b="0" i="0" sz="1450">
                <a:solidFill>
                  <a:srgbClr val="2B9CAE"/>
                </a:solidFill>
                <a:latin typeface="Material Icons"/>
                <a:ea typeface="Material Icons"/>
                <a:cs typeface="Material Icons"/>
                <a:sym typeface="Material Ico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grpSp>
        <p:nvGrpSpPr>
          <p:cNvPr id="110" name="Google Shape;110;p18"/>
          <p:cNvGrpSpPr/>
          <p:nvPr/>
        </p:nvGrpSpPr>
        <p:grpSpPr>
          <a:xfrm>
            <a:off x="1028700" y="942750"/>
            <a:ext cx="16230600" cy="781200"/>
            <a:chOff x="0" y="0"/>
            <a:chExt cx="16230600" cy="781200"/>
          </a:xfrm>
        </p:grpSpPr>
        <p:sp>
          <p:nvSpPr>
            <p:cNvPr id="111" name="Google Shape;111;p18"/>
            <p:cNvSpPr txBox="1"/>
            <p:nvPr/>
          </p:nvSpPr>
          <p:spPr>
            <a:xfrm>
              <a:off x="0" y="0"/>
              <a:ext cx="162306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u="none" strike="noStrike">
                  <a:solidFill>
                    <a:srgbClr val="2B9CAE"/>
                  </a:solidFill>
                  <a:latin typeface="Arial"/>
                  <a:ea typeface="Arial"/>
                  <a:cs typeface="Arial"/>
                  <a:sym typeface="Arial"/>
                </a:rPr>
                <a:t>DATA PREPROCESSING &amp; REASONING ARCHITECTURE</a:t>
              </a:r>
              <a:endParaRPr b="1" i="0" u="none" strike="noStrike">
                <a:solidFill>
                  <a:srgbClr val="2B9CAE"/>
                </a:solidFill>
                <a:latin typeface="Arial"/>
                <a:ea typeface="Arial"/>
                <a:cs typeface="Arial"/>
                <a:sym typeface="Arial"/>
              </a:endParaRPr>
            </a:p>
          </p:txBody>
        </p:sp>
        <p:sp>
          <p:nvSpPr>
            <p:cNvPr id="112" name="Google Shape;112;p18"/>
            <p:cNvSpPr txBox="1"/>
            <p:nvPr/>
          </p:nvSpPr>
          <p:spPr>
            <a:xfrm>
              <a:off x="0" y="304800"/>
              <a:ext cx="162306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3160" u="none" strike="noStrike">
                  <a:solidFill>
                    <a:srgbClr val="04243C"/>
                  </a:solidFill>
                  <a:latin typeface="Arial"/>
                  <a:ea typeface="Arial"/>
                  <a:cs typeface="Arial"/>
                  <a:sym typeface="Arial"/>
                </a:rPr>
                <a:t>End-to-End Event Pipeline</a:t>
              </a:r>
              <a:endParaRPr b="1" i="0" sz="3160" u="none" strike="noStrike">
                <a:solidFill>
                  <a:srgbClr val="04243C"/>
                </a:solidFill>
                <a:latin typeface="Arial"/>
                <a:ea typeface="Arial"/>
                <a:cs typeface="Arial"/>
                <a:sym typeface="Arial"/>
              </a:endParaRPr>
            </a:p>
          </p:txBody>
        </p:sp>
      </p:grpSp>
      <p:grpSp>
        <p:nvGrpSpPr>
          <p:cNvPr id="113" name="Google Shape;113;p18"/>
          <p:cNvGrpSpPr/>
          <p:nvPr/>
        </p:nvGrpSpPr>
        <p:grpSpPr>
          <a:xfrm>
            <a:off x="1047750" y="2428950"/>
            <a:ext cx="3619500" cy="2000100"/>
            <a:chOff x="0" y="0"/>
            <a:chExt cx="3619500" cy="2000100"/>
          </a:xfrm>
        </p:grpSpPr>
        <p:sp>
          <p:nvSpPr>
            <p:cNvPr id="114" name="Google Shape;114;p1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01</a:t>
              </a:r>
              <a:endParaRPr b="1" i="0" sz="2380" u="none" strike="noStrike">
                <a:solidFill>
                  <a:srgbClr val="2B9CAE"/>
                </a:solidFill>
                <a:latin typeface="Arial"/>
                <a:ea typeface="Arial"/>
                <a:cs typeface="Arial"/>
                <a:sym typeface="Arial"/>
              </a:endParaRPr>
            </a:p>
          </p:txBody>
        </p:sp>
        <p:sp>
          <p:nvSpPr>
            <p:cNvPr id="116" name="Google Shape;116;p1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SEC Metadata</a:t>
              </a:r>
              <a:endParaRPr b="1" i="0" sz="2000" u="none" strike="noStrike">
                <a:solidFill>
                  <a:srgbClr val="04243C"/>
                </a:solidFill>
                <a:latin typeface="Arial"/>
                <a:ea typeface="Arial"/>
                <a:cs typeface="Arial"/>
                <a:sym typeface="Arial"/>
              </a:endParaRPr>
            </a:p>
          </p:txBody>
        </p:sp>
        <p:sp>
          <p:nvSpPr>
            <p:cNvPr id="117" name="Google Shape;117;p1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Initial discovery and indexing via SEC E</a:t>
              </a:r>
              <a:r>
                <a:rPr lang="en" sz="1600">
                  <a:solidFill>
                    <a:srgbClr val="475569"/>
                  </a:solidFill>
                  <a:latin typeface="Arial"/>
                  <a:ea typeface="Arial"/>
                  <a:cs typeface="Arial"/>
                  <a:sym typeface="Arial"/>
                </a:rPr>
                <a:t>DGAR</a:t>
              </a:r>
              <a:endParaRPr b="0" i="0" sz="1600" u="none" strike="noStrike">
                <a:solidFill>
                  <a:srgbClr val="475569"/>
                </a:solidFill>
                <a:latin typeface="Arial"/>
                <a:ea typeface="Arial"/>
                <a:cs typeface="Arial"/>
                <a:sym typeface="Arial"/>
              </a:endParaRPr>
            </a:p>
          </p:txBody>
        </p:sp>
      </p:grpSp>
      <p:grpSp>
        <p:nvGrpSpPr>
          <p:cNvPr id="118" name="Google Shape;118;p18"/>
          <p:cNvGrpSpPr/>
          <p:nvPr/>
        </p:nvGrpSpPr>
        <p:grpSpPr>
          <a:xfrm>
            <a:off x="5238750" y="2428950"/>
            <a:ext cx="3619500" cy="2000100"/>
            <a:chOff x="0" y="0"/>
            <a:chExt cx="3619500" cy="2000100"/>
          </a:xfrm>
        </p:grpSpPr>
        <p:sp>
          <p:nvSpPr>
            <p:cNvPr id="119" name="Google Shape;119;p1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02</a:t>
              </a:r>
              <a:endParaRPr b="1" i="0" sz="2380" u="none" strike="noStrike">
                <a:solidFill>
                  <a:srgbClr val="2B9CAE"/>
                </a:solidFill>
                <a:latin typeface="Arial"/>
                <a:ea typeface="Arial"/>
                <a:cs typeface="Arial"/>
                <a:sym typeface="Arial"/>
              </a:endParaRPr>
            </a:p>
          </p:txBody>
        </p:sp>
        <p:sp>
          <p:nvSpPr>
            <p:cNvPr id="121" name="Google Shape;121;p1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Retrieve Filing Bundle</a:t>
              </a:r>
              <a:endParaRPr b="1" i="0" sz="2000" u="none" strike="noStrike">
                <a:solidFill>
                  <a:srgbClr val="04243C"/>
                </a:solidFill>
                <a:latin typeface="Arial"/>
                <a:ea typeface="Arial"/>
                <a:cs typeface="Arial"/>
                <a:sym typeface="Arial"/>
              </a:endParaRPr>
            </a:p>
          </p:txBody>
        </p:sp>
        <p:sp>
          <p:nvSpPr>
            <p:cNvPr id="122" name="Google Shape;122;p1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Fetch complete source documents and exhibits from SEC EDGAR.</a:t>
              </a:r>
              <a:endParaRPr b="0" i="0" sz="1600" u="none" strike="noStrike">
                <a:solidFill>
                  <a:srgbClr val="475569"/>
                </a:solidFill>
                <a:latin typeface="Arial"/>
                <a:ea typeface="Arial"/>
                <a:cs typeface="Arial"/>
                <a:sym typeface="Arial"/>
              </a:endParaRPr>
            </a:p>
          </p:txBody>
        </p:sp>
      </p:grpSp>
      <p:grpSp>
        <p:nvGrpSpPr>
          <p:cNvPr id="123" name="Google Shape;123;p18"/>
          <p:cNvGrpSpPr/>
          <p:nvPr/>
        </p:nvGrpSpPr>
        <p:grpSpPr>
          <a:xfrm>
            <a:off x="9429750" y="2428950"/>
            <a:ext cx="3619500" cy="2000100"/>
            <a:chOff x="0" y="0"/>
            <a:chExt cx="3619500" cy="2000100"/>
          </a:xfrm>
        </p:grpSpPr>
        <p:sp>
          <p:nvSpPr>
            <p:cNvPr id="124" name="Google Shape;124;p1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03</a:t>
              </a:r>
              <a:endParaRPr b="1" i="0" sz="2380" u="none" strike="noStrike">
                <a:solidFill>
                  <a:srgbClr val="2B9CAE"/>
                </a:solidFill>
                <a:latin typeface="Arial"/>
                <a:ea typeface="Arial"/>
                <a:cs typeface="Arial"/>
                <a:sym typeface="Arial"/>
              </a:endParaRPr>
            </a:p>
          </p:txBody>
        </p:sp>
        <p:sp>
          <p:nvSpPr>
            <p:cNvPr id="126" name="Google Shape;126;p1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Normalize Documents</a:t>
              </a:r>
              <a:endParaRPr b="1" i="0" sz="2000" u="none" strike="noStrike">
                <a:solidFill>
                  <a:srgbClr val="04243C"/>
                </a:solidFill>
                <a:latin typeface="Arial"/>
                <a:ea typeface="Arial"/>
                <a:cs typeface="Arial"/>
                <a:sym typeface="Arial"/>
              </a:endParaRPr>
            </a:p>
          </p:txBody>
        </p:sp>
        <p:sp>
          <p:nvSpPr>
            <p:cNvPr id="127" name="Google Shape;127;p1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Convert raw HTML into clean, searchable plain text.</a:t>
              </a:r>
              <a:endParaRPr b="0" i="0" sz="1600" u="none" strike="noStrike">
                <a:solidFill>
                  <a:srgbClr val="475569"/>
                </a:solidFill>
                <a:latin typeface="Arial"/>
                <a:ea typeface="Arial"/>
                <a:cs typeface="Arial"/>
                <a:sym typeface="Arial"/>
              </a:endParaRPr>
            </a:p>
          </p:txBody>
        </p:sp>
      </p:grpSp>
      <p:grpSp>
        <p:nvGrpSpPr>
          <p:cNvPr id="128" name="Google Shape;128;p18"/>
          <p:cNvGrpSpPr/>
          <p:nvPr/>
        </p:nvGrpSpPr>
        <p:grpSpPr>
          <a:xfrm>
            <a:off x="13620750" y="2428950"/>
            <a:ext cx="3619500" cy="2000100"/>
            <a:chOff x="0" y="0"/>
            <a:chExt cx="3619500" cy="2000100"/>
          </a:xfrm>
        </p:grpSpPr>
        <p:sp>
          <p:nvSpPr>
            <p:cNvPr id="129" name="Google Shape;129;p1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04</a:t>
              </a:r>
              <a:endParaRPr b="1" i="0" sz="2380" u="none" strike="noStrike">
                <a:solidFill>
                  <a:srgbClr val="2B9CAE"/>
                </a:solidFill>
                <a:latin typeface="Arial"/>
                <a:ea typeface="Arial"/>
                <a:cs typeface="Arial"/>
                <a:sym typeface="Arial"/>
              </a:endParaRPr>
            </a:p>
          </p:txBody>
        </p:sp>
        <p:sp>
          <p:nvSpPr>
            <p:cNvPr id="131" name="Google Shape;131;p1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Extract Candidate Facts</a:t>
              </a:r>
              <a:endParaRPr b="1" i="0" sz="2000" u="none" strike="noStrike">
                <a:solidFill>
                  <a:srgbClr val="04243C"/>
                </a:solidFill>
                <a:latin typeface="Arial"/>
                <a:ea typeface="Arial"/>
                <a:cs typeface="Arial"/>
                <a:sym typeface="Arial"/>
              </a:endParaRPr>
            </a:p>
          </p:txBody>
        </p:sp>
        <p:sp>
          <p:nvSpPr>
            <p:cNvPr id="132" name="Google Shape;132;p1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AI layer (GliNER) extracts structured candidate fact payloads.</a:t>
              </a:r>
              <a:endParaRPr b="0" i="0" sz="1600" u="none" strike="noStrike">
                <a:solidFill>
                  <a:srgbClr val="475569"/>
                </a:solidFill>
                <a:latin typeface="Arial"/>
                <a:ea typeface="Arial"/>
                <a:cs typeface="Arial"/>
                <a:sym typeface="Arial"/>
              </a:endParaRPr>
            </a:p>
          </p:txBody>
        </p:sp>
      </p:grpSp>
      <p:grpSp>
        <p:nvGrpSpPr>
          <p:cNvPr id="133" name="Google Shape;133;p18"/>
          <p:cNvGrpSpPr/>
          <p:nvPr/>
        </p:nvGrpSpPr>
        <p:grpSpPr>
          <a:xfrm>
            <a:off x="1047750" y="5857950"/>
            <a:ext cx="3619500" cy="2000100"/>
            <a:chOff x="0" y="0"/>
            <a:chExt cx="3619500" cy="2000100"/>
          </a:xfrm>
        </p:grpSpPr>
        <p:sp>
          <p:nvSpPr>
            <p:cNvPr id="134" name="Google Shape;134;p18"/>
            <p:cNvSpPr/>
            <p:nvPr/>
          </p:nvSpPr>
          <p:spPr>
            <a:xfrm>
              <a:off x="0" y="0"/>
              <a:ext cx="3619500" cy="2000100"/>
            </a:xfrm>
            <a:prstGeom prst="roundRect">
              <a:avLst>
                <a:gd fmla="val 571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8"/>
            <p:cNvSpPr txBox="1"/>
            <p:nvPr/>
          </p:nvSpPr>
          <p:spPr>
            <a:xfrm>
              <a:off x="190500" y="142875"/>
              <a:ext cx="3238500" cy="381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05</a:t>
              </a:r>
              <a:endParaRPr b="1" i="0" sz="2380" u="none" strike="noStrike">
                <a:solidFill>
                  <a:srgbClr val="2B9CAE"/>
                </a:solidFill>
                <a:latin typeface="Arial"/>
                <a:ea typeface="Arial"/>
                <a:cs typeface="Arial"/>
                <a:sym typeface="Arial"/>
              </a:endParaRPr>
            </a:p>
          </p:txBody>
        </p:sp>
        <p:sp>
          <p:nvSpPr>
            <p:cNvPr id="136" name="Google Shape;136;p18"/>
            <p:cNvSpPr txBox="1"/>
            <p:nvPr/>
          </p:nvSpPr>
          <p:spPr>
            <a:xfrm>
              <a:off x="190500" y="523875"/>
              <a:ext cx="3238500" cy="3810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Concise Represen</a:t>
              </a:r>
              <a:r>
                <a:rPr b="1" lang="en" sz="2000">
                  <a:solidFill>
                    <a:srgbClr val="04243C"/>
                  </a:solidFill>
                  <a:latin typeface="Arial"/>
                  <a:ea typeface="Arial"/>
                  <a:cs typeface="Arial"/>
                  <a:sym typeface="Arial"/>
                </a:rPr>
                <a:t>tation</a:t>
              </a:r>
              <a:endParaRPr b="1" i="0" sz="2000" u="none" strike="noStrike">
                <a:solidFill>
                  <a:srgbClr val="04243C"/>
                </a:solidFill>
                <a:latin typeface="Arial"/>
                <a:ea typeface="Arial"/>
                <a:cs typeface="Arial"/>
                <a:sym typeface="Arial"/>
              </a:endParaRPr>
            </a:p>
          </p:txBody>
        </p:sp>
        <p:sp>
          <p:nvSpPr>
            <p:cNvPr id="137" name="Google Shape;137;p18"/>
            <p:cNvSpPr txBox="1"/>
            <p:nvPr/>
          </p:nvSpPr>
          <p:spPr>
            <a:xfrm>
              <a:off x="190500" y="952500"/>
              <a:ext cx="3238500" cy="857400"/>
            </a:xfrm>
            <a:prstGeom prst="rect">
              <a:avLst/>
            </a:pr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Compact event representation preserving evidence &amp; context.</a:t>
              </a:r>
              <a:endParaRPr b="0" i="0" sz="1600" u="none" strike="noStrike">
                <a:solidFill>
                  <a:srgbClr val="475569"/>
                </a:solidFill>
                <a:latin typeface="Arial"/>
                <a:ea typeface="Arial"/>
                <a:cs typeface="Arial"/>
                <a:sym typeface="Arial"/>
              </a:endParaRPr>
            </a:p>
          </p:txBody>
        </p:sp>
      </p:grpSp>
      <p:grpSp>
        <p:nvGrpSpPr>
          <p:cNvPr id="138" name="Google Shape;138;p18"/>
          <p:cNvGrpSpPr/>
          <p:nvPr/>
        </p:nvGrpSpPr>
        <p:grpSpPr>
          <a:xfrm>
            <a:off x="5238750" y="5857950"/>
            <a:ext cx="3619500" cy="2000100"/>
            <a:chOff x="0" y="0"/>
            <a:chExt cx="3619500" cy="2000100"/>
          </a:xfrm>
        </p:grpSpPr>
        <p:sp>
          <p:nvSpPr>
            <p:cNvPr id="139" name="Google Shape;139;p1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06</a:t>
              </a:r>
              <a:endParaRPr b="1" i="0" sz="2380" u="none" strike="noStrike">
                <a:solidFill>
                  <a:srgbClr val="2B9CAE"/>
                </a:solidFill>
                <a:latin typeface="Arial"/>
                <a:ea typeface="Arial"/>
                <a:cs typeface="Arial"/>
                <a:sym typeface="Arial"/>
              </a:endParaRPr>
            </a:p>
          </p:txBody>
        </p:sp>
        <p:sp>
          <p:nvSpPr>
            <p:cNvPr id="141" name="Google Shape;141;p1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Reason / Verify / Resolve</a:t>
              </a:r>
              <a:endParaRPr b="1" i="0" sz="2000" u="none" strike="noStrike">
                <a:solidFill>
                  <a:srgbClr val="04243C"/>
                </a:solidFill>
                <a:latin typeface="Arial"/>
                <a:ea typeface="Arial"/>
                <a:cs typeface="Arial"/>
                <a:sym typeface="Arial"/>
              </a:endParaRPr>
            </a:p>
          </p:txBody>
        </p:sp>
        <p:sp>
          <p:nvSpPr>
            <p:cNvPr id="142" name="Google Shape;142;p1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Process amendments and resolve canonical facts.</a:t>
              </a:r>
              <a:endParaRPr b="0" i="0" sz="1600" u="none" strike="noStrike">
                <a:solidFill>
                  <a:srgbClr val="475569"/>
                </a:solidFill>
                <a:latin typeface="Arial"/>
                <a:ea typeface="Arial"/>
                <a:cs typeface="Arial"/>
                <a:sym typeface="Arial"/>
              </a:endParaRPr>
            </a:p>
          </p:txBody>
        </p:sp>
      </p:grpSp>
      <p:grpSp>
        <p:nvGrpSpPr>
          <p:cNvPr id="143" name="Google Shape;143;p18"/>
          <p:cNvGrpSpPr/>
          <p:nvPr/>
        </p:nvGrpSpPr>
        <p:grpSpPr>
          <a:xfrm>
            <a:off x="9429750" y="5857950"/>
            <a:ext cx="3619500" cy="2000100"/>
            <a:chOff x="0" y="0"/>
            <a:chExt cx="3619500" cy="2000100"/>
          </a:xfrm>
        </p:grpSpPr>
        <p:sp>
          <p:nvSpPr>
            <p:cNvPr id="144" name="Google Shape;144;p1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07</a:t>
              </a:r>
              <a:endParaRPr b="1" i="0" sz="2380" u="none" strike="noStrike">
                <a:solidFill>
                  <a:srgbClr val="2B9CAE"/>
                </a:solidFill>
                <a:latin typeface="Arial"/>
                <a:ea typeface="Arial"/>
                <a:cs typeface="Arial"/>
                <a:sym typeface="Arial"/>
              </a:endParaRPr>
            </a:p>
          </p:txBody>
        </p:sp>
        <p:sp>
          <p:nvSpPr>
            <p:cNvPr id="146" name="Google Shape;146;p1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Canonical Event State</a:t>
              </a:r>
              <a:endParaRPr b="1" i="0" sz="2000" u="none" strike="noStrike">
                <a:solidFill>
                  <a:srgbClr val="04243C"/>
                </a:solidFill>
                <a:latin typeface="Arial"/>
                <a:ea typeface="Arial"/>
                <a:cs typeface="Arial"/>
                <a:sym typeface="Arial"/>
              </a:endParaRPr>
            </a:p>
          </p:txBody>
        </p:sp>
        <p:sp>
          <p:nvSpPr>
            <p:cNvPr id="147" name="Google Shape;147;p1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Single source of truth for verified corporate action facts.</a:t>
              </a:r>
              <a:endParaRPr b="0" i="0" sz="1600" u="none" strike="noStrike">
                <a:solidFill>
                  <a:srgbClr val="475569"/>
                </a:solidFill>
                <a:latin typeface="Arial"/>
                <a:ea typeface="Arial"/>
                <a:cs typeface="Arial"/>
                <a:sym typeface="Arial"/>
              </a:endParaRPr>
            </a:p>
          </p:txBody>
        </p:sp>
      </p:grpSp>
      <p:grpSp>
        <p:nvGrpSpPr>
          <p:cNvPr id="148" name="Google Shape;148;p18"/>
          <p:cNvGrpSpPr/>
          <p:nvPr/>
        </p:nvGrpSpPr>
        <p:grpSpPr>
          <a:xfrm>
            <a:off x="13620750" y="5857950"/>
            <a:ext cx="3619500" cy="2000100"/>
            <a:chOff x="0" y="0"/>
            <a:chExt cx="3619500" cy="2000100"/>
          </a:xfrm>
        </p:grpSpPr>
        <p:sp>
          <p:nvSpPr>
            <p:cNvPr id="149" name="Google Shape;149;p18"/>
            <p:cNvSpPr/>
            <p:nvPr/>
          </p:nvSpPr>
          <p:spPr>
            <a:xfrm>
              <a:off x="0" y="0"/>
              <a:ext cx="3619500" cy="20001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8"/>
            <p:cNvSpPr txBox="1"/>
            <p:nvPr/>
          </p:nvSpPr>
          <p:spPr>
            <a:xfrm>
              <a:off x="190500" y="142875"/>
              <a:ext cx="3238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380" u="none" strike="noStrike">
                  <a:solidFill>
                    <a:srgbClr val="2B9CAE"/>
                  </a:solidFill>
                  <a:latin typeface="Arial"/>
                  <a:ea typeface="Arial"/>
                  <a:cs typeface="Arial"/>
                  <a:sym typeface="Arial"/>
                </a:rPr>
                <a:t>08</a:t>
              </a:r>
              <a:endParaRPr b="1" i="0" sz="2380" u="none" strike="noStrike">
                <a:solidFill>
                  <a:srgbClr val="2B9CAE"/>
                </a:solidFill>
                <a:latin typeface="Arial"/>
                <a:ea typeface="Arial"/>
                <a:cs typeface="Arial"/>
                <a:sym typeface="Arial"/>
              </a:endParaRPr>
            </a:p>
          </p:txBody>
        </p:sp>
        <p:sp>
          <p:nvSpPr>
            <p:cNvPr id="151" name="Google Shape;151;p18"/>
            <p:cNvSpPr txBox="1"/>
            <p:nvPr/>
          </p:nvSpPr>
          <p:spPr>
            <a:xfrm>
              <a:off x="190500" y="523875"/>
              <a:ext cx="32385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000" u="none" strike="noStrike">
                  <a:solidFill>
                    <a:srgbClr val="04243C"/>
                  </a:solidFill>
                  <a:latin typeface="Arial"/>
                  <a:ea typeface="Arial"/>
                  <a:cs typeface="Arial"/>
                  <a:sym typeface="Arial"/>
                </a:rPr>
                <a:t>BNY Client Notification</a:t>
              </a:r>
              <a:endParaRPr b="1" i="0" sz="2000" u="none" strike="noStrike">
                <a:solidFill>
                  <a:srgbClr val="04243C"/>
                </a:solidFill>
                <a:latin typeface="Arial"/>
                <a:ea typeface="Arial"/>
                <a:cs typeface="Arial"/>
                <a:sym typeface="Arial"/>
              </a:endParaRPr>
            </a:p>
          </p:txBody>
        </p:sp>
        <p:sp>
          <p:nvSpPr>
            <p:cNvPr id="152" name="Google Shape;152;p18"/>
            <p:cNvSpPr txBox="1"/>
            <p:nvPr/>
          </p:nvSpPr>
          <p:spPr>
            <a:xfrm>
              <a:off x="190500" y="952500"/>
              <a:ext cx="32385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00" u="none" strike="noStrike">
                  <a:solidFill>
                    <a:srgbClr val="475569"/>
                  </a:solidFill>
                  <a:latin typeface="Arial"/>
                  <a:ea typeface="Arial"/>
                  <a:cs typeface="Arial"/>
                  <a:sym typeface="Arial"/>
                </a:rPr>
                <a:t>Enriched internal context integrated for downstream alerts.</a:t>
              </a:r>
              <a:endParaRPr b="0" i="0" sz="1600" u="none" strike="noStrike">
                <a:solidFill>
                  <a:srgbClr val="475569"/>
                </a:solidFill>
                <a:latin typeface="Arial"/>
                <a:ea typeface="Arial"/>
                <a:cs typeface="Arial"/>
                <a:sym typeface="Arial"/>
              </a:endParaRPr>
            </a:p>
          </p:txBody>
        </p:sp>
      </p:grpSp>
      <p:pic>
        <p:nvPicPr>
          <p:cNvPr id="153" name="Google Shape;153;p18"/>
          <p:cNvPicPr preferRelativeResize="0"/>
          <p:nvPr/>
        </p:nvPicPr>
        <p:blipFill rotWithShape="1">
          <a:blip r:embed="rId3">
            <a:alphaModFix/>
          </a:blip>
          <a:srcRect b="0" l="0" r="0" t="0"/>
          <a:stretch/>
        </p:blipFill>
        <p:spPr>
          <a:xfrm>
            <a:off x="4667250" y="3419550"/>
            <a:ext cx="476400" cy="19200"/>
          </a:xfrm>
          <a:prstGeom prst="rect">
            <a:avLst/>
          </a:prstGeom>
          <a:noFill/>
          <a:ln>
            <a:noFill/>
          </a:ln>
        </p:spPr>
      </p:pic>
      <p:sp>
        <p:nvSpPr>
          <p:cNvPr id="154" name="Google Shape;154;p18"/>
          <p:cNvSpPr/>
          <p:nvPr/>
        </p:nvSpPr>
        <p:spPr>
          <a:xfrm>
            <a:off x="5143500" y="3381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5" name="Google Shape;155;p18"/>
          <p:cNvPicPr preferRelativeResize="0"/>
          <p:nvPr/>
        </p:nvPicPr>
        <p:blipFill rotWithShape="1">
          <a:blip r:embed="rId3">
            <a:alphaModFix/>
          </a:blip>
          <a:srcRect b="0" l="0" r="0" t="0"/>
          <a:stretch/>
        </p:blipFill>
        <p:spPr>
          <a:xfrm>
            <a:off x="8858250" y="3419550"/>
            <a:ext cx="476400" cy="19200"/>
          </a:xfrm>
          <a:prstGeom prst="rect">
            <a:avLst/>
          </a:prstGeom>
          <a:noFill/>
          <a:ln>
            <a:noFill/>
          </a:ln>
        </p:spPr>
      </p:pic>
      <p:sp>
        <p:nvSpPr>
          <p:cNvPr id="156" name="Google Shape;156;p18"/>
          <p:cNvSpPr/>
          <p:nvPr/>
        </p:nvSpPr>
        <p:spPr>
          <a:xfrm>
            <a:off x="9334500" y="3381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7" name="Google Shape;157;p18"/>
          <p:cNvPicPr preferRelativeResize="0"/>
          <p:nvPr/>
        </p:nvPicPr>
        <p:blipFill rotWithShape="1">
          <a:blip r:embed="rId3">
            <a:alphaModFix/>
          </a:blip>
          <a:srcRect b="0" l="0" r="0" t="0"/>
          <a:stretch/>
        </p:blipFill>
        <p:spPr>
          <a:xfrm>
            <a:off x="13049250" y="3419550"/>
            <a:ext cx="476400" cy="19200"/>
          </a:xfrm>
          <a:prstGeom prst="rect">
            <a:avLst/>
          </a:prstGeom>
          <a:noFill/>
          <a:ln>
            <a:noFill/>
          </a:ln>
        </p:spPr>
      </p:pic>
      <p:sp>
        <p:nvSpPr>
          <p:cNvPr id="158" name="Google Shape;158;p18"/>
          <p:cNvSpPr/>
          <p:nvPr/>
        </p:nvSpPr>
        <p:spPr>
          <a:xfrm>
            <a:off x="13525500" y="3381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9" name="Google Shape;159;p18"/>
          <p:cNvPicPr preferRelativeResize="0"/>
          <p:nvPr/>
        </p:nvPicPr>
        <p:blipFill rotWithShape="1">
          <a:blip r:embed="rId4">
            <a:alphaModFix/>
          </a:blip>
          <a:srcRect b="0" l="0" r="0" t="0"/>
          <a:stretch/>
        </p:blipFill>
        <p:spPr>
          <a:xfrm>
            <a:off x="2834560" y="5134050"/>
            <a:ext cx="6315000" cy="609600"/>
          </a:xfrm>
          <a:prstGeom prst="rect">
            <a:avLst/>
          </a:prstGeom>
          <a:noFill/>
          <a:ln>
            <a:noFill/>
          </a:ln>
        </p:spPr>
      </p:pic>
      <p:sp>
        <p:nvSpPr>
          <p:cNvPr id="160" name="Google Shape;160;p18"/>
          <p:cNvSpPr/>
          <p:nvPr/>
        </p:nvSpPr>
        <p:spPr>
          <a:xfrm>
            <a:off x="2809875" y="5762701"/>
            <a:ext cx="95400" cy="95400"/>
          </a:xfrm>
          <a:custGeom>
            <a:rect b="b" l="l" r="r" t="t"/>
            <a:pathLst>
              <a:path extrusionOk="0" h="120000" w="120000">
                <a:moveTo>
                  <a:pt x="0" y="0"/>
                </a:moveTo>
                <a:lnTo>
                  <a:pt x="60000" y="120000"/>
                </a:lnTo>
                <a:lnTo>
                  <a:pt x="120000" y="0"/>
                </a:lnTo>
                <a:close/>
              </a:path>
            </a:pathLst>
          </a:cu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1" name="Google Shape;161;p18"/>
          <p:cNvPicPr preferRelativeResize="0"/>
          <p:nvPr/>
        </p:nvPicPr>
        <p:blipFill rotWithShape="1">
          <a:blip r:embed="rId3">
            <a:alphaModFix/>
          </a:blip>
          <a:srcRect b="0" l="0" r="0" t="0"/>
          <a:stretch/>
        </p:blipFill>
        <p:spPr>
          <a:xfrm>
            <a:off x="4667250" y="6848550"/>
            <a:ext cx="476400" cy="19200"/>
          </a:xfrm>
          <a:prstGeom prst="rect">
            <a:avLst/>
          </a:prstGeom>
          <a:noFill/>
          <a:ln>
            <a:noFill/>
          </a:ln>
        </p:spPr>
      </p:pic>
      <p:sp>
        <p:nvSpPr>
          <p:cNvPr id="162" name="Google Shape;162;p18"/>
          <p:cNvSpPr/>
          <p:nvPr/>
        </p:nvSpPr>
        <p:spPr>
          <a:xfrm>
            <a:off x="5143500" y="6810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3" name="Google Shape;163;p18"/>
          <p:cNvPicPr preferRelativeResize="0"/>
          <p:nvPr/>
        </p:nvPicPr>
        <p:blipFill rotWithShape="1">
          <a:blip r:embed="rId3">
            <a:alphaModFix/>
          </a:blip>
          <a:srcRect b="0" l="0" r="0" t="0"/>
          <a:stretch/>
        </p:blipFill>
        <p:spPr>
          <a:xfrm>
            <a:off x="8858250" y="6848550"/>
            <a:ext cx="476400" cy="19200"/>
          </a:xfrm>
          <a:prstGeom prst="rect">
            <a:avLst/>
          </a:prstGeom>
          <a:noFill/>
          <a:ln>
            <a:noFill/>
          </a:ln>
        </p:spPr>
      </p:pic>
      <p:sp>
        <p:nvSpPr>
          <p:cNvPr id="164" name="Google Shape;164;p18"/>
          <p:cNvSpPr/>
          <p:nvPr/>
        </p:nvSpPr>
        <p:spPr>
          <a:xfrm>
            <a:off x="9334500" y="6810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5" name="Google Shape;165;p18"/>
          <p:cNvPicPr preferRelativeResize="0"/>
          <p:nvPr/>
        </p:nvPicPr>
        <p:blipFill rotWithShape="1">
          <a:blip r:embed="rId3">
            <a:alphaModFix/>
          </a:blip>
          <a:srcRect b="0" l="0" r="0" t="0"/>
          <a:stretch/>
        </p:blipFill>
        <p:spPr>
          <a:xfrm>
            <a:off x="13049250" y="6848550"/>
            <a:ext cx="476400" cy="19200"/>
          </a:xfrm>
          <a:prstGeom prst="rect">
            <a:avLst/>
          </a:prstGeom>
          <a:noFill/>
          <a:ln>
            <a:noFill/>
          </a:ln>
        </p:spPr>
      </p:pic>
      <p:sp>
        <p:nvSpPr>
          <p:cNvPr id="166" name="Google Shape;166;p18"/>
          <p:cNvSpPr/>
          <p:nvPr/>
        </p:nvSpPr>
        <p:spPr>
          <a:xfrm>
            <a:off x="13525500" y="6810451"/>
            <a:ext cx="95400" cy="95400"/>
          </a:xfrm>
          <a:custGeom>
            <a:rect b="b" l="l" r="r" t="t"/>
            <a:pathLst>
              <a:path extrusionOk="0" h="120000" w="120000">
                <a:moveTo>
                  <a:pt x="0" y="0"/>
                </a:moveTo>
                <a:lnTo>
                  <a:pt x="120000" y="60000"/>
                </a:lnTo>
                <a:lnTo>
                  <a:pt x="0" y="120000"/>
                </a:lnTo>
                <a:close/>
              </a:path>
            </a:pathLst>
          </a:custGeom>
          <a:solidFill>
            <a:srgbClr val="2B9CA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7" name="Google Shape;167;p18"/>
          <p:cNvPicPr preferRelativeResize="0"/>
          <p:nvPr/>
        </p:nvPicPr>
        <p:blipFill rotWithShape="1">
          <a:blip r:embed="rId4">
            <a:alphaModFix/>
          </a:blip>
          <a:srcRect b="0" l="0" r="0" t="0"/>
          <a:stretch/>
        </p:blipFill>
        <p:spPr>
          <a:xfrm rot="10800000">
            <a:off x="8873347" y="4432127"/>
            <a:ext cx="7579200" cy="731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nvSpPr>
        <p:spPr>
          <a:xfrm>
            <a:off x="1760029" y="619125"/>
            <a:ext cx="147678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400">
                <a:solidFill>
                  <a:srgbClr val="2B9CAE"/>
                </a:solidFill>
                <a:latin typeface="Arial"/>
                <a:ea typeface="Arial"/>
                <a:cs typeface="Arial"/>
                <a:sym typeface="Arial"/>
              </a:rPr>
              <a:t>CORPORATE ACTION INTELLIGENCE</a:t>
            </a:r>
            <a:endParaRPr b="1" i="0" sz="1400">
              <a:solidFill>
                <a:srgbClr val="2B9CAE"/>
              </a:solidFill>
              <a:latin typeface="Arial"/>
              <a:ea typeface="Arial"/>
              <a:cs typeface="Arial"/>
              <a:sym typeface="Arial"/>
            </a:endParaRPr>
          </a:p>
          <a:p>
            <a:pPr indent="0" lvl="0" marL="0" rtl="0" algn="l">
              <a:spcBef>
                <a:spcPts val="400"/>
              </a:spcBef>
              <a:spcAft>
                <a:spcPts val="0"/>
              </a:spcAft>
              <a:buNone/>
            </a:pPr>
            <a:r>
              <a:rPr b="1" i="0" lang="en" sz="4000">
                <a:solidFill>
                  <a:srgbClr val="04243C"/>
                </a:solidFill>
                <a:latin typeface="Arial"/>
                <a:ea typeface="Arial"/>
                <a:cs typeface="Arial"/>
                <a:sym typeface="Arial"/>
              </a:rPr>
              <a:t>Filings Monitor Demo</a:t>
            </a:r>
            <a:endParaRPr b="1" i="0" sz="4000">
              <a:solidFill>
                <a:srgbClr val="04243C"/>
              </a:solidFill>
              <a:latin typeface="Arial"/>
              <a:ea typeface="Arial"/>
              <a:cs typeface="Arial"/>
              <a:sym typeface="Arial"/>
            </a:endParaRPr>
          </a:p>
        </p:txBody>
      </p:sp>
      <p:pic>
        <p:nvPicPr>
          <p:cNvPr id="173" name="Google Shape;173;p19" title="Image 10-15-26 at 1.18 PM.jpg"/>
          <p:cNvPicPr preferRelativeResize="0"/>
          <p:nvPr/>
        </p:nvPicPr>
        <p:blipFill>
          <a:blip r:embed="rId3">
            <a:alphaModFix/>
          </a:blip>
          <a:stretch>
            <a:fillRect/>
          </a:stretch>
        </p:blipFill>
        <p:spPr>
          <a:xfrm>
            <a:off x="1760025" y="1677450"/>
            <a:ext cx="14767949" cy="80473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7" name="Shape 177"/>
        <p:cNvGrpSpPr/>
        <p:nvPr/>
      </p:nvGrpSpPr>
      <p:grpSpPr>
        <a:xfrm>
          <a:off x="0" y="0"/>
          <a:ext cx="0" cy="0"/>
          <a:chOff x="0" y="0"/>
          <a:chExt cx="0" cy="0"/>
        </a:xfrm>
      </p:grpSpPr>
      <p:sp>
        <p:nvSpPr>
          <p:cNvPr id="178" name="Google Shape;178;p20"/>
          <p:cNvSpPr/>
          <p:nvPr/>
        </p:nvSpPr>
        <p:spPr>
          <a:xfrm>
            <a:off x="857250" y="1973985"/>
            <a:ext cx="16573500" cy="1793700"/>
          </a:xfrm>
          <a:prstGeom prst="roundRect">
            <a:avLst>
              <a:gd fmla="val 7966" name="adj"/>
            </a:avLst>
          </a:prstGeom>
          <a:solidFill>
            <a:srgbClr val="FFFF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79" name="Google Shape;179;p20"/>
          <p:cNvSpPr/>
          <p:nvPr/>
        </p:nvSpPr>
        <p:spPr>
          <a:xfrm>
            <a:off x="857250" y="1993424"/>
            <a:ext cx="16573500" cy="57000"/>
          </a:xfrm>
          <a:prstGeom prst="rect">
            <a:avLst/>
          </a:prstGeom>
          <a:solidFill>
            <a:srgbClr val="07203B"/>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0" name="Google Shape;180;p20"/>
          <p:cNvSpPr/>
          <p:nvPr/>
        </p:nvSpPr>
        <p:spPr>
          <a:xfrm>
            <a:off x="7170538" y="2288310"/>
            <a:ext cx="4815900" cy="1222200"/>
          </a:xfrm>
          <a:prstGeom prst="roundRect">
            <a:avLst>
              <a:gd fmla="val 4676" name="adj"/>
            </a:avLst>
          </a:prstGeom>
          <a:solidFill>
            <a:srgbClr val="F8FAFC"/>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1" name="Google Shape;181;p20"/>
          <p:cNvSpPr/>
          <p:nvPr/>
        </p:nvSpPr>
        <p:spPr>
          <a:xfrm>
            <a:off x="12272069" y="2288310"/>
            <a:ext cx="4815900" cy="1222200"/>
          </a:xfrm>
          <a:prstGeom prst="roundRect">
            <a:avLst>
              <a:gd fmla="val 4676" name="adj"/>
            </a:avLst>
          </a:prstGeom>
          <a:solidFill>
            <a:srgbClr val="F8FAFC"/>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2" name="Google Shape;182;p20"/>
          <p:cNvSpPr/>
          <p:nvPr/>
        </p:nvSpPr>
        <p:spPr>
          <a:xfrm>
            <a:off x="857250" y="4667626"/>
            <a:ext cx="16573500" cy="2210100"/>
          </a:xfrm>
          <a:prstGeom prst="roundRect">
            <a:avLst>
              <a:gd fmla="val 6464" name="adj"/>
            </a:avLst>
          </a:prstGeom>
          <a:solidFill>
            <a:srgbClr val="FFFF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3" name="Google Shape;183;p20"/>
          <p:cNvSpPr/>
          <p:nvPr/>
        </p:nvSpPr>
        <p:spPr>
          <a:xfrm>
            <a:off x="857250" y="7077748"/>
            <a:ext cx="16573500" cy="2210100"/>
          </a:xfrm>
          <a:prstGeom prst="roundRect">
            <a:avLst>
              <a:gd fmla="val 6464" name="adj"/>
            </a:avLst>
          </a:prstGeom>
          <a:solidFill>
            <a:srgbClr val="FFFFFF"/>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4" name="Google Shape;184;p20"/>
          <p:cNvSpPr/>
          <p:nvPr/>
        </p:nvSpPr>
        <p:spPr>
          <a:xfrm>
            <a:off x="7170538" y="2288310"/>
            <a:ext cx="42900" cy="1222200"/>
          </a:xfrm>
          <a:prstGeom prst="rect">
            <a:avLst/>
          </a:prstGeom>
          <a:solidFill>
            <a:srgbClr val="1692A4"/>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5" name="Google Shape;185;p20"/>
          <p:cNvSpPr/>
          <p:nvPr/>
        </p:nvSpPr>
        <p:spPr>
          <a:xfrm>
            <a:off x="12272069" y="2288310"/>
            <a:ext cx="42900" cy="1222200"/>
          </a:xfrm>
          <a:prstGeom prst="rect">
            <a:avLst/>
          </a:prstGeom>
          <a:solidFill>
            <a:srgbClr val="1692A4"/>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6" name="Google Shape;186;p20"/>
          <p:cNvSpPr/>
          <p:nvPr/>
        </p:nvSpPr>
        <p:spPr>
          <a:xfrm>
            <a:off x="857250" y="4667626"/>
            <a:ext cx="16573500" cy="57000"/>
          </a:xfrm>
          <a:prstGeom prst="rect">
            <a:avLst/>
          </a:prstGeom>
          <a:solidFill>
            <a:srgbClr val="07203B"/>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7" name="Google Shape;187;p20"/>
          <p:cNvSpPr/>
          <p:nvPr/>
        </p:nvSpPr>
        <p:spPr>
          <a:xfrm>
            <a:off x="857250" y="7077748"/>
            <a:ext cx="16573500" cy="57000"/>
          </a:xfrm>
          <a:prstGeom prst="rect">
            <a:avLst/>
          </a:prstGeom>
          <a:solidFill>
            <a:srgbClr val="1692A4"/>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8" name="Google Shape;188;p20"/>
          <p:cNvSpPr/>
          <p:nvPr/>
        </p:nvSpPr>
        <p:spPr>
          <a:xfrm>
            <a:off x="13773150" y="5423892"/>
            <a:ext cx="3314700" cy="257400"/>
          </a:xfrm>
          <a:prstGeom prst="roundRect">
            <a:avLst>
              <a:gd fmla="val 22222" name="adj"/>
            </a:avLst>
          </a:prstGeom>
          <a:solidFill>
            <a:srgbClr val="F1F5F9"/>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89" name="Google Shape;189;p20"/>
          <p:cNvSpPr/>
          <p:nvPr/>
        </p:nvSpPr>
        <p:spPr>
          <a:xfrm>
            <a:off x="1200150" y="5439151"/>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90" name="Google Shape;190;p20"/>
          <p:cNvSpPr/>
          <p:nvPr/>
        </p:nvSpPr>
        <p:spPr>
          <a:xfrm>
            <a:off x="6643688" y="5439151"/>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91" name="Google Shape;191;p20"/>
          <p:cNvSpPr/>
          <p:nvPr/>
        </p:nvSpPr>
        <p:spPr>
          <a:xfrm>
            <a:off x="12087225" y="5439151"/>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92" name="Google Shape;192;p20"/>
          <p:cNvSpPr/>
          <p:nvPr/>
        </p:nvSpPr>
        <p:spPr>
          <a:xfrm>
            <a:off x="14130338" y="7834014"/>
            <a:ext cx="2957400" cy="257400"/>
          </a:xfrm>
          <a:prstGeom prst="roundRect">
            <a:avLst>
              <a:gd fmla="val 22222" name="adj"/>
            </a:avLst>
          </a:prstGeom>
          <a:solidFill>
            <a:srgbClr val="E6F6F8"/>
          </a:solidFill>
          <a:ln>
            <a:noFill/>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93" name="Google Shape;193;p20"/>
          <p:cNvSpPr/>
          <p:nvPr/>
        </p:nvSpPr>
        <p:spPr>
          <a:xfrm>
            <a:off x="1200150" y="7849273"/>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94" name="Google Shape;194;p20"/>
          <p:cNvSpPr/>
          <p:nvPr/>
        </p:nvSpPr>
        <p:spPr>
          <a:xfrm>
            <a:off x="6643688" y="7849273"/>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195" name="Google Shape;195;p20"/>
          <p:cNvSpPr/>
          <p:nvPr/>
        </p:nvSpPr>
        <p:spPr>
          <a:xfrm>
            <a:off x="12087225" y="7849273"/>
            <a:ext cx="5001000" cy="1210200"/>
          </a:xfrm>
          <a:prstGeom prst="roundRect">
            <a:avLst>
              <a:gd fmla="val 7084" name="adj"/>
            </a:avLst>
          </a:prstGeom>
          <a:solidFill>
            <a:srgbClr val="F8FAFC"/>
          </a:solidFill>
          <a:ln cap="flat" cmpd="sng" w="14300">
            <a:solidFill>
              <a:srgbClr val="E2E8F0"/>
            </a:solidFill>
            <a:prstDash val="solid"/>
            <a:round/>
            <a:headEnd len="sm" w="sm" type="none"/>
            <a:tailEnd len="sm" w="sm" type="none"/>
          </a:ln>
        </p:spPr>
        <p:txBody>
          <a:bodyPr anchorCtr="0" anchor="ctr" bIns="68550" lIns="137150" spcFirstLastPara="1" rIns="137150" wrap="square" tIns="68550">
            <a:noAutofit/>
          </a:bodyPr>
          <a:lstStyle/>
          <a:p>
            <a:pPr indent="0" lvl="0" marL="0" marR="0" rtl="0" algn="ctr">
              <a:spcBef>
                <a:spcPts val="0"/>
              </a:spcBef>
              <a:spcAft>
                <a:spcPts val="0"/>
              </a:spcAft>
              <a:buNone/>
            </a:pPr>
            <a:r>
              <a:t/>
            </a:r>
            <a:endParaRPr b="0" i="0" sz="2700" u="none" cap="none" strike="noStrike">
              <a:solidFill>
                <a:schemeClr val="dk1"/>
              </a:solidFill>
              <a:latin typeface="Arial"/>
              <a:ea typeface="Arial"/>
              <a:cs typeface="Arial"/>
              <a:sym typeface="Arial"/>
            </a:endParaRPr>
          </a:p>
        </p:txBody>
      </p:sp>
      <p:pic>
        <p:nvPicPr>
          <p:cNvPr descr="image.png" id="196" name="Google Shape;196;p20"/>
          <p:cNvPicPr preferRelativeResize="0"/>
          <p:nvPr/>
        </p:nvPicPr>
        <p:blipFill rotWithShape="1">
          <a:blip r:embed="rId4">
            <a:alphaModFix/>
          </a:blip>
          <a:srcRect b="0" l="0" r="0" t="0"/>
          <a:stretch/>
        </p:blipFill>
        <p:spPr>
          <a:xfrm>
            <a:off x="1200150" y="4953376"/>
            <a:ext cx="342900" cy="342900"/>
          </a:xfrm>
          <a:prstGeom prst="rect">
            <a:avLst/>
          </a:prstGeom>
          <a:noFill/>
          <a:ln>
            <a:noFill/>
          </a:ln>
        </p:spPr>
      </p:pic>
      <p:pic>
        <p:nvPicPr>
          <p:cNvPr descr="image.png" id="197" name="Google Shape;197;p20"/>
          <p:cNvPicPr preferRelativeResize="0"/>
          <p:nvPr/>
        </p:nvPicPr>
        <p:blipFill rotWithShape="1">
          <a:blip r:embed="rId5">
            <a:alphaModFix/>
          </a:blip>
          <a:srcRect b="0" l="0" r="0" t="0"/>
          <a:stretch/>
        </p:blipFill>
        <p:spPr>
          <a:xfrm>
            <a:off x="6343650" y="5958412"/>
            <a:ext cx="157163" cy="171450"/>
          </a:xfrm>
          <a:prstGeom prst="rect">
            <a:avLst/>
          </a:prstGeom>
          <a:noFill/>
          <a:ln>
            <a:noFill/>
          </a:ln>
        </p:spPr>
      </p:pic>
      <p:pic>
        <p:nvPicPr>
          <p:cNvPr descr="image.png" id="198" name="Google Shape;198;p20"/>
          <p:cNvPicPr preferRelativeResize="0"/>
          <p:nvPr/>
        </p:nvPicPr>
        <p:blipFill rotWithShape="1">
          <a:blip r:embed="rId5">
            <a:alphaModFix/>
          </a:blip>
          <a:srcRect b="0" l="0" r="0" t="0"/>
          <a:stretch/>
        </p:blipFill>
        <p:spPr>
          <a:xfrm>
            <a:off x="11787188" y="5958412"/>
            <a:ext cx="157163" cy="171450"/>
          </a:xfrm>
          <a:prstGeom prst="rect">
            <a:avLst/>
          </a:prstGeom>
          <a:noFill/>
          <a:ln>
            <a:noFill/>
          </a:ln>
        </p:spPr>
      </p:pic>
      <p:pic>
        <p:nvPicPr>
          <p:cNvPr descr="image.png" id="199" name="Google Shape;199;p20"/>
          <p:cNvPicPr preferRelativeResize="0"/>
          <p:nvPr/>
        </p:nvPicPr>
        <p:blipFill rotWithShape="1">
          <a:blip r:embed="rId6">
            <a:alphaModFix/>
          </a:blip>
          <a:srcRect b="0" l="0" r="0" t="0"/>
          <a:stretch/>
        </p:blipFill>
        <p:spPr>
          <a:xfrm>
            <a:off x="1200150" y="7363498"/>
            <a:ext cx="342900" cy="342900"/>
          </a:xfrm>
          <a:prstGeom prst="rect">
            <a:avLst/>
          </a:prstGeom>
          <a:noFill/>
          <a:ln>
            <a:noFill/>
          </a:ln>
        </p:spPr>
      </p:pic>
      <p:pic>
        <p:nvPicPr>
          <p:cNvPr descr="image.png" id="200" name="Google Shape;200;p20"/>
          <p:cNvPicPr preferRelativeResize="0"/>
          <p:nvPr/>
        </p:nvPicPr>
        <p:blipFill rotWithShape="1">
          <a:blip r:embed="rId7">
            <a:alphaModFix/>
          </a:blip>
          <a:srcRect b="0" l="0" r="0" t="0"/>
          <a:stretch/>
        </p:blipFill>
        <p:spPr>
          <a:xfrm>
            <a:off x="6343650" y="8368534"/>
            <a:ext cx="157163" cy="171450"/>
          </a:xfrm>
          <a:prstGeom prst="rect">
            <a:avLst/>
          </a:prstGeom>
          <a:noFill/>
          <a:ln>
            <a:noFill/>
          </a:ln>
        </p:spPr>
      </p:pic>
      <p:pic>
        <p:nvPicPr>
          <p:cNvPr descr="image.png" id="201" name="Google Shape;201;p20"/>
          <p:cNvPicPr preferRelativeResize="0"/>
          <p:nvPr/>
        </p:nvPicPr>
        <p:blipFill rotWithShape="1">
          <a:blip r:embed="rId7">
            <a:alphaModFix/>
          </a:blip>
          <a:srcRect b="0" l="0" r="0" t="0"/>
          <a:stretch/>
        </p:blipFill>
        <p:spPr>
          <a:xfrm>
            <a:off x="11787188" y="8368534"/>
            <a:ext cx="157163" cy="171450"/>
          </a:xfrm>
          <a:prstGeom prst="rect">
            <a:avLst/>
          </a:prstGeom>
          <a:noFill/>
          <a:ln>
            <a:noFill/>
          </a:ln>
        </p:spPr>
      </p:pic>
      <p:pic>
        <p:nvPicPr>
          <p:cNvPr descr="image.png" id="202" name="Google Shape;202;p20"/>
          <p:cNvPicPr preferRelativeResize="0"/>
          <p:nvPr/>
        </p:nvPicPr>
        <p:blipFill rotWithShape="1">
          <a:blip r:embed="rId8">
            <a:alphaModFix/>
          </a:blip>
          <a:srcRect b="0" l="0" r="0" t="0"/>
          <a:stretch/>
        </p:blipFill>
        <p:spPr>
          <a:xfrm>
            <a:off x="1293018" y="5046244"/>
            <a:ext cx="157163" cy="157163"/>
          </a:xfrm>
          <a:prstGeom prst="rect">
            <a:avLst/>
          </a:prstGeom>
          <a:noFill/>
          <a:ln>
            <a:noFill/>
          </a:ln>
        </p:spPr>
      </p:pic>
      <p:pic>
        <p:nvPicPr>
          <p:cNvPr descr="image.png" id="203" name="Google Shape;203;p20"/>
          <p:cNvPicPr preferRelativeResize="0"/>
          <p:nvPr/>
        </p:nvPicPr>
        <p:blipFill rotWithShape="1">
          <a:blip r:embed="rId9">
            <a:alphaModFix/>
          </a:blip>
          <a:srcRect b="0" l="0" r="0" t="0"/>
          <a:stretch/>
        </p:blipFill>
        <p:spPr>
          <a:xfrm>
            <a:off x="1293018" y="7456368"/>
            <a:ext cx="157163" cy="157163"/>
          </a:xfrm>
          <a:prstGeom prst="rect">
            <a:avLst/>
          </a:prstGeom>
          <a:noFill/>
          <a:ln>
            <a:noFill/>
          </a:ln>
        </p:spPr>
      </p:pic>
      <p:sp>
        <p:nvSpPr>
          <p:cNvPr id="204" name="Google Shape;204;p20"/>
          <p:cNvSpPr txBox="1"/>
          <p:nvPr/>
        </p:nvSpPr>
        <p:spPr>
          <a:xfrm>
            <a:off x="857250" y="571500"/>
            <a:ext cx="17430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1692A4"/>
                </a:solidFill>
                <a:latin typeface="Arial"/>
                <a:ea typeface="Arial"/>
                <a:cs typeface="Arial"/>
                <a:sym typeface="Arial"/>
              </a:rPr>
              <a:t>EVALUATION METHODOLOGY</a:t>
            </a:r>
            <a:endParaRPr sz="2100"/>
          </a:p>
        </p:txBody>
      </p:sp>
      <p:sp>
        <p:nvSpPr>
          <p:cNvPr id="205" name="Google Shape;205;p20"/>
          <p:cNvSpPr txBox="1"/>
          <p:nvPr/>
        </p:nvSpPr>
        <p:spPr>
          <a:xfrm>
            <a:off x="857250" y="885825"/>
            <a:ext cx="17430900" cy="585000"/>
          </a:xfrm>
          <a:prstGeom prst="rect">
            <a:avLst/>
          </a:prstGeom>
          <a:noFill/>
          <a:ln>
            <a:noFill/>
          </a:ln>
        </p:spPr>
        <p:txBody>
          <a:bodyPr anchorCtr="0" anchor="t" bIns="0" lIns="0" spcFirstLastPara="1" rIns="0" wrap="square" tIns="0">
            <a:spAutoFit/>
          </a:bodyPr>
          <a:lstStyle/>
          <a:p>
            <a:pPr indent="0" lvl="0" marL="0" marR="0" rtl="0" algn="l">
              <a:lnSpc>
                <a:spcPct val="114980"/>
              </a:lnSpc>
              <a:spcBef>
                <a:spcPts val="0"/>
              </a:spcBef>
              <a:spcAft>
                <a:spcPts val="0"/>
              </a:spcAft>
              <a:buNone/>
            </a:pPr>
            <a:r>
              <a:rPr b="1" i="0" lang="en" sz="3800" u="none" cap="none" strike="noStrike">
                <a:solidFill>
                  <a:srgbClr val="07203B"/>
                </a:solidFill>
                <a:latin typeface="Arial"/>
                <a:ea typeface="Arial"/>
                <a:cs typeface="Arial"/>
                <a:sym typeface="Arial"/>
              </a:rPr>
              <a:t>Validation &amp; Observability Framework</a:t>
            </a:r>
            <a:endParaRPr sz="2100"/>
          </a:p>
        </p:txBody>
      </p:sp>
      <p:sp>
        <p:nvSpPr>
          <p:cNvPr id="206" name="Google Shape;206;p20"/>
          <p:cNvSpPr txBox="1"/>
          <p:nvPr/>
        </p:nvSpPr>
        <p:spPr>
          <a:xfrm>
            <a:off x="1200150" y="2288310"/>
            <a:ext cx="74610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000" u="none" cap="none" strike="noStrike">
                <a:solidFill>
                  <a:srgbClr val="07203B"/>
                </a:solidFill>
                <a:latin typeface="Arial"/>
                <a:ea typeface="Arial"/>
                <a:cs typeface="Arial"/>
                <a:sym typeface="Arial"/>
              </a:rPr>
              <a:t>Human–Like Verification Approach</a:t>
            </a:r>
            <a:endParaRPr sz="2100"/>
          </a:p>
        </p:txBody>
      </p:sp>
      <p:sp>
        <p:nvSpPr>
          <p:cNvPr id="207" name="Google Shape;207;p20"/>
          <p:cNvSpPr txBox="1"/>
          <p:nvPr/>
        </p:nvSpPr>
        <p:spPr>
          <a:xfrm>
            <a:off x="1200150" y="2702647"/>
            <a:ext cx="5827500" cy="900000"/>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0" i="0" lang="en" sz="1500" u="none" cap="none" strike="noStrike">
                <a:solidFill>
                  <a:srgbClr val="4B5563"/>
                </a:solidFill>
                <a:latin typeface="Arial"/>
                <a:ea typeface="Arial"/>
                <a:cs typeface="Arial"/>
                <a:sym typeface="Arial"/>
              </a:rPr>
              <a:t>Evaluates extracted corporate action fields by leveraging LLMs to inspect the source document retrospectively, mimicking human domain audit rigor.</a:t>
            </a:r>
            <a:endParaRPr sz="2100"/>
          </a:p>
        </p:txBody>
      </p:sp>
      <p:sp>
        <p:nvSpPr>
          <p:cNvPr id="208" name="Google Shape;208;p20"/>
          <p:cNvSpPr txBox="1"/>
          <p:nvPr/>
        </p:nvSpPr>
        <p:spPr>
          <a:xfrm>
            <a:off x="7413426" y="2516464"/>
            <a:ext cx="5739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Mimics Expert Verification</a:t>
            </a:r>
            <a:endParaRPr sz="2100"/>
          </a:p>
        </p:txBody>
      </p:sp>
      <p:sp>
        <p:nvSpPr>
          <p:cNvPr id="209" name="Google Shape;209;p20"/>
          <p:cNvSpPr txBox="1"/>
          <p:nvPr/>
        </p:nvSpPr>
        <p:spPr>
          <a:xfrm>
            <a:off x="7413426" y="2802214"/>
            <a:ext cx="4515900" cy="51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400" u="none" cap="none" strike="noStrike">
                <a:solidFill>
                  <a:srgbClr val="64748B"/>
                </a:solidFill>
                <a:latin typeface="Arial"/>
                <a:ea typeface="Arial"/>
                <a:cs typeface="Arial"/>
                <a:sym typeface="Arial"/>
              </a:rPr>
              <a:t>Replicates how domain experts verify structured facts against raw source text.</a:t>
            </a:r>
            <a:endParaRPr sz="2100"/>
          </a:p>
        </p:txBody>
      </p:sp>
      <p:sp>
        <p:nvSpPr>
          <p:cNvPr id="210" name="Google Shape;210;p20"/>
          <p:cNvSpPr txBox="1"/>
          <p:nvPr/>
        </p:nvSpPr>
        <p:spPr>
          <a:xfrm>
            <a:off x="12514956" y="2516464"/>
            <a:ext cx="5739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Contextual Grounding Check</a:t>
            </a:r>
            <a:endParaRPr sz="2100"/>
          </a:p>
        </p:txBody>
      </p:sp>
      <p:sp>
        <p:nvSpPr>
          <p:cNvPr id="211" name="Google Shape;211;p20"/>
          <p:cNvSpPr txBox="1"/>
          <p:nvPr/>
        </p:nvSpPr>
        <p:spPr>
          <a:xfrm>
            <a:off x="12514956" y="2802214"/>
            <a:ext cx="4515900" cy="51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400" u="none" cap="none" strike="noStrike">
                <a:solidFill>
                  <a:srgbClr val="64748B"/>
                </a:solidFill>
                <a:latin typeface="Arial"/>
                <a:ea typeface="Arial"/>
                <a:cs typeface="Arial"/>
                <a:sym typeface="Arial"/>
              </a:rPr>
              <a:t>Confirms extracted values are explicitly supported by filing context.</a:t>
            </a:r>
            <a:endParaRPr sz="2100"/>
          </a:p>
        </p:txBody>
      </p:sp>
      <p:sp>
        <p:nvSpPr>
          <p:cNvPr id="212" name="Google Shape;212;p20"/>
          <p:cNvSpPr txBox="1"/>
          <p:nvPr/>
        </p:nvSpPr>
        <p:spPr>
          <a:xfrm>
            <a:off x="13887450" y="5058540"/>
            <a:ext cx="3229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07203B"/>
                </a:solidFill>
                <a:latin typeface="Arial"/>
                <a:ea typeface="Arial"/>
                <a:cs typeface="Arial"/>
                <a:sym typeface="Arial"/>
              </a:rPr>
              <a:t>PIPELINE TESTING &amp; ACCURACY BASELINING</a:t>
            </a:r>
            <a:endParaRPr sz="2100"/>
          </a:p>
        </p:txBody>
      </p:sp>
      <p:sp>
        <p:nvSpPr>
          <p:cNvPr id="213" name="Google Shape;213;p20"/>
          <p:cNvSpPr txBox="1"/>
          <p:nvPr/>
        </p:nvSpPr>
        <p:spPr>
          <a:xfrm>
            <a:off x="14244638" y="7468662"/>
            <a:ext cx="28719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1692A4"/>
                </a:solidFill>
                <a:latin typeface="Arial"/>
                <a:ea typeface="Arial"/>
                <a:cs typeface="Arial"/>
                <a:sym typeface="Arial"/>
              </a:rPr>
              <a:t>CONTINUOUS PRODUCTION SAMPLING</a:t>
            </a:r>
            <a:endParaRPr sz="2100"/>
          </a:p>
        </p:txBody>
      </p:sp>
      <p:sp>
        <p:nvSpPr>
          <p:cNvPr id="214" name="Google Shape;214;p20"/>
          <p:cNvSpPr txBox="1"/>
          <p:nvPr/>
        </p:nvSpPr>
        <p:spPr>
          <a:xfrm>
            <a:off x="1657350" y="4989094"/>
            <a:ext cx="68445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7203B"/>
                </a:solidFill>
                <a:latin typeface="Arial"/>
                <a:ea typeface="Arial"/>
                <a:cs typeface="Arial"/>
                <a:sym typeface="Arial"/>
              </a:rPr>
              <a:t>Stream 1 · Baseline Benchmark (Pre-Deployment)</a:t>
            </a:r>
            <a:endParaRPr sz="2100"/>
          </a:p>
        </p:txBody>
      </p:sp>
      <p:sp>
        <p:nvSpPr>
          <p:cNvPr id="215" name="Google Shape;215;p20"/>
          <p:cNvSpPr txBox="1"/>
          <p:nvPr/>
        </p:nvSpPr>
        <p:spPr>
          <a:xfrm>
            <a:off x="1385888" y="5596314"/>
            <a:ext cx="5786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1692A4"/>
                </a:solidFill>
                <a:latin typeface="Arial"/>
                <a:ea typeface="Arial"/>
                <a:cs typeface="Arial"/>
                <a:sym typeface="Arial"/>
              </a:rPr>
              <a:t>STAGE 01</a:t>
            </a:r>
            <a:endParaRPr sz="2100"/>
          </a:p>
        </p:txBody>
      </p:sp>
      <p:sp>
        <p:nvSpPr>
          <p:cNvPr id="216" name="Google Shape;216;p20"/>
          <p:cNvSpPr txBox="1"/>
          <p:nvPr/>
        </p:nvSpPr>
        <p:spPr>
          <a:xfrm>
            <a:off x="1385888" y="5796339"/>
            <a:ext cx="6075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LLM GT Extraction</a:t>
            </a:r>
            <a:endParaRPr sz="2100"/>
          </a:p>
        </p:txBody>
      </p:sp>
      <p:sp>
        <p:nvSpPr>
          <p:cNvPr id="217" name="Google Shape;217;p20"/>
          <p:cNvSpPr txBox="1"/>
          <p:nvPr/>
        </p:nvSpPr>
        <p:spPr>
          <a:xfrm>
            <a:off x="1385888" y="6067801"/>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 sz="1200" u="none" cap="none" strike="noStrike">
                <a:solidFill>
                  <a:srgbClr val="4B5563"/>
                </a:solidFill>
                <a:latin typeface="Arial"/>
                <a:ea typeface="Arial"/>
                <a:cs typeface="Arial"/>
                <a:sym typeface="Arial"/>
              </a:rPr>
              <a:t>LLM extracts golden facts from 1,000 reference corporate action filings.</a:t>
            </a:r>
            <a:endParaRPr sz="2100"/>
          </a:p>
        </p:txBody>
      </p:sp>
      <p:sp>
        <p:nvSpPr>
          <p:cNvPr id="218" name="Google Shape;218;p20"/>
          <p:cNvSpPr txBox="1"/>
          <p:nvPr/>
        </p:nvSpPr>
        <p:spPr>
          <a:xfrm>
            <a:off x="6829425" y="5596314"/>
            <a:ext cx="5786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1692A4"/>
                </a:solidFill>
                <a:latin typeface="Arial"/>
                <a:ea typeface="Arial"/>
                <a:cs typeface="Arial"/>
                <a:sym typeface="Arial"/>
              </a:rPr>
              <a:t>STAGE 02</a:t>
            </a:r>
            <a:endParaRPr sz="2100"/>
          </a:p>
        </p:txBody>
      </p:sp>
      <p:sp>
        <p:nvSpPr>
          <p:cNvPr id="219" name="Google Shape;219;p20"/>
          <p:cNvSpPr txBox="1"/>
          <p:nvPr/>
        </p:nvSpPr>
        <p:spPr>
          <a:xfrm>
            <a:off x="6829425" y="5796339"/>
            <a:ext cx="6075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Run Pipeline</a:t>
            </a:r>
            <a:endParaRPr sz="2100"/>
          </a:p>
        </p:txBody>
      </p:sp>
      <p:sp>
        <p:nvSpPr>
          <p:cNvPr id="220" name="Google Shape;220;p20"/>
          <p:cNvSpPr txBox="1"/>
          <p:nvPr/>
        </p:nvSpPr>
        <p:spPr>
          <a:xfrm>
            <a:off x="6829425" y="6067801"/>
            <a:ext cx="4771800" cy="184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 sz="1200" u="none" cap="none" strike="noStrike">
                <a:solidFill>
                  <a:srgbClr val="4B5563"/>
                </a:solidFill>
                <a:latin typeface="Arial"/>
                <a:ea typeface="Arial"/>
                <a:cs typeface="Arial"/>
                <a:sym typeface="Arial"/>
              </a:rPr>
              <a:t>Execute extraction pipeline against the identical 1,000-document set.</a:t>
            </a:r>
            <a:endParaRPr sz="2100"/>
          </a:p>
        </p:txBody>
      </p:sp>
      <p:sp>
        <p:nvSpPr>
          <p:cNvPr id="221" name="Google Shape;221;p20"/>
          <p:cNvSpPr txBox="1"/>
          <p:nvPr/>
        </p:nvSpPr>
        <p:spPr>
          <a:xfrm>
            <a:off x="12272963" y="5596314"/>
            <a:ext cx="5786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1692A4"/>
                </a:solidFill>
                <a:latin typeface="Arial"/>
                <a:ea typeface="Arial"/>
                <a:cs typeface="Arial"/>
                <a:sym typeface="Arial"/>
              </a:rPr>
              <a:t>STAGE 03</a:t>
            </a:r>
            <a:endParaRPr sz="2100"/>
          </a:p>
        </p:txBody>
      </p:sp>
      <p:sp>
        <p:nvSpPr>
          <p:cNvPr id="222" name="Google Shape;222;p20"/>
          <p:cNvSpPr txBox="1"/>
          <p:nvPr/>
        </p:nvSpPr>
        <p:spPr>
          <a:xfrm>
            <a:off x="12272963" y="5796339"/>
            <a:ext cx="6015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Benchmark Accuracy</a:t>
            </a:r>
            <a:endParaRPr sz="2100"/>
          </a:p>
        </p:txBody>
      </p:sp>
      <p:sp>
        <p:nvSpPr>
          <p:cNvPr id="223" name="Google Shape;223;p20"/>
          <p:cNvSpPr txBox="1"/>
          <p:nvPr/>
        </p:nvSpPr>
        <p:spPr>
          <a:xfrm>
            <a:off x="12272963" y="6067801"/>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 sz="1200" u="none" cap="none" strike="noStrike">
                <a:solidFill>
                  <a:srgbClr val="4B5563"/>
                </a:solidFill>
                <a:latin typeface="Arial"/>
                <a:ea typeface="Arial"/>
                <a:cs typeface="Arial"/>
                <a:sym typeface="Arial"/>
              </a:rPr>
              <a:t>Compare pipeline outputs against LLM ground truth to score baseline performance.</a:t>
            </a:r>
            <a:endParaRPr sz="2100"/>
          </a:p>
        </p:txBody>
      </p:sp>
      <p:sp>
        <p:nvSpPr>
          <p:cNvPr id="224" name="Google Shape;224;p20"/>
          <p:cNvSpPr txBox="1"/>
          <p:nvPr/>
        </p:nvSpPr>
        <p:spPr>
          <a:xfrm>
            <a:off x="1657350" y="7399218"/>
            <a:ext cx="78387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7203B"/>
                </a:solidFill>
                <a:latin typeface="Arial"/>
                <a:ea typeface="Arial"/>
                <a:cs typeface="Arial"/>
                <a:sym typeface="Arial"/>
              </a:rPr>
              <a:t>Stream 2 · Continuous Observability (Post-Deployment)</a:t>
            </a:r>
            <a:endParaRPr sz="2100"/>
          </a:p>
        </p:txBody>
      </p:sp>
      <p:sp>
        <p:nvSpPr>
          <p:cNvPr id="225" name="Google Shape;225;p20"/>
          <p:cNvSpPr txBox="1"/>
          <p:nvPr/>
        </p:nvSpPr>
        <p:spPr>
          <a:xfrm>
            <a:off x="1385888" y="8006436"/>
            <a:ext cx="5786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1692A4"/>
                </a:solidFill>
                <a:latin typeface="Arial"/>
                <a:ea typeface="Arial"/>
                <a:cs typeface="Arial"/>
                <a:sym typeface="Arial"/>
              </a:rPr>
              <a:t>STEP 01</a:t>
            </a:r>
            <a:endParaRPr sz="2100"/>
          </a:p>
        </p:txBody>
      </p:sp>
      <p:sp>
        <p:nvSpPr>
          <p:cNvPr id="226" name="Google Shape;226;p20"/>
          <p:cNvSpPr txBox="1"/>
          <p:nvPr/>
        </p:nvSpPr>
        <p:spPr>
          <a:xfrm>
            <a:off x="1385888" y="8206461"/>
            <a:ext cx="6075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Production Sampling</a:t>
            </a:r>
            <a:endParaRPr sz="2100"/>
          </a:p>
        </p:txBody>
      </p:sp>
      <p:sp>
        <p:nvSpPr>
          <p:cNvPr id="227" name="Google Shape;227;p20"/>
          <p:cNvSpPr txBox="1"/>
          <p:nvPr/>
        </p:nvSpPr>
        <p:spPr>
          <a:xfrm>
            <a:off x="1385888" y="8477923"/>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 sz="1200" u="none" cap="none" strike="noStrike">
                <a:solidFill>
                  <a:srgbClr val="4B5563"/>
                </a:solidFill>
                <a:latin typeface="Arial"/>
                <a:ea typeface="Arial"/>
                <a:cs typeface="Arial"/>
                <a:sym typeface="Arial"/>
              </a:rPr>
              <a:t>Continuously sample subsets of live pipeline extractions across active filing streams.</a:t>
            </a:r>
            <a:endParaRPr sz="2100"/>
          </a:p>
        </p:txBody>
      </p:sp>
      <p:sp>
        <p:nvSpPr>
          <p:cNvPr id="228" name="Google Shape;228;p20"/>
          <p:cNvSpPr txBox="1"/>
          <p:nvPr/>
        </p:nvSpPr>
        <p:spPr>
          <a:xfrm>
            <a:off x="6829425" y="8006436"/>
            <a:ext cx="5786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1692A4"/>
                </a:solidFill>
                <a:latin typeface="Arial"/>
                <a:ea typeface="Arial"/>
                <a:cs typeface="Arial"/>
                <a:sym typeface="Arial"/>
              </a:rPr>
              <a:t>STEP 02</a:t>
            </a:r>
            <a:endParaRPr sz="2100"/>
          </a:p>
        </p:txBody>
      </p:sp>
      <p:sp>
        <p:nvSpPr>
          <p:cNvPr id="229" name="Google Shape;229;p20"/>
          <p:cNvSpPr txBox="1"/>
          <p:nvPr/>
        </p:nvSpPr>
        <p:spPr>
          <a:xfrm>
            <a:off x="6829425" y="8206461"/>
            <a:ext cx="6075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Backward LLM Search</a:t>
            </a:r>
            <a:endParaRPr sz="2100"/>
          </a:p>
        </p:txBody>
      </p:sp>
      <p:sp>
        <p:nvSpPr>
          <p:cNvPr id="230" name="Google Shape;230;p20"/>
          <p:cNvSpPr txBox="1"/>
          <p:nvPr/>
        </p:nvSpPr>
        <p:spPr>
          <a:xfrm>
            <a:off x="6829425" y="8477923"/>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 sz="1200" u="none" cap="none" strike="noStrike">
                <a:solidFill>
                  <a:srgbClr val="4B5563"/>
                </a:solidFill>
                <a:latin typeface="Arial"/>
                <a:ea typeface="Arial"/>
                <a:cs typeface="Arial"/>
                <a:sym typeface="Arial"/>
              </a:rPr>
              <a:t>Inspect raw filing text retrospectively to verify extracted facts against the source.</a:t>
            </a:r>
            <a:endParaRPr sz="2100"/>
          </a:p>
        </p:txBody>
      </p:sp>
      <p:sp>
        <p:nvSpPr>
          <p:cNvPr id="231" name="Google Shape;231;p20"/>
          <p:cNvSpPr txBox="1"/>
          <p:nvPr/>
        </p:nvSpPr>
        <p:spPr>
          <a:xfrm>
            <a:off x="12272963" y="8006436"/>
            <a:ext cx="57867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100" u="none" cap="none" strike="noStrike">
                <a:solidFill>
                  <a:srgbClr val="1692A4"/>
                </a:solidFill>
                <a:latin typeface="Arial"/>
                <a:ea typeface="Arial"/>
                <a:cs typeface="Arial"/>
                <a:sym typeface="Arial"/>
              </a:rPr>
              <a:t>STEP 03</a:t>
            </a:r>
            <a:endParaRPr sz="2100"/>
          </a:p>
        </p:txBody>
      </p:sp>
      <p:sp>
        <p:nvSpPr>
          <p:cNvPr id="232" name="Google Shape;232;p20"/>
          <p:cNvSpPr txBox="1"/>
          <p:nvPr/>
        </p:nvSpPr>
        <p:spPr>
          <a:xfrm>
            <a:off x="12272963" y="8206461"/>
            <a:ext cx="6015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7203B"/>
                </a:solidFill>
                <a:latin typeface="Arial"/>
                <a:ea typeface="Arial"/>
                <a:cs typeface="Arial"/>
                <a:sym typeface="Arial"/>
              </a:rPr>
              <a:t>Grounding &amp; Drift Audit</a:t>
            </a:r>
            <a:endParaRPr sz="2100"/>
          </a:p>
        </p:txBody>
      </p:sp>
      <p:sp>
        <p:nvSpPr>
          <p:cNvPr id="233" name="Google Shape;233;p20"/>
          <p:cNvSpPr txBox="1"/>
          <p:nvPr/>
        </p:nvSpPr>
        <p:spPr>
          <a:xfrm>
            <a:off x="12272963" y="8477923"/>
            <a:ext cx="4771800" cy="433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 sz="1200" u="none" cap="none" strike="noStrike">
                <a:solidFill>
                  <a:srgbClr val="4B5563"/>
                </a:solidFill>
                <a:latin typeface="Arial"/>
                <a:ea typeface="Arial"/>
                <a:cs typeface="Arial"/>
                <a:sym typeface="Arial"/>
              </a:rPr>
              <a:t>Detect hallucinations, verify grounding scores, and flag live production drift.</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p:nvPr/>
        </p:nvSpPr>
        <p:spPr>
          <a:xfrm>
            <a:off x="0" y="0"/>
            <a:ext cx="18288000" cy="102870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39" name="Google Shape;239;p21"/>
          <p:cNvSpPr txBox="1"/>
          <p:nvPr/>
        </p:nvSpPr>
        <p:spPr>
          <a:xfrm>
            <a:off x="952500" y="857250"/>
            <a:ext cx="16383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4200">
                <a:solidFill>
                  <a:srgbClr val="04243C"/>
                </a:solidFill>
                <a:latin typeface="Arial"/>
                <a:ea typeface="Arial"/>
                <a:cs typeface="Arial"/>
                <a:sym typeface="Arial"/>
              </a:rPr>
              <a:t>Questions &amp; Discussion Points</a:t>
            </a:r>
            <a:endParaRPr b="1" i="0" sz="4200">
              <a:solidFill>
                <a:srgbClr val="04243C"/>
              </a:solidFill>
              <a:latin typeface="Arial"/>
              <a:ea typeface="Arial"/>
              <a:cs typeface="Arial"/>
              <a:sym typeface="Arial"/>
            </a:endParaRPr>
          </a:p>
        </p:txBody>
      </p:sp>
      <p:grpSp>
        <p:nvGrpSpPr>
          <p:cNvPr id="240" name="Google Shape;240;p21"/>
          <p:cNvGrpSpPr/>
          <p:nvPr/>
        </p:nvGrpSpPr>
        <p:grpSpPr>
          <a:xfrm>
            <a:off x="952500" y="2095500"/>
            <a:ext cx="16383000" cy="1047900"/>
            <a:chOff x="0" y="0"/>
            <a:chExt cx="16383000" cy="1047900"/>
          </a:xfrm>
        </p:grpSpPr>
        <p:sp>
          <p:nvSpPr>
            <p:cNvPr id="241" name="Google Shape;241;p21"/>
            <p:cNvSpPr/>
            <p:nvPr/>
          </p:nvSpPr>
          <p:spPr>
            <a:xfrm>
              <a:off x="0" y="0"/>
              <a:ext cx="163830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42" name="Google Shape;242;p21"/>
            <p:cNvSpPr/>
            <p:nvPr/>
          </p:nvSpPr>
          <p:spPr>
            <a:xfrm>
              <a:off x="295275" y="295275"/>
              <a:ext cx="457200" cy="457200"/>
            </a:xfrm>
            <a:prstGeom prst="ellipse">
              <a:avLst/>
            </a:prstGeom>
            <a:solidFill>
              <a:srgbClr val="E6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43" name="Google Shape;243;p21"/>
            <p:cNvSpPr txBox="1"/>
            <p:nvPr/>
          </p:nvSpPr>
          <p:spPr>
            <a:xfrm>
              <a:off x="295275" y="295275"/>
              <a:ext cx="4572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200">
                  <a:solidFill>
                    <a:srgbClr val="2B9CAE"/>
                  </a:solidFill>
                  <a:latin typeface="Arial"/>
                  <a:ea typeface="Arial"/>
                  <a:cs typeface="Arial"/>
                  <a:sym typeface="Arial"/>
                </a:rPr>
                <a:t>01</a:t>
              </a:r>
              <a:endParaRPr b="1" i="0" sz="3200">
                <a:solidFill>
                  <a:srgbClr val="2B9CAE"/>
                </a:solidFill>
                <a:latin typeface="Arial"/>
                <a:ea typeface="Arial"/>
                <a:cs typeface="Arial"/>
                <a:sym typeface="Arial"/>
              </a:endParaRPr>
            </a:p>
          </p:txBody>
        </p:sp>
        <p:sp>
          <p:nvSpPr>
            <p:cNvPr id="244" name="Google Shape;244;p21"/>
            <p:cNvSpPr txBox="1"/>
            <p:nvPr/>
          </p:nvSpPr>
          <p:spPr>
            <a:xfrm>
              <a:off x="952500" y="209550"/>
              <a:ext cx="15049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100">
                  <a:solidFill>
                    <a:srgbClr val="04243C"/>
                  </a:solidFill>
                  <a:latin typeface="Arial"/>
                  <a:ea typeface="Arial"/>
                  <a:cs typeface="Arial"/>
                  <a:sym typeface="Arial"/>
                </a:rPr>
                <a:t>What downstream tasks are of interest to the BNY team or prioritized?</a:t>
              </a:r>
              <a:endParaRPr b="1" i="0" sz="2100">
                <a:solidFill>
                  <a:srgbClr val="04243C"/>
                </a:solidFill>
                <a:latin typeface="Arial"/>
                <a:ea typeface="Arial"/>
                <a:cs typeface="Arial"/>
                <a:sym typeface="Arial"/>
              </a:endParaRPr>
            </a:p>
          </p:txBody>
        </p:sp>
      </p:grpSp>
      <p:grpSp>
        <p:nvGrpSpPr>
          <p:cNvPr id="245" name="Google Shape;245;p21"/>
          <p:cNvGrpSpPr/>
          <p:nvPr/>
        </p:nvGrpSpPr>
        <p:grpSpPr>
          <a:xfrm>
            <a:off x="952500" y="3333750"/>
            <a:ext cx="16383000" cy="1047900"/>
            <a:chOff x="0" y="0"/>
            <a:chExt cx="16383000" cy="1047900"/>
          </a:xfrm>
        </p:grpSpPr>
        <p:sp>
          <p:nvSpPr>
            <p:cNvPr id="246" name="Google Shape;246;p21"/>
            <p:cNvSpPr/>
            <p:nvPr/>
          </p:nvSpPr>
          <p:spPr>
            <a:xfrm>
              <a:off x="0" y="0"/>
              <a:ext cx="163830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47" name="Google Shape;247;p21"/>
            <p:cNvSpPr/>
            <p:nvPr/>
          </p:nvSpPr>
          <p:spPr>
            <a:xfrm>
              <a:off x="295275" y="295275"/>
              <a:ext cx="457200" cy="457200"/>
            </a:xfrm>
            <a:prstGeom prst="ellipse">
              <a:avLst/>
            </a:prstGeom>
            <a:solidFill>
              <a:srgbClr val="E6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48" name="Google Shape;248;p21"/>
            <p:cNvSpPr txBox="1"/>
            <p:nvPr/>
          </p:nvSpPr>
          <p:spPr>
            <a:xfrm>
              <a:off x="295275" y="295275"/>
              <a:ext cx="4572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200">
                  <a:solidFill>
                    <a:srgbClr val="2B9CAE"/>
                  </a:solidFill>
                  <a:latin typeface="Arial"/>
                  <a:ea typeface="Arial"/>
                  <a:cs typeface="Arial"/>
                  <a:sym typeface="Arial"/>
                </a:rPr>
                <a:t>02</a:t>
              </a:r>
              <a:endParaRPr b="1" i="0" sz="3200">
                <a:solidFill>
                  <a:srgbClr val="2B9CAE"/>
                </a:solidFill>
                <a:latin typeface="Arial"/>
                <a:ea typeface="Arial"/>
                <a:cs typeface="Arial"/>
                <a:sym typeface="Arial"/>
              </a:endParaRPr>
            </a:p>
          </p:txBody>
        </p:sp>
        <p:sp>
          <p:nvSpPr>
            <p:cNvPr id="249" name="Google Shape;249;p21"/>
            <p:cNvSpPr txBox="1"/>
            <p:nvPr/>
          </p:nvSpPr>
          <p:spPr>
            <a:xfrm>
              <a:off x="952500" y="209550"/>
              <a:ext cx="15049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300"/>
                </a:spcBef>
                <a:spcAft>
                  <a:spcPts val="0"/>
                </a:spcAft>
                <a:buNone/>
              </a:pPr>
              <a:r>
                <a:rPr b="1" lang="en" sz="2100">
                  <a:solidFill>
                    <a:srgbClr val="04243C"/>
                  </a:solidFill>
                  <a:latin typeface="Arial"/>
                  <a:ea typeface="Arial"/>
                  <a:cs typeface="Arial"/>
                  <a:sym typeface="Arial"/>
                </a:rPr>
                <a:t>Which steps take the most time or require the most manual work?</a:t>
              </a:r>
              <a:endParaRPr b="1" i="0" sz="2100">
                <a:solidFill>
                  <a:srgbClr val="04243C"/>
                </a:solidFill>
                <a:latin typeface="Arial"/>
                <a:ea typeface="Arial"/>
                <a:cs typeface="Arial"/>
                <a:sym typeface="Arial"/>
              </a:endParaRPr>
            </a:p>
          </p:txBody>
        </p:sp>
      </p:grpSp>
      <p:grpSp>
        <p:nvGrpSpPr>
          <p:cNvPr id="250" name="Google Shape;250;p21"/>
          <p:cNvGrpSpPr/>
          <p:nvPr/>
        </p:nvGrpSpPr>
        <p:grpSpPr>
          <a:xfrm>
            <a:off x="952500" y="4572000"/>
            <a:ext cx="16383000" cy="1047900"/>
            <a:chOff x="0" y="0"/>
            <a:chExt cx="16383000" cy="1047900"/>
          </a:xfrm>
        </p:grpSpPr>
        <p:sp>
          <p:nvSpPr>
            <p:cNvPr id="251" name="Google Shape;251;p21"/>
            <p:cNvSpPr/>
            <p:nvPr/>
          </p:nvSpPr>
          <p:spPr>
            <a:xfrm>
              <a:off x="0" y="0"/>
              <a:ext cx="163830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52" name="Google Shape;252;p21"/>
            <p:cNvSpPr/>
            <p:nvPr/>
          </p:nvSpPr>
          <p:spPr>
            <a:xfrm>
              <a:off x="295275" y="295275"/>
              <a:ext cx="457200" cy="457200"/>
            </a:xfrm>
            <a:prstGeom prst="ellipse">
              <a:avLst/>
            </a:prstGeom>
            <a:solidFill>
              <a:srgbClr val="E6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53" name="Google Shape;253;p21"/>
            <p:cNvSpPr txBox="1"/>
            <p:nvPr/>
          </p:nvSpPr>
          <p:spPr>
            <a:xfrm>
              <a:off x="295275" y="295275"/>
              <a:ext cx="4572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200">
                  <a:solidFill>
                    <a:srgbClr val="2B9CAE"/>
                  </a:solidFill>
                  <a:latin typeface="Arial"/>
                  <a:ea typeface="Arial"/>
                  <a:cs typeface="Arial"/>
                  <a:sym typeface="Arial"/>
                </a:rPr>
                <a:t>03</a:t>
              </a:r>
              <a:endParaRPr b="1" i="0" sz="3200">
                <a:solidFill>
                  <a:srgbClr val="2B9CAE"/>
                </a:solidFill>
                <a:latin typeface="Arial"/>
                <a:ea typeface="Arial"/>
                <a:cs typeface="Arial"/>
                <a:sym typeface="Arial"/>
              </a:endParaRPr>
            </a:p>
          </p:txBody>
        </p:sp>
        <p:sp>
          <p:nvSpPr>
            <p:cNvPr id="254" name="Google Shape;254;p21"/>
            <p:cNvSpPr txBox="1"/>
            <p:nvPr/>
          </p:nvSpPr>
          <p:spPr>
            <a:xfrm>
              <a:off x="952500" y="209550"/>
              <a:ext cx="15049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300"/>
                </a:spcBef>
                <a:spcAft>
                  <a:spcPts val="0"/>
                </a:spcAft>
                <a:buNone/>
              </a:pPr>
              <a:r>
                <a:rPr b="1" lang="en" sz="2100">
                  <a:solidFill>
                    <a:srgbClr val="04243C"/>
                  </a:solidFill>
                  <a:latin typeface="Arial"/>
                  <a:ea typeface="Arial"/>
                  <a:cs typeface="Arial"/>
                  <a:sym typeface="Arial"/>
                </a:rPr>
                <a:t>What evidence would your team need to trust and use an extracted result?</a:t>
              </a:r>
              <a:endParaRPr b="1" i="0" sz="2100">
                <a:solidFill>
                  <a:srgbClr val="04243C"/>
                </a:solidFill>
                <a:latin typeface="Arial"/>
                <a:ea typeface="Arial"/>
                <a:cs typeface="Arial"/>
                <a:sym typeface="Arial"/>
              </a:endParaRPr>
            </a:p>
          </p:txBody>
        </p:sp>
      </p:grpSp>
      <p:grpSp>
        <p:nvGrpSpPr>
          <p:cNvPr id="255" name="Google Shape;255;p21"/>
          <p:cNvGrpSpPr/>
          <p:nvPr/>
        </p:nvGrpSpPr>
        <p:grpSpPr>
          <a:xfrm>
            <a:off x="952500" y="5810250"/>
            <a:ext cx="16383000" cy="1047900"/>
            <a:chOff x="0" y="0"/>
            <a:chExt cx="16383000" cy="1047900"/>
          </a:xfrm>
        </p:grpSpPr>
        <p:sp>
          <p:nvSpPr>
            <p:cNvPr id="256" name="Google Shape;256;p21"/>
            <p:cNvSpPr/>
            <p:nvPr/>
          </p:nvSpPr>
          <p:spPr>
            <a:xfrm>
              <a:off x="0" y="0"/>
              <a:ext cx="163830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57" name="Google Shape;257;p21"/>
            <p:cNvSpPr/>
            <p:nvPr/>
          </p:nvSpPr>
          <p:spPr>
            <a:xfrm>
              <a:off x="295275" y="295275"/>
              <a:ext cx="457200" cy="457200"/>
            </a:xfrm>
            <a:prstGeom prst="ellipse">
              <a:avLst/>
            </a:prstGeom>
            <a:solidFill>
              <a:srgbClr val="E6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58" name="Google Shape;258;p21"/>
            <p:cNvSpPr txBox="1"/>
            <p:nvPr/>
          </p:nvSpPr>
          <p:spPr>
            <a:xfrm>
              <a:off x="295275" y="295275"/>
              <a:ext cx="4572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200">
                  <a:solidFill>
                    <a:srgbClr val="2B9CAE"/>
                  </a:solidFill>
                  <a:latin typeface="Arial"/>
                  <a:ea typeface="Arial"/>
                  <a:cs typeface="Arial"/>
                  <a:sym typeface="Arial"/>
                </a:rPr>
                <a:t>04</a:t>
              </a:r>
              <a:endParaRPr b="1" i="0" sz="3200">
                <a:solidFill>
                  <a:srgbClr val="2B9CAE"/>
                </a:solidFill>
                <a:latin typeface="Arial"/>
                <a:ea typeface="Arial"/>
                <a:cs typeface="Arial"/>
                <a:sym typeface="Arial"/>
              </a:endParaRPr>
            </a:p>
          </p:txBody>
        </p:sp>
        <p:sp>
          <p:nvSpPr>
            <p:cNvPr id="259" name="Google Shape;259;p21"/>
            <p:cNvSpPr txBox="1"/>
            <p:nvPr/>
          </p:nvSpPr>
          <p:spPr>
            <a:xfrm>
              <a:off x="952500" y="209550"/>
              <a:ext cx="15049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300"/>
                </a:spcBef>
                <a:spcAft>
                  <a:spcPts val="0"/>
                </a:spcAft>
                <a:buNone/>
              </a:pPr>
              <a:r>
                <a:rPr b="1" lang="en" sz="2100">
                  <a:solidFill>
                    <a:srgbClr val="04243C"/>
                  </a:solidFill>
                  <a:latin typeface="Arial"/>
                  <a:ea typeface="Arial"/>
                  <a:cs typeface="Arial"/>
                  <a:sym typeface="Arial"/>
                </a:rPr>
                <a:t>Which extraction errors would have the greatest business impact?</a:t>
              </a:r>
              <a:endParaRPr b="1" i="0" sz="2100">
                <a:solidFill>
                  <a:srgbClr val="04243C"/>
                </a:solidFill>
                <a:latin typeface="Arial"/>
                <a:ea typeface="Arial"/>
                <a:cs typeface="Arial"/>
                <a:sym typeface="Arial"/>
              </a:endParaRPr>
            </a:p>
          </p:txBody>
        </p:sp>
      </p:grpSp>
      <p:grpSp>
        <p:nvGrpSpPr>
          <p:cNvPr id="260" name="Google Shape;260;p21"/>
          <p:cNvGrpSpPr/>
          <p:nvPr/>
        </p:nvGrpSpPr>
        <p:grpSpPr>
          <a:xfrm>
            <a:off x="952500" y="7048500"/>
            <a:ext cx="16383000" cy="1047900"/>
            <a:chOff x="0" y="0"/>
            <a:chExt cx="16383000" cy="1047900"/>
          </a:xfrm>
        </p:grpSpPr>
        <p:sp>
          <p:nvSpPr>
            <p:cNvPr id="261" name="Google Shape;261;p21"/>
            <p:cNvSpPr/>
            <p:nvPr/>
          </p:nvSpPr>
          <p:spPr>
            <a:xfrm>
              <a:off x="0" y="0"/>
              <a:ext cx="163830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62" name="Google Shape;262;p21"/>
            <p:cNvSpPr/>
            <p:nvPr/>
          </p:nvSpPr>
          <p:spPr>
            <a:xfrm>
              <a:off x="295275" y="295275"/>
              <a:ext cx="457200" cy="457200"/>
            </a:xfrm>
            <a:prstGeom prst="ellipse">
              <a:avLst/>
            </a:prstGeom>
            <a:solidFill>
              <a:srgbClr val="E6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200"/>
            </a:p>
          </p:txBody>
        </p:sp>
        <p:sp>
          <p:nvSpPr>
            <p:cNvPr id="263" name="Google Shape;263;p21"/>
            <p:cNvSpPr txBox="1"/>
            <p:nvPr/>
          </p:nvSpPr>
          <p:spPr>
            <a:xfrm>
              <a:off x="295275" y="295275"/>
              <a:ext cx="4572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200">
                  <a:solidFill>
                    <a:srgbClr val="2B9CAE"/>
                  </a:solidFill>
                  <a:latin typeface="Arial"/>
                  <a:ea typeface="Arial"/>
                  <a:cs typeface="Arial"/>
                  <a:sym typeface="Arial"/>
                </a:rPr>
                <a:t>05</a:t>
              </a:r>
              <a:endParaRPr b="1" i="0" sz="3200">
                <a:solidFill>
                  <a:srgbClr val="2B9CAE"/>
                </a:solidFill>
                <a:latin typeface="Arial"/>
                <a:ea typeface="Arial"/>
                <a:cs typeface="Arial"/>
                <a:sym typeface="Arial"/>
              </a:endParaRPr>
            </a:p>
          </p:txBody>
        </p:sp>
        <p:sp>
          <p:nvSpPr>
            <p:cNvPr id="264" name="Google Shape;264;p21"/>
            <p:cNvSpPr txBox="1"/>
            <p:nvPr/>
          </p:nvSpPr>
          <p:spPr>
            <a:xfrm>
              <a:off x="952500" y="209550"/>
              <a:ext cx="15049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300"/>
                </a:spcBef>
                <a:spcAft>
                  <a:spcPts val="0"/>
                </a:spcAft>
                <a:buNone/>
              </a:pPr>
              <a:r>
                <a:rPr b="1" lang="en" sz="2100">
                  <a:solidFill>
                    <a:srgbClr val="04243C"/>
                  </a:solidFill>
                  <a:latin typeface="Arial"/>
                  <a:ea typeface="Arial"/>
                  <a:cs typeface="Arial"/>
                  <a:sym typeface="Arial"/>
                </a:rPr>
                <a:t>Are there any gaps in our presented workflow and demo; what tasks or information can we address?</a:t>
              </a:r>
              <a:endParaRPr b="1" i="0" sz="2100">
                <a:solidFill>
                  <a:srgbClr val="04243C"/>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2"/>
          <p:cNvPicPr preferRelativeResize="0"/>
          <p:nvPr/>
        </p:nvPicPr>
        <p:blipFill rotWithShape="1">
          <a:blip r:embed="rId3">
            <a:alphaModFix/>
          </a:blip>
          <a:srcRect b="0" l="0" r="0" t="0"/>
          <a:stretch/>
        </p:blipFill>
        <p:spPr>
          <a:xfrm>
            <a:off x="0" y="0"/>
            <a:ext cx="18288000" cy="10287000"/>
          </a:xfrm>
          <a:prstGeom prst="rect">
            <a:avLst/>
          </a:prstGeom>
          <a:noFill/>
          <a:ln>
            <a:noFill/>
          </a:ln>
        </p:spPr>
      </p:pic>
      <p:grpSp>
        <p:nvGrpSpPr>
          <p:cNvPr id="270" name="Google Shape;270;p22"/>
          <p:cNvGrpSpPr/>
          <p:nvPr/>
        </p:nvGrpSpPr>
        <p:grpSpPr>
          <a:xfrm>
            <a:off x="1143000" y="2095500"/>
            <a:ext cx="15668700" cy="3524250"/>
            <a:chOff x="0" y="0"/>
            <a:chExt cx="15668700" cy="3524250"/>
          </a:xfrm>
        </p:grpSpPr>
        <p:sp>
          <p:nvSpPr>
            <p:cNvPr id="271" name="Google Shape;271;p22"/>
            <p:cNvSpPr txBox="1"/>
            <p:nvPr/>
          </p:nvSpPr>
          <p:spPr>
            <a:xfrm>
              <a:off x="0" y="0"/>
              <a:ext cx="156687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0000">
                  <a:solidFill>
                    <a:srgbClr val="04243C"/>
                  </a:solidFill>
                </a:rPr>
                <a:t>Questions?</a:t>
              </a:r>
              <a:endParaRPr b="1" i="0" sz="10000">
                <a:solidFill>
                  <a:srgbClr val="04243C"/>
                </a:solidFill>
              </a:endParaRPr>
            </a:p>
          </p:txBody>
        </p:sp>
        <p:sp>
          <p:nvSpPr>
            <p:cNvPr id="272" name="Google Shape;272;p22"/>
            <p:cNvSpPr txBox="1"/>
            <p:nvPr/>
          </p:nvSpPr>
          <p:spPr>
            <a:xfrm>
              <a:off x="0" y="1619250"/>
              <a:ext cx="156687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3200">
                  <a:solidFill>
                    <a:srgbClr val="2B9CAE"/>
                  </a:solidFill>
                  <a:latin typeface="Arial"/>
                  <a:ea typeface="Arial"/>
                  <a:cs typeface="Arial"/>
                  <a:sym typeface="Arial"/>
                </a:rPr>
                <a:t>We'd love to hear your feedback and answer any questions.</a:t>
              </a:r>
              <a:endParaRPr b="1" i="0" sz="3200">
                <a:solidFill>
                  <a:srgbClr val="2B9CAE"/>
                </a:solidFill>
                <a:latin typeface="Arial"/>
                <a:ea typeface="Arial"/>
                <a:cs typeface="Arial"/>
                <a:sym typeface="Arial"/>
              </a:endParaRPr>
            </a:p>
          </p:txBody>
        </p:sp>
        <p:sp>
          <p:nvSpPr>
            <p:cNvPr id="273" name="Google Shape;273;p22"/>
            <p:cNvSpPr txBox="1"/>
            <p:nvPr/>
          </p:nvSpPr>
          <p:spPr>
            <a:xfrm>
              <a:off x="0" y="2381250"/>
              <a:ext cx="11430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2000">
                  <a:solidFill>
                    <a:srgbClr val="475569"/>
                  </a:solidFill>
                  <a:latin typeface="Arial"/>
                  <a:ea typeface="Arial"/>
                  <a:cs typeface="Arial"/>
                  <a:sym typeface="Arial"/>
                </a:rPr>
                <a:t>Thank you for your time and continued support with the BNY Corporate Actions Intelligence initiative.</a:t>
              </a:r>
              <a:endParaRPr b="0" i="0" sz="2000">
                <a:solidFill>
                  <a:srgbClr val="475569"/>
                </a:solidFill>
                <a:latin typeface="Arial"/>
                <a:ea typeface="Arial"/>
                <a:cs typeface="Arial"/>
                <a:sym typeface="Arial"/>
              </a:endParaRPr>
            </a:p>
          </p:txBody>
        </p:sp>
      </p:grpSp>
      <p:sp>
        <p:nvSpPr>
          <p:cNvPr id="274" name="Google Shape;274;p22"/>
          <p:cNvSpPr txBox="1"/>
          <p:nvPr/>
        </p:nvSpPr>
        <p:spPr>
          <a:xfrm>
            <a:off x="1143000" y="7696200"/>
            <a:ext cx="143637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800">
                <a:solidFill>
                  <a:srgbClr val="04243C"/>
                </a:solidFill>
                <a:latin typeface="Arial"/>
                <a:ea typeface="Arial"/>
                <a:cs typeface="Arial"/>
                <a:sym typeface="Arial"/>
              </a:rPr>
              <a:t>Corporate Action Intelligence Team</a:t>
            </a:r>
            <a:endParaRPr b="1" i="0" sz="1800">
              <a:solidFill>
                <a:srgbClr val="04243C"/>
              </a:solidFill>
              <a:latin typeface="Arial"/>
              <a:ea typeface="Arial"/>
              <a:cs typeface="Arial"/>
              <a:sym typeface="Arial"/>
            </a:endParaRPr>
          </a:p>
          <a:p>
            <a:pPr indent="0" lvl="0" marL="0" rtl="0" algn="l">
              <a:spcBef>
                <a:spcPts val="400"/>
              </a:spcBef>
              <a:spcAft>
                <a:spcPts val="0"/>
              </a:spcAft>
              <a:buNone/>
            </a:pPr>
            <a:r>
              <a:rPr b="0" i="0" lang="en" sz="1800">
                <a:solidFill>
                  <a:srgbClr val="475569"/>
                </a:solidFill>
                <a:latin typeface="Arial"/>
                <a:ea typeface="Arial"/>
                <a:cs typeface="Arial"/>
                <a:sym typeface="Arial"/>
              </a:rPr>
              <a:t>Aesha Gandhi, Pranshul Bhatnagar, Alex Li, Kedar Vaidya, Aaron Jiang</a:t>
            </a:r>
            <a:endParaRPr b="1" i="0" sz="1800">
              <a:solidFill>
                <a:srgbClr val="04243C"/>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8" name="Shape 278"/>
        <p:cNvGrpSpPr/>
        <p:nvPr/>
      </p:nvGrpSpPr>
      <p:grpSpPr>
        <a:xfrm>
          <a:off x="0" y="0"/>
          <a:ext cx="0" cy="0"/>
          <a:chOff x="0" y="0"/>
          <a:chExt cx="0" cy="0"/>
        </a:xfrm>
      </p:grpSpPr>
      <p:sp>
        <p:nvSpPr>
          <p:cNvPr id="279" name="Google Shape;279;p23"/>
          <p:cNvSpPr txBox="1"/>
          <p:nvPr>
            <p:ph type="title"/>
          </p:nvPr>
        </p:nvSpPr>
        <p:spPr>
          <a:xfrm>
            <a:off x="623400" y="4301700"/>
            <a:ext cx="17041200" cy="1683600"/>
          </a:xfrm>
          <a:prstGeom prst="rect">
            <a:avLst/>
          </a:prstGeom>
        </p:spPr>
        <p:txBody>
          <a:bodyPr anchorCtr="0" anchor="ctr" bIns="182850" lIns="182850" spcFirstLastPara="1" rIns="182850" wrap="square" tIns="182850">
            <a:noAutofit/>
          </a:bodyPr>
          <a:lstStyle/>
          <a:p>
            <a:pPr indent="0" lvl="0" marL="0" rtl="0" algn="ctr">
              <a:spcBef>
                <a:spcPts val="0"/>
              </a:spcBef>
              <a:spcAft>
                <a:spcPts val="0"/>
              </a:spcAft>
              <a:buNone/>
            </a:pPr>
            <a:r>
              <a:rPr b="1" lang="en" sz="10000"/>
              <a:t>Appendix</a:t>
            </a:r>
            <a:endParaRPr b="1" sz="10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83" name="Shape 283"/>
        <p:cNvGrpSpPr/>
        <p:nvPr/>
      </p:nvGrpSpPr>
      <p:grpSpPr>
        <a:xfrm>
          <a:off x="0" y="0"/>
          <a:ext cx="0" cy="0"/>
          <a:chOff x="0" y="0"/>
          <a:chExt cx="0" cy="0"/>
        </a:xfrm>
      </p:grpSpPr>
      <p:sp>
        <p:nvSpPr>
          <p:cNvPr id="284" name="Google Shape;284;p24"/>
          <p:cNvSpPr txBox="1"/>
          <p:nvPr/>
        </p:nvSpPr>
        <p:spPr>
          <a:xfrm>
            <a:off x="1095375" y="571500"/>
            <a:ext cx="16097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00">
                <a:solidFill>
                  <a:srgbClr val="1D1F20"/>
                </a:solidFill>
                <a:latin typeface="Barlow Condensed"/>
                <a:ea typeface="Barlow Condensed"/>
                <a:cs typeface="Barlow Condensed"/>
                <a:sym typeface="Barlow Condensed"/>
              </a:rPr>
              <a:t>Structure-First Extraction Pipeline</a:t>
            </a:r>
            <a:endParaRPr b="1" sz="3800">
              <a:solidFill>
                <a:srgbClr val="1D1F20"/>
              </a:solidFill>
              <a:latin typeface="Barlow Condensed"/>
              <a:ea typeface="Barlow Condensed"/>
              <a:cs typeface="Barlow Condensed"/>
              <a:sym typeface="Barlow Condensed"/>
            </a:endParaRPr>
          </a:p>
          <a:p>
            <a:pPr indent="0" lvl="0" marL="0" rtl="0" algn="l">
              <a:spcBef>
                <a:spcPts val="0"/>
              </a:spcBef>
              <a:spcAft>
                <a:spcPts val="0"/>
              </a:spcAft>
              <a:buNone/>
            </a:pPr>
            <a:r>
              <a:rPr b="0" lang="en" sz="1450">
                <a:solidFill>
                  <a:srgbClr val="5980A6"/>
                </a:solidFill>
                <a:latin typeface="Barlow Medium"/>
                <a:ea typeface="Barlow Medium"/>
                <a:cs typeface="Barlow Medium"/>
                <a:sym typeface="Barlow Medium"/>
              </a:rPr>
              <a:t>Deterministic section routing and targeted local extraction using GLiNER and Regex</a:t>
            </a:r>
            <a:endParaRPr b="0" sz="1450">
              <a:solidFill>
                <a:srgbClr val="5980A6"/>
              </a:solidFill>
              <a:latin typeface="Barlow Medium"/>
              <a:ea typeface="Barlow Medium"/>
              <a:cs typeface="Barlow Medium"/>
              <a:sym typeface="Barlow Medium"/>
            </a:endParaRPr>
          </a:p>
        </p:txBody>
      </p:sp>
      <p:grpSp>
        <p:nvGrpSpPr>
          <p:cNvPr id="285" name="Google Shape;285;p24"/>
          <p:cNvGrpSpPr/>
          <p:nvPr/>
        </p:nvGrpSpPr>
        <p:grpSpPr>
          <a:xfrm>
            <a:off x="1095375" y="1996389"/>
            <a:ext cx="2991000" cy="5524500"/>
            <a:chOff x="0" y="0"/>
            <a:chExt cx="2991000" cy="5524500"/>
          </a:xfrm>
        </p:grpSpPr>
        <p:sp>
          <p:nvSpPr>
            <p:cNvPr id="286" name="Google Shape;286;p24"/>
            <p:cNvSpPr/>
            <p:nvPr/>
          </p:nvSpPr>
          <p:spPr>
            <a:xfrm>
              <a:off x="0" y="0"/>
              <a:ext cx="2991000" cy="5524500"/>
            </a:xfrm>
            <a:prstGeom prst="roundRect">
              <a:avLst>
                <a:gd fmla="val 382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4"/>
            <p:cNvSpPr/>
            <p:nvPr/>
          </p:nvSpPr>
          <p:spPr>
            <a:xfrm>
              <a:off x="0" y="0"/>
              <a:ext cx="2991000" cy="13335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4"/>
            <p:cNvSpPr txBox="1"/>
            <p:nvPr/>
          </p:nvSpPr>
          <p:spPr>
            <a:xfrm>
              <a:off x="0" y="0"/>
              <a:ext cx="2991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2563EB"/>
                  </a:solidFill>
                  <a:latin typeface="Barlow Condensed"/>
                  <a:ea typeface="Barlow Condensed"/>
                  <a:cs typeface="Barlow Condensed"/>
                  <a:sym typeface="Barlow Condensed"/>
                </a:rPr>
                <a:t>STEP 1</a:t>
              </a:r>
              <a:endParaRPr b="1" sz="1300">
                <a:solidFill>
                  <a:srgbClr val="2563EB"/>
                </a:solidFill>
                <a:latin typeface="Barlow Condensed"/>
                <a:ea typeface="Barlow Condensed"/>
                <a:cs typeface="Barlow Condensed"/>
                <a:sym typeface="Barlow Condensed"/>
              </a:endParaRPr>
            </a:p>
            <a:p>
              <a:pPr indent="0" lvl="0" marL="0" rtl="0" algn="ctr">
                <a:spcBef>
                  <a:spcPts val="400"/>
                </a:spcBef>
                <a:spcAft>
                  <a:spcPts val="0"/>
                </a:spcAft>
                <a:buNone/>
              </a:pPr>
              <a:r>
                <a:rPr b="1" lang="en" sz="2200">
                  <a:solidFill>
                    <a:srgbClr val="1E40AF"/>
                  </a:solidFill>
                  <a:latin typeface="Barlow Condensed"/>
                  <a:ea typeface="Barlow Condensed"/>
                  <a:cs typeface="Barlow Condensed"/>
                  <a:sym typeface="Barlow Condensed"/>
                </a:rPr>
                <a:t>CLASSIFY</a:t>
              </a:r>
              <a:endParaRPr b="1" sz="2200">
                <a:solidFill>
                  <a:srgbClr val="1E40AF"/>
                </a:solidFill>
                <a:latin typeface="Barlow Condensed"/>
                <a:ea typeface="Barlow Condensed"/>
                <a:cs typeface="Barlow Condensed"/>
                <a:sym typeface="Barlow Condensed"/>
              </a:endParaRPr>
            </a:p>
          </p:txBody>
        </p:sp>
        <p:sp>
          <p:nvSpPr>
            <p:cNvPr id="289" name="Google Shape;289;p24"/>
            <p:cNvSpPr txBox="1"/>
            <p:nvPr/>
          </p:nvSpPr>
          <p:spPr>
            <a:xfrm>
              <a:off x="190500" y="1524000"/>
              <a:ext cx="2610000" cy="3810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Barlow Condensed"/>
                  <a:ea typeface="Barlow Condensed"/>
                  <a:cs typeface="Barlow Condensed"/>
                  <a:sym typeface="Barlow Condensed"/>
                </a:rPr>
                <a:t>1. Document Role</a:t>
              </a:r>
              <a:endParaRPr b="1" sz="2200">
                <a:solidFill>
                  <a:srgbClr val="0F172A"/>
                </a:solidFill>
                <a:latin typeface="Barlow Condensed"/>
                <a:ea typeface="Barlow Condensed"/>
                <a:cs typeface="Barlow Condensed"/>
                <a:sym typeface="Barlow Condensed"/>
              </a:endParaRPr>
            </a:p>
            <a:p>
              <a:pPr indent="0" lvl="0" marL="0" rtl="0" algn="l">
                <a:spcBef>
                  <a:spcPts val="1200"/>
                </a:spcBef>
                <a:spcAft>
                  <a:spcPts val="0"/>
                </a:spcAft>
                <a:buNone/>
              </a:pPr>
              <a:r>
                <a:rPr b="0" lang="en" sz="1400">
                  <a:solidFill>
                    <a:srgbClr val="2563EB"/>
                  </a:solidFill>
                  <a:latin typeface="Barlow Medium"/>
                  <a:ea typeface="Barlow Medium"/>
                  <a:cs typeface="Barlow Medium"/>
                  <a:sym typeface="Barlow Medium"/>
                </a:rPr>
                <a:t>Tag file as cover, otp, sc_14d9, or amendment.</a:t>
              </a:r>
              <a:endParaRPr b="0" sz="1400">
                <a:solidFill>
                  <a:srgbClr val="2563EB"/>
                </a:solidFill>
                <a:latin typeface="Barlow Medium"/>
                <a:ea typeface="Barlow Medium"/>
                <a:cs typeface="Barlow Medium"/>
                <a:sym typeface="Barlow Medium"/>
              </a:endParaRPr>
            </a:p>
          </p:txBody>
        </p:sp>
      </p:grpSp>
      <p:grpSp>
        <p:nvGrpSpPr>
          <p:cNvPr id="290" name="Google Shape;290;p24"/>
          <p:cNvGrpSpPr/>
          <p:nvPr/>
        </p:nvGrpSpPr>
        <p:grpSpPr>
          <a:xfrm>
            <a:off x="4371975" y="1996389"/>
            <a:ext cx="2991000" cy="5524500"/>
            <a:chOff x="3276600" y="-1304925"/>
            <a:chExt cx="2991000" cy="5524500"/>
          </a:xfrm>
        </p:grpSpPr>
        <p:sp>
          <p:nvSpPr>
            <p:cNvPr id="291" name="Google Shape;291;p24"/>
            <p:cNvSpPr/>
            <p:nvPr/>
          </p:nvSpPr>
          <p:spPr>
            <a:xfrm>
              <a:off x="3276600" y="-1304925"/>
              <a:ext cx="2991000" cy="5524500"/>
            </a:xfrm>
            <a:prstGeom prst="roundRect">
              <a:avLst>
                <a:gd fmla="val 382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4"/>
            <p:cNvSpPr/>
            <p:nvPr/>
          </p:nvSpPr>
          <p:spPr>
            <a:xfrm>
              <a:off x="3276600" y="-1304925"/>
              <a:ext cx="2991000" cy="13335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4"/>
            <p:cNvSpPr txBox="1"/>
            <p:nvPr/>
          </p:nvSpPr>
          <p:spPr>
            <a:xfrm>
              <a:off x="3276600" y="-1304925"/>
              <a:ext cx="2991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0D9488"/>
                  </a:solidFill>
                  <a:latin typeface="Barlow Condensed"/>
                  <a:ea typeface="Barlow Condensed"/>
                  <a:cs typeface="Barlow Condensed"/>
                  <a:sym typeface="Barlow Condensed"/>
                </a:rPr>
                <a:t>STEP 2</a:t>
              </a:r>
              <a:endParaRPr b="1" sz="1300">
                <a:solidFill>
                  <a:srgbClr val="0D9488"/>
                </a:solidFill>
                <a:latin typeface="Barlow Condensed"/>
                <a:ea typeface="Barlow Condensed"/>
                <a:cs typeface="Barlow Condensed"/>
                <a:sym typeface="Barlow Condensed"/>
              </a:endParaRPr>
            </a:p>
            <a:p>
              <a:pPr indent="0" lvl="0" marL="0" rtl="0" algn="ctr">
                <a:spcBef>
                  <a:spcPts val="400"/>
                </a:spcBef>
                <a:spcAft>
                  <a:spcPts val="0"/>
                </a:spcAft>
                <a:buNone/>
              </a:pPr>
              <a:r>
                <a:rPr b="1" lang="en" sz="2200">
                  <a:solidFill>
                    <a:srgbClr val="0F766E"/>
                  </a:solidFill>
                  <a:latin typeface="Barlow Condensed"/>
                  <a:ea typeface="Barlow Condensed"/>
                  <a:cs typeface="Barlow Condensed"/>
                  <a:sym typeface="Barlow Condensed"/>
                </a:rPr>
                <a:t>ROUTE</a:t>
              </a:r>
              <a:endParaRPr b="1" sz="2200">
                <a:solidFill>
                  <a:srgbClr val="0F766E"/>
                </a:solidFill>
                <a:latin typeface="Barlow Condensed"/>
                <a:ea typeface="Barlow Condensed"/>
                <a:cs typeface="Barlow Condensed"/>
                <a:sym typeface="Barlow Condensed"/>
              </a:endParaRPr>
            </a:p>
          </p:txBody>
        </p:sp>
        <p:sp>
          <p:nvSpPr>
            <p:cNvPr id="294" name="Google Shape;294;p24"/>
            <p:cNvSpPr txBox="1"/>
            <p:nvPr/>
          </p:nvSpPr>
          <p:spPr>
            <a:xfrm>
              <a:off x="3467100" y="219075"/>
              <a:ext cx="2610000" cy="3810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Barlow Condensed"/>
                  <a:ea typeface="Barlow Condensed"/>
                  <a:cs typeface="Barlow Condensed"/>
                  <a:sym typeface="Barlow Condensed"/>
                </a:rPr>
                <a:t>2. Structure Routing</a:t>
              </a:r>
              <a:endParaRPr b="1" sz="2200">
                <a:solidFill>
                  <a:srgbClr val="0F172A"/>
                </a:solidFill>
                <a:latin typeface="Barlow Condensed"/>
                <a:ea typeface="Barlow Condensed"/>
                <a:cs typeface="Barlow Condensed"/>
                <a:sym typeface="Barlow Condensed"/>
              </a:endParaRPr>
            </a:p>
            <a:p>
              <a:pPr indent="0" lvl="0" marL="0" rtl="0" algn="l">
                <a:spcBef>
                  <a:spcPts val="1200"/>
                </a:spcBef>
                <a:spcAft>
                  <a:spcPts val="0"/>
                </a:spcAft>
                <a:buNone/>
              </a:pPr>
              <a:r>
                <a:rPr b="0" lang="en" sz="1400">
                  <a:solidFill>
                    <a:srgbClr val="0D9488"/>
                  </a:solidFill>
                  <a:latin typeface="Barlow Medium"/>
                  <a:ea typeface="Barlow Medium"/>
                  <a:cs typeface="Barlow Medium"/>
                  <a:sym typeface="Barlow Medium"/>
                </a:rPr>
                <a:t>Deterministically find candidate sections instead of full-doc search</a:t>
              </a:r>
              <a:endParaRPr b="0" sz="1400">
                <a:solidFill>
                  <a:srgbClr val="0D9488"/>
                </a:solidFill>
                <a:latin typeface="Barlow Medium"/>
                <a:ea typeface="Barlow Medium"/>
                <a:cs typeface="Barlow Medium"/>
                <a:sym typeface="Barlow Medium"/>
              </a:endParaRPr>
            </a:p>
          </p:txBody>
        </p:sp>
      </p:grpSp>
      <p:grpSp>
        <p:nvGrpSpPr>
          <p:cNvPr id="295" name="Google Shape;295;p24"/>
          <p:cNvGrpSpPr/>
          <p:nvPr/>
        </p:nvGrpSpPr>
        <p:grpSpPr>
          <a:xfrm>
            <a:off x="7648575" y="1996389"/>
            <a:ext cx="2991000" cy="5524500"/>
            <a:chOff x="6553200" y="-2609850"/>
            <a:chExt cx="2991000" cy="5524500"/>
          </a:xfrm>
        </p:grpSpPr>
        <p:sp>
          <p:nvSpPr>
            <p:cNvPr id="296" name="Google Shape;296;p24"/>
            <p:cNvSpPr/>
            <p:nvPr/>
          </p:nvSpPr>
          <p:spPr>
            <a:xfrm>
              <a:off x="6553200" y="-2609850"/>
              <a:ext cx="2991000" cy="5524500"/>
            </a:xfrm>
            <a:prstGeom prst="roundRect">
              <a:avLst>
                <a:gd fmla="val 382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4"/>
            <p:cNvSpPr/>
            <p:nvPr/>
          </p:nvSpPr>
          <p:spPr>
            <a:xfrm>
              <a:off x="6553200" y="-2609850"/>
              <a:ext cx="2991000" cy="13335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4"/>
            <p:cNvSpPr txBox="1"/>
            <p:nvPr/>
          </p:nvSpPr>
          <p:spPr>
            <a:xfrm>
              <a:off x="6553200" y="-2609850"/>
              <a:ext cx="2991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D97706"/>
                  </a:solidFill>
                  <a:latin typeface="Barlow Condensed"/>
                  <a:ea typeface="Barlow Condensed"/>
                  <a:cs typeface="Barlow Condensed"/>
                  <a:sym typeface="Barlow Condensed"/>
                </a:rPr>
                <a:t>STEP 3</a:t>
              </a:r>
              <a:endParaRPr b="1" sz="1300">
                <a:solidFill>
                  <a:srgbClr val="D97706"/>
                </a:solidFill>
                <a:latin typeface="Barlow Condensed"/>
                <a:ea typeface="Barlow Condensed"/>
                <a:cs typeface="Barlow Condensed"/>
                <a:sym typeface="Barlow Condensed"/>
              </a:endParaRPr>
            </a:p>
            <a:p>
              <a:pPr indent="0" lvl="0" marL="0" rtl="0" algn="ctr">
                <a:spcBef>
                  <a:spcPts val="400"/>
                </a:spcBef>
                <a:spcAft>
                  <a:spcPts val="0"/>
                </a:spcAft>
                <a:buNone/>
              </a:pPr>
              <a:r>
                <a:rPr b="1" lang="en" sz="2200">
                  <a:solidFill>
                    <a:srgbClr val="B45309"/>
                  </a:solidFill>
                  <a:latin typeface="Barlow Condensed"/>
                  <a:ea typeface="Barlow Condensed"/>
                  <a:cs typeface="Barlow Condensed"/>
                  <a:sym typeface="Barlow Condensed"/>
                </a:rPr>
                <a:t>BOUND</a:t>
              </a:r>
              <a:endParaRPr b="1" sz="2200">
                <a:solidFill>
                  <a:srgbClr val="B45309"/>
                </a:solidFill>
                <a:latin typeface="Barlow Condensed"/>
                <a:ea typeface="Barlow Condensed"/>
                <a:cs typeface="Barlow Condensed"/>
                <a:sym typeface="Barlow Condensed"/>
              </a:endParaRPr>
            </a:p>
          </p:txBody>
        </p:sp>
        <p:sp>
          <p:nvSpPr>
            <p:cNvPr id="299" name="Google Shape;299;p24"/>
            <p:cNvSpPr txBox="1"/>
            <p:nvPr/>
          </p:nvSpPr>
          <p:spPr>
            <a:xfrm>
              <a:off x="6743700" y="-1085850"/>
              <a:ext cx="2610000" cy="3810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Barlow Condensed"/>
                  <a:ea typeface="Barlow Condensed"/>
                  <a:cs typeface="Barlow Condensed"/>
                  <a:sym typeface="Barlow Condensed"/>
                </a:rPr>
                <a:t>3. Local Window</a:t>
              </a:r>
              <a:endParaRPr b="1" sz="2200">
                <a:solidFill>
                  <a:srgbClr val="0F172A"/>
                </a:solidFill>
                <a:latin typeface="Barlow Condensed"/>
                <a:ea typeface="Barlow Condensed"/>
                <a:cs typeface="Barlow Condensed"/>
                <a:sym typeface="Barlow Condensed"/>
              </a:endParaRPr>
            </a:p>
            <a:p>
              <a:pPr indent="0" lvl="0" marL="0" rtl="0" algn="l">
                <a:spcBef>
                  <a:spcPts val="1200"/>
                </a:spcBef>
                <a:spcAft>
                  <a:spcPts val="0"/>
                </a:spcAft>
                <a:buNone/>
              </a:pPr>
              <a:r>
                <a:rPr b="0" lang="en" sz="1400">
                  <a:solidFill>
                    <a:srgbClr val="D97706"/>
                  </a:solidFill>
                  <a:latin typeface="Barlow Medium"/>
                  <a:ea typeface="Barlow Medium"/>
                  <a:cs typeface="Barlow Medium"/>
                  <a:sym typeface="Barlow Medium"/>
                </a:rPr>
                <a:t>Isolate bounding spans around identified target headings</a:t>
              </a:r>
              <a:endParaRPr b="0" sz="1400">
                <a:solidFill>
                  <a:srgbClr val="D97706"/>
                </a:solidFill>
                <a:latin typeface="Barlow Medium"/>
                <a:ea typeface="Barlow Medium"/>
                <a:cs typeface="Barlow Medium"/>
                <a:sym typeface="Barlow Medium"/>
              </a:endParaRPr>
            </a:p>
          </p:txBody>
        </p:sp>
      </p:grpSp>
      <p:grpSp>
        <p:nvGrpSpPr>
          <p:cNvPr id="300" name="Google Shape;300;p24"/>
          <p:cNvGrpSpPr/>
          <p:nvPr/>
        </p:nvGrpSpPr>
        <p:grpSpPr>
          <a:xfrm>
            <a:off x="10925175" y="1996389"/>
            <a:ext cx="2991000" cy="5524500"/>
            <a:chOff x="9829800" y="-3914775"/>
            <a:chExt cx="2991000" cy="5524500"/>
          </a:xfrm>
        </p:grpSpPr>
        <p:sp>
          <p:nvSpPr>
            <p:cNvPr id="301" name="Google Shape;301;p24"/>
            <p:cNvSpPr/>
            <p:nvPr/>
          </p:nvSpPr>
          <p:spPr>
            <a:xfrm>
              <a:off x="9829800" y="-3914775"/>
              <a:ext cx="2991000" cy="5524500"/>
            </a:xfrm>
            <a:prstGeom prst="roundRect">
              <a:avLst>
                <a:gd fmla="val 382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4"/>
            <p:cNvSpPr/>
            <p:nvPr/>
          </p:nvSpPr>
          <p:spPr>
            <a:xfrm>
              <a:off x="9829800" y="-3914775"/>
              <a:ext cx="2991000" cy="13335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4"/>
            <p:cNvSpPr txBox="1"/>
            <p:nvPr/>
          </p:nvSpPr>
          <p:spPr>
            <a:xfrm>
              <a:off x="9829800" y="-3914775"/>
              <a:ext cx="2991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9333EA"/>
                  </a:solidFill>
                  <a:latin typeface="Barlow Condensed"/>
                  <a:ea typeface="Barlow Condensed"/>
                  <a:cs typeface="Barlow Condensed"/>
                  <a:sym typeface="Barlow Condensed"/>
                </a:rPr>
                <a:t>STEP 4</a:t>
              </a:r>
              <a:endParaRPr b="1" sz="1300">
                <a:solidFill>
                  <a:srgbClr val="9333EA"/>
                </a:solidFill>
                <a:latin typeface="Barlow Condensed"/>
                <a:ea typeface="Barlow Condensed"/>
                <a:cs typeface="Barlow Condensed"/>
                <a:sym typeface="Barlow Condensed"/>
              </a:endParaRPr>
            </a:p>
            <a:p>
              <a:pPr indent="0" lvl="0" marL="0" rtl="0" algn="ctr">
                <a:spcBef>
                  <a:spcPts val="400"/>
                </a:spcBef>
                <a:spcAft>
                  <a:spcPts val="0"/>
                </a:spcAft>
                <a:buNone/>
              </a:pPr>
              <a:r>
                <a:rPr b="1" lang="en" sz="2200">
                  <a:solidFill>
                    <a:srgbClr val="7E22CE"/>
                  </a:solidFill>
                  <a:latin typeface="Barlow Condensed"/>
                  <a:ea typeface="Barlow Condensed"/>
                  <a:cs typeface="Barlow Condensed"/>
                  <a:sym typeface="Barlow Condensed"/>
                </a:rPr>
                <a:t>EXTRACT</a:t>
              </a:r>
              <a:endParaRPr b="1" sz="2200">
                <a:solidFill>
                  <a:srgbClr val="7E22CE"/>
                </a:solidFill>
                <a:latin typeface="Barlow Condensed"/>
                <a:ea typeface="Barlow Condensed"/>
                <a:cs typeface="Barlow Condensed"/>
                <a:sym typeface="Barlow Condensed"/>
              </a:endParaRPr>
            </a:p>
          </p:txBody>
        </p:sp>
        <p:sp>
          <p:nvSpPr>
            <p:cNvPr id="304" name="Google Shape;304;p24"/>
            <p:cNvSpPr txBox="1"/>
            <p:nvPr/>
          </p:nvSpPr>
          <p:spPr>
            <a:xfrm>
              <a:off x="10020300" y="-2390775"/>
              <a:ext cx="2610000" cy="3810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Barlow Condensed"/>
                  <a:ea typeface="Barlow Condensed"/>
                  <a:cs typeface="Barlow Condensed"/>
                  <a:sym typeface="Barlow Condensed"/>
                </a:rPr>
                <a:t>4. GLiNER / Regex Extraction</a:t>
              </a:r>
              <a:endParaRPr b="1" sz="2200">
                <a:solidFill>
                  <a:srgbClr val="0F172A"/>
                </a:solidFill>
                <a:latin typeface="Barlow Condensed"/>
                <a:ea typeface="Barlow Condensed"/>
                <a:cs typeface="Barlow Condensed"/>
                <a:sym typeface="Barlow Condensed"/>
              </a:endParaRPr>
            </a:p>
            <a:p>
              <a:pPr indent="0" lvl="0" marL="0" rtl="0" algn="l">
                <a:spcBef>
                  <a:spcPts val="1200"/>
                </a:spcBef>
                <a:spcAft>
                  <a:spcPts val="0"/>
                </a:spcAft>
                <a:buNone/>
              </a:pPr>
              <a:r>
                <a:rPr b="0" lang="en" sz="1400">
                  <a:solidFill>
                    <a:srgbClr val="9333EA"/>
                  </a:solidFill>
                  <a:latin typeface="Barlow Medium"/>
                  <a:ea typeface="Barlow Medium"/>
                  <a:cs typeface="Barlow Medium"/>
                  <a:sym typeface="Barlow Medium"/>
                </a:rPr>
                <a:t>Targeted entity extraction on bounded spans</a:t>
              </a:r>
              <a:endParaRPr b="0" sz="1400">
                <a:solidFill>
                  <a:srgbClr val="9333EA"/>
                </a:solidFill>
                <a:latin typeface="Barlow Medium"/>
                <a:ea typeface="Barlow Medium"/>
                <a:cs typeface="Barlow Medium"/>
                <a:sym typeface="Barlow Medium"/>
              </a:endParaRPr>
            </a:p>
          </p:txBody>
        </p:sp>
      </p:grpSp>
      <p:grpSp>
        <p:nvGrpSpPr>
          <p:cNvPr id="305" name="Google Shape;305;p24"/>
          <p:cNvGrpSpPr/>
          <p:nvPr/>
        </p:nvGrpSpPr>
        <p:grpSpPr>
          <a:xfrm>
            <a:off x="14201775" y="1996389"/>
            <a:ext cx="2991000" cy="5524500"/>
            <a:chOff x="13106400" y="-5219700"/>
            <a:chExt cx="2991000" cy="5524500"/>
          </a:xfrm>
        </p:grpSpPr>
        <p:sp>
          <p:nvSpPr>
            <p:cNvPr id="306" name="Google Shape;306;p24"/>
            <p:cNvSpPr/>
            <p:nvPr/>
          </p:nvSpPr>
          <p:spPr>
            <a:xfrm>
              <a:off x="13106400" y="-5219700"/>
              <a:ext cx="2991000" cy="5524500"/>
            </a:xfrm>
            <a:prstGeom prst="roundRect">
              <a:avLst>
                <a:gd fmla="val 382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4"/>
            <p:cNvSpPr/>
            <p:nvPr/>
          </p:nvSpPr>
          <p:spPr>
            <a:xfrm>
              <a:off x="13106400" y="-5219700"/>
              <a:ext cx="2991000" cy="1333500"/>
            </a:xfrm>
            <a:custGeom>
              <a:rect b="b" l="l" r="r" t="t"/>
              <a:pathLst>
                <a:path extrusionOk="0" h="120000" w="120000">
                  <a:moveTo>
                    <a:pt x="8000" y="0"/>
                  </a:moveTo>
                  <a:lnTo>
                    <a:pt x="120000" y="0"/>
                  </a:lnTo>
                  <a:lnTo>
                    <a:pt x="120000" y="120000"/>
                  </a:lnTo>
                  <a:lnTo>
                    <a:pt x="8000" y="120000"/>
                  </a:lnTo>
                  <a:cubicBezTo>
                    <a:pt x="5878" y="120000"/>
                    <a:pt x="3843" y="118964"/>
                    <a:pt x="2343" y="117119"/>
                  </a:cubicBezTo>
                  <a:cubicBezTo>
                    <a:pt x="843" y="115274"/>
                    <a:pt x="0" y="112773"/>
                    <a:pt x="0" y="110164"/>
                  </a:cubicBezTo>
                  <a:lnTo>
                    <a:pt x="0" y="9836"/>
                  </a:lnTo>
                  <a:cubicBezTo>
                    <a:pt x="0" y="4404"/>
                    <a:pt x="3582" y="0"/>
                    <a:pt x="8000" y="0"/>
                  </a:cubicBezTo>
                  <a:close/>
                </a:path>
              </a:pathLst>
            </a:cu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4"/>
            <p:cNvSpPr txBox="1"/>
            <p:nvPr/>
          </p:nvSpPr>
          <p:spPr>
            <a:xfrm>
              <a:off x="13106400" y="-5219700"/>
              <a:ext cx="29910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059669"/>
                  </a:solidFill>
                  <a:latin typeface="Barlow Condensed"/>
                  <a:ea typeface="Barlow Condensed"/>
                  <a:cs typeface="Barlow Condensed"/>
                  <a:sym typeface="Barlow Condensed"/>
                </a:rPr>
                <a:t>STEP 5</a:t>
              </a:r>
              <a:endParaRPr b="1" sz="1300">
                <a:solidFill>
                  <a:srgbClr val="059669"/>
                </a:solidFill>
                <a:latin typeface="Barlow Condensed"/>
                <a:ea typeface="Barlow Condensed"/>
                <a:cs typeface="Barlow Condensed"/>
                <a:sym typeface="Barlow Condensed"/>
              </a:endParaRPr>
            </a:p>
            <a:p>
              <a:pPr indent="0" lvl="0" marL="0" rtl="0" algn="ctr">
                <a:spcBef>
                  <a:spcPts val="400"/>
                </a:spcBef>
                <a:spcAft>
                  <a:spcPts val="0"/>
                </a:spcAft>
                <a:buNone/>
              </a:pPr>
              <a:r>
                <a:rPr b="1" lang="en" sz="2000">
                  <a:solidFill>
                    <a:srgbClr val="047857"/>
                  </a:solidFill>
                  <a:latin typeface="Barlow Condensed"/>
                  <a:ea typeface="Barlow Condensed"/>
                  <a:cs typeface="Barlow Condensed"/>
                  <a:sym typeface="Barlow Condensed"/>
                </a:rPr>
                <a:t>RECONCILE</a:t>
              </a:r>
              <a:endParaRPr b="1" sz="2000">
                <a:solidFill>
                  <a:srgbClr val="047857"/>
                </a:solidFill>
                <a:latin typeface="Barlow Condensed"/>
                <a:ea typeface="Barlow Condensed"/>
                <a:cs typeface="Barlow Condensed"/>
                <a:sym typeface="Barlow Condensed"/>
              </a:endParaRPr>
            </a:p>
          </p:txBody>
        </p:sp>
        <p:sp>
          <p:nvSpPr>
            <p:cNvPr id="309" name="Google Shape;309;p24"/>
            <p:cNvSpPr txBox="1"/>
            <p:nvPr/>
          </p:nvSpPr>
          <p:spPr>
            <a:xfrm>
              <a:off x="13296900" y="-3695700"/>
              <a:ext cx="2610000" cy="3810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0F172A"/>
                  </a:solidFill>
                  <a:latin typeface="Barlow Condensed"/>
                  <a:ea typeface="Barlow Condensed"/>
                  <a:cs typeface="Barlow Condensed"/>
                  <a:sym typeface="Barlow Condensed"/>
                </a:rPr>
                <a:t>5. Source-Aware Reconciliation</a:t>
              </a:r>
              <a:endParaRPr b="1" sz="2200">
                <a:solidFill>
                  <a:srgbClr val="0F172A"/>
                </a:solidFill>
                <a:latin typeface="Barlow Condensed"/>
                <a:ea typeface="Barlow Condensed"/>
                <a:cs typeface="Barlow Condensed"/>
                <a:sym typeface="Barlow Condensed"/>
              </a:endParaRPr>
            </a:p>
            <a:p>
              <a:pPr indent="0" lvl="0" marL="0" rtl="0" algn="l">
                <a:spcBef>
                  <a:spcPts val="1200"/>
                </a:spcBef>
                <a:spcAft>
                  <a:spcPts val="0"/>
                </a:spcAft>
                <a:buNone/>
              </a:pPr>
              <a:r>
                <a:rPr b="0" lang="en" sz="1400">
                  <a:solidFill>
                    <a:srgbClr val="059669"/>
                  </a:solidFill>
                  <a:latin typeface="Barlow Medium"/>
                  <a:ea typeface="Barlow Medium"/>
                  <a:cs typeface="Barlow Medium"/>
                  <a:sym typeface="Barlow Medium"/>
                </a:rPr>
                <a:t>Resolve field conflicts across the package</a:t>
              </a:r>
              <a:endParaRPr b="0" sz="1400">
                <a:solidFill>
                  <a:srgbClr val="059669"/>
                </a:solidFill>
                <a:latin typeface="Barlow Medium"/>
                <a:ea typeface="Barlow Medium"/>
                <a:cs typeface="Barlow Medium"/>
                <a:sym typeface="Barlow Medium"/>
              </a:endParaRPr>
            </a:p>
          </p:txBody>
        </p:sp>
      </p:grpSp>
      <p:grpSp>
        <p:nvGrpSpPr>
          <p:cNvPr id="310" name="Google Shape;310;p24"/>
          <p:cNvGrpSpPr/>
          <p:nvPr/>
        </p:nvGrpSpPr>
        <p:grpSpPr>
          <a:xfrm>
            <a:off x="1095375" y="7810496"/>
            <a:ext cx="16097400" cy="762000"/>
            <a:chOff x="0" y="-729567"/>
            <a:chExt cx="16097400" cy="762000"/>
          </a:xfrm>
        </p:grpSpPr>
        <p:sp>
          <p:nvSpPr>
            <p:cNvPr id="311" name="Google Shape;311;p24"/>
            <p:cNvSpPr/>
            <p:nvPr/>
          </p:nvSpPr>
          <p:spPr>
            <a:xfrm>
              <a:off x="0" y="-729567"/>
              <a:ext cx="16097400" cy="762000"/>
            </a:xfrm>
            <a:prstGeom prst="roundRect">
              <a:avLst>
                <a:gd fmla="val 15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4"/>
            <p:cNvSpPr txBox="1"/>
            <p:nvPr/>
          </p:nvSpPr>
          <p:spPr>
            <a:xfrm>
              <a:off x="238125" y="-729567"/>
              <a:ext cx="15621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38BDF8"/>
                  </a:solidFill>
                  <a:latin typeface="Barlow"/>
                  <a:ea typeface="Barlow"/>
                  <a:cs typeface="Barlow"/>
                  <a:sym typeface="Barlow"/>
                </a:rPr>
                <a:t>“Structure finds where to look. GLiNER finds the value.”</a:t>
              </a:r>
              <a:endParaRPr b="1" sz="1600">
                <a:solidFill>
                  <a:srgbClr val="38BDF8"/>
                </a:solidFill>
                <a:latin typeface="Barlow"/>
                <a:ea typeface="Barlow"/>
                <a:cs typeface="Barlow"/>
                <a:sym typeface="Barlow"/>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