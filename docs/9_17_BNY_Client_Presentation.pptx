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74" r:id="rId45"/>
    <p:sldId id="275" r:id="rId46"/>
    <p:sldId id="276" r:id="rId47"/>
    <p:sldId id="260" r:id="rId11"/>
    <p:sldId id="261" r:id="rId12"/>
    <p:sldId id="262" r:id="rId13"/>
    <p:sldId id="277" r:id="rId48"/>
    <p:sldId id="278" r:id="rId49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10287000" cy="18288000"/>
  <p:embeddedFontLst>
    <p:embeddedFont>
      <p:font typeface="Arial Narrow"/>
      <p:regular r:id="rId25"/>
      <p:bold r:id="rId26"/>
      <p:italic r:id="rId27"/>
      <p:boldItalic r:id="rId28"/>
    </p:embeddedFont>
    <p:embeddedFont>
      <p:font typeface="Barlow Condensed"/>
      <p:regular r:id="rId29"/>
      <p:bold r:id="rId30"/>
      <p:italic r:id="rId31"/>
      <p:boldItalic r:id="rId32"/>
    </p:embeddedFont>
    <p:embeddedFont>
      <p:font typeface="Barlow Medium"/>
      <p:regular r:id="rId33"/>
      <p:bold r:id="rId34"/>
      <p:italic r:id="rId35"/>
      <p:boldItalic r:id="rId36"/>
    </p:embeddedFont>
    <p:embeddedFont>
      <p:font typeface="Barlow SemiBold"/>
      <p:regular r:id="rId37"/>
      <p:bold r:id="rId38"/>
      <p:italic r:id="rId39"/>
      <p:boldItalic r:id="rId40"/>
    </p:embeddedFont>
    <p:embeddedFont>
      <p:font typeface="Barlow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esha Gandh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95B49C-611E-4942-95E3-CEA6C460C333}">
  <a:tblStyle styleId="{8695B49C-611E-4942-95E3-CEA6C460C3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font" Target="fonts/ArialNarrow-regular.fntdata"/><Relationship Id="rId26" Type="http://schemas.openxmlformats.org/officeDocument/2006/relationships/font" Target="fonts/ArialNarrow-bold.fntdata"/><Relationship Id="rId27" Type="http://schemas.openxmlformats.org/officeDocument/2006/relationships/font" Target="fonts/ArialNarrow-italic.fntdata"/><Relationship Id="rId28" Type="http://schemas.openxmlformats.org/officeDocument/2006/relationships/font" Target="fonts/ArialNarrow-boldItalic.fntdata"/><Relationship Id="rId29" Type="http://schemas.openxmlformats.org/officeDocument/2006/relationships/font" Target="fonts/BarlowCondensed-regular.fntdata"/><Relationship Id="rId30" Type="http://schemas.openxmlformats.org/officeDocument/2006/relationships/font" Target="fonts/BarlowCondensed-bold.fntdata"/><Relationship Id="rId31" Type="http://schemas.openxmlformats.org/officeDocument/2006/relationships/font" Target="fonts/BarlowCondensed-italic.fntdata"/><Relationship Id="rId32" Type="http://schemas.openxmlformats.org/officeDocument/2006/relationships/font" Target="fonts/BarlowCondensed-boldItalic.fntdata"/><Relationship Id="rId33" Type="http://schemas.openxmlformats.org/officeDocument/2006/relationships/font" Target="fonts/BarlowMedium-regular.fntdata"/><Relationship Id="rId34" Type="http://schemas.openxmlformats.org/officeDocument/2006/relationships/font" Target="fonts/BarlowMedium-bold.fntdata"/><Relationship Id="rId35" Type="http://schemas.openxmlformats.org/officeDocument/2006/relationships/font" Target="fonts/BarlowMedium-italic.fntdata"/><Relationship Id="rId36" Type="http://schemas.openxmlformats.org/officeDocument/2006/relationships/font" Target="fonts/BarlowMedium-boldItalic.fntdata"/><Relationship Id="rId37" Type="http://schemas.openxmlformats.org/officeDocument/2006/relationships/font" Target="fonts/BarlowSemiBold-regular.fntdata"/><Relationship Id="rId38" Type="http://schemas.openxmlformats.org/officeDocument/2006/relationships/font" Target="fonts/BarlowSemiBold-bold.fntdata"/><Relationship Id="rId39" Type="http://schemas.openxmlformats.org/officeDocument/2006/relationships/font" Target="fonts/BarlowSemiBold-italic.fntdata"/><Relationship Id="rId40" Type="http://schemas.openxmlformats.org/officeDocument/2006/relationships/font" Target="fonts/BarlowSemiBold-boldItalic.fntdata"/><Relationship Id="rId41" Type="http://schemas.openxmlformats.org/officeDocument/2006/relationships/font" Target="fonts/Barlow-regular.fntdata"/><Relationship Id="rId42" Type="http://schemas.openxmlformats.org/officeDocument/2006/relationships/font" Target="fonts/Barlow-bold.fntdata"/><Relationship Id="rId43" Type="http://schemas.openxmlformats.org/officeDocument/2006/relationships/font" Target="fonts/Barlow-italic.fntdata"/><Relationship Id="rId44" Type="http://schemas.openxmlformats.org/officeDocument/2006/relationships/font" Target="fonts/Barlow-boldItalic.fntdata"/><Relationship Id="rId45" Type="http://schemas.openxmlformats.org/officeDocument/2006/relationships/slide" Target="slides/slide5.xml"/><Relationship Id="rId46" Type="http://schemas.openxmlformats.org/officeDocument/2006/relationships/slide" Target="slides/slide6.xml"/><Relationship Id="rId47" Type="http://schemas.openxmlformats.org/officeDocument/2006/relationships/slide" Target="slides/slide7.xml"/><Relationship Id="rId48" Type="http://schemas.openxmlformats.org/officeDocument/2006/relationships/slide" Target="slides/slide22.xml"/><Relationship Id="rId49" Type="http://schemas.openxmlformats.org/officeDocument/2006/relationships/slide" Target="slides/slide2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6T18:28:58.545">
    <p:pos x="6000" y="0"/>
    <p:text>Kedar - present data and workflow?
Aaron - present research
Alex - present ROI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6T18:31:44.043">
    <p:pos x="6000" y="0"/>
    <p:text>only need to briefly just say corporate actions to focus
everything else is just on slide lol don't talk about it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notes for the BNY capstone: which public data sources support corporate-action extraction and validation, and which event types to prioritize.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a7b93dec4_6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fa7b93dec4_6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fa7b93dec4_6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b7ad4041d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fb7ad4041d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fb7ad4041d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7996a6c8_1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b7996a6c8_1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7996a6c8_1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7996a6c8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b7996a6c8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b7996a6c8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7ad4041d_5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b7ad4041d_5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b7ad4041d_5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2675813497e81b94_26_9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2675813497e81b94_26_9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675813497e81b94_26_126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2675813497e81b94_26_126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675813497e81b94_26_234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2675813497e81b94_26_234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2675813497e81b94_26_468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2675813497e81b94_26_468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7ad4041d_1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b7ad4041d_1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7ad4041d_1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b7996a6c8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fb7996a6c8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b7996a6c8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b7ad4041d_18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b7ad4041d_18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b7ad4041d_18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b7ad4041d_18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fb7ad4041d_18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b7ad4041d_18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7ad4041d_18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fb7ad4041d_18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b7ad4041d_18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b7ad4041d_18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b7ad4041d_18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b7ad4041d_18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7996a6c8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b7996a6c8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b7996a6c8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571500" y="7945438"/>
            <a:ext cx="2667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905250" y="7945438"/>
            <a:ext cx="3619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191500" y="7945438"/>
            <a:ext cx="2667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1143000" y="1660424"/>
            <a:ext cx="156741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lang="en-US" sz="15000">
                <a:solidFill>
                  <a:srgbClr val="1D1F20"/>
                </a:solidFill>
              </a:rPr>
              <a:t>Research</a:t>
            </a:r>
            <a:endParaRPr b="1" sz="15000">
              <a:solidFill>
                <a:srgbClr val="1D1F20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t/>
            </a:r>
            <a:endParaRPr b="1" sz="8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i="0" lang="en-US" sz="8000" u="none" cap="none" strike="noStrike">
                <a:solidFill>
                  <a:schemeClr val="accent1"/>
                </a:solidFill>
              </a:rPr>
              <a:t>Corporate Actions </a:t>
            </a:r>
            <a:endParaRPr b="1" i="0" sz="8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286000" y="7703335"/>
            <a:ext cx="14372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Week 2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Gandhi,  Pranshul Bhatnagar,  Alex Li,  Kedar Vaidya,  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978471" y="2514600"/>
            <a:ext cx="3641177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095524" y="7132290"/>
            <a:ext cx="5463771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Scope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095375" y="1143000"/>
            <a:ext cx="16097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Recap</a:t>
            </a:r>
            <a:endParaRPr b="1" sz="450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35" name="Google Shape;35;p6"/>
          <p:cNvGrpSpPr/>
          <p:nvPr/>
        </p:nvGrpSpPr>
        <p:grpSpPr>
          <a:xfrm>
            <a:off x="1095375" y="2381250"/>
            <a:ext cx="16097250" cy="6953400"/>
            <a:chOff x="1095375" y="2381250"/>
            <a:chExt cx="16097250" cy="6953400"/>
          </a:xfrm>
        </p:grpSpPr>
        <p:grpSp>
          <p:nvGrpSpPr>
            <p:cNvPr id="36" name="Google Shape;36;p6"/>
            <p:cNvGrpSpPr/>
            <p:nvPr/>
          </p:nvGrpSpPr>
          <p:grpSpPr>
            <a:xfrm>
              <a:off x="1095375" y="2381250"/>
              <a:ext cx="5143500" cy="6953400"/>
              <a:chOff x="0" y="0"/>
              <a:chExt cx="5143500" cy="6953400"/>
            </a:xfrm>
          </p:grpSpPr>
          <p:sp>
            <p:nvSpPr>
              <p:cNvPr id="37" name="Google Shape;37;p6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6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01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Phase 1 Focus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Prioritize complex, decision-based events:</a:t>
                </a:r>
                <a:endParaRPr b="0"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Tender offers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Exchange offers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Rights issues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Mergers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Conversions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64748B"/>
                    </a:solidFill>
                    <a:highlight>
                      <a:srgbClr val="F8FAFC"/>
                    </a:highlight>
                    <a:latin typeface="Barlow"/>
                    <a:ea typeface="Barlow"/>
                    <a:cs typeface="Barlow"/>
                    <a:sym typeface="Barlow"/>
                  </a:rPr>
                  <a:t>Simple mandatory events like ordinary cash dividends are lower priority because they require less reasoning.</a:t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39" name="Google Shape;39;p6"/>
            <p:cNvGrpSpPr/>
            <p:nvPr/>
          </p:nvGrpSpPr>
          <p:grpSpPr>
            <a:xfrm>
              <a:off x="6572250" y="2381250"/>
              <a:ext cx="5143500" cy="6953400"/>
              <a:chOff x="0" y="0"/>
              <a:chExt cx="5143500" cy="6953400"/>
            </a:xfrm>
          </p:grpSpPr>
          <p:sp>
            <p:nvSpPr>
              <p:cNvPr id="40" name="Google Shape;40;p6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6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02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Core Product Output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A structured, source-grounded event summary containing:</a:t>
                </a:r>
                <a:endParaRPr b="0"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1750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Event classification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Parties &amp; securities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Client options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Key dates &amp; deadlines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Financial terms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Conditions / restrictions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Source passages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Confidence &amp; exception flags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75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Amendment / change history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  <p:grpSp>
          <p:nvGrpSpPr>
            <p:cNvPr id="42" name="Google Shape;42;p6"/>
            <p:cNvGrpSpPr/>
            <p:nvPr/>
          </p:nvGrpSpPr>
          <p:grpSpPr>
            <a:xfrm>
              <a:off x="12049125" y="2381250"/>
              <a:ext cx="5143500" cy="6953400"/>
              <a:chOff x="0" y="0"/>
              <a:chExt cx="5143500" cy="6953400"/>
            </a:xfrm>
          </p:grpSpPr>
          <p:sp>
            <p:nvSpPr>
              <p:cNvPr id="43" name="Google Shape;43;p6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6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03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Evaluation Priorities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Accuracy and auditability first</a:t>
                </a:r>
                <a:endParaRPr b="0"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Extraction accuracy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Completeness of material information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Source grounding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Amendment detection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105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Appropriate escalation when uncertain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1097280" y="502920"/>
            <a:ext cx="1609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DATA &amp; EDA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What we pull from SEC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EFTS finds the event; EDGAR exhibits contain the terms.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2103120"/>
            <a:ext cx="7772400" cy="5669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22860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Barlow Condensed"/>
              </a:rPr>
              <a:t>SEC EFTS  ·  Full-text search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283464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Barlow"/>
              </a:rPr>
              <a:t>Hit list + filing metadata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Returns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Form type · filing date · company · file_num · accession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92400E"/>
                </a:solidFill>
                <a:latin typeface="Barlow"/>
              </a:rPr>
              <a:t>Alone fills ~10–15% of BNY notification fields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Role in the pipeline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Discover and index corporate-action events across 2020–2025.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2103120"/>
            <a:ext cx="7772400" cy="5669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22860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Barlow Condensed"/>
              </a:rPr>
              <a:t>EDGAR download  ·  Documents &amp; exhibits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83464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Barlow"/>
              </a:rPr>
              <a:t>HTML / PDF filings + exhibits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Returns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Offer to Purchase · Letter of Transmittal · SC 14D-9 body text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6534"/>
                </a:solidFill>
                <a:latin typeface="Barlow"/>
              </a:rPr>
              <a:t>Material terms live here — prices, deadlines, conditions, options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Role in the pipeline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Source text for grounded extraction and Concise Rep assembly.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7280" y="7955279"/>
            <a:ext cx="1609344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8065008"/>
            <a:ext cx="1554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40AF"/>
                </a:solidFill>
                <a:latin typeface="Barlow"/>
              </a:rPr>
              <a:t>EFTS finds the event; exhibits contain the terms.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97280" y="8732520"/>
            <a:ext cx="16093440" cy="777240"/>
          </a:xfrm>
          <a:prstGeom prst="roundRect">
            <a:avLst>
              <a:gd name="adj" fmla="val 8000"/>
            </a:avLst>
          </a:prstGeom>
          <a:solidFill>
            <a:srgbClr val="1D1F20"/>
          </a:solidFill>
          <a:ln w="12700">
            <a:solidFill>
              <a:srgbClr val="1D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8869680"/>
            <a:ext cx="1554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rlow Condensed"/>
              </a:rPr>
              <a:t>197k doc hits   ·   104k unique filings   ·   14.5k events   ·   2020–2025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1609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DATA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Corpus → executable tender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Design for five event types; build and evaluate v1 on preferred third-party tenders.</a:t>
            </a:r>
          </a:p>
        </p:txBody>
      </p:sp>
      <p:pic>
        <p:nvPicPr>
          <p:cNvPr id="5" name="Picture 4" descr="mvp_selectio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7400"/>
            <a:ext cx="9326880" cy="4481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89920" y="2057400"/>
            <a:ext cx="6309360" cy="5943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224028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64748B"/>
                </a:solidFill>
                <a:latin typeface="Barlow"/>
              </a:rPr>
              <a:t>Talk-track numbers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D1F20"/>
                </a:solidFill>
                <a:latin typeface="Barlow Condensed"/>
              </a:rPr>
              <a:t>14,518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events in corpus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E40AF"/>
                </a:solidFill>
                <a:latin typeface="Barlow Condensed"/>
              </a:rPr>
              <a:t>285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third-party tender core (SC TO-T*)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166534"/>
                </a:solidFill>
                <a:latin typeface="Barlow Condensed"/>
              </a:rPr>
              <a:t>272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preferred (TO-T + SC 14D9) — 95% of core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92400E"/>
                </a:solidFill>
                <a:latin typeface="Barlow"/>
              </a:rPr>
              <a:t>~99% of preferred tenders have amendments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Barlow"/>
              </a:rPr>
              <a:t>Version history is table-stakes, not optional.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8732520"/>
            <a:ext cx="1609344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8869680"/>
            <a:ext cx="1554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6534"/>
                </a:solidFill>
                <a:latin typeface="Barlow"/>
              </a:rPr>
              <a:t>Bottom line: five types in product scope — evaluate v1 on this 272-event pool.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1609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DATA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Can public docs fill a BNY notification?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Public SEC covers event / security / deadline fields; ledger fields stay BNY-side.</a:t>
            </a:r>
          </a:p>
        </p:txBody>
      </p:sp>
      <p:pic>
        <p:nvPicPr>
          <p:cNvPr id="5" name="Picture 4" descr="mvp_field_own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65960"/>
            <a:ext cx="9144000" cy="41744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7280" y="6400800"/>
            <a:ext cx="914400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583680"/>
            <a:ext cx="8595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Sample mention rates (not extraction accuracy)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66534"/>
                </a:solidFill>
                <a:latin typeface="Barlow"/>
              </a:rPr>
              <a:t>High: corporate_action_type / security_description 100%  ·  election_deadline ~68%  ·  cash_amount ~77%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92400E"/>
                </a:solidFill>
                <a:latin typeface="Barlow"/>
              </a:rPr>
              <a:t>Hard: available_options ~9%  ·  ISIN ~7%  ·  default_option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40AF"/>
                </a:solidFill>
                <a:latin typeface="Barlow"/>
              </a:rPr>
              <a:t>Internal (definitional 0%): position_quantity · eligible_quantity · processing_status · debit_credit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7040" y="1965960"/>
            <a:ext cx="6492240" cy="17373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213055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6534"/>
                </a:solidFill>
                <a:latin typeface="Barlow Condensed"/>
              </a:rPr>
              <a:t>Extract / derive from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2606039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Barlow"/>
              </a:rPr>
              <a:t>Type · security · ticker · deadlines · offer-price proxy · coarse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3886200"/>
            <a:ext cx="64922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4050791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  <a:latin typeface="Barlow Condensed"/>
              </a:rPr>
              <a:t>Annotate then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452628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Barlow"/>
              </a:rPr>
              <a:t>Options · normalized CUSIP · ratios · amendment deltas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5806440"/>
            <a:ext cx="6492240" cy="17373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5971031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Barlow Condensed"/>
              </a:rPr>
              <a:t>BNY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Barlow"/>
              </a:rPr>
              <a:t>Position qty · eligible qty · processing status · debit/credit — never score as extraction fail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8732520"/>
            <a:ext cx="16093440" cy="7772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8869680"/>
            <a:ext cx="1554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92400E"/>
                </a:solidFill>
                <a:latin typeface="Barlow"/>
              </a:rPr>
              <a:t>Caveat: coverage = regex mention on a 57-event sample — not extraction accuracy. Accuracy lands in the eval harness.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1609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DATA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Why tender-first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Five types in product scope; one type in executable data scope today.</a:t>
            </a:r>
          </a:p>
        </p:txBody>
      </p:sp>
      <p:pic>
        <p:nvPicPr>
          <p:cNvPr id="5" name="Picture 4" descr="mvp_event_type_read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9326880" cy="4541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89920" y="2011680"/>
            <a:ext cx="6309360" cy="5029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219456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64748B"/>
                </a:solidFill>
                <a:latin typeface="Barlow"/>
              </a:rPr>
              <a:t>Build order (from EDA)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66534"/>
                </a:solidFill>
                <a:latin typeface="Barlow"/>
              </a:rPr>
              <a:t>1  Tender (TO-T + 14D9)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Corpus-ready now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Barlow"/>
              </a:rPr>
              <a:t>2  Exchange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Reclassify inside TO + S-4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Barlow"/>
              </a:rPr>
              <a:t>3  Merger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Proxies / S-4 / 13E-3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Barlow"/>
              </a:rPr>
              <a:t>4  Rights → Conversion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Barlow"/>
              </a:rPr>
              <a:t>Noisier filters; need S-3 / subtype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8138160"/>
            <a:ext cx="16093440" cy="13716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832104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  <a:latin typeface="Barlow"/>
              </a:rPr>
              <a:t>Bridge to Pipeline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Barlow"/>
              </a:rPr>
              <a:t>Preprocess inventored 30 preferred TOs → 29 gold Concise Reps (~75 candidate facts/event) with source spans — enough to start grounded extraction.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1095375" y="762000"/>
            <a:ext cx="16097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88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Schema</a:t>
            </a:r>
            <a:endParaRPr b="1" sz="3488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58" name="Google Shape;58;p8"/>
          <p:cNvGrpSpPr/>
          <p:nvPr/>
        </p:nvGrpSpPr>
        <p:grpSpPr>
          <a:xfrm>
            <a:off x="927300" y="1524000"/>
            <a:ext cx="6801822" cy="8191500"/>
            <a:chOff x="0" y="0"/>
            <a:chExt cx="9715500" cy="8191500"/>
          </a:xfrm>
        </p:grpSpPr>
        <p:sp>
          <p:nvSpPr>
            <p:cNvPr id="59" name="Google Shape;59;p8"/>
            <p:cNvSpPr/>
            <p:nvPr/>
          </p:nvSpPr>
          <p:spPr>
            <a:xfrm>
              <a:off x="0" y="0"/>
              <a:ext cx="9715500" cy="8191500"/>
            </a:xfrm>
            <a:prstGeom prst="roundRect">
              <a:avLst>
                <a:gd fmla="val 186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 txBox="1"/>
            <p:nvPr/>
          </p:nvSpPr>
          <p:spPr>
            <a:xfrm>
              <a:off x="0" y="0"/>
              <a:ext cx="9715500" cy="81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 </a:t>
              </a: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Core Event Fields 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Classification &amp; Evidence</a:t>
              </a:r>
              <a:endParaRPr b="1" sz="13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event_id: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Internal identifier linking docs/amendments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corporate_action_type: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Event classification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event_status: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Announced, amended, completed, etc.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mandatory_voluntary_indicator: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Mandatory, voluntary, or options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source_document / passages: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Supporting text &amp; filing link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confidence &amp; exception_flags: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Extraction flags &amp; audit tracking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Entities &amp; Affected Securities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parties: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Issuer, target, acquirer, offeror, etc.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security_description: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Security affected by the event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ISIN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 / cusip / ticker: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Universal security identifiers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currency: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Currency of cash terms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Terms, Options &amp; Restrictions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available_options: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Choices available to holder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default_option: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Action taken if no election made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financial_terms: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Cash price, ratios, conversion price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conditions_restrictions: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Eligibility rules, proration &amp; minimums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Critical Dates &amp; Milestones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effective_date: Event execution date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election_deadline: Client decision cutoff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expiration_date: Offer/right expiration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settlement_date: Expected consideration settlement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1" name="Google Shape;61;p8"/>
          <p:cNvGrpSpPr/>
          <p:nvPr/>
        </p:nvGrpSpPr>
        <p:grpSpPr>
          <a:xfrm>
            <a:off x="8659600" y="1524000"/>
            <a:ext cx="8533331" cy="8191500"/>
            <a:chOff x="0" y="0"/>
            <a:chExt cx="6096107" cy="8191500"/>
          </a:xfrm>
        </p:grpSpPr>
        <p:sp>
          <p:nvSpPr>
            <p:cNvPr id="62" name="Google Shape;62;p8"/>
            <p:cNvSpPr/>
            <p:nvPr/>
          </p:nvSpPr>
          <p:spPr>
            <a:xfrm>
              <a:off x="0" y="0"/>
              <a:ext cx="6096000" cy="81915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 txBox="1"/>
            <p:nvPr/>
          </p:nvSpPr>
          <p:spPr>
            <a:xfrm>
              <a:off x="107" y="0"/>
              <a:ext cx="6096000" cy="819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 </a:t>
              </a: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Event-Specific Fields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Tender Offer</a:t>
              </a:r>
              <a:endParaRPr b="1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offer_price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Barlow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withdrawal_deadline</a:t>
              </a:r>
              <a:endParaRPr sz="1500">
                <a:solidFill>
                  <a:srgbClr val="5980A6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Barlow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minimum_tender_condition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proration_terms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tendering_conditions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00">
                <a:solidFill>
                  <a:srgbClr val="1E40AF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Exchange Offer</a:t>
              </a:r>
              <a:endParaRPr b="1" sz="1700">
                <a:solidFill>
                  <a:srgbClr val="1E40AF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old_security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new_security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exchange_rati</a:t>
              </a: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withdrawal_deadline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proration_terms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00">
                <a:solidFill>
                  <a:srgbClr val="166534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Rights Issue</a:t>
              </a:r>
              <a:endParaRPr b="1" sz="1700">
                <a:solidFill>
                  <a:srgbClr val="166534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record_date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subscription_ratio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subscription_price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oversubscription_rights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rights_transferable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64" name="Google Shape;64;p8"/>
          <p:cNvSpPr txBox="1"/>
          <p:nvPr/>
        </p:nvSpPr>
        <p:spPr>
          <a:xfrm>
            <a:off x="13115179" y="2324490"/>
            <a:ext cx="3784500" cy="4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rPr>
              <a:t>Merger</a:t>
            </a:r>
            <a:endParaRPr b="1" sz="1700">
              <a:solidFill>
                <a:srgbClr val="1E40AF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acquirer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target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consideration_type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cash_consideration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stock_exchange_ratio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shareholder_vote_date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closing_conditions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75569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rPr>
              <a:t>Conversion</a:t>
            </a:r>
            <a:endParaRPr b="1" sz="1700">
              <a:solidFill>
                <a:srgbClr val="475569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old_security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new_security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conversion_ratio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conversion_price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conversion_deadline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conversion_conditions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095375" y="952500"/>
            <a:ext cx="16097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Corporate Action Events</a:t>
            </a:r>
            <a:endParaRPr b="1" sz="476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1095375" y="1857375"/>
            <a:ext cx="16097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B"/>
                </a:solidFill>
                <a:latin typeface="Barlow"/>
                <a:ea typeface="Barlow"/>
                <a:cs typeface="Barlow"/>
                <a:sym typeface="Barlow"/>
              </a:rPr>
              <a:t>Corporate Action     Main Filings / Documents      </a:t>
            </a:r>
            <a:r>
              <a:rPr b="1" lang="en-US" sz="1300">
                <a:solidFill>
                  <a:srgbClr val="64748B"/>
                </a:solidFill>
                <a:latin typeface="Barlow"/>
                <a:ea typeface="Barlow"/>
                <a:cs typeface="Barlow"/>
                <a:sym typeface="Barlow"/>
              </a:rPr>
              <a:t>EDGAR Availability</a:t>
            </a:r>
            <a:endParaRPr b="1" sz="1300">
              <a:solidFill>
                <a:srgbClr val="64748B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72" name="Google Shape;72;p9"/>
          <p:cNvGrpSpPr/>
          <p:nvPr/>
        </p:nvGrpSpPr>
        <p:grpSpPr>
          <a:xfrm>
            <a:off x="1095375" y="2238375"/>
            <a:ext cx="16097400" cy="1143000"/>
            <a:chOff x="0" y="0"/>
            <a:chExt cx="16097400" cy="1143000"/>
          </a:xfrm>
        </p:grpSpPr>
        <p:sp>
          <p:nvSpPr>
            <p:cNvPr id="73" name="Google Shape;73;p9"/>
            <p:cNvSpPr/>
            <p:nvPr/>
          </p:nvSpPr>
          <p:spPr>
            <a:xfrm>
              <a:off x="0" y="0"/>
              <a:ext cx="160974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 txBox="1"/>
            <p:nvPr/>
          </p:nvSpPr>
          <p:spPr>
            <a:xfrm>
              <a:off x="0" y="0"/>
              <a:ext cx="1609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Offers </a:t>
              </a:r>
              <a:r>
                <a:rPr b="0" lang="en-US" sz="16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Schedule TO, TO-T, TO-I, 14D-9, amendments, Offer to Purchase   </a:t>
              </a:r>
              <a:r>
                <a:rPr lang="en-US" sz="1300">
                  <a:solidFill>
                    <a:srgbClr val="1E40AF"/>
                  </a:solidFill>
                  <a:highlight>
                    <a:srgbClr val="EFF6FF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Very strong</a:t>
              </a:r>
              <a:endParaRPr/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1095375" y="3571875"/>
            <a:ext cx="16097400" cy="1143000"/>
            <a:chOff x="0" y="0"/>
            <a:chExt cx="16097400" cy="1143000"/>
          </a:xfrm>
        </p:grpSpPr>
        <p:sp>
          <p:nvSpPr>
            <p:cNvPr id="76" name="Google Shape;76;p9"/>
            <p:cNvSpPr/>
            <p:nvPr/>
          </p:nvSpPr>
          <p:spPr>
            <a:xfrm>
              <a:off x="0" y="0"/>
              <a:ext cx="160974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9"/>
            <p:cNvSpPr txBox="1"/>
            <p:nvPr/>
          </p:nvSpPr>
          <p:spPr>
            <a:xfrm>
              <a:off x="0" y="0"/>
              <a:ext cx="1609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Exchange Offers </a:t>
              </a:r>
              <a:r>
                <a:rPr b="0" lang="en-US" sz="16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Schedule TO, Offer to Exchange, S-4, amendments    </a:t>
              </a:r>
              <a:r>
                <a:rPr lang="en-US" sz="1300">
                  <a:solidFill>
                    <a:srgbClr val="1E40AF"/>
                  </a:solidFill>
                  <a:highlight>
                    <a:srgbClr val="EFF6FF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V</a:t>
              </a:r>
              <a:r>
                <a:rPr lang="en-US" sz="1300">
                  <a:solidFill>
                    <a:srgbClr val="1E40AF"/>
                  </a:solidFill>
                  <a:highlight>
                    <a:srgbClr val="EFF6FF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ery strong</a:t>
              </a:r>
              <a:endParaRPr/>
            </a:p>
          </p:txBody>
        </p:sp>
      </p:grpSp>
      <p:grpSp>
        <p:nvGrpSpPr>
          <p:cNvPr id="78" name="Google Shape;78;p9"/>
          <p:cNvGrpSpPr/>
          <p:nvPr/>
        </p:nvGrpSpPr>
        <p:grpSpPr>
          <a:xfrm>
            <a:off x="1095375" y="4905375"/>
            <a:ext cx="16097400" cy="1143000"/>
            <a:chOff x="0" y="0"/>
            <a:chExt cx="16097400" cy="1143000"/>
          </a:xfrm>
        </p:grpSpPr>
        <p:sp>
          <p:nvSpPr>
            <p:cNvPr id="79" name="Google Shape;79;p9"/>
            <p:cNvSpPr/>
            <p:nvPr/>
          </p:nvSpPr>
          <p:spPr>
            <a:xfrm>
              <a:off x="0" y="0"/>
              <a:ext cx="160974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 txBox="1"/>
            <p:nvPr/>
          </p:nvSpPr>
          <p:spPr>
            <a:xfrm>
              <a:off x="0" y="0"/>
              <a:ext cx="1609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Rights Issues</a:t>
              </a:r>
              <a:r>
                <a:rPr lang="en-US" sz="1300">
                  <a:solidFill>
                    <a:srgbClr val="166534"/>
                  </a:solidFill>
                  <a:highlight>
                    <a:srgbClr val="F0FDF4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 </a:t>
              </a:r>
              <a:r>
                <a:rPr b="0" lang="en-US" sz="16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S-1/S-3, prospectus supplements, 8-K, sometimes Form CB   </a:t>
              </a:r>
              <a:r>
                <a:rPr lang="en-US" sz="1300">
                  <a:solidFill>
                    <a:srgbClr val="166534"/>
                  </a:solidFill>
                  <a:highlight>
                    <a:srgbClr val="F0FDF4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Good</a:t>
              </a:r>
              <a:endParaRPr/>
            </a:p>
          </p:txBody>
        </p:sp>
      </p:grpSp>
      <p:grpSp>
        <p:nvGrpSpPr>
          <p:cNvPr id="81" name="Google Shape;81;p9"/>
          <p:cNvGrpSpPr/>
          <p:nvPr/>
        </p:nvGrpSpPr>
        <p:grpSpPr>
          <a:xfrm>
            <a:off x="1095375" y="6238875"/>
            <a:ext cx="16097400" cy="1143000"/>
            <a:chOff x="0" y="0"/>
            <a:chExt cx="16097400" cy="1143000"/>
          </a:xfrm>
        </p:grpSpPr>
        <p:sp>
          <p:nvSpPr>
            <p:cNvPr id="82" name="Google Shape;82;p9"/>
            <p:cNvSpPr/>
            <p:nvPr/>
          </p:nvSpPr>
          <p:spPr>
            <a:xfrm>
              <a:off x="0" y="0"/>
              <a:ext cx="160974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9"/>
            <p:cNvSpPr txBox="1"/>
            <p:nvPr/>
          </p:nvSpPr>
          <p:spPr>
            <a:xfrm>
              <a:off x="0" y="0"/>
              <a:ext cx="1609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Mergers</a:t>
              </a:r>
              <a:r>
                <a:rPr lang="en-US" sz="1300">
                  <a:solidFill>
                    <a:srgbClr val="1E40AF"/>
                  </a:solidFill>
                  <a:highlight>
                    <a:srgbClr val="EFF6FF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 </a:t>
              </a:r>
              <a:r>
                <a:rPr b="0" lang="en-US" sz="16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S-4, 8-K, proxy statements, merger agreement exhibits, sometimes Schedule TO   </a:t>
              </a:r>
              <a:r>
                <a:rPr lang="en-US" sz="1300">
                  <a:solidFill>
                    <a:srgbClr val="1E40AF"/>
                  </a:solidFill>
                  <a:highlight>
                    <a:srgbClr val="EFF6FF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Very strong</a:t>
              </a:r>
              <a:endParaRPr/>
            </a:p>
          </p:txBody>
        </p:sp>
      </p:grpSp>
      <p:grpSp>
        <p:nvGrpSpPr>
          <p:cNvPr id="84" name="Google Shape;84;p9"/>
          <p:cNvGrpSpPr/>
          <p:nvPr/>
        </p:nvGrpSpPr>
        <p:grpSpPr>
          <a:xfrm>
            <a:off x="1095375" y="7572375"/>
            <a:ext cx="16097400" cy="1143000"/>
            <a:chOff x="0" y="0"/>
            <a:chExt cx="16097400" cy="1143000"/>
          </a:xfrm>
        </p:grpSpPr>
        <p:sp>
          <p:nvSpPr>
            <p:cNvPr id="85" name="Google Shape;85;p9"/>
            <p:cNvSpPr/>
            <p:nvPr/>
          </p:nvSpPr>
          <p:spPr>
            <a:xfrm>
              <a:off x="0" y="0"/>
              <a:ext cx="160974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 txBox="1"/>
            <p:nvPr/>
          </p:nvSpPr>
          <p:spPr>
            <a:xfrm>
              <a:off x="0" y="0"/>
              <a:ext cx="1609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Conversions</a:t>
              </a:r>
              <a:r>
                <a:rPr b="0" lang="en-US" sz="1300">
                  <a:solidFill>
                    <a:srgbClr val="475569"/>
                  </a:solidFill>
                  <a:highlight>
                    <a:srgbClr val="F8FAFC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, less standardized</a:t>
              </a:r>
              <a:r>
                <a:rPr b="0" lang="en-US" sz="16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8-K, S-3/S-4, prospectuses, security agreements/exhibits   </a:t>
              </a:r>
              <a:r>
                <a:rPr lang="en-US" sz="1300">
                  <a:solidFill>
                    <a:srgbClr val="475569"/>
                  </a:solidFill>
                  <a:highlight>
                    <a:srgbClr val="F8FAFC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Available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978477" y="2514600"/>
            <a:ext cx="53388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1095524" y="7132290"/>
            <a:ext cx="54639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Pipeline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KEY PRIOR WORK</a:t>
            </a:r>
            <a:endParaRPr sz="1800"/>
          </a:p>
        </p:txBody>
      </p:sp>
      <p:sp>
        <p:nvSpPr>
          <p:cNvPr id="99" name="Google Shape;99;p11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Key prior work: Grounded Event Extraction from SEC 8-Ks</a:t>
            </a:r>
            <a:endParaRPr sz="1800"/>
          </a:p>
        </p:txBody>
      </p:sp>
      <p:sp>
        <p:nvSpPr>
          <p:cNvPr id="100" name="Google Shape;100;p11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1028700" y="2091690"/>
            <a:ext cx="1623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Dolphin et al. (2026) · 292,984 SEC 8-K filings · 119-type taxonomy</a:t>
            </a:r>
            <a:endParaRPr sz="1800"/>
          </a:p>
        </p:txBody>
      </p:sp>
      <p:sp>
        <p:nvSpPr>
          <p:cNvPr id="102" name="Google Shape;102;p11"/>
          <p:cNvSpPr/>
          <p:nvPr/>
        </p:nvSpPr>
        <p:spPr>
          <a:xfrm>
            <a:off x="1143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1280160" y="3360420"/>
            <a:ext cx="2011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SEC 8-K</a:t>
            </a:r>
            <a:endParaRPr sz="1800"/>
          </a:p>
        </p:txBody>
      </p:sp>
      <p:cxnSp>
        <p:nvCxnSpPr>
          <p:cNvPr id="104" name="Google Shape;104;p11"/>
          <p:cNvCxnSpPr/>
          <p:nvPr/>
        </p:nvCxnSpPr>
        <p:spPr>
          <a:xfrm>
            <a:off x="3520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05" name="Google Shape;105;p11"/>
          <p:cNvSpPr/>
          <p:nvPr/>
        </p:nvSpPr>
        <p:spPr>
          <a:xfrm>
            <a:off x="4572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4709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Structured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extraction</a:t>
            </a:r>
            <a:endParaRPr sz="1800"/>
          </a:p>
        </p:txBody>
      </p:sp>
      <p:cxnSp>
        <p:nvCxnSpPr>
          <p:cNvPr id="107" name="Google Shape;107;p11"/>
          <p:cNvCxnSpPr/>
          <p:nvPr/>
        </p:nvCxnSpPr>
        <p:spPr>
          <a:xfrm>
            <a:off x="6949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08" name="Google Shape;108;p11"/>
          <p:cNvSpPr/>
          <p:nvPr/>
        </p:nvSpPr>
        <p:spPr>
          <a:xfrm>
            <a:off x="8001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8138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Value + exact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source quote</a:t>
            </a:r>
            <a:endParaRPr sz="1800"/>
          </a:p>
        </p:txBody>
      </p:sp>
      <p:cxnSp>
        <p:nvCxnSpPr>
          <p:cNvPr id="110" name="Google Shape;110;p11"/>
          <p:cNvCxnSpPr/>
          <p:nvPr/>
        </p:nvCxnSpPr>
        <p:spPr>
          <a:xfrm>
            <a:off x="10378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11" name="Google Shape;111;p11"/>
          <p:cNvSpPr/>
          <p:nvPr/>
        </p:nvSpPr>
        <p:spPr>
          <a:xfrm>
            <a:off x="11430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1567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Second-pass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verification</a:t>
            </a:r>
            <a:endParaRPr sz="1800"/>
          </a:p>
        </p:txBody>
      </p:sp>
      <p:cxnSp>
        <p:nvCxnSpPr>
          <p:cNvPr id="113" name="Google Shape;113;p11"/>
          <p:cNvCxnSpPr/>
          <p:nvPr/>
        </p:nvCxnSpPr>
        <p:spPr>
          <a:xfrm>
            <a:off x="13807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14" name="Google Shape;114;p11"/>
          <p:cNvSpPr/>
          <p:nvPr/>
        </p:nvSpPr>
        <p:spPr>
          <a:xfrm>
            <a:off x="14859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14996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Confidence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score</a:t>
            </a:r>
            <a:endParaRPr sz="1800"/>
          </a:p>
        </p:txBody>
      </p:sp>
      <p:sp>
        <p:nvSpPr>
          <p:cNvPr id="116" name="Google Shape;116;p11"/>
          <p:cNvSpPr/>
          <p:nvPr/>
        </p:nvSpPr>
        <p:spPr>
          <a:xfrm>
            <a:off x="1085850" y="5200650"/>
            <a:ext cx="4800900" cy="29145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1428750" y="5543550"/>
            <a:ext cx="4114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endParaRPr sz="1800"/>
          </a:p>
        </p:txBody>
      </p:sp>
      <p:sp>
        <p:nvSpPr>
          <p:cNvPr id="118" name="Google Shape;118;p11"/>
          <p:cNvSpPr txBox="1"/>
          <p:nvPr/>
        </p:nvSpPr>
        <p:spPr>
          <a:xfrm>
            <a:off x="1428750" y="6000750"/>
            <a:ext cx="4000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4B7091"/>
                </a:solidFill>
                <a:latin typeface="Arial Narrow"/>
                <a:ea typeface="Arial Narrow"/>
                <a:cs typeface="Arial Narrow"/>
                <a:sym typeface="Arial Narrow"/>
              </a:rPr>
              <a:t>12% → 96%</a:t>
            </a:r>
            <a:endParaRPr sz="1800"/>
          </a:p>
        </p:txBody>
      </p:sp>
      <p:sp>
        <p:nvSpPr>
          <p:cNvPr id="119" name="Google Shape;119;p11"/>
          <p:cNvSpPr txBox="1"/>
          <p:nvPr/>
        </p:nvSpPr>
        <p:spPr>
          <a:xfrm>
            <a:off x="1428750" y="6858000"/>
            <a:ext cx="3943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Reported precision rose from the lowest to highest separately assigned quality-score groups.</a:t>
            </a:r>
            <a:endParaRPr sz="1800"/>
          </a:p>
        </p:txBody>
      </p:sp>
      <p:sp>
        <p:nvSpPr>
          <p:cNvPr id="120" name="Google Shape;120;p11"/>
          <p:cNvSpPr/>
          <p:nvPr/>
        </p:nvSpPr>
        <p:spPr>
          <a:xfrm>
            <a:off x="6229350" y="5200650"/>
            <a:ext cx="10972800" cy="29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6572250" y="5543550"/>
            <a:ext cx="400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WHAT WE TAKE INTO OUR PROJECT</a:t>
            </a:r>
            <a:endParaRPr sz="1800"/>
          </a:p>
        </p:txBody>
      </p:sp>
      <p:sp>
        <p:nvSpPr>
          <p:cNvPr id="122" name="Google Shape;122;p11"/>
          <p:cNvSpPr txBox="1"/>
          <p:nvPr/>
        </p:nvSpPr>
        <p:spPr>
          <a:xfrm>
            <a:off x="6629400" y="611505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1800"/>
          </a:p>
        </p:txBody>
      </p:sp>
      <p:sp>
        <p:nvSpPr>
          <p:cNvPr id="123" name="Google Shape;123;p11"/>
          <p:cNvSpPr txBox="1"/>
          <p:nvPr/>
        </p:nvSpPr>
        <p:spPr>
          <a:xfrm>
            <a:off x="8001000" y="611505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options, deadlines, prices, conditions</a:t>
            </a:r>
            <a:endParaRPr sz="1800"/>
          </a:p>
        </p:txBody>
      </p:sp>
      <p:sp>
        <p:nvSpPr>
          <p:cNvPr id="124" name="Google Shape;124;p11"/>
          <p:cNvSpPr txBox="1"/>
          <p:nvPr/>
        </p:nvSpPr>
        <p:spPr>
          <a:xfrm>
            <a:off x="6629400" y="6606539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 sz="1800"/>
          </a:p>
        </p:txBody>
      </p:sp>
      <p:sp>
        <p:nvSpPr>
          <p:cNvPr id="125" name="Google Shape;125;p11"/>
          <p:cNvSpPr txBox="1"/>
          <p:nvPr/>
        </p:nvSpPr>
        <p:spPr>
          <a:xfrm>
            <a:off x="8001000" y="6606539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each material field in source text</a:t>
            </a:r>
            <a:endParaRPr sz="1800"/>
          </a:p>
        </p:txBody>
      </p:sp>
      <p:sp>
        <p:nvSpPr>
          <p:cNvPr id="126" name="Google Shape;126;p11"/>
          <p:cNvSpPr txBox="1"/>
          <p:nvPr/>
        </p:nvSpPr>
        <p:spPr>
          <a:xfrm>
            <a:off x="6629400" y="709803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sz="1800"/>
          </a:p>
        </p:txBody>
      </p:sp>
      <p:sp>
        <p:nvSpPr>
          <p:cNvPr id="127" name="Google Shape;127;p11"/>
          <p:cNvSpPr txBox="1"/>
          <p:nvPr/>
        </p:nvSpPr>
        <p:spPr>
          <a:xfrm>
            <a:off x="8001000" y="709803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with a separate checking pass</a:t>
            </a:r>
            <a:endParaRPr sz="1800"/>
          </a:p>
        </p:txBody>
      </p:sp>
      <p:sp>
        <p:nvSpPr>
          <p:cNvPr id="128" name="Google Shape;128;p11"/>
          <p:cNvSpPr txBox="1"/>
          <p:nvPr/>
        </p:nvSpPr>
        <p:spPr>
          <a:xfrm>
            <a:off x="6629400" y="758952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Escalate</a:t>
            </a:r>
            <a:endParaRPr sz="1800"/>
          </a:p>
        </p:txBody>
      </p:sp>
      <p:sp>
        <p:nvSpPr>
          <p:cNvPr id="129" name="Google Shape;129;p11"/>
          <p:cNvSpPr txBox="1"/>
          <p:nvPr/>
        </p:nvSpPr>
        <p:spPr>
          <a:xfrm>
            <a:off x="8001000" y="758952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low-confidence material fields to human review</a:t>
            </a:r>
            <a:endParaRPr sz="1800"/>
          </a:p>
        </p:txBody>
      </p:sp>
      <p:sp>
        <p:nvSpPr>
          <p:cNvPr id="130" name="Google Shape;130;p11"/>
          <p:cNvSpPr txBox="1"/>
          <p:nvPr/>
        </p:nvSpPr>
        <p:spPr>
          <a:xfrm>
            <a:off x="1085850" y="8629650"/>
            <a:ext cx="161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Takeaway: don’t just extract an answer — extract it, show the evidence, and independently verify it.</a:t>
            </a:r>
            <a:endParaRPr sz="1800"/>
          </a:p>
        </p:txBody>
      </p:sp>
      <p:sp>
        <p:nvSpPr>
          <p:cNvPr id="131" name="Google Shape;131;p11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132" name="Google Shape;132;p11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VERSIONRAG</a:t>
            </a:r>
            <a:endParaRPr sz="1800"/>
          </a:p>
        </p:txBody>
      </p:sp>
      <p:sp>
        <p:nvSpPr>
          <p:cNvPr id="138" name="Google Shape;138;p12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Version-aware retrieval for amendments</a:t>
            </a:r>
            <a:endParaRPr sz="1800"/>
          </a:p>
        </p:txBody>
      </p:sp>
      <p:sp>
        <p:nvSpPr>
          <p:cNvPr id="139" name="Google Shape;139;p12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1085850" y="2148840"/>
            <a:ext cx="15659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Corporate-action terms can change after the original filing. A reliable system must preserve history rather than overwrite it.</a:t>
            </a:r>
            <a:endParaRPr sz="1800"/>
          </a:p>
        </p:txBody>
      </p:sp>
      <p:sp>
        <p:nvSpPr>
          <p:cNvPr id="141" name="Google Shape;141;p12"/>
          <p:cNvSpPr/>
          <p:nvPr/>
        </p:nvSpPr>
        <p:spPr>
          <a:xfrm>
            <a:off x="1143000" y="3143250"/>
            <a:ext cx="4572000" cy="20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1428750" y="3429000"/>
            <a:ext cx="14289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428750" y="3451860"/>
            <a:ext cx="1428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VERSION 1</a:t>
            </a:r>
            <a:endParaRPr sz="1800"/>
          </a:p>
        </p:txBody>
      </p:sp>
      <p:sp>
        <p:nvSpPr>
          <p:cNvPr id="144" name="Google Shape;144;p12"/>
          <p:cNvSpPr txBox="1"/>
          <p:nvPr/>
        </p:nvSpPr>
        <p:spPr>
          <a:xfrm>
            <a:off x="1428750" y="40576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   $40</a:t>
            </a:r>
            <a:endParaRPr sz="1800"/>
          </a:p>
        </p:txBody>
      </p:sp>
      <p:sp>
        <p:nvSpPr>
          <p:cNvPr id="145" name="Google Shape;145;p12"/>
          <p:cNvSpPr txBox="1"/>
          <p:nvPr/>
        </p:nvSpPr>
        <p:spPr>
          <a:xfrm>
            <a:off x="1428750" y="45148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Deadline      Oct 10</a:t>
            </a:r>
            <a:endParaRPr sz="1800"/>
          </a:p>
        </p:txBody>
      </p:sp>
      <p:cxnSp>
        <p:nvCxnSpPr>
          <p:cNvPr id="146" name="Google Shape;146;p12"/>
          <p:cNvCxnSpPr/>
          <p:nvPr/>
        </p:nvCxnSpPr>
        <p:spPr>
          <a:xfrm>
            <a:off x="3429000" y="5314950"/>
            <a:ext cx="0" cy="514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47" name="Google Shape;147;p12"/>
          <p:cNvSpPr/>
          <p:nvPr/>
        </p:nvSpPr>
        <p:spPr>
          <a:xfrm>
            <a:off x="1143000" y="6000750"/>
            <a:ext cx="4572000" cy="20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1428750" y="6286500"/>
            <a:ext cx="1428900" cy="434400"/>
          </a:xfrm>
          <a:prstGeom prst="roundRect">
            <a:avLst>
              <a:gd fmla="val 16667" name="adj"/>
            </a:avLst>
          </a:prstGeom>
          <a:solidFill>
            <a:srgbClr val="4B7091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1428750" y="6309360"/>
            <a:ext cx="1428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AMENDMENT</a:t>
            </a:r>
            <a:endParaRPr sz="1800"/>
          </a:p>
        </p:txBody>
      </p:sp>
      <p:sp>
        <p:nvSpPr>
          <p:cNvPr id="150" name="Google Shape;150;p12"/>
          <p:cNvSpPr txBox="1"/>
          <p:nvPr/>
        </p:nvSpPr>
        <p:spPr>
          <a:xfrm>
            <a:off x="1428750" y="69151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   $43</a:t>
            </a:r>
            <a:endParaRPr sz="1800"/>
          </a:p>
        </p:txBody>
      </p:sp>
      <p:sp>
        <p:nvSpPr>
          <p:cNvPr id="151" name="Google Shape;151;p12"/>
          <p:cNvSpPr txBox="1"/>
          <p:nvPr/>
        </p:nvSpPr>
        <p:spPr>
          <a:xfrm>
            <a:off x="1428750" y="73723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Deadline      Oct 25</a:t>
            </a:r>
            <a:endParaRPr sz="1800"/>
          </a:p>
        </p:txBody>
      </p:sp>
      <p:sp>
        <p:nvSpPr>
          <p:cNvPr id="152" name="Google Shape;152;p12"/>
          <p:cNvSpPr/>
          <p:nvPr/>
        </p:nvSpPr>
        <p:spPr>
          <a:xfrm>
            <a:off x="6457950" y="3657600"/>
            <a:ext cx="4800900" cy="37149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6800850" y="4000500"/>
            <a:ext cx="41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MATERIAL CHANGE DETECTED</a:t>
            </a:r>
            <a:endParaRPr sz="1800"/>
          </a:p>
        </p:txBody>
      </p:sp>
      <p:sp>
        <p:nvSpPr>
          <p:cNvPr id="154" name="Google Shape;154;p12"/>
          <p:cNvSpPr txBox="1"/>
          <p:nvPr/>
        </p:nvSpPr>
        <p:spPr>
          <a:xfrm>
            <a:off x="6800850" y="4777739"/>
            <a:ext cx="1771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Offer price</a:t>
            </a:r>
            <a:endParaRPr sz="1800"/>
          </a:p>
        </p:txBody>
      </p:sp>
      <p:sp>
        <p:nvSpPr>
          <p:cNvPr id="155" name="Google Shape;155;p12"/>
          <p:cNvSpPr txBox="1"/>
          <p:nvPr/>
        </p:nvSpPr>
        <p:spPr>
          <a:xfrm>
            <a:off x="8629650" y="4777739"/>
            <a:ext cx="1943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$40 → $43</a:t>
            </a:r>
            <a:endParaRPr sz="1800"/>
          </a:p>
        </p:txBody>
      </p:sp>
      <p:sp>
        <p:nvSpPr>
          <p:cNvPr id="156" name="Google Shape;156;p12"/>
          <p:cNvSpPr txBox="1"/>
          <p:nvPr/>
        </p:nvSpPr>
        <p:spPr>
          <a:xfrm>
            <a:off x="6800850" y="5543550"/>
            <a:ext cx="1771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Deadline</a:t>
            </a:r>
            <a:endParaRPr sz="1800"/>
          </a:p>
        </p:txBody>
      </p:sp>
      <p:sp>
        <p:nvSpPr>
          <p:cNvPr id="157" name="Google Shape;157;p12"/>
          <p:cNvSpPr txBox="1"/>
          <p:nvPr/>
        </p:nvSpPr>
        <p:spPr>
          <a:xfrm>
            <a:off x="8629650" y="5543550"/>
            <a:ext cx="19434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Oct 10 → Oct 25</a:t>
            </a:r>
            <a:endParaRPr sz="1800"/>
          </a:p>
        </p:txBody>
      </p:sp>
      <p:sp>
        <p:nvSpPr>
          <p:cNvPr id="158" name="Google Shape;158;p12"/>
          <p:cNvSpPr txBox="1"/>
          <p:nvPr/>
        </p:nvSpPr>
        <p:spPr>
          <a:xfrm>
            <a:off x="6800850" y="6343650"/>
            <a:ext cx="3943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Keep both versions + surface the delta.</a:t>
            </a:r>
            <a:endParaRPr sz="1800"/>
          </a:p>
        </p:txBody>
      </p:sp>
      <p:sp>
        <p:nvSpPr>
          <p:cNvPr id="159" name="Google Shape;159;p12"/>
          <p:cNvSpPr/>
          <p:nvPr/>
        </p:nvSpPr>
        <p:spPr>
          <a:xfrm>
            <a:off x="12001500" y="3143250"/>
            <a:ext cx="5200500" cy="485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12344400" y="3486150"/>
            <a:ext cx="4343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LITERATURE RESULT</a:t>
            </a:r>
            <a:endParaRPr sz="1800"/>
          </a:p>
        </p:txBody>
      </p:sp>
      <p:sp>
        <p:nvSpPr>
          <p:cNvPr id="161" name="Google Shape;161;p12"/>
          <p:cNvSpPr txBox="1"/>
          <p:nvPr/>
        </p:nvSpPr>
        <p:spPr>
          <a:xfrm>
            <a:off x="12344400" y="3943350"/>
            <a:ext cx="4343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4B7091"/>
                </a:solidFill>
                <a:latin typeface="Arial Narrow"/>
                <a:ea typeface="Arial Narrow"/>
                <a:cs typeface="Arial Narrow"/>
                <a:sym typeface="Arial Narrow"/>
              </a:rPr>
              <a:t>90%</a:t>
            </a:r>
            <a:endParaRPr sz="1800"/>
          </a:p>
        </p:txBody>
      </p:sp>
      <p:sp>
        <p:nvSpPr>
          <p:cNvPr id="162" name="Google Shape;162;p12"/>
          <p:cNvSpPr txBox="1"/>
          <p:nvPr/>
        </p:nvSpPr>
        <p:spPr>
          <a:xfrm>
            <a:off x="12344400" y="4686299"/>
            <a:ext cx="428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VersionRAG accuracy on version-sensitive QA, compared with 58% naive RAG and 64% GraphRAG.</a:t>
            </a:r>
            <a:endParaRPr sz="1800"/>
          </a:p>
        </p:txBody>
      </p:sp>
      <p:sp>
        <p:nvSpPr>
          <p:cNvPr id="163" name="Google Shape;163;p12"/>
          <p:cNvSpPr txBox="1"/>
          <p:nvPr/>
        </p:nvSpPr>
        <p:spPr>
          <a:xfrm>
            <a:off x="12344400" y="6000750"/>
            <a:ext cx="4343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IMPORTANT LIMITATION</a:t>
            </a:r>
            <a:endParaRPr sz="1800"/>
          </a:p>
        </p:txBody>
      </p:sp>
      <p:sp>
        <p:nvSpPr>
          <p:cNvPr id="164" name="Google Shape;164;p12"/>
          <p:cNvSpPr txBox="1"/>
          <p:nvPr/>
        </p:nvSpPr>
        <p:spPr>
          <a:xfrm>
            <a:off x="12344400" y="6457950"/>
            <a:ext cx="428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benchmark used technical documentation, not corporate-action filings. We need our own validation.</a:t>
            </a:r>
            <a:endParaRPr sz="1800"/>
          </a:p>
        </p:txBody>
      </p:sp>
      <p:sp>
        <p:nvSpPr>
          <p:cNvPr id="165" name="Google Shape;165;p12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166" name="Google Shape;166;p12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SELECTIVE PREDICTION</a:t>
            </a:r>
            <a:endParaRPr sz="1800"/>
          </a:p>
        </p:txBody>
      </p:sp>
      <p:sp>
        <p:nvSpPr>
          <p:cNvPr id="172" name="Google Shape;172;p13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Confidence should control automation</a:t>
            </a:r>
            <a:endParaRPr sz="1800"/>
          </a:p>
        </p:txBody>
      </p:sp>
      <p:sp>
        <p:nvSpPr>
          <p:cNvPr id="173" name="Google Shape;173;p13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085850" y="2171700"/>
            <a:ext cx="15773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goal is not to automate every event. The goal is to automate the cases we can support reliably.</a:t>
            </a:r>
            <a:endParaRPr sz="1800"/>
          </a:p>
        </p:txBody>
      </p:sp>
      <p:sp>
        <p:nvSpPr>
          <p:cNvPr id="175" name="Google Shape;175;p13"/>
          <p:cNvSpPr/>
          <p:nvPr/>
        </p:nvSpPr>
        <p:spPr>
          <a:xfrm>
            <a:off x="1143000" y="3028950"/>
            <a:ext cx="7086900" cy="508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1485900" y="3371850"/>
            <a:ext cx="2514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EXAMPLE EVENT</a:t>
            </a:r>
            <a:endParaRPr sz="1800"/>
          </a:p>
        </p:txBody>
      </p:sp>
      <p:sp>
        <p:nvSpPr>
          <p:cNvPr id="177" name="Google Shape;177;p13"/>
          <p:cNvSpPr txBox="1"/>
          <p:nvPr/>
        </p:nvSpPr>
        <p:spPr>
          <a:xfrm>
            <a:off x="1543050" y="405765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Issuer</a:t>
            </a:r>
            <a:endParaRPr sz="1800"/>
          </a:p>
        </p:txBody>
      </p:sp>
      <p:sp>
        <p:nvSpPr>
          <p:cNvPr id="178" name="Google Shape;178;p13"/>
          <p:cNvSpPr/>
          <p:nvPr/>
        </p:nvSpPr>
        <p:spPr>
          <a:xfrm>
            <a:off x="4400550" y="402336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4400550" y="4046220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180" name="Google Shape;180;p13"/>
          <p:cNvSpPr txBox="1"/>
          <p:nvPr/>
        </p:nvSpPr>
        <p:spPr>
          <a:xfrm>
            <a:off x="6000750" y="405765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181" name="Google Shape;181;p13"/>
          <p:cNvSpPr txBox="1"/>
          <p:nvPr/>
        </p:nvSpPr>
        <p:spPr>
          <a:xfrm>
            <a:off x="1543050" y="491490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</a:t>
            </a:r>
            <a:endParaRPr sz="1800"/>
          </a:p>
        </p:txBody>
      </p:sp>
      <p:sp>
        <p:nvSpPr>
          <p:cNvPr id="182" name="Google Shape;182;p13"/>
          <p:cNvSpPr/>
          <p:nvPr/>
        </p:nvSpPr>
        <p:spPr>
          <a:xfrm>
            <a:off x="4400550" y="4880609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4400550" y="490346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184" name="Google Shape;184;p13"/>
          <p:cNvSpPr txBox="1"/>
          <p:nvPr/>
        </p:nvSpPr>
        <p:spPr>
          <a:xfrm>
            <a:off x="6000750" y="491490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185" name="Google Shape;185;p13"/>
          <p:cNvSpPr txBox="1"/>
          <p:nvPr/>
        </p:nvSpPr>
        <p:spPr>
          <a:xfrm>
            <a:off x="1543050" y="577215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Election deadline</a:t>
            </a:r>
            <a:endParaRPr sz="1800"/>
          </a:p>
        </p:txBody>
      </p:sp>
      <p:sp>
        <p:nvSpPr>
          <p:cNvPr id="186" name="Google Shape;186;p13"/>
          <p:cNvSpPr/>
          <p:nvPr/>
        </p:nvSpPr>
        <p:spPr>
          <a:xfrm>
            <a:off x="4400550" y="573786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4400550" y="576071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188" name="Google Shape;188;p13"/>
          <p:cNvSpPr txBox="1"/>
          <p:nvPr/>
        </p:nvSpPr>
        <p:spPr>
          <a:xfrm>
            <a:off x="6000750" y="577215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189" name="Google Shape;189;p13"/>
          <p:cNvSpPr txBox="1"/>
          <p:nvPr/>
        </p:nvSpPr>
        <p:spPr>
          <a:xfrm>
            <a:off x="1543050" y="662940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Proration condition</a:t>
            </a:r>
            <a:endParaRPr sz="1800"/>
          </a:p>
        </p:txBody>
      </p:sp>
      <p:sp>
        <p:nvSpPr>
          <p:cNvPr id="190" name="Google Shape;190;p13"/>
          <p:cNvSpPr/>
          <p:nvPr/>
        </p:nvSpPr>
        <p:spPr>
          <a:xfrm>
            <a:off x="4400550" y="659511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A07032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4400550" y="661796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800"/>
          </a:p>
        </p:txBody>
      </p:sp>
      <p:sp>
        <p:nvSpPr>
          <p:cNvPr id="192" name="Google Shape;192;p13"/>
          <p:cNvSpPr txBox="1"/>
          <p:nvPr/>
        </p:nvSpPr>
        <p:spPr>
          <a:xfrm>
            <a:off x="6000750" y="662940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1800"/>
          </a:p>
        </p:txBody>
      </p:sp>
      <p:sp>
        <p:nvSpPr>
          <p:cNvPr id="193" name="Google Shape;193;p13"/>
          <p:cNvSpPr/>
          <p:nvPr/>
        </p:nvSpPr>
        <p:spPr>
          <a:xfrm>
            <a:off x="8915400" y="3028950"/>
            <a:ext cx="8229600" cy="50865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9258300" y="3371850"/>
            <a:ext cx="400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DECISION LOGIC</a:t>
            </a:r>
            <a:endParaRPr sz="1800"/>
          </a:p>
        </p:txBody>
      </p:sp>
      <p:sp>
        <p:nvSpPr>
          <p:cNvPr id="195" name="Google Shape;195;p13"/>
          <p:cNvSpPr/>
          <p:nvPr/>
        </p:nvSpPr>
        <p:spPr>
          <a:xfrm>
            <a:off x="10858500" y="4057650"/>
            <a:ext cx="4343100" cy="8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1029950" y="4263390"/>
            <a:ext cx="40005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Independent confidence check</a:t>
            </a:r>
            <a:endParaRPr sz="1800"/>
          </a:p>
        </p:txBody>
      </p:sp>
      <p:cxnSp>
        <p:nvCxnSpPr>
          <p:cNvPr id="197" name="Google Shape;197;p13"/>
          <p:cNvCxnSpPr/>
          <p:nvPr/>
        </p:nvCxnSpPr>
        <p:spPr>
          <a:xfrm>
            <a:off x="13030200" y="5006340"/>
            <a:ext cx="0" cy="4230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198" name="Google Shape;198;p13"/>
          <p:cNvSpPr/>
          <p:nvPr/>
        </p:nvSpPr>
        <p:spPr>
          <a:xfrm>
            <a:off x="9544050" y="5600700"/>
            <a:ext cx="3086400" cy="97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3430250" y="5600700"/>
            <a:ext cx="3086400" cy="97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9715500" y="585216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07058"/>
                </a:solidFill>
                <a:latin typeface="Arial"/>
                <a:ea typeface="Arial"/>
                <a:cs typeface="Arial"/>
                <a:sym typeface="Arial"/>
              </a:rPr>
              <a:t>High confidence</a:t>
            </a:r>
            <a:endParaRPr sz="1800"/>
          </a:p>
        </p:txBody>
      </p:sp>
      <p:sp>
        <p:nvSpPr>
          <p:cNvPr id="201" name="Google Shape;201;p13"/>
          <p:cNvSpPr txBox="1"/>
          <p:nvPr/>
        </p:nvSpPr>
        <p:spPr>
          <a:xfrm>
            <a:off x="13601700" y="585216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Low / conflict</a:t>
            </a:r>
            <a:endParaRPr sz="1800"/>
          </a:p>
        </p:txBody>
      </p:sp>
      <p:cxnSp>
        <p:nvCxnSpPr>
          <p:cNvPr id="202" name="Google Shape;202;p13"/>
          <p:cNvCxnSpPr/>
          <p:nvPr/>
        </p:nvCxnSpPr>
        <p:spPr>
          <a:xfrm>
            <a:off x="11087100" y="6652260"/>
            <a:ext cx="0" cy="4344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cxnSp>
        <p:nvCxnSpPr>
          <p:cNvPr id="203" name="Google Shape;203;p13"/>
          <p:cNvCxnSpPr/>
          <p:nvPr/>
        </p:nvCxnSpPr>
        <p:spPr>
          <a:xfrm>
            <a:off x="14973300" y="6652260"/>
            <a:ext cx="0" cy="4344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04" name="Google Shape;204;p13"/>
          <p:cNvSpPr txBox="1"/>
          <p:nvPr/>
        </p:nvSpPr>
        <p:spPr>
          <a:xfrm>
            <a:off x="9658349" y="7200900"/>
            <a:ext cx="28575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Auto-process</a:t>
            </a:r>
            <a:endParaRPr sz="1800"/>
          </a:p>
        </p:txBody>
      </p:sp>
      <p:sp>
        <p:nvSpPr>
          <p:cNvPr id="205" name="Google Shape;205;p13"/>
          <p:cNvSpPr txBox="1"/>
          <p:nvPr/>
        </p:nvSpPr>
        <p:spPr>
          <a:xfrm>
            <a:off x="13487400" y="7200900"/>
            <a:ext cx="2971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 sz="1800"/>
          </a:p>
        </p:txBody>
      </p:sp>
      <p:sp>
        <p:nvSpPr>
          <p:cNvPr id="206" name="Google Shape;206;p13"/>
          <p:cNvSpPr txBox="1"/>
          <p:nvPr/>
        </p:nvSpPr>
        <p:spPr>
          <a:xfrm>
            <a:off x="1085850" y="8629650"/>
            <a:ext cx="161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Research implication: evaluate the coverage–risk trade-off, not just raw model accuracy.</a:t>
            </a:r>
            <a:endParaRPr sz="1800"/>
          </a:p>
        </p:txBody>
      </p:sp>
      <p:sp>
        <p:nvSpPr>
          <p:cNvPr id="207" name="Google Shape;207;p13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208" name="Google Shape;208;p13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WHAT WE CAN BUILD</a:t>
            </a:r>
            <a:endParaRPr sz="1800"/>
          </a:p>
        </p:txBody>
      </p:sp>
      <p:sp>
        <p:nvSpPr>
          <p:cNvPr id="214" name="Google Shape;214;p14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Research → proposed project architecture</a:t>
            </a:r>
            <a:endParaRPr sz="1800"/>
          </a:p>
        </p:txBody>
      </p:sp>
      <p:sp>
        <p:nvSpPr>
          <p:cNvPr id="215" name="Google Shape;215;p14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1085850" y="2148840"/>
            <a:ext cx="15659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papers give us complementary pieces of one auditable workflow.</a:t>
            </a:r>
            <a:endParaRPr sz="1800"/>
          </a:p>
        </p:txBody>
      </p:sp>
      <p:sp>
        <p:nvSpPr>
          <p:cNvPr id="217" name="Google Shape;217;p14"/>
          <p:cNvSpPr/>
          <p:nvPr/>
        </p:nvSpPr>
        <p:spPr>
          <a:xfrm>
            <a:off x="11430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3487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13487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/>
          </a:p>
        </p:txBody>
      </p:sp>
      <p:sp>
        <p:nvSpPr>
          <p:cNvPr id="220" name="Google Shape;220;p14"/>
          <p:cNvSpPr txBox="1"/>
          <p:nvPr/>
        </p:nvSpPr>
        <p:spPr>
          <a:xfrm>
            <a:off x="13716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Retrieve</a:t>
            </a:r>
            <a:endParaRPr sz="1800"/>
          </a:p>
        </p:txBody>
      </p:sp>
      <p:sp>
        <p:nvSpPr>
          <p:cNvPr id="221" name="Google Shape;221;p14"/>
          <p:cNvSpPr txBox="1"/>
          <p:nvPr/>
        </p:nvSpPr>
        <p:spPr>
          <a:xfrm>
            <a:off x="13716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SEC / public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source documents</a:t>
            </a:r>
            <a:endParaRPr sz="1800"/>
          </a:p>
        </p:txBody>
      </p:sp>
      <p:cxnSp>
        <p:nvCxnSpPr>
          <p:cNvPr id="222" name="Google Shape;222;p14"/>
          <p:cNvCxnSpPr/>
          <p:nvPr/>
        </p:nvCxnSpPr>
        <p:spPr>
          <a:xfrm>
            <a:off x="3749040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23" name="Google Shape;223;p14"/>
          <p:cNvSpPr/>
          <p:nvPr/>
        </p:nvSpPr>
        <p:spPr>
          <a:xfrm>
            <a:off x="428625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49199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449199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</p:txBody>
      </p:sp>
      <p:sp>
        <p:nvSpPr>
          <p:cNvPr id="226" name="Google Shape;226;p14"/>
          <p:cNvSpPr txBox="1"/>
          <p:nvPr/>
        </p:nvSpPr>
        <p:spPr>
          <a:xfrm>
            <a:off x="451485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Extract</a:t>
            </a:r>
            <a:endParaRPr sz="1800"/>
          </a:p>
        </p:txBody>
      </p:sp>
      <p:sp>
        <p:nvSpPr>
          <p:cNvPr id="227" name="Google Shape;227;p14"/>
          <p:cNvSpPr txBox="1"/>
          <p:nvPr/>
        </p:nvSpPr>
        <p:spPr>
          <a:xfrm>
            <a:off x="451485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corporate-action fields</a:t>
            </a:r>
            <a:endParaRPr sz="1800"/>
          </a:p>
        </p:txBody>
      </p:sp>
      <p:cxnSp>
        <p:nvCxnSpPr>
          <p:cNvPr id="228" name="Google Shape;228;p14"/>
          <p:cNvCxnSpPr/>
          <p:nvPr/>
        </p:nvCxnSpPr>
        <p:spPr>
          <a:xfrm>
            <a:off x="6892289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29" name="Google Shape;229;p14"/>
          <p:cNvSpPr/>
          <p:nvPr/>
        </p:nvSpPr>
        <p:spPr>
          <a:xfrm>
            <a:off x="74295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76352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76352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/>
          </a:p>
        </p:txBody>
      </p:sp>
      <p:sp>
        <p:nvSpPr>
          <p:cNvPr id="232" name="Google Shape;232;p14"/>
          <p:cNvSpPr txBox="1"/>
          <p:nvPr/>
        </p:nvSpPr>
        <p:spPr>
          <a:xfrm>
            <a:off x="76581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Ground</a:t>
            </a:r>
            <a:endParaRPr sz="1800"/>
          </a:p>
        </p:txBody>
      </p:sp>
      <p:sp>
        <p:nvSpPr>
          <p:cNvPr id="233" name="Google Shape;233;p14"/>
          <p:cNvSpPr txBox="1"/>
          <p:nvPr/>
        </p:nvSpPr>
        <p:spPr>
          <a:xfrm>
            <a:off x="76581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Source evidence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for material fields</a:t>
            </a:r>
            <a:endParaRPr sz="1800"/>
          </a:p>
        </p:txBody>
      </p:sp>
      <p:cxnSp>
        <p:nvCxnSpPr>
          <p:cNvPr id="234" name="Google Shape;234;p14"/>
          <p:cNvCxnSpPr/>
          <p:nvPr/>
        </p:nvCxnSpPr>
        <p:spPr>
          <a:xfrm>
            <a:off x="10035539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35" name="Google Shape;235;p14"/>
          <p:cNvSpPr/>
          <p:nvPr/>
        </p:nvSpPr>
        <p:spPr>
          <a:xfrm>
            <a:off x="1057275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1077849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1077849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/>
          </a:p>
        </p:txBody>
      </p:sp>
      <p:sp>
        <p:nvSpPr>
          <p:cNvPr id="238" name="Google Shape;238;p14"/>
          <p:cNvSpPr txBox="1"/>
          <p:nvPr/>
        </p:nvSpPr>
        <p:spPr>
          <a:xfrm>
            <a:off x="1080135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Verify</a:t>
            </a:r>
            <a:endParaRPr sz="1800"/>
          </a:p>
        </p:txBody>
      </p:sp>
      <p:sp>
        <p:nvSpPr>
          <p:cNvPr id="239" name="Google Shape;239;p14"/>
          <p:cNvSpPr txBox="1"/>
          <p:nvPr/>
        </p:nvSpPr>
        <p:spPr>
          <a:xfrm>
            <a:off x="1080135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confidence check</a:t>
            </a:r>
            <a:endParaRPr sz="1800"/>
          </a:p>
        </p:txBody>
      </p:sp>
      <p:cxnSp>
        <p:nvCxnSpPr>
          <p:cNvPr id="240" name="Google Shape;240;p14"/>
          <p:cNvCxnSpPr/>
          <p:nvPr/>
        </p:nvCxnSpPr>
        <p:spPr>
          <a:xfrm>
            <a:off x="13178790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41" name="Google Shape;241;p14"/>
          <p:cNvSpPr/>
          <p:nvPr/>
        </p:nvSpPr>
        <p:spPr>
          <a:xfrm>
            <a:off x="137160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39217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139217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/>
          </a:p>
        </p:txBody>
      </p:sp>
      <p:sp>
        <p:nvSpPr>
          <p:cNvPr id="244" name="Google Shape;244;p14"/>
          <p:cNvSpPr txBox="1"/>
          <p:nvPr/>
        </p:nvSpPr>
        <p:spPr>
          <a:xfrm>
            <a:off x="139446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Compare</a:t>
            </a:r>
            <a:endParaRPr sz="1800"/>
          </a:p>
        </p:txBody>
      </p:sp>
      <p:sp>
        <p:nvSpPr>
          <p:cNvPr id="245" name="Google Shape;245;p14"/>
          <p:cNvSpPr txBox="1"/>
          <p:nvPr/>
        </p:nvSpPr>
        <p:spPr>
          <a:xfrm>
            <a:off x="139446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Amendment /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version diff</a:t>
            </a:r>
            <a:endParaRPr sz="1800"/>
          </a:p>
        </p:txBody>
      </p:sp>
      <p:cxnSp>
        <p:nvCxnSpPr>
          <p:cNvPr id="246" name="Google Shape;246;p14"/>
          <p:cNvCxnSpPr/>
          <p:nvPr/>
        </p:nvCxnSpPr>
        <p:spPr>
          <a:xfrm>
            <a:off x="8172450" y="5829300"/>
            <a:ext cx="0" cy="514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47" name="Google Shape;247;p14"/>
          <p:cNvSpPr txBox="1"/>
          <p:nvPr/>
        </p:nvSpPr>
        <p:spPr>
          <a:xfrm>
            <a:off x="6000750" y="6457950"/>
            <a:ext cx="4343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Confidence / conflict threshold</a:t>
            </a:r>
            <a:endParaRPr sz="1800"/>
          </a:p>
        </p:txBody>
      </p:sp>
      <p:cxnSp>
        <p:nvCxnSpPr>
          <p:cNvPr id="248" name="Google Shape;248;p14"/>
          <p:cNvCxnSpPr/>
          <p:nvPr/>
        </p:nvCxnSpPr>
        <p:spPr>
          <a:xfrm flipH="1">
            <a:off x="5257950" y="6915150"/>
            <a:ext cx="2914500" cy="571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cxnSp>
        <p:nvCxnSpPr>
          <p:cNvPr id="249" name="Google Shape;249;p14"/>
          <p:cNvCxnSpPr/>
          <p:nvPr/>
        </p:nvCxnSpPr>
        <p:spPr>
          <a:xfrm>
            <a:off x="8172450" y="6915150"/>
            <a:ext cx="2914500" cy="571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250" name="Google Shape;250;p14"/>
          <p:cNvSpPr/>
          <p:nvPr/>
        </p:nvSpPr>
        <p:spPr>
          <a:xfrm>
            <a:off x="3143250" y="7486650"/>
            <a:ext cx="4229100" cy="1143000"/>
          </a:xfrm>
          <a:prstGeom prst="roundRect">
            <a:avLst>
              <a:gd fmla="val 16667" name="adj"/>
            </a:avLst>
          </a:prstGeom>
          <a:solidFill>
            <a:srgbClr val="F0F6F2"/>
          </a:solidFill>
          <a:ln cap="flat" cmpd="sng" w="12700">
            <a:solidFill>
              <a:srgbClr val="CDDED3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9144000" y="7486650"/>
            <a:ext cx="4229100" cy="1143000"/>
          </a:xfrm>
          <a:prstGeom prst="roundRect">
            <a:avLst>
              <a:gd fmla="val 16667" name="adj"/>
            </a:avLst>
          </a:prstGeom>
          <a:solidFill>
            <a:srgbClr val="F9F4EC"/>
          </a:solidFill>
          <a:ln cap="flat" cmpd="sng" w="12700">
            <a:solidFill>
              <a:srgbClr val="E6D6BE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3371850" y="7795260"/>
            <a:ext cx="3771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07058"/>
                </a:solidFill>
                <a:latin typeface="Arial"/>
                <a:ea typeface="Arial"/>
                <a:cs typeface="Arial"/>
                <a:sym typeface="Arial"/>
              </a:rPr>
              <a:t>HIGH → auto-process</a:t>
            </a:r>
            <a:endParaRPr sz="1800"/>
          </a:p>
        </p:txBody>
      </p:sp>
      <p:sp>
        <p:nvSpPr>
          <p:cNvPr id="253" name="Google Shape;253;p14"/>
          <p:cNvSpPr txBox="1"/>
          <p:nvPr/>
        </p:nvSpPr>
        <p:spPr>
          <a:xfrm>
            <a:off x="9372599" y="7795260"/>
            <a:ext cx="3771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LOW / CONFLICT → review</a:t>
            </a:r>
            <a:endParaRPr sz="1800"/>
          </a:p>
        </p:txBody>
      </p:sp>
      <p:sp>
        <p:nvSpPr>
          <p:cNvPr id="254" name="Google Shape;254;p14"/>
          <p:cNvSpPr/>
          <p:nvPr/>
        </p:nvSpPr>
        <p:spPr>
          <a:xfrm>
            <a:off x="13944600" y="6572250"/>
            <a:ext cx="3200400" cy="20574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14230350" y="6858000"/>
            <a:ext cx="262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/>
          </a:p>
        </p:txBody>
      </p:sp>
      <p:sp>
        <p:nvSpPr>
          <p:cNvPr id="256" name="Google Shape;256;p14"/>
          <p:cNvSpPr txBox="1"/>
          <p:nvPr/>
        </p:nvSpPr>
        <p:spPr>
          <a:xfrm>
            <a:off x="14230350" y="7315200"/>
            <a:ext cx="26289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Versioned,</a:t>
            </a:r>
            <a:b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auditable event record</a:t>
            </a:r>
            <a:endParaRPr sz="1800"/>
          </a:p>
        </p:txBody>
      </p:sp>
      <p:sp>
        <p:nvSpPr>
          <p:cNvPr id="257" name="Google Shape;257;p14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258" name="Google Shape;258;p14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978471" y="2514600"/>
            <a:ext cx="4571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095524" y="7132290"/>
            <a:ext cx="58902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Investment case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1143000" y="8378355"/>
            <a:ext cx="11980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Understanding Data and Files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16"/>
          <p:cNvGraphicFramePr/>
          <p:nvPr/>
        </p:nvGraphicFramePr>
        <p:xfrm>
          <a:off x="580650" y="3910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{8695B49C-611E-4942-95E3-CEA6C460C333}</a:tableStyleId>
              </a:tblPr>
              <a:tblGrid>
                <a:gridCol w="1095375"/>
                <a:gridCol w="16983075"/>
              </a:tblGrid>
              <a:tr h="36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Corporate Action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What the Main Files Mean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Tender Offers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Schedule TO</a:t>
                      </a:r>
                      <a:r>
                        <a:rPr lang="en-US" sz="1100"/>
                        <a:t> = formal tender-offer filing. </a:t>
                      </a:r>
                      <a:r>
                        <a:rPr b="1" lang="en-US" sz="1100"/>
                        <a:t>TO-T</a:t>
                      </a:r>
                      <a:r>
                        <a:rPr lang="en-US" sz="1100"/>
                        <a:t> = third-party tender offer; </a:t>
                      </a:r>
                      <a:r>
                        <a:rPr b="1" lang="en-US" sz="1100"/>
                        <a:t>TO-I</a:t>
                      </a:r>
                      <a:r>
                        <a:rPr lang="en-US" sz="1100"/>
                        <a:t> = issuer buying back its own securities. </a:t>
                      </a:r>
                      <a:r>
                        <a:rPr b="1" lang="en-US" sz="1100"/>
                        <a:t>14D-9</a:t>
                      </a:r>
                      <a:r>
                        <a:rPr lang="en-US" sz="1100"/>
                        <a:t> = target company’s response/recommendation. </a:t>
                      </a:r>
                      <a:r>
                        <a:rPr b="1" lang="en-US" sz="1100"/>
                        <a:t>Offer to Purchase</a:t>
                      </a:r>
                      <a:r>
                        <a:rPr lang="en-US" sz="1100"/>
                        <a:t> = detailed terms, deadlines, conditions, withdrawal rights, etc. </a:t>
                      </a:r>
                      <a:r>
                        <a:rPr b="1" lang="en-US" sz="1100"/>
                        <a:t>Amendments</a:t>
                      </a:r>
                      <a:r>
                        <a:rPr lang="en-US" sz="1100"/>
                        <a:t> update those terms.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Exchange Offers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Schedule TO</a:t>
                      </a:r>
                      <a:r>
                        <a:rPr lang="en-US" sz="1100"/>
                        <a:t> = formal exchange-offer filing. </a:t>
                      </a:r>
                      <a:r>
                        <a:rPr b="1" lang="en-US" sz="1100"/>
                        <a:t>Offer to Exchange</a:t>
                      </a:r>
                      <a:r>
                        <a:rPr lang="en-US" sz="1100"/>
                        <a:t> = detailed description of what security holders can exchange and what they receive. </a:t>
                      </a:r>
                      <a:r>
                        <a:rPr b="1" lang="en-US" sz="1100"/>
                        <a:t>S-4</a:t>
                      </a:r>
                      <a:r>
                        <a:rPr lang="en-US" sz="1100"/>
                        <a:t> is often used when new securities are being issued in the exchange. </a:t>
                      </a:r>
                      <a:r>
                        <a:rPr b="1" lang="en-US" sz="1100"/>
                        <a:t>Amendments</a:t>
                      </a:r>
                      <a:r>
                        <a:rPr lang="en-US" sz="1100"/>
                        <a:t> capture changed terms.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Rights Issues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S-1 / S-3</a:t>
                      </a:r>
                      <a:r>
                        <a:rPr lang="en-US" sz="1100"/>
                        <a:t> = registration statements for the securities being offered. </a:t>
                      </a:r>
                      <a:r>
                        <a:rPr b="1" lang="en-US" sz="1100"/>
                        <a:t>Prospectus / prospectus supplement</a:t>
                      </a:r>
                      <a:r>
                        <a:rPr lang="en-US" sz="1100"/>
                        <a:t> = detailed rights-offering terms, subscription price, eligibility, expiration, restrictions. </a:t>
                      </a:r>
                      <a:r>
                        <a:rPr b="1" lang="en-US" sz="1100"/>
                        <a:t>8-K</a:t>
                      </a:r>
                      <a:r>
                        <a:rPr lang="en-US" sz="1100"/>
                        <a:t> may announce the event or material updates. </a:t>
                      </a:r>
                      <a:r>
                        <a:rPr b="1" lang="en-US" sz="1100"/>
                        <a:t>Form CB</a:t>
                      </a:r>
                      <a:r>
                        <a:rPr lang="en-US" sz="1100"/>
                        <a:t> can appear in some cross-border rights offerings.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Mergers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S-4</a:t>
                      </a:r>
                      <a:r>
                        <a:rPr lang="en-US" sz="1100"/>
                        <a:t> = key filing when stock is being issued as merger consideration. </a:t>
                      </a:r>
                      <a:r>
                        <a:rPr b="1" lang="en-US" sz="1100"/>
                        <a:t>8-K</a:t>
                      </a:r>
                      <a:r>
                        <a:rPr lang="en-US" sz="1100"/>
                        <a:t> = announces the merger, material agreements, or completion. </a:t>
                      </a:r>
                      <a:r>
                        <a:rPr b="1" lang="en-US" sz="1100"/>
                        <a:t>Proxy statements</a:t>
                      </a:r>
                      <a:r>
                        <a:rPr lang="en-US" sz="1100"/>
                        <a:t> explain the deal to shareholders and support voting. </a:t>
                      </a:r>
                      <a:r>
                        <a:rPr b="1" lang="en-US" sz="1100"/>
                        <a:t>Merger agreement exhibits</a:t>
                      </a:r>
                      <a:r>
                        <a:rPr lang="en-US" sz="1100"/>
                        <a:t> contain the actual legal terms. </a:t>
                      </a:r>
                      <a:r>
                        <a:rPr b="1" lang="en-US" sz="1100"/>
                        <a:t>Schedule TO</a:t>
                      </a:r>
                      <a:r>
                        <a:rPr lang="en-US" sz="1100"/>
                        <a:t> may appear if the merger starts with a tender offer.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Conversions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Less standardized. </a:t>
                      </a:r>
                      <a:r>
                        <a:rPr b="1" lang="en-US" sz="1100"/>
                        <a:t>8-K</a:t>
                      </a:r>
                      <a:r>
                        <a:rPr lang="en-US" sz="1100"/>
                        <a:t> may disclose the conversion event or agreement. </a:t>
                      </a:r>
                      <a:r>
                        <a:rPr b="1" lang="en-US" sz="1100"/>
                        <a:t>S-3 / S-4</a:t>
                      </a:r>
                      <a:r>
                        <a:rPr lang="en-US" sz="1100"/>
                        <a:t> may be used if securities involved in the conversion are being registered. </a:t>
                      </a:r>
                      <a:r>
                        <a:rPr b="1" lang="en-US" sz="1100"/>
                        <a:t>Prospectuses</a:t>
                      </a:r>
                      <a:r>
                        <a:rPr lang="en-US" sz="1100"/>
                        <a:t> explain conversion terms. </a:t>
                      </a:r>
                      <a:r>
                        <a:rPr b="1" lang="en-US" sz="1100"/>
                        <a:t>Security agreements / exhibits</a:t>
                      </a:r>
                      <a:r>
                        <a:rPr lang="en-US" sz="1100"/>
                        <a:t> often contain the detailed conversion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 the model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430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1430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Spend once to build the system in year 0. Does what it saves over the next five years justify that spend?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143000" y="5356920"/>
            <a:ext cx="85497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99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 = Benefits − Costs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143000" y="667137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Computed for each of the five years.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93726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decision test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3726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Five years of Net, valued in today’s dollars, must exceed the build cost — NPV ≥ 0.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9372600" y="52997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Everything in the model exists to define that yearly Net: the baseline of manual work today, what the AI changes, and the cost of running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Benefits: released hours and avoided errors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11430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Released hours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1143000" y="41567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Baseline: events in scope × share not straight-through × minutes per manual event → hours → FTE → labour cost, split mandatory vs voluntary.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1143000" y="57569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1 fully automates a share of today’s manual events. </a:t>
            </a:r>
            <a:endParaRPr b="0" i="0" sz="2100" u="none" cap="none" strike="noStrike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2 shortens handling time where a person is still needed — data pre-filled, source cited.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143000" y="73571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1143000" y="8257236"/>
            <a:ext cx="8549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Labour benefit = hours released × cost per FTE × realisation 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93726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Avoided errors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93726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Start from today’s annual error cost — make-goods, claims, remediation.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9372600" y="5299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Count only the share rooted in data sourcing and validation, then the share of that the AI eliminates.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9372600" y="6402735"/>
            <a:ext cx="80055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Error benefit = annual error cost × share rooted in sourcing × share eliminated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9372600" y="7585695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Costs: four lines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11430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Build and integration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11430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One-time, in year 0. Year-0 Net equals minus the build.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52578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Run and maintenance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52578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Annual, expressed as a share of the build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93726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AI 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93726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Per event, scaling with volume as adoption ramps.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134874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Governance and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134874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 model-risk, oversight and platform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143000" y="6402735"/>
            <a:ext cx="14106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Yearly Net = labour benefit + error benefit − costs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Outputs and the question each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1143000" y="25146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5257800" y="25146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QUESTION IT 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13487400" y="25146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1143000" y="3429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Payback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5257800" y="3429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How many years until cumulative savings cover the build?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13487400" y="3429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1143000" y="4572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ROI on upfront investment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5257800" y="4572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Net operating benefit earned on the build — five-year and per-year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3487400" y="4572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1143000" y="5715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Break-even build cost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257800" y="5715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most the build could cost before the case stops working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3487400" y="5715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143000" y="6858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NPV and IRR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257800" y="6858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Value in today’s dollars and the equivalent annual return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13487400" y="6858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1143000" y="8291587"/>
            <a:ext cx="130236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You!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02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Raw SEC filings → Concise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Each stage writes versioned artifacts. Downstream agents consume Concise Rep — not raw HTML.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Barlow Condense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F20"/>
                </a:solidFill>
                <a:latin typeface="Barlow Condensed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Barlow"/>
              </a:rPr>
              <a:t>Pick cover / OTP / LoT / 14D-9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Barlow Condense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Barlow Condense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F20"/>
                </a:solidFill>
                <a:latin typeface="Barlow Condensed"/>
              </a:rPr>
              <a:t>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Barlow"/>
              </a:rPr>
              <a:t>Raw HTML on disk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4688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Barlow Condense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Barlow Condense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F20"/>
                </a:solidFill>
                <a:latin typeface="Barlow Condensed"/>
              </a:rPr>
              <a:t>Cleanup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Barlow"/>
              </a:rPr>
              <a:t>Plain text + meta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4688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Barlow Condense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Barlow Condense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F20"/>
                </a:solidFill>
                <a:latin typeface="Barlow Condensed"/>
              </a:rPr>
              <a:t>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Barlow"/>
              </a:rPr>
              <a:t>TOC / FAQ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03736" y="24688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Barlow Condensed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14048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23776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Barlow Condense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23776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F20"/>
                </a:solidFill>
                <a:latin typeface="Barlow Condensed"/>
              </a:rPr>
              <a:t>GLiNER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23776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Barlow"/>
              </a:rPr>
              <a:t>Labeled spans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2928" y="246888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Barlow Condense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493240" y="20116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02967" y="21031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BEAFE"/>
                </a:solidFill>
                <a:latin typeface="Barlow Condense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02967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Barlow Condensed"/>
              </a:rPr>
              <a:t>Assemble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02967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BEAFE"/>
                </a:solidFill>
                <a:latin typeface="Barlow"/>
              </a:rPr>
              <a:t>Concise Rep JSON</a:t>
            </a:r>
          </a:p>
        </p:txBody>
      </p:sp>
      <p:pic>
        <p:nvPicPr>
          <p:cNvPr id="34" name="Picture 33" descr="preprocess_selectio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57600"/>
            <a:ext cx="9144000" cy="476856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607040" y="3657600"/>
            <a:ext cx="6492240" cy="4937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3840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64748B"/>
                </a:solidFill>
                <a:latin typeface="Barlow"/>
              </a:rPr>
              <a:t>What Concise Rep is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Candidate entities + facts with source passages, confidence, and doc role.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64748B"/>
                </a:solidFill>
                <a:latin typeface="Barlow"/>
              </a:rPr>
              <a:t>Why it matters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Handoff object for Multi-Agent field resolution, DB load, and notification draft — auditable from day one.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64748B"/>
                </a:solidFill>
                <a:latin typeface="Barlow"/>
              </a:rPr>
              <a:t>Cohort status (TO path)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66534"/>
                </a:solidFill>
                <a:latin typeface="Barlow"/>
              </a:rPr>
              <a:t>30 inventoried  →  29 gold Concise Reps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Barlow"/>
              </a:rPr>
              <a:t>~75 candidate facts / event with GLiNER spans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Barlow"/>
              </a:rPr>
              <a:t>02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609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D1F20"/>
                </a:solidFill>
                <a:latin typeface="Barlow Condensed"/>
              </a:rPr>
              <a:t>Worked example: event 005-02933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609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Barlow"/>
              </a:rPr>
              <a:t>Preferred third-party tender (gold) — Volt Information Sciences · SC TO-T + Offer to Purchase + 14D-9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8138160" cy="6309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D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BEAFE"/>
                </a:solidFill>
                <a:latin typeface="Barlow"/>
              </a:rPr>
              <a:t>INPUT  ·  Cleaned Offer to Purchase (excerpt)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7589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How much are you offering to pay for my securities,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and what is the form of payment?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We are offering to pay $6.00 per Share to you in cash,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net of applicable withholding taxes and without interest.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…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Price Offered Per Share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$6.00 per share (the “Offer Price”) in cash…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CUSIP Number of Class of Securities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928703107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EF3C7"/>
                </a:solidFill>
                <a:latin typeface="Barlow"/>
              </a:rPr>
              <a:t>~289k chars of cleaned OTP text → segmented before 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7589520" cy="63093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214884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6534"/>
                </a:solidFill>
                <a:latin typeface="Barlow"/>
              </a:rPr>
              <a:t>OUTPUT  ·  Concise Rep candidate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651760"/>
            <a:ext cx="7040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offer_price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D1F20"/>
                </a:solidFill>
                <a:latin typeface="Barlow"/>
              </a:rPr>
              <a:t>$6.00   ·  conf 0.79  ·  otp / Summary Term Sheet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cusip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D1F20"/>
                </a:solidFill>
                <a:latin typeface="Barlow"/>
              </a:rPr>
              <a:t>928703107   ·  conf 0.89  ·  cover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purchaser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D1F20"/>
                </a:solidFill>
                <a:latin typeface="Barlow"/>
              </a:rPr>
              <a:t>Vega MergerCo, Inc.   ·  conf 0.74  ·  otp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Barlow"/>
              </a:rPr>
              <a:t>Each fact carries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0F172A"/>
                </a:solidFill>
                <a:latin typeface="Barlow"/>
              </a:rPr>
              <a:t>passage  ·  doc_role  ·  segment_id  ·  method=gliner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66534"/>
                </a:solidFill>
                <a:latin typeface="Barlow"/>
              </a:rPr>
              <a:t>69 candidate facts assembled for this event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Barlow"/>
              </a:rPr>
              <a:t>Ready for ranking, verification, and notification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